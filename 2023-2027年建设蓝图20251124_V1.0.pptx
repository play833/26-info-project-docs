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heme/theme3.xml" ContentType="application/vnd.openxmlformats-officedocument.theme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notesSlides/notesSlide1.xml" ContentType="application/vnd.openxmlformats-officedocument.presentationml.notesSlide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notesSlides/notesSlide2.xml" ContentType="application/vnd.openxmlformats-officedocument.presentationml.notesSlide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notesSlides/notesSlide3.xml" ContentType="application/vnd.openxmlformats-officedocument.presentationml.notesSlide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notesSlides/notesSlide6.xml" ContentType="application/vnd.openxmlformats-officedocument.presentationml.notesSlide+xml"/>
  <Override PartName="/ppt/tags/tag199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6" r:id="rId2"/>
  </p:sldMasterIdLst>
  <p:notesMasterIdLst>
    <p:notesMasterId r:id="rId11"/>
  </p:notesMasterIdLst>
  <p:sldIdLst>
    <p:sldId id="257" r:id="rId3"/>
    <p:sldId id="258" r:id="rId4"/>
    <p:sldId id="266" r:id="rId5"/>
    <p:sldId id="278" r:id="rId6"/>
    <p:sldId id="281" r:id="rId7"/>
    <p:sldId id="261" r:id="rId8"/>
    <p:sldId id="259" r:id="rId9"/>
    <p:sldId id="260" r:id="rId10"/>
  </p:sldIdLst>
  <p:sldSz cx="9144000" cy="5143500" type="screen16x9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GSTA-ZhR" initials="G" lastIdx="3" clrIdx="0"/>
  <p:cmAuthor id="1" name="幸全" initials="幸全" lastIdx="1" clrIdx="0"/>
  <p:cmAuthor id="2" name="作者" initials="A" lastIdx="0" clrIdx="1"/>
  <p:cmAuthor id="3" name="jing xing" initials="jx" lastIdx="5" clrIdx="2"/>
  <p:cmAuthor id="4" name="淑娴 曾" initials="淑曾" lastIdx="4" clrIdx="3"/>
  <p:cmAuthor id="5" name="郭" initials="郭" lastIdx="12" clrIdx="4"/>
  <p:cmAuthor id="6" name="ming qiu" initials="m" lastIdx="17" clrIdx="1"/>
  <p:cmAuthor id="7" name="1206988966@qq.com" initials="1" lastIdx="1" clrIdx="2"/>
  <p:cmAuthor id="8" name="姜伟光" initials="姜" lastIdx="1" clrIdx="0"/>
  <p:cmAuthor id="9" name="雷 景皓" initials="雷" lastIdx="1" clrIdx="8"/>
  <p:cmAuthor id="10" name="李超（IT）" initials="L" lastIdx="1" clrIdx="9"/>
  <p:cmAuthor id="767" name="未知用户232" initials="未" lastIdx="1" clrIdx="0"/>
  <p:cmAuthor id="11" name="cbw" initials="c" lastIdx="1" clrIdx="10"/>
  <p:cmAuthor id="12" name="82778" initials="8" lastIdx="2" clrIdx="11"/>
  <p:cmAuthor id="769" name="未知用户226" initials="未" lastIdx="1" clrIdx="0"/>
  <p:cmAuthor id="13" name="yang li" initials="yl" lastIdx="2" clrIdx="13"/>
  <p:cmAuthor id="14" name="李岩（IT）" initials="李" lastIdx="2" clrIdx="13"/>
  <p:cmAuthor id="771" name="lp" initials="l" lastIdx="1" clrIdx="0"/>
  <p:cmAuthor id="15" name="13686" initials="1" lastIdx="1" clrIdx="14"/>
  <p:cmAuthor id="772" name="张正明" initials="张" lastIdx="1" clrIdx="0"/>
  <p:cmAuthor id="16" name="16598" initials="1" lastIdx="1" clrIdx="15"/>
  <p:cmAuthor id="773" name="FANG SUN" initials="F" lastIdx="2" clrIdx="4"/>
  <p:cmAuthor id="17" name="李 里" initials="李" lastIdx="1" clrIdx="17"/>
  <p:cmAuthor id="18" name="li kai" initials="lk" lastIdx="1" clrIdx="18"/>
  <p:cmAuthor id="19" name="10025093" initials="1" lastIdx="51" clrIdx="14"/>
  <p:cmAuthor id="776" name="未知用户416" initials="未" lastIdx="1" clrIdx="0"/>
  <p:cmAuthor id="20" name="hujianmin2" initials="h" lastIdx="1" clrIdx="19"/>
  <p:cmAuthor id="777" name="未知用户404" initials="未" lastIdx="15" clrIdx="0"/>
  <p:cmAuthor id="21" name="cmcc" initials="c" lastIdx="2" clrIdx="21"/>
  <p:cmAuthor id="778" name="未知用户408" initials="未" lastIdx="1" clrIdx="1"/>
  <p:cmAuthor id="22" name="KeFan Lee" initials="KL" lastIdx="1" clrIdx="22"/>
  <p:cmAuthor id="779" name="未知用户409" initials="未" lastIdx="7" clrIdx="0"/>
  <p:cmAuthor id="23" name="Saku Uchikawa" initials="S" lastIdx="11" clrIdx="0"/>
  <p:cmAuthor id="1411828" name="徐琳00159163" initials="徐琳00159163" lastIdx="1" clrIdx="37"/>
  <p:cmAuthor id="780" name="未知用户412" initials="未" lastIdx="0" clrIdx="1"/>
  <p:cmAuthor id="24" name="00065088" initials="0" lastIdx="2" clrIdx="19"/>
  <p:cmAuthor id="1411829" name="任涛10036216" initials="任涛10036216" lastIdx="1" clrIdx="41"/>
  <p:cmAuthor id="781" name="未知用户413" initials="未" lastIdx="1" clrIdx="0"/>
  <p:cmAuthor id="25" name="10066351" initials="1" lastIdx="2" clrIdx="0"/>
  <p:cmAuthor id="782" name="未知用户414" initials="未" lastIdx="1" clrIdx="0"/>
  <p:cmAuthor id="26" name="蔡建楠" initials="蔡" lastIdx="15" clrIdx="17"/>
  <p:cmAuthor id="783" name="未知用户415" initials="未" lastIdx="1" clrIdx="0"/>
  <p:cmAuthor id="191251535" name="沈霄雷" initials="沈" lastIdx="833089" clrIdx="0"/>
  <p:cmAuthor id="27" name="10270945" initials="1" lastIdx="1" clrIdx="25"/>
  <p:cmAuthor id="191251536" name="crespo lee" initials="cl" lastIdx="32" clrIdx="36"/>
  <p:cmAuthor id="785" name="未知用户217" initials="未" lastIdx="0" clrIdx="0"/>
  <p:cmAuthor id="28" name="gaojunling" initials="g" lastIdx="1" clrIdx="26"/>
  <p:cmAuthor id="191251537" name="sammi" initials="s" lastIdx="0" clrIdx="12"/>
  <p:cmAuthor id="29" name="zk_liuxuan" initials="z" lastIdx="1" clrIdx="27"/>
  <p:cmAuthor id="191251538" name="王元" initials="R" lastIdx="1" clrIdx="39"/>
  <p:cmAuthor id="787" name="未知用户371" initials="未" lastIdx="1" clrIdx="0"/>
  <p:cmAuthor id="30" name="10056791" initials="ZTE" lastIdx="1" clrIdx="29"/>
  <p:cmAuthor id="191251539" name="370369741@qq.com" initials="3" lastIdx="1" clrIdx="40"/>
  <p:cmAuthor id="788" name="未知用户370" initials="未" lastIdx="1" clrIdx="0"/>
  <p:cmAuthor id="31" name="issuser" initials="i" lastIdx="1" clrIdx="33"/>
  <p:cmAuthor id="191251540" name="韩剑侠" initials="P" lastIdx="1" clrIdx="41"/>
  <p:cmAuthor id="789" name="未知用户347" initials="未" lastIdx="10" clrIdx="0"/>
  <p:cmAuthor id="32" name="10130117" initials="1" lastIdx="1" clrIdx="0"/>
  <p:cmAuthor id="191251541" name="孙 笑庆" initials="孙" lastIdx="3" clrIdx="16"/>
  <p:cmAuthor id="33" name="Author" initials="A" lastIdx="0" clrIdx="30"/>
  <p:cmAuthor id="191251542" name="yang.yuan" initials="y" lastIdx="0" clrIdx="17"/>
  <p:cmAuthor id="791" name="未知用户286" initials="未" lastIdx="1" clrIdx="0"/>
  <p:cmAuthor id="34" name="610007" initials="6" lastIdx="0" clrIdx="32"/>
  <p:cmAuthor id="191251543" name="王娟" initials="1" lastIdx="1" clrIdx="31"/>
  <p:cmAuthor id="792" name="未知用户373" initials="未" lastIdx="2" clrIdx="0"/>
  <p:cmAuthor id="35" name="Administrator" initials="A" lastIdx="1" clrIdx="35"/>
  <p:cmAuthor id="36" name="黄晓平" initials="黄" lastIdx="0" clrIdx="0"/>
  <p:cmAuthor id="793" name="未知用户350" initials="未" lastIdx="1" clrIdx="0"/>
  <p:cmAuthor id="37" name="陈 宇毅" initials="陈" lastIdx="1" clrIdx="37"/>
  <p:cmAuthor id="794" name="未知用户218" initials="未" lastIdx="0" clrIdx="0"/>
  <p:cmAuthor id="38" name="关全全10258021" initials="关" lastIdx="1" clrIdx="36"/>
  <p:cmAuthor id="795" name="未知用户351" initials="未" lastIdx="1" clrIdx="0"/>
  <p:cmAuthor id="39" name="王凯10177225" initials="王" lastIdx="2" clrIdx="31"/>
  <p:cmAuthor id="796" name="未知用户352" initials="未" lastIdx="1" clrIdx="1"/>
  <p:cmAuthor id="40" name="黄珂10009187" initials="黄" lastIdx="1" clrIdx="37"/>
  <p:cmAuthor id="797" name="未知用户353" initials="未" lastIdx="7" clrIdx="0"/>
  <p:cmAuthor id="41" name="赵欣" initials="赵" lastIdx="4" clrIdx="37"/>
  <p:cmAuthor id="798" name="未知用户354" initials="未" lastIdx="3" clrIdx="0"/>
  <p:cmAuthor id="1483810881" name="WPS_1679281038" initials="W" lastIdx="1" clrIdx="2"/>
  <p:cmAuthor id="42" name="小延魔法师" initials="小" lastIdx="1126286" clrIdx="0"/>
  <p:cmAuthor id="799" name="未知用户355" initials="未" lastIdx="1" clrIdx="0"/>
  <p:cmAuthor id="43" name="10133177" initials="1" lastIdx="1" clrIdx="39"/>
  <p:cmAuthor id="800" name="未知用户356" initials="未" lastIdx="0" clrIdx="0"/>
  <p:cmAuthor id="44" name="IrisH" initials="I" lastIdx="1" clrIdx="43"/>
  <p:cmAuthor id="801" name="未知用户378" initials="未" lastIdx="1" clrIdx="0"/>
  <p:cmAuthor id="45" name="caipeiyuan@sd.cmcc" initials="caipeiyuan" lastIdx="1" clrIdx="44"/>
  <p:cmAuthor id="802" name="未知用户357" initials="未" lastIdx="9" clrIdx="0"/>
  <p:cmAuthor id="46" name="yuange" initials="y" lastIdx="1" clrIdx="45"/>
  <p:cmAuthor id="803" name="未知用户362" initials="未" lastIdx="1" clrIdx="0"/>
  <p:cmAuthor id="47" name="luoli" initials="L" lastIdx="1" clrIdx="46"/>
  <p:cmAuthor id="804" name="未知用户363" initials="未" lastIdx="0" clrIdx="0"/>
  <p:cmAuthor id="48" name="未知的使用者80" initials="" lastIdx="0" clrIdx="0"/>
  <p:cmAuthor id="805" name="未知用户374" initials="未" lastIdx="1" clrIdx="0"/>
  <p:cmAuthor id="49" name="未知用户51" initials="" lastIdx="1" clrIdx="1"/>
  <p:cmAuthor id="806" name="未知用户375" initials="未" lastIdx="1" clrIdx="0"/>
  <p:cmAuthor id="50" name="sizhao@cmsr.cmcc" initials="S" lastIdx="1" clrIdx="49"/>
  <p:cmAuthor id="807" name="未知用户369" initials="未" lastIdx="2" clrIdx="0"/>
  <p:cmAuthor id="51" name="MLOONG" initials="M" lastIdx="1" clrIdx="0"/>
  <p:cmAuthor id="808" name="未知用户376" initials="未" lastIdx="22" clrIdx="0"/>
  <p:cmAuthor id="52" name="未知的使用者83" initials="" lastIdx="1" clrIdx="0"/>
  <p:cmAuthor id="809" name="未知用户377" initials="未" lastIdx="1" clrIdx="0"/>
  <p:cmAuthor id="53" name="未知的使用者118" initials="" lastIdx="1" clrIdx="0"/>
  <p:cmAuthor id="810" name="未知用户372" initials="未" lastIdx="1" clrIdx="1"/>
  <p:cmAuthor id="54" name="未知的使用者84" initials="" lastIdx="1" clrIdx="1"/>
  <p:cmAuthor id="55" name="未知的使用者70" initials="" lastIdx="1" clrIdx="0"/>
  <p:cmAuthor id="56" name="未知的使用者85" initials="" lastIdx="1" clrIdx="0"/>
  <p:cmAuthor id="57" name="未知的使用者40" initials="" lastIdx="1" clrIdx="0"/>
  <p:cmAuthor id="814" name="未知用户466" initials="未" lastIdx="3" clrIdx="0"/>
  <p:cmAuthor id="58" name="未知的使用者87" initials="" lastIdx="1" clrIdx="0"/>
  <p:cmAuthor id="815" name="未知用户460" initials="未" lastIdx="1" clrIdx="0"/>
  <p:cmAuthor id="59" name="曾红" initials="" lastIdx="0" clrIdx="0"/>
  <p:cmAuthor id="816" name="未知用户454" initials="未" lastIdx="2" clrIdx="0"/>
  <p:cmAuthor id="60" name="未知的使用者90" initials="" lastIdx="8" clrIdx="0"/>
  <p:cmAuthor id="817" name="未知用户461" initials="未" lastIdx="0" clrIdx="0"/>
  <p:cmAuthor id="61" name="未知的使用者29" initials="" lastIdx="1" clrIdx="0"/>
  <p:cmAuthor id="818" name="未知用户455" initials="未" lastIdx="1" clrIdx="0"/>
  <p:cmAuthor id="62" name="未知的使用者91" initials="" lastIdx="1" clrIdx="0"/>
  <p:cmAuthor id="819" name="未知用户462" initials="未" lastIdx="10" clrIdx="0"/>
  <p:cmAuthor id="63" name="未知的使用者98" initials="" lastIdx="1" clrIdx="0"/>
  <p:cmAuthor id="820" name="未知用户465" initials="未" lastIdx="1" clrIdx="5"/>
  <p:cmAuthor id="64" name="CHRISYU" initials="" lastIdx="1" clrIdx="0"/>
  <p:cmAuthor id="821" name="未知用户457" initials="未" lastIdx="1" clrIdx="0"/>
  <p:cmAuthor id="65" name="未知的使用者113" initials="" lastIdx="1" clrIdx="2"/>
  <p:cmAuthor id="822" name="未知用户450" initials="未" lastIdx="0" clrIdx="0"/>
  <p:cmAuthor id="66" name="liucunri" initials="" lastIdx="1" clrIdx="0"/>
  <p:cmAuthor id="823" name="未知用户463" initials="未" lastIdx="1" clrIdx="18"/>
  <p:cmAuthor id="67" name="未知用户9" initials="" lastIdx="1" clrIdx="0"/>
  <p:cmAuthor id="824" name="未知用户467" initials="未" lastIdx="0" clrIdx="0"/>
  <p:cmAuthor id="68" name="Unknown User48" initials="" lastIdx="8" clrIdx="0"/>
  <p:cmAuthor id="825" name="未知用户468" initials="未" lastIdx="1" clrIdx="0"/>
  <p:cmAuthor id="69" name="未知用户103" initials="" lastIdx="1" clrIdx="0"/>
  <p:cmAuthor id="826" name="未知用户469" initials="未" lastIdx="1" clrIdx="0"/>
  <p:cmAuthor id="70" name="Unknown User52" initials="" lastIdx="1" clrIdx="0"/>
  <p:cmAuthor id="827" name="未知用户458" initials="未" lastIdx="2" clrIdx="0"/>
  <p:cmAuthor id="71" name="未知的使用者42" initials="" lastIdx="1" clrIdx="0"/>
  <p:cmAuthor id="828" name="未知用户470" initials="未" lastIdx="1" clrIdx="0"/>
  <p:cmAuthor id="72" name="Unknown User50" initials="" lastIdx="1" clrIdx="0"/>
  <p:cmAuthor id="829" name="未知用户471" initials="未" lastIdx="1" clrIdx="0"/>
  <p:cmAuthor id="73" name="未知的使用者120" initials="" lastIdx="1" clrIdx="0"/>
  <p:cmAuthor id="830" name="未知用户472" initials="未" lastIdx="1" clrIdx="0"/>
  <p:cmAuthor id="74" name="px" initials="" lastIdx="3" clrIdx="1"/>
  <p:cmAuthor id="831" name="未知用户473" initials="未" lastIdx="4" clrIdx="0"/>
  <p:cmAuthor id="75" name="Sky123.Org" initials="" lastIdx="1" clrIdx="0"/>
  <p:cmAuthor id="833" name="未知用户453" initials="未" lastIdx="1" clrIdx="0"/>
  <p:cmAuthor id="77" name="elfinhsu" initials="" lastIdx="1" clrIdx="0"/>
  <p:cmAuthor id="834" name="未知用户474" initials="未" lastIdx="0" clrIdx="0"/>
  <p:cmAuthor id="78" name="但佳" initials="但" lastIdx="1" clrIdx="1"/>
  <p:cmAuthor id="835" name="未知用户475" initials="未" lastIdx="0" clrIdx="0"/>
  <p:cmAuthor id="79" name="微软用户" initials="" lastIdx="1" clrIdx="0"/>
  <p:cmAuthor id="836" name="未知用户476" initials="未" lastIdx="1" clrIdx="0"/>
  <p:cmAuthor id="80" name="未知的使用者73" initials="" lastIdx="1" clrIdx="0"/>
  <p:cmAuthor id="837" name="未知用户459" initials="未" lastIdx="1" clrIdx="1"/>
  <p:cmAuthor id="81" name="未知的使用者24" initials="" lastIdx="8" clrIdx="0"/>
  <p:cmAuthor id="838" name="未知用户489" initials="未" lastIdx="1" clrIdx="0"/>
  <p:cmAuthor id="82" name="未知用户16" initials="" lastIdx="1" clrIdx="0"/>
  <p:cmAuthor id="839" name="未知用户488" initials="未" lastIdx="10" clrIdx="0"/>
  <p:cmAuthor id="83" name="Mary Feil-Jacobs" initials="" lastIdx="43" clrIdx="1"/>
  <p:cmAuthor id="840" name="未知用户490" initials="未" lastIdx="1" clrIdx="0"/>
  <p:cmAuthor id="84" name="LiuHui" initials="" lastIdx="1" clrIdx="0"/>
  <p:cmAuthor id="841" name="未知用户477" initials="未" lastIdx="2" clrIdx="0"/>
  <p:cmAuthor id="85" name="未知的使用者45" initials="" lastIdx="1" clrIdx="0"/>
  <p:cmAuthor id="842" name="未知用户478" initials="未" lastIdx="1" clrIdx="0"/>
  <p:cmAuthor id="86" name="王鹏凯" initials="" lastIdx="1" clrIdx="0"/>
  <p:cmAuthor id="843" name="未知用户479" initials="未" lastIdx="0" clrIdx="8"/>
  <p:cmAuthor id="87" name="未知用户104" initials="" lastIdx="1" clrIdx="0"/>
  <p:cmAuthor id="844" name="未知用户480" initials="未" lastIdx="1" clrIdx="0"/>
  <p:cmAuthor id="88" name="未知用户5" initials="" lastIdx="1" clrIdx="0"/>
  <p:cmAuthor id="845" name="未知用户481" initials="未" lastIdx="10" clrIdx="0"/>
  <p:cmAuthor id="89" name="未知的使用者10" initials="" lastIdx="3" clrIdx="1"/>
  <p:cmAuthor id="846" name="未知用户482" initials="未" lastIdx="1" clrIdx="0"/>
  <p:cmAuthor id="90" name="未知的使用者93" initials="" lastIdx="1" clrIdx="1"/>
  <p:cmAuthor id="847" name="未知用户483" initials="未" lastIdx="1" clrIdx="0"/>
  <p:cmAuthor id="91" name="范作霖" initials="范" lastIdx="1" clrIdx="22"/>
  <p:cmAuthor id="848" name="未知用户484" initials="未" lastIdx="1" clrIdx="0"/>
  <p:cmAuthor id="92" name="LeeElva" initials="" lastIdx="1" clrIdx="0"/>
  <p:cmAuthor id="849" name="未知用户485" initials="未" lastIdx="1" clrIdx="0"/>
  <p:cmAuthor id="93" name="未知用户99" initials="" lastIdx="1" clrIdx="2"/>
  <p:cmAuthor id="850" name="未知用户486" initials="未" lastIdx="0" clrIdx="0"/>
  <p:cmAuthor id="94" name="未知的使用者34" initials="" lastIdx="1" clrIdx="0"/>
  <p:cmAuthor id="851" name="未知用户452" initials="未" lastIdx="2" clrIdx="0"/>
  <p:cmAuthor id="95" name="未知的使用者115" initials="" lastIdx="1" clrIdx="1"/>
  <p:cmAuthor id="852" name="未知用户456" initials="未" lastIdx="1" clrIdx="0"/>
  <p:cmAuthor id="96" name="未知用户57" initials="" lastIdx="1" clrIdx="0"/>
  <p:cmAuthor id="853" name="未知用户464" initials="未" lastIdx="0" clrIdx="0"/>
  <p:cmAuthor id="97" name="lianghb" initials="" lastIdx="19" clrIdx="0"/>
  <p:cmAuthor id="854" name="未知用户487" initials="未" lastIdx="0" clrIdx="0"/>
  <p:cmAuthor id="98" name="未知用户17" initials="" lastIdx="0" clrIdx="1"/>
  <p:cmAuthor id="99" name="Deanna Schuler (Bookey Consulting)" initials="" lastIdx="2" clrIdx="0"/>
  <p:cmAuthor id="100" name="未知的使用者57" initials="" lastIdx="1" clrIdx="0"/>
  <p:cmAuthor id="101" name="未知的使用者16" initials="" lastIdx="6" clrIdx="0"/>
  <p:cmAuthor id="102" name="未知的使用者35" initials="" lastIdx="1" clrIdx="0"/>
  <p:cmAuthor id="103" name="未知用户102" initials="" lastIdx="1" clrIdx="1"/>
  <p:cmAuthor id="104" name="maxine" initials="" lastIdx="0" clrIdx="0"/>
  <p:cmAuthor id="861" name="seki" initials="s" lastIdx="1" clrIdx="0"/>
  <p:cmAuthor id="105" name="未知的使用者121" initials="" lastIdx="1" clrIdx="1"/>
  <p:cmAuthor id="106" name="未知的使用者12" initials="" lastIdx="1" clrIdx="0"/>
  <p:cmAuthor id="107" name="周元元" initials="" lastIdx="5" clrIdx="0"/>
  <p:cmAuthor id="108" name="未知的使用者27" initials="" lastIdx="8" clrIdx="0"/>
  <p:cmAuthor id="109" name="刘豹" initials="刘" lastIdx="0" clrIdx="0"/>
  <p:cmAuthor id="110" name="未知的使用者30" initials="" lastIdx="8" clrIdx="0"/>
  <p:cmAuthor id="111" name="未知的使用者53" initials="" lastIdx="1" clrIdx="0"/>
  <p:cmAuthor id="112" name="未知用户58" initials="" lastIdx="5" clrIdx="1"/>
  <p:cmAuthor id="113" name="未知的使用者25" initials="" lastIdx="1" clrIdx="0"/>
  <p:cmAuthor id="114" name="liupeng" initials="" lastIdx="1" clrIdx="1"/>
  <p:cmAuthor id="115" name="未知用户24" initials="" lastIdx="1" clrIdx="0"/>
  <p:cmAuthor id="116" name="AbuSina" initials="" lastIdx="2" clrIdx="0"/>
  <p:cmAuthor id="117" name="hl sun" initials="" lastIdx="1" clrIdx="0"/>
  <p:cmAuthor id="118" name="未知的使用者94" initials="" lastIdx="1" clrIdx="2"/>
  <p:cmAuthor id="119" name="未知用户66" initials="" lastIdx="1" clrIdx="0"/>
  <p:cmAuthor id="120" name="郑汝鸿" initials="郑" lastIdx="2" clrIdx="0"/>
  <p:cmAuthor id="121" name="未知用户19" initials="" lastIdx="1" clrIdx="0"/>
  <p:cmAuthor id="122" name="周宏達JerryChou" initials="" lastIdx="6" clrIdx="2"/>
  <p:cmAuthor id="123" name="邢辰凤" initials="邢" lastIdx="45" clrIdx="7"/>
  <p:cmAuthor id="124" name="未知用户7" initials="" lastIdx="1" clrIdx="0"/>
  <p:cmAuthor id="125" name="未知的使用者56" initials="" lastIdx="1" clrIdx="0"/>
  <p:cmAuthor id="126" name="未知用户46" initials="未" lastIdx="1" clrIdx="1"/>
  <p:cmAuthor id="127" name="未知的使用者119" initials="" lastIdx="1" clrIdx="2"/>
  <p:cmAuthor id="128" name="未知用户59" initials="" lastIdx="0" clrIdx="1"/>
  <p:cmAuthor id="129" name="未知的使用者22" initials="" lastIdx="8" clrIdx="0"/>
  <p:cmAuthor id="130" name="未知的使用者103" initials="" lastIdx="8" clrIdx="0"/>
  <p:cmAuthor id="131" name="Wenwen" initials="" lastIdx="1" clrIdx="1"/>
  <p:cmAuthor id="132" name="未知的使用者117" initials="" lastIdx="1" clrIdx="0"/>
  <p:cmAuthor id="133" name="未知的使用者33" initials="" lastIdx="1" clrIdx="0"/>
  <p:cmAuthor id="134" name="未知的使用者28" initials="" lastIdx="1" clrIdx="0"/>
  <p:cmAuthor id="135" name="未知用户67" initials="" lastIdx="1" clrIdx="0"/>
  <p:cmAuthor id="136" name="未知用户114" initials="" lastIdx="1" clrIdx="0"/>
  <p:cmAuthor id="137" name="未知用户18" initials="" lastIdx="10" clrIdx="0"/>
  <p:cmAuthor id="138" name="未知的使用者67" initials="" lastIdx="1" clrIdx="0"/>
  <p:cmAuthor id="139" name="未知的使用者46" initials="" lastIdx="1" clrIdx="1"/>
  <p:cmAuthor id="140" name="未知的使用者26" initials="" lastIdx="1" clrIdx="0"/>
  <p:cmAuthor id="141" name="未知的使用者43" initials="" lastIdx="1" clrIdx="0"/>
  <p:cmAuthor id="142" name="未知的使用者9" initials="" lastIdx="1" clrIdx="0"/>
  <p:cmAuthor id="143" name="未知用户62" initials="" lastIdx="1" clrIdx="1"/>
  <p:cmAuthor id="353158055" name="韩雨" initials="韩" lastIdx="0" clrIdx="0"/>
  <p:cmAuthor id="144" name="yuanzh" initials="" lastIdx="1" clrIdx="1"/>
  <p:cmAuthor id="145" name="不明使用者57" initials="" lastIdx="1" clrIdx="0"/>
  <p:cmAuthor id="146" name="未知用户108" initials="" lastIdx="1" clrIdx="0"/>
  <p:cmAuthor id="147" name="未知的使用者110" initials="" lastIdx="1" clrIdx="0"/>
  <p:cmAuthor id="148" name="linyd" initials="" lastIdx="3" clrIdx="1"/>
  <p:cmAuthor id="149" name="未知用户8" initials="" lastIdx="1" clrIdx="0"/>
  <p:cmAuthor id="150" name="未知的使用者31" initials="" lastIdx="1" clrIdx="0"/>
  <p:cmAuthor id="151" name="未知用户81" initials="" lastIdx="1" clrIdx="0"/>
  <p:cmAuthor id="152" name="未知用户115" initials="" lastIdx="1" clrIdx="0"/>
  <p:cmAuthor id="153" name="未知用户21" initials="" lastIdx="1" clrIdx="0"/>
  <p:cmAuthor id="154" name="未知的使用者68" initials="" lastIdx="1" clrIdx="0"/>
  <p:cmAuthor id="155" name="mm" initials="" lastIdx="1" clrIdx="0"/>
  <p:cmAuthor id="156" name="未知用户15" initials="" lastIdx="1" clrIdx="0"/>
  <p:cmAuthor id="157" name="朱晓瑜" initials="" lastIdx="54" clrIdx="0"/>
  <p:cmAuthor id="158" name="不明使用者20" initials="" lastIdx="1" clrIdx="0"/>
  <p:cmAuthor id="159" name="未知用户82" initials="" lastIdx="1" clrIdx="0"/>
  <p:cmAuthor id="160" name="未知的使用者7" initials="" lastIdx="2" clrIdx="0"/>
  <p:cmAuthor id="161" name="未知用户6" initials="" lastIdx="8" clrIdx="0"/>
  <p:cmAuthor id="162" name="未知的使用者55" initials="" lastIdx="1" clrIdx="0"/>
  <p:cmAuthor id="163" name="未知的使用者111" initials="" lastIdx="1" clrIdx="0"/>
  <p:cmAuthor id="164" name="未知的使用者50" initials="" lastIdx="1" clrIdx="0"/>
  <p:cmAuthor id="165" name="未知的使用者11" initials="" lastIdx="1" clrIdx="0"/>
  <p:cmAuthor id="166" name="未知用户47" initials="" lastIdx="6" clrIdx="0"/>
  <p:cmAuthor id="167" name="未知用户106" initials="未" lastIdx="1" clrIdx="0"/>
  <p:cmAuthor id="168" name="未知用户116" initials="" lastIdx="1" clrIdx="1"/>
  <p:cmAuthor id="169" name="未知的使用者150" initials="未" lastIdx="1" clrIdx="0"/>
  <p:cmAuthor id="170" name="未知的使用者69" initials="" lastIdx="1" clrIdx="1"/>
  <p:cmAuthor id="171" name="未知的使用者112" initials="" lastIdx="1" clrIdx="1"/>
  <p:cmAuthor id="172" name="未知用户183" initials="未知用户183" lastIdx="1" clrIdx="49"/>
  <p:cmAuthor id="173" name="Kevin Hu" initials="" lastIdx="1" clrIdx="0"/>
  <p:cmAuthor id="174" name="未知的使用者38" initials="" lastIdx="1" clrIdx="0"/>
  <p:cmAuthor id="175" name="唐可欣" initials="" lastIdx="1" clrIdx="0"/>
  <p:cmAuthor id="176" name="未知的使用者8" initials="" lastIdx="1" clrIdx="0"/>
  <p:cmAuthor id="177" name="不明使用者56" initials="" lastIdx="1" clrIdx="0"/>
  <p:cmAuthor id="178" name="P00035_jeremy" initials="" lastIdx="1" clrIdx="0"/>
  <p:cmAuthor id="179" name="Unknown User7" initials="" lastIdx="1" clrIdx="0"/>
  <p:cmAuthor id="180" name="muzi wei" initials="" lastIdx="1" clrIdx="0"/>
  <p:cmAuthor id="181" name="未知的使用者41" initials="" lastIdx="1" clrIdx="0"/>
  <p:cmAuthor id="182" name="未知的使用者13" initials="" lastIdx="1" clrIdx="0"/>
  <p:cmAuthor id="183" name="djj" initials="" lastIdx="2" clrIdx="0"/>
  <p:cmAuthor id="184" name="未知用户117" initials="" lastIdx="1" clrIdx="2"/>
  <p:cmAuthor id="185" name="shinin" initials="s" lastIdx="2" clrIdx="0"/>
  <p:cmAuthor id="186" name="未知用户13" initials="" lastIdx="1" clrIdx="0"/>
  <p:cmAuthor id="187" name="不明使用者21" initials="" lastIdx="1" clrIdx="0"/>
  <p:cmAuthor id="188" name="YUMINGNJ" initials="" lastIdx="3" clrIdx="0"/>
  <p:cmAuthor id="189" name="未知的使用者52" initials="" lastIdx="1" clrIdx="1"/>
  <p:cmAuthor id="190" name="未知用户109" initials="" lastIdx="1" clrIdx="1"/>
  <p:cmAuthor id="191" name="Unknown User117" initials="U" lastIdx="10" clrIdx="0"/>
  <p:cmAuthor id="192" name="thomas" initials="" lastIdx="1" clrIdx="49"/>
  <p:cmAuthor id="193" name="未知的使用者3" initials="" lastIdx="7" clrIdx="1"/>
  <p:cmAuthor id="194" name="未知用户14" initials="" lastIdx="1" clrIdx="0"/>
  <p:cmAuthor id="195" name="Unknown User65" initials="U" lastIdx="1" clrIdx="0"/>
  <p:cmAuthor id="196" name="未知用户98" initials="" lastIdx="1" clrIdx="2"/>
  <p:cmAuthor id="197" name="Unknown User67" initials="U" lastIdx="1" clrIdx="0"/>
  <p:cmAuthor id="198" name="未知用户83" initials="" lastIdx="1" clrIdx="1"/>
  <p:cmAuthor id="199" name="未知用户61" initials="" lastIdx="8" clrIdx="0"/>
  <p:cmAuthor id="200" name="張秀娟" initials="" lastIdx="1" clrIdx="2"/>
  <p:cmAuthor id="201" name="Jason Wang" initials="" lastIdx="1" clrIdx="0"/>
  <p:cmAuthor id="202" name="不明使用者18" initials="" lastIdx="0" clrIdx="1"/>
  <p:cmAuthor id="203" name="未知用户28" initials="未" lastIdx="5" clrIdx="1"/>
  <p:cmAuthor id="204" name="未知的使用者72" initials="" lastIdx="1" clrIdx="0"/>
  <p:cmAuthor id="205" name="未知的使用者48" initials="" lastIdx="1" clrIdx="0"/>
  <p:cmAuthor id="206" name="未知的使用者104" initials="" lastIdx="1" clrIdx="0"/>
  <p:cmAuthor id="207" name="未知用户60" initials="" lastIdx="1" clrIdx="0"/>
  <p:cmAuthor id="208" name="未知的使用者39" initials="未" lastIdx="10" clrIdx="0"/>
  <p:cmAuthor id="209" name="Shawna Strickland" initials="" lastIdx="2" clrIdx="0"/>
  <p:cmAuthor id="210" name="未知的使用者36" initials="" lastIdx="3" clrIdx="1"/>
  <p:cmAuthor id="211" name="焱恺 彭" initials="焱" lastIdx="1" clrIdx="95"/>
  <p:cmAuthor id="212" name="Daniel Wuu" initials="" lastIdx="1" clrIdx="0"/>
  <p:cmAuthor id="213" name="未知用户56" initials="" lastIdx="1" clrIdx="0"/>
  <p:cmAuthor id="214" name="未知的使用者14" initials="" lastIdx="2" clrIdx="0"/>
  <p:cmAuthor id="215" name="LiWei" initials="L" lastIdx="1" clrIdx="0"/>
  <p:cmAuthor id="216" name="方朝军/产品推动室/产品开发推广部/总公司" initials="方" lastIdx="2" clrIdx="0"/>
  <p:cmAuthor id="441412215" name="tonghailan" initials="t" lastIdx="1126972" clrIdx="1"/>
  <p:cmAuthor id="217" name="Ashley Eberenz" initials="" lastIdx="7" clrIdx="1"/>
  <p:cmAuthor id="218" name="不明使用者19" initials="" lastIdx="1" clrIdx="0"/>
  <p:cmAuthor id="219" name="qiantong" initials="" lastIdx="3" clrIdx="1"/>
  <p:cmAuthor id="220" name="未知的使用者74" initials="" lastIdx="1" clrIdx="0"/>
  <p:cmAuthor id="221" name="未知的使用者23" initials="" lastIdx="1" clrIdx="0"/>
  <p:cmAuthor id="222" name="未知的使用者1" initials="" lastIdx="8" clrIdx="0"/>
  <p:cmAuthor id="223" name="116304" initials="" lastIdx="1" clrIdx="1"/>
  <p:cmAuthor id="224" name="未知用户31" initials="未" lastIdx="1" clrIdx="1"/>
  <p:cmAuthor id="225" name="R affer" initials="" lastIdx="1" clrIdx="0"/>
  <p:cmAuthor id="226" name="qihua-DCMS" initials="" lastIdx="0" clrIdx="0"/>
  <p:cmAuthor id="227" name="未知用户55" initials="" lastIdx="1" clrIdx="0"/>
  <p:cmAuthor id="228" name="未知的使用者95" initials="" lastIdx="1" clrIdx="0"/>
  <p:cmAuthor id="229" name="未知的使用者168" initials="未" lastIdx="1" clrIdx="0"/>
  <p:cmAuthor id="230" name="未知的使用者32" initials="" lastIdx="1" clrIdx="0"/>
  <p:cmAuthor id="231" name="未知的使用者49" initials="" lastIdx="1" clrIdx="0"/>
  <p:cmAuthor id="232" name="Unknown User26" initials="U" lastIdx="1" clrIdx="1"/>
  <p:cmAuthor id="233" name="yuexuejun" initials="" lastIdx="3" clrIdx="0"/>
  <p:cmAuthor id="234" name="未知的使用者71" initials="" lastIdx="1" clrIdx="1"/>
  <p:cmAuthor id="235" name="未知的使用者105" initials="" lastIdx="1" clrIdx="0"/>
  <p:cmAuthor id="236" name="Unknown User70" initials="" lastIdx="1" clrIdx="0"/>
  <p:cmAuthor id="237" name="clinchen" initials="" lastIdx="0" clrIdx="1"/>
  <p:cmAuthor id="238" name="未知用户23" initials="" lastIdx="1" clrIdx="0"/>
  <p:cmAuthor id="239" name="hanjuncompany" initials="" lastIdx="1" clrIdx="0"/>
  <p:cmAuthor id="240" name="kathy chen" initials="" lastIdx="3" clrIdx="0"/>
  <p:cmAuthor id="241" name="未知的使用者63" initials="" lastIdx="1" clrIdx="0"/>
  <p:cmAuthor id="242" name="未知的使用者64" initials="" lastIdx="3" clrIdx="1"/>
  <p:cmAuthor id="243" name="未知的使用者47" initials="" lastIdx="1" clrIdx="0"/>
  <p:cmAuthor id="244" name="未知的使用者60" initials="" lastIdx="8" clrIdx="0"/>
  <p:cmAuthor id="245" name="未知的使用者59" initials="" lastIdx="1" clrIdx="0"/>
  <p:cmAuthor id="246" name="未知的使用者54" initials="" lastIdx="1" clrIdx="0"/>
  <p:cmAuthor id="247" name="未知的使用者66" initials="" lastIdx="8" clrIdx="0"/>
  <p:cmAuthor id="248" name="未知的使用者65" initials="" lastIdx="1" clrIdx="0"/>
  <p:cmAuthor id="249" name="未知的使用者106" initials="" lastIdx="3" clrIdx="1"/>
  <p:cmAuthor id="250" name="未知的使用者107" initials="" lastIdx="1" clrIdx="1"/>
  <p:cmAuthor id="251" name="未知的使用者108" initials="" lastIdx="1" clrIdx="0"/>
  <p:cmAuthor id="252" name="未知的使用者86" initials="" lastIdx="1" clrIdx="0"/>
  <p:cmAuthor id="253" name="未知的使用者116" initials="" lastIdx="1" clrIdx="1"/>
  <p:cmAuthor id="254" name="未知的使用者44" initials="" lastIdx="1" clrIdx="0"/>
  <p:cmAuthor id="255" name="未知的使用者37" initials="" lastIdx="1" clrIdx="0"/>
  <p:cmAuthor id="256" name="未知的使用者126" initials="" lastIdx="1" clrIdx="0"/>
  <p:cmAuthor id="257" name="未知的使用者127" initials="" lastIdx="3" clrIdx="1"/>
  <p:cmAuthor id="258" name="未知的使用者128" initials="" lastIdx="1" clrIdx="1"/>
  <p:cmAuthor id="259" name="未知的使用者124" initials="" lastIdx="1" clrIdx="0"/>
  <p:cmAuthor id="260" name="未知的使用者125" initials="" lastIdx="1" clrIdx="0"/>
  <p:cmAuthor id="261" name="Sara Chen" initials="" lastIdx="1" clrIdx="0"/>
  <p:cmAuthor id="262" name="huang gerrard" initials="" lastIdx="1" clrIdx="0"/>
  <p:cmAuthor id="263" name="未知用户170" initials="" lastIdx="1" clrIdx="0"/>
  <p:cmAuthor id="264" name="未知用户171" initials="" lastIdx="5" clrIdx="1"/>
  <p:cmAuthor id="265" name="未知用户172" initials="" lastIdx="1" clrIdx="1"/>
  <p:cmAuthor id="266" name="未知用户173" initials="" lastIdx="1" clrIdx="0"/>
  <p:cmAuthor id="267" name="未知用户149" initials="" lastIdx="1" clrIdx="0"/>
  <p:cmAuthor id="268" name="未知用户150" initials="" lastIdx="1" clrIdx="0"/>
  <p:cmAuthor id="269" name="未知用户151" initials="" lastIdx="2" clrIdx="0"/>
  <p:cmAuthor id="270" name="未知用户152" initials="" lastIdx="8" clrIdx="0"/>
  <p:cmAuthor id="271" name="未知用户153" initials="" lastIdx="8" clrIdx="0"/>
  <p:cmAuthor id="272" name="未知用户154" initials="" lastIdx="1" clrIdx="0"/>
  <p:cmAuthor id="273" name="未知用户155" initials="" lastIdx="1" clrIdx="0"/>
  <p:cmAuthor id="274" name="未知用户41" initials="" lastIdx="8" clrIdx="0"/>
  <p:cmAuthor id="275" name="未知用户44" initials="" lastIdx="1" clrIdx="0"/>
  <p:cmAuthor id="276" name="未知用户45" initials="" lastIdx="1" clrIdx="0"/>
  <p:cmAuthor id="277" name="未知用户156" initials="" lastIdx="10" clrIdx="0"/>
  <p:cmAuthor id="278" name="未知用户64" initials="" lastIdx="1" clrIdx="0"/>
  <p:cmAuthor id="279" name="未知用户65" initials="" lastIdx="1" clrIdx="0"/>
  <p:cmAuthor id="280" name="未知用户68" initials="" lastIdx="1" clrIdx="0"/>
  <p:cmAuthor id="281" name="未知用户69" initials="" lastIdx="2" clrIdx="0"/>
  <p:cmAuthor id="282" name="未知用户70" initials="" lastIdx="1" clrIdx="1"/>
  <p:cmAuthor id="283" name="未知用户71" initials="" lastIdx="1" clrIdx="0"/>
  <p:cmAuthor id="284" name="未知用户72" initials="" lastIdx="1" clrIdx="0"/>
  <p:cmAuthor id="285" name="未知用户73" initials="" lastIdx="2" clrIdx="0"/>
  <p:cmAuthor id="286" name="未知用户49" initials="" lastIdx="1" clrIdx="0"/>
  <p:cmAuthor id="287" name="未知用户50" initials="" lastIdx="1" clrIdx="0"/>
  <p:cmAuthor id="288" name="未知用户52" initials="" lastIdx="1" clrIdx="0"/>
  <p:cmAuthor id="289" name="MA15" initials="" lastIdx="1" clrIdx="0"/>
  <p:cmAuthor id="290" name="未知用户53" initials="" lastIdx="10" clrIdx="0"/>
  <p:cmAuthor id="291" name="未知用户96" initials="" lastIdx="1" clrIdx="0"/>
  <p:cmAuthor id="292" name="未知用户48" initials="" lastIdx="1" clrIdx="0"/>
  <p:cmAuthor id="293" name="未知用户97" initials="" lastIdx="2" clrIdx="0"/>
  <p:cmAuthor id="294" name="未知用户40" initials="" lastIdx="5" clrIdx="1"/>
  <p:cmAuthor id="295" name="未知用户43" initials="" lastIdx="1" clrIdx="0"/>
  <p:cmAuthor id="296" name="未知用户100" initials="" lastIdx="1" clrIdx="0"/>
  <p:cmAuthor id="297" name="未知用户101" initials="" lastIdx="1" clrIdx="0"/>
  <p:cmAuthor id="298" name="未知用户26" initials="" lastIdx="1" clrIdx="0"/>
  <p:cmAuthor id="299" name="未知用户29" initials="" lastIdx="1" clrIdx="0"/>
  <p:cmAuthor id="300" name="未知用户32" initials="" lastIdx="1" clrIdx="0"/>
  <p:cmAuthor id="301" name="未知用户33" initials="" lastIdx="1" clrIdx="0"/>
  <p:cmAuthor id="302" name="未知用户34" initials="" lastIdx="2" clrIdx="0"/>
  <p:cmAuthor id="303" name="未知用户42" initials="" lastIdx="1" clrIdx="0"/>
  <p:cmAuthor id="304" name="未知的使用者109" initials="" lastIdx="5" clrIdx="1"/>
  <p:cmAuthor id="305" name="未知的使用者122" initials="" lastIdx="1" clrIdx="0"/>
  <p:cmAuthor id="306" name="未知的使用者123" initials="" lastIdx="8" clrIdx="0"/>
  <p:cmAuthor id="307" name="未知用户93" initials="" lastIdx="1" clrIdx="0"/>
  <p:cmAuthor id="308" name="未知用户90" initials="" lastIdx="5" clrIdx="1"/>
  <p:cmAuthor id="309" name="未知用户91" initials="" lastIdx="0" clrIdx="1"/>
  <p:cmAuthor id="310" name="未知用户92" initials="" lastIdx="1" clrIdx="0"/>
  <p:cmAuthor id="234608236" name="G" initials="G" lastIdx="1" clrIdx="5"/>
  <p:cmAuthor id="311" name="未知用户74" initials="" lastIdx="5" clrIdx="1"/>
  <p:cmAuthor id="312" name="未知用户75" initials="" lastIdx="8" clrIdx="0"/>
  <p:cmAuthor id="313" name="未知用户76" initials="" lastIdx="1" clrIdx="0"/>
  <p:cmAuthor id="314" name="未知用户77" initials="" lastIdx="8" clrIdx="0"/>
  <p:cmAuthor id="315" name="未知用户78" initials="" lastIdx="9" clrIdx="0"/>
  <p:cmAuthor id="316" name="未知用户79" initials="" lastIdx="1" clrIdx="0"/>
  <p:cmAuthor id="317" name="未知用户80" initials="" lastIdx="1" clrIdx="0"/>
  <p:cmAuthor id="318" name="Harry xu" initials="" lastIdx="1" clrIdx="0"/>
  <p:cmAuthor id="319" name="未知用户27" initials="未" lastIdx="1" clrIdx="0"/>
  <p:cmAuthor id="320" name="未知用户35" initials="未" lastIdx="1" clrIdx="0"/>
  <p:cmAuthor id="321" name="未知用户111" initials="未" lastIdx="1" clrIdx="1"/>
  <p:cmAuthor id="322" name="alpha" initials="a" lastIdx="1" clrIdx="0"/>
  <p:cmAuthor id="323" name="87189" initials="8" lastIdx="1" clrIdx="322"/>
  <p:cmAuthor id="324" name="22015" initials="2" lastIdx="1" clrIdx="323"/>
  <p:cmAuthor id="325" name="Unknown User23" initials="U" lastIdx="1" clrIdx="0"/>
  <p:cmAuthor id="326" name="未知的使用者75" initials="未" lastIdx="1" clrIdx="0"/>
  <p:cmAuthor id="327" name="Cecilia" initials="C" lastIdx="1" clrIdx="326"/>
  <p:cmAuthor id="328" name="未知的使用者78" initials="未" lastIdx="5" clrIdx="1"/>
  <p:cmAuthor id="329" name="王林10186938" initials="王" lastIdx="1" clrIdx="41"/>
  <p:cmAuthor id="330" name="0045000519" initials="0" lastIdx="1" clrIdx="0"/>
  <p:cmAuthor id="331" name="WHF" initials="W" lastIdx="0" clrIdx="50"/>
  <p:cmAuthor id="332" name="Liu, Hongqing (NSB - CN/Shanghai)" initials="L" lastIdx="1" clrIdx="41"/>
  <p:cmAuthor id="333" name="lenovo" initials="l" lastIdx="5" clrIdx="332"/>
  <p:cmAuthor id="334" name="zhoux" initials="z" lastIdx="1" clrIdx="333"/>
  <p:cmAuthor id="335" name="flower" initials="f" lastIdx="1" clrIdx="334"/>
  <p:cmAuthor id="287643681" name="殷格非" initials="殷" lastIdx="2" clrIdx="0"/>
  <p:cmAuthor id="336" name="tonyliu" initials="t" lastIdx="4" clrIdx="335"/>
  <p:cmAuthor id="287643682" name="z r" initials="zr" lastIdx="5" clrIdx="12"/>
  <p:cmAuthor id="337" name="hwjjjjjjjj" initials="h" lastIdx="2" clrIdx="336"/>
  <p:cmAuthor id="287643683" name="lc xue" initials="lx" lastIdx="1" clrIdx="22"/>
  <p:cmAuthor id="338" name="laichenxi" initials="u" lastIdx="1" clrIdx="337"/>
  <p:cmAuthor id="287643684" name="Aqf" initials="A" lastIdx="1" clrIdx="36"/>
  <p:cmAuthor id="339" name="macos" initials="m" lastIdx="1" clrIdx="338"/>
  <p:cmAuthor id="287643685" name="13709759491@139.com" initials="1" lastIdx="1" clrIdx="49"/>
  <p:cmAuthor id="340" name="zhoupeng" initials="z" lastIdx="5" clrIdx="339"/>
  <p:cmAuthor id="287643686" name="YaoChunfen" initials="Y" lastIdx="1" clrIdx="39"/>
  <p:cmAuthor id="691587971" name="徐 正国" initials="徐" lastIdx="1" clrIdx="45"/>
  <p:cmAuthor id="287643687" name="cheng" initials="c" lastIdx="13" clrIdx="0"/>
  <p:cmAuthor id="341" name="Randolph" initials="R" lastIdx="1" clrIdx="340"/>
  <p:cmAuthor id="691587972" name="NTKO" initials="H" lastIdx="2" clrIdx="45"/>
  <p:cmAuthor id="287643688" name="方少_UbQfrimU" initials="authorId_442114952" lastIdx="0" clrIdx="0"/>
  <p:cmAuthor id="342" name="未知用户63" initials="未知用户63" lastIdx="1" clrIdx="0"/>
  <p:cmAuthor id="691587973" name="619963410@qq.com" initials="6" lastIdx="2" clrIdx="52"/>
  <p:cmAuthor id="287643689" name="叶盛_Q3A3IfEf" initials="authorId_506280334" lastIdx="0" clrIdx="0"/>
  <p:cmAuthor id="343" name="未知的使用者102" initials="未" lastIdx="5" clrIdx="1"/>
  <p:cmAuthor id="691587974" name="Xia Meng 00049798" initials="Mandy" lastIdx="11" clrIdx="53"/>
  <p:cmAuthor id="287643690" name="Harley._bEJrUJ7r" initials="authorId_432156705" lastIdx="0" clrIdx="0"/>
  <p:cmAuthor id="344" name="未知的使用者61" initials="未" lastIdx="1" clrIdx="0"/>
  <p:cmAuthor id="691587975" name="Huxiaojian" initials="H" lastIdx="0" clrIdx="518"/>
  <p:cmAuthor id="287643691" name="罗平_VB7vJb2E" initials="authorId_305049361" lastIdx="0" clrIdx="0"/>
  <p:cmAuthor id="345" name="仝德志" initials="仝" lastIdx="1" clrIdx="0"/>
  <p:cmAuthor id="691587976" name="贾云雁" initials="贾" lastIdx="2" clrIdx="330"/>
  <p:cmAuthor id="287643692" name="xixi_nUjqe22E" initials="authorId_359229261" lastIdx="0" clrIdx="0"/>
  <p:cmAuthor id="346" name="未知用户112" initials="未知用户112" lastIdx="4" clrIdx="0"/>
  <p:cmAuthor id="347" name="zhangxinyao" initials="z" lastIdx="1" clrIdx="346"/>
  <p:cmAuthor id="287643693" name="安安_zm6nYnYZ" initials="authorId_347340296" lastIdx="0" clrIdx="0"/>
  <p:cmAuthor id="348" name="X1" initials="X" lastIdx="1" clrIdx="347"/>
  <p:cmAuthor id="287643694" name="nature_emInFJF7" initials="authorId_313163542" lastIdx="0" clrIdx="0"/>
  <p:cmAuthor id="349" name="未知的使用者183" initials="未" lastIdx="5" clrIdx="1"/>
  <p:cmAuthor id="287643695" name="杨思思_VNjyvY7j" initials="authorId_430925712" lastIdx="0" clrIdx="0"/>
  <p:cmAuthor id="350" name="未知用户162" initials="未知用户162" lastIdx="1" clrIdx="1"/>
  <p:cmAuthor id="287643696" name="I_u6feq6Zr" initials="authorId_300885863" lastIdx="0" clrIdx="0"/>
  <p:cmAuthor id="351" name="未知用户163" initials="未知用户163" lastIdx="1" clrIdx="0"/>
  <p:cmAuthor id="352" name="針對所選的門市進行小範圍實驗，捕捉驅動績效的關鍵影響因子" initials="針" lastIdx="1" clrIdx="0"/>
  <p:cmAuthor id="353" name="James" initials="J" lastIdx="1" clrIdx="0"/>
  <p:cmAuthor id="354" name="未知的使用者114" initials="未" lastIdx="1" clrIdx="0"/>
  <p:cmAuthor id="355" name="未知用户164" initials="未知用户164" lastIdx="1" clrIdx="0"/>
  <p:cmAuthor id="356" name="未知的使用者184" initials="未" lastIdx="8" clrIdx="0"/>
  <p:cmAuthor id="357" name="未知的使用者185" initials="未" lastIdx="10" clrIdx="0"/>
  <p:cmAuthor id="358" name="未知的使用者186" initials="未" lastIdx="1" clrIdx="0"/>
  <p:cmAuthor id="359" name="未知的使用者175" initials="未" lastIdx="8" clrIdx="0"/>
  <p:cmAuthor id="360" name="未知的使用者176" initials="未" lastIdx="1" clrIdx="0"/>
  <p:cmAuthor id="361" name="未知的使用者187" initials="未" lastIdx="1" clrIdx="0"/>
  <p:cmAuthor id="362" name="未知的使用者178" initials="未" lastIdx="1" clrIdx="0"/>
  <p:cmAuthor id="363" name="未知的使用者179" initials="未" lastIdx="1" clrIdx="0"/>
  <p:cmAuthor id="364" name="未知的使用者180" initials="未" lastIdx="2" clrIdx="0"/>
  <p:cmAuthor id="365" name="未知的使用者181" initials="未" lastIdx="7" clrIdx="1"/>
  <p:cmAuthor id="366" name="未知的使用者170" initials="未" lastIdx="43" clrIdx="1"/>
  <p:cmAuthor id="367" name="未知的使用者190" initials="未" lastIdx="1" clrIdx="1"/>
  <p:cmAuthor id="368" name="未知的使用者191" initials="未" lastIdx="1" clrIdx="0"/>
  <p:cmAuthor id="369" name="未知的使用者141" initials="未" lastIdx="8" clrIdx="0"/>
  <p:cmAuthor id="370" name="未知的使用者142" initials="未" lastIdx="1" clrIdx="0"/>
  <p:cmAuthor id="371" name="未知的使用者143" initials="未" lastIdx="1" clrIdx="0"/>
  <p:cmAuthor id="372" name="未知的使用者144" initials="未" lastIdx="1" clrIdx="0"/>
  <p:cmAuthor id="373" name="未知的使用者145" initials="未" lastIdx="1" clrIdx="0"/>
  <p:cmAuthor id="374" name="未知用户165" initials="未知用户165" lastIdx="1" clrIdx="0"/>
  <p:cmAuthor id="375" name="未知的使用者147" initials="未" lastIdx="1" clrIdx="0"/>
  <p:cmAuthor id="376" name="未知用户166" initials="未知用户166" lastIdx="8" clrIdx="0"/>
  <p:cmAuthor id="377" name="未知的使用者149" initials="未" lastIdx="8" clrIdx="0"/>
  <p:cmAuthor id="378" name="未知用户167" initials="未知用户167" lastIdx="1" clrIdx="0"/>
  <p:cmAuthor id="379" name="未知用户168" initials="未知用户168" lastIdx="1" clrIdx="0"/>
  <p:cmAuthor id="380" name="未知用户169" initials="未知用户169" lastIdx="1" clrIdx="1"/>
  <p:cmAuthor id="381" name="未知用户202" initials="未" lastIdx="8" clrIdx="0"/>
  <p:cmAuthor id="382" name="未知的使用者220" initials="未" lastIdx="7" clrIdx="1"/>
  <p:cmAuthor id="383" name="未知用户133" initials="未" lastIdx="1" clrIdx="0"/>
  <p:cmAuthor id="384" name="未知用户134" initials="未" lastIdx="10" clrIdx="0"/>
  <p:cmAuthor id="385" name="未知用户135" initials="未" lastIdx="1" clrIdx="0"/>
  <p:cmAuthor id="386" name="未知用户205" initials="未" lastIdx="1" clrIdx="0"/>
  <p:cmAuthor id="387" name="未知的使用者157" initials="未" lastIdx="1" clrIdx="0"/>
  <p:cmAuthor id="388" name="未知的使用者204" initials="未" lastIdx="1" clrIdx="0"/>
  <p:cmAuthor id="389" name="Yoyo Wu" initials="Y" lastIdx="2" clrIdx="0"/>
  <p:cmAuthor id="390" name="zhangbin" initials="z" lastIdx="6" clrIdx="0"/>
  <p:cmAuthor id="391" name="Arno.Du(杜明星)" initials="A" lastIdx="0" clrIdx="0"/>
  <p:cmAuthor id="392" name="未知用户174" initials="未知用户174" lastIdx="1" clrIdx="0"/>
  <p:cmAuthor id="393" name="未知用户175" initials="未知用户175" lastIdx="1" clrIdx="1"/>
  <p:cmAuthor id="394" name="Unknown User27" initials="U" lastIdx="1" clrIdx="0"/>
  <p:cmAuthor id="395" name="Unknown User11" initials="U" lastIdx="0" clrIdx="1"/>
  <p:cmAuthor id="396" name="Unknown User112" initials="U" lastIdx="1" clrIdx="0"/>
  <p:cmAuthor id="397" name="Unknown User59" initials="U" lastIdx="1" clrIdx="0"/>
  <p:cmAuthor id="398" name="未知用户176" initials="未知用户176" lastIdx="1" clrIdx="0"/>
  <p:cmAuthor id="399" name="未知的使用者249" initials="未" lastIdx="43" clrIdx="1"/>
  <p:cmAuthor id="400" name="未知的使用者250" initials="未" lastIdx="1" clrIdx="0"/>
  <p:cmAuthor id="401" name="未知的使用者251" initials="未" lastIdx="1" clrIdx="0"/>
  <p:cmAuthor id="402" name="未知的使用者246" initials="未" lastIdx="1" clrIdx="1"/>
  <p:cmAuthor id="403" name="未知的使用者224" initials="未" lastIdx="1" clrIdx="0"/>
  <p:cmAuthor id="404" name="未知的使用者252" initials="未" lastIdx="1" clrIdx="0"/>
  <p:cmAuthor id="405" name="未知的使用者253" initials="未" lastIdx="1" clrIdx="0"/>
  <p:cmAuthor id="406" name="未知的使用者254" initials="未" lastIdx="1" clrIdx="0"/>
  <p:cmAuthor id="407" name="未知的使用者255" initials="未" lastIdx="1" clrIdx="0"/>
  <p:cmAuthor id="408" name="未知的使用者226" initials="未" lastIdx="8" clrIdx="0"/>
  <p:cmAuthor id="410" name="未知用户195" initials="未" lastIdx="1" clrIdx="0"/>
  <p:cmAuthor id="411" name="raymond luan" initials="r" lastIdx="0" clrIdx="0"/>
  <p:cmAuthor id="412" name="未知用户208" initials="未" lastIdx="1" clrIdx="0"/>
  <p:cmAuthor id="413" name="未知用户198" initials="未" lastIdx="1" clrIdx="0"/>
  <p:cmAuthor id="414" name="未知用户209" initials="未" lastIdx="1" clrIdx="0"/>
  <p:cmAuthor id="415" name="未知用户36" initials="未" lastIdx="1" clrIdx="0"/>
  <p:cmAuthor id="416" name="Evonlin" initials="E" lastIdx="2" clrIdx="2"/>
  <p:cmAuthor id="417" name="WANGZF" initials="W" lastIdx="4" clrIdx="2"/>
  <p:cmAuthor id="418" name="未知用户94" initials="未" lastIdx="0" clrIdx="1"/>
  <p:cmAuthor id="419" name="未知的使用者188" initials="未" lastIdx="1" clrIdx="0"/>
  <p:cmAuthor id="420" name="未知用户118" initials="未" lastIdx="1" clrIdx="0"/>
  <p:cmAuthor id="421" name="未知用户119" initials="未" lastIdx="5" clrIdx="1"/>
  <p:cmAuthor id="422" name="未知用户120" initials="未" lastIdx="8" clrIdx="0"/>
  <p:cmAuthor id="423" name="未知用户121" initials="未" lastIdx="1" clrIdx="0"/>
  <p:cmAuthor id="424" name="未知用户122" initials="未" lastIdx="1" clrIdx="0"/>
  <p:cmAuthor id="426" name="梅芬 吳" initials="梅" lastIdx="1" clrIdx="85"/>
  <p:cmAuthor id="427" name="王嘉偉" initials="王" lastIdx="2" clrIdx="0"/>
  <p:cmAuthor id="429" name="未知的使用者211" initials="" lastIdx="1" clrIdx="0"/>
  <p:cmAuthor id="430" name="未知的使用者134" initials="未" lastIdx="1" clrIdx="0"/>
  <p:cmAuthor id="431" name="未知的使用者136" initials="未" lastIdx="1" clrIdx="0"/>
  <p:cmAuthor id="432" name="未知的使用者139" initials="未" lastIdx="1" clrIdx="0"/>
  <p:cmAuthor id="433" name="未知的使用者140" initials="未" lastIdx="1" clrIdx="1"/>
  <p:cmAuthor id="434" name="未知的使用者197" initials="未" lastIdx="8" clrIdx="0"/>
  <p:cmAuthor id="435" name="王丽君" initials="王" lastIdx="4" clrIdx="0"/>
  <p:cmAuthor id="436" name="Xia Ting" initials="X" lastIdx="1" clrIdx="0"/>
  <p:cmAuthor id="437" name="未知的使用者153" initials="未" lastIdx="1" clrIdx="0"/>
  <p:cmAuthor id="438" name="未知的使用者154" initials="未" lastIdx="1" clrIdx="0"/>
  <p:cmAuthor id="439" name="未知用户10" initials="未" lastIdx="1" clrIdx="0"/>
  <p:cmAuthor id="440" name="未知用户11" initials="未" lastIdx="1" clrIdx="0"/>
  <p:cmAuthor id="441" name="未知的使用者151" initials="未" lastIdx="1" clrIdx="0"/>
  <p:cmAuthor id="442" name="未知的使用者89" initials="未" lastIdx="1" clrIdx="2"/>
  <p:cmAuthor id="443" name="未知的使用者88" initials="未" lastIdx="1" clrIdx="1"/>
  <p:cmAuthor id="444" name="未知用户89" initials="未" lastIdx="11" clrIdx="0"/>
  <p:cmAuthor id="445" name="庆芳 许" initials="庆" lastIdx="1" clrIdx="0"/>
  <p:cmAuthor id="446" name="jerrychou" initials="j" lastIdx="1" clrIdx="4"/>
  <p:cmAuthor id="447" name="不明使用者12" initials="不" lastIdx="3" clrIdx="1"/>
  <p:cmAuthor id="448" name="不明使用者1" initials="不" lastIdx="0" clrIdx="0"/>
  <p:cmAuthor id="449" name="不明使用者2" initials="不" lastIdx="2" clrIdx="0"/>
  <p:cmAuthor id="450" name="不明使用者3" initials="不" lastIdx="1" clrIdx="0"/>
  <p:cmAuthor id="451" name="不明使用者4" initials="不" lastIdx="1" clrIdx="0"/>
  <p:cmAuthor id="452" name="不明使用者6" initials="不" lastIdx="1" clrIdx="0"/>
  <p:cmAuthor id="453" name="不明使用者5" initials="不" lastIdx="11" clrIdx="0"/>
  <p:cmAuthor id="454" name="不明使用者7" initials="不" lastIdx="7" clrIdx="1"/>
  <p:cmAuthor id="455" name="不明使用者8" initials="不" lastIdx="43" clrIdx="1"/>
  <p:cmAuthor id="456" name="不明使用者9" initials="不" lastIdx="1" clrIdx="0"/>
  <p:cmAuthor id="457" name="不明使用者10" initials="不" lastIdx="0" clrIdx="0"/>
  <p:cmAuthor id="458" name="不明使用者11" initials="不" lastIdx="1" clrIdx="0"/>
  <p:cmAuthor id="459" name="未知的使用者227" initials="未" lastIdx="2" clrIdx="0"/>
  <p:cmAuthor id="460" name="未知的使用者270" initials="未" lastIdx="1" clrIdx="0"/>
  <p:cmAuthor id="461" name="未知的使用者228" initials="未" lastIdx="8" clrIdx="0"/>
  <p:cmAuthor id="462" name="未知的使用者229" initials="未" lastIdx="8" clrIdx="0"/>
  <p:cmAuthor id="463" name="未知的使用者230" initials="未" lastIdx="1" clrIdx="0"/>
  <p:cmAuthor id="464" name="未知的使用者231" initials="未" lastIdx="1" clrIdx="0"/>
  <p:cmAuthor id="465" name="未知的使用者256" initials="未" lastIdx="1" clrIdx="0"/>
  <p:cmAuthor id="466" name="未知的使用者233" initials="未" lastIdx="1" clrIdx="0"/>
  <p:cmAuthor id="467" name="未知的使用者234" initials="未" lastIdx="10" clrIdx="0"/>
  <p:cmAuthor id="468" name="未知的使用者235" initials="未" lastIdx="1" clrIdx="0"/>
  <p:cmAuthor id="469" name="未知的使用者236" initials="未" lastIdx="1" clrIdx="0"/>
  <p:cmAuthor id="470" name="未知的使用者257" initials="未" lastIdx="1" clrIdx="0"/>
  <p:cmAuthor id="471" name="未知的使用者237" initials="未" lastIdx="1" clrIdx="0"/>
  <p:cmAuthor id="472" name="未知的使用者238" initials="未" lastIdx="2" clrIdx="0"/>
  <p:cmAuthor id="473" name="未知的使用者239" initials="未" lastIdx="1" clrIdx="1"/>
  <p:cmAuthor id="474" name="未知的使用者240" initials="未" lastIdx="1" clrIdx="0"/>
  <p:cmAuthor id="475" name="未知的使用者241" initials="未" lastIdx="1" clrIdx="0"/>
  <p:cmAuthor id="476" name="未知的使用者242" initials="未" lastIdx="2" clrIdx="0"/>
  <p:cmAuthor id="477" name="未知的使用者243" initials="未" lastIdx="1" clrIdx="0"/>
  <p:cmAuthor id="478" name="未知的使用者258" initials="未" lastIdx="8" clrIdx="0"/>
  <p:cmAuthor id="479" name="未知的使用者259" initials="未" lastIdx="1" clrIdx="0"/>
  <p:cmAuthor id="480" name="未知的使用者260" initials="未" lastIdx="1" clrIdx="0"/>
  <p:cmAuthor id="481" name="未知的使用者261" initials="未" lastIdx="11" clrIdx="0"/>
  <p:cmAuthor id="482" name="未知的使用者262" initials="未" lastIdx="7" clrIdx="1"/>
  <p:cmAuthor id="483" name="未知的使用者263" initials="未" lastIdx="1" clrIdx="2"/>
  <p:cmAuthor id="484" name="未知的使用者264" initials="未" lastIdx="1" clrIdx="0"/>
  <p:cmAuthor id="485" name="未知的使用者265" initials="未" lastIdx="1" clrIdx="0"/>
  <p:cmAuthor id="2000" name="李婧宜_YBferYVR" initials="authorId_1217247658" lastIdx="0" clrIdx="0"/>
  <p:cmAuthor id="486" name="未知的使用者266" initials="未" lastIdx="1" clrIdx="1"/>
  <p:cmAuthor id="2001" name="骆倩怡_Znauj26B" initials="authorId_382814100" lastIdx="0" clrIdx="0"/>
  <p:cmAuthor id="487" name="未知的使用者267" initials="未" lastIdx="1" clrIdx="0"/>
  <p:cmAuthor id="2002" name="金宇峰_BfyebuM3" initials="authorId_1008746-10054633" lastIdx="0" clrIdx="0"/>
  <p:cmAuthor id="488" name="未知的使用者268" initials="未" lastIdx="2" clrIdx="0"/>
  <p:cmAuthor id="2003" name="administrator" initials="ad" lastIdx="3" clrIdx="23"/>
  <p:cmAuthor id="489" name="未知的使用者269" initials="未" lastIdx="7" clrIdx="1"/>
  <p:cmAuthor id="2004" name="范 斌" initials="范" lastIdx="1" clrIdx="36"/>
  <p:cmAuthor id="490" name="lillian" initials="l" lastIdx="1" clrIdx="0"/>
  <p:cmAuthor id="2005" name="毕邺" initials="党委办公室" lastIdx="2" clrIdx="37"/>
  <p:cmAuthor id="491" name="未知用户197" initials="未" lastIdx="1" clrIdx="0"/>
  <p:cmAuthor id="492" name="未知的使用者217" initials="未" lastIdx="1" clrIdx="1"/>
  <p:cmAuthor id="493" name="未知的使用者218" initials="未" lastIdx="1" clrIdx="0"/>
  <p:cmAuthor id="494" name="未知的使用者219" initials="未" lastIdx="2" clrIdx="0"/>
  <p:cmAuthor id="496" name="未知的使用者152" initials="未" lastIdx="8" clrIdx="0"/>
  <p:cmAuthor id="499" name="未知的使用者156" initials="未" lastIdx="1" clrIdx="0"/>
  <p:cmAuthor id="502" name="未知用户246" initials="未" lastIdx="1" clrIdx="0"/>
  <p:cmAuthor id="503" name="未知的使用者129" initials="未" lastIdx="1" clrIdx="0"/>
  <p:cmAuthor id="504" name="未知的使用者130" initials="未" lastIdx="8" clrIdx="0"/>
  <p:cmAuthor id="505" name="未知的使用者131" initials="未" lastIdx="2" clrIdx="0"/>
  <p:cmAuthor id="506" name="未知的使用者132" initials="未" lastIdx="8" clrIdx="0"/>
  <p:cmAuthor id="507" name="未知的使用者164" initials="未" lastIdx="8" clrIdx="0"/>
  <p:cmAuthor id="508" name="未知的使用者172" initials="未" lastIdx="1" clrIdx="0"/>
  <p:cmAuthor id="509" name="未知的使用者174" initials="未" lastIdx="1" clrIdx="0"/>
  <p:cmAuthor id="510" name="未知用户261" initials="未" lastIdx="1" clrIdx="0"/>
  <p:cmAuthor id="511" name="未知的使用者247" initials="未" lastIdx="6" clrIdx="0"/>
  <p:cmAuthor id="518" name="alexw" initials="a" lastIdx="2" clrIdx="517"/>
  <p:cmAuthor id="521" name="未知用户268" initials="未" lastIdx="1" clrIdx="0"/>
  <p:cmAuthor id="522" name="未知用户269" initials="未" lastIdx="2" clrIdx="0"/>
  <p:cmAuthor id="524" name="未知用户250" initials="未" lastIdx="0" clrIdx="0"/>
  <p:cmAuthor id="525" name="未知用户272" initials="未" lastIdx="10" clrIdx="0"/>
  <p:cmAuthor id="8535702" name="曾蓓/贝贝" initials="曾" lastIdx="0" clrIdx="0"/>
  <p:cmAuthor id="381437688" name="谢学斌" initials="谢" lastIdx="0" clrIdx="0"/>
  <p:cmAuthor id="528" name="cs" initials="x" lastIdx="3" clrIdx="527"/>
  <p:cmAuthor id="529" name="孟令坤" initials="MLK" lastIdx="9" clrIdx="528"/>
  <p:cmAuthor id="532" name="未知的使用者200" initials="未" lastIdx="1" clrIdx="0"/>
  <p:cmAuthor id="534" name="未知的使用者171" initials="未" lastIdx="3" clrIdx="1"/>
  <p:cmAuthor id="553" name="刘晖" initials="刘" lastIdx="1" clrIdx="0"/>
  <p:cmAuthor id="557" name="未知用户157" initials="未" lastIdx="8" clrIdx="0"/>
  <p:cmAuthor id="558" name="未知用户158" initials="未" lastIdx="2" clrIdx="0"/>
  <p:cmAuthor id="559" name="未知用户159" initials="未" lastIdx="1" clrIdx="0"/>
  <p:cmAuthor id="560" name="未知用户160" initials="未" lastIdx="2" clrIdx="0"/>
  <p:cmAuthor id="562" name="順天" initials="順" lastIdx="1" clrIdx="0"/>
  <p:cmAuthor id="563" name="未知用户321" initials="未" lastIdx="1" clrIdx="0"/>
  <p:cmAuthor id="564" name="未知用户319" initials="未" lastIdx="1" clrIdx="0"/>
  <p:cmAuthor id="566" name="未知用户87" initials="未" lastIdx="1" clrIdx="0"/>
  <p:cmAuthor id="567" name="未知用户88" initials="未" lastIdx="1" clrIdx="0"/>
  <p:cmAuthor id="569" name="未知用户211" initials="未" lastIdx="8" clrIdx="0"/>
  <p:cmAuthor id="570" name="未知用户110" initials="未" lastIdx="1" clrIdx="0"/>
  <p:cmAuthor id="571" name="未知用户293" initials="未" lastIdx="1" clrIdx="0"/>
  <p:cmAuthor id="572" name="未知用户201" initials="未" lastIdx="8" clrIdx="0"/>
  <p:cmAuthor id="573" name="未知用户294" initials="未" lastIdx="1" clrIdx="1"/>
  <p:cmAuthor id="574" name="未知用户278" initials="未" lastIdx="1" clrIdx="0"/>
  <p:cmAuthor id="575" name="未知用户279" initials="未" lastIdx="1" clrIdx="0"/>
  <p:cmAuthor id="576" name="未知用户280" initials="未" lastIdx="4" clrIdx="2"/>
  <p:cmAuthor id="577" name="未知用户281" initials="未" lastIdx="1" clrIdx="0"/>
  <p:cmAuthor id="578" name="未知用户282" initials="未" lastIdx="3" clrIdx="1"/>
  <p:cmAuthor id="579" name="未知用户283" initials="未" lastIdx="1" clrIdx="1"/>
  <p:cmAuthor id="580" name="未知用户284" initials="未" lastIdx="1" clrIdx="0"/>
  <p:cmAuthor id="581" name="guanhh" initials="g" lastIdx="3" clrIdx="0"/>
  <p:cmAuthor id="583" name="未知用户192" initials="未" lastIdx="1" clrIdx="0"/>
  <p:cmAuthor id="584" name="未知用户203" initials="未" lastIdx="1" clrIdx="1"/>
  <p:cmAuthor id="585" name="未知用户290" initials="未" lastIdx="2" clrIdx="0"/>
  <p:cmAuthor id="586" name="未知用户291" initials="未" lastIdx="8" clrIdx="0"/>
  <p:cmAuthor id="587" name="未知用户292" initials="未" lastIdx="1" clrIdx="0"/>
  <p:cmAuthor id="588" name="未知用户184" initials="未" lastIdx="1" clrIdx="1"/>
  <p:cmAuthor id="210492765" name="施普希（菜菜）" initials="施" lastIdx="0" clrIdx="0"/>
  <p:cmAuthor id="589" name="未知用户295" initials="未" lastIdx="1" clrIdx="0"/>
  <p:cmAuthor id="210492766" name="曹 朝辉" initials="曹" lastIdx="1" clrIdx="14"/>
  <p:cmAuthor id="590" name="未知用户297" initials="未" lastIdx="1" clrIdx="0"/>
  <p:cmAuthor id="210492767" name="李 嘉" initials="李" lastIdx="1" clrIdx="26"/>
  <p:cmAuthor id="591" name="未知用户181" initials="未" lastIdx="2" clrIdx="0"/>
  <p:cmAuthor id="210492768" name="gus9@chinaunicom.cn" initials="g" lastIdx="4" clrIdx="27"/>
  <p:cmAuthor id="592" name="ye gusong" initials="y" lastIdx="1" clrIdx="0"/>
  <p:cmAuthor id="593" name="wei muzi" initials="w" lastIdx="1" clrIdx="4"/>
  <p:cmAuthor id="594" name="孙" initials="孙" lastIdx="1" clrIdx="50"/>
  <p:cmAuthor id="595" name="未知用户187" initials="未" lastIdx="10" clrIdx="0"/>
  <p:cmAuthor id="596" name="Microsoft Office User" initials="M" lastIdx="2" clrIdx="86"/>
  <p:cmAuthor id="597" name="catherine" initials="c" lastIdx="1" clrIdx="1"/>
  <p:cmAuthor id="600" name="未知用户287" initials="未" lastIdx="0" clrIdx="1"/>
  <p:cmAuthor id="601" name="未知用户288" initials="未" lastIdx="1" clrIdx="0"/>
  <p:cmAuthor id="602" name="未知用户229" initials="未" lastIdx="0" clrIdx="0"/>
  <p:cmAuthor id="603" name="�Ÿ�" initials="�" lastIdx="1" clrIdx="0"/>
  <p:cmAuthor id="605" name="yudi lin" initials="y" lastIdx="0" clrIdx="0"/>
  <p:cmAuthor id="607" name="liuzga" initials="l" lastIdx="1" clrIdx="3"/>
  <p:cmAuthor id="608" name="49554261@qq.com" initials="4" lastIdx="2" clrIdx="2"/>
  <p:cmAuthor id="609" name="未知用户230" initials="未" lastIdx="1" clrIdx="0"/>
  <p:cmAuthor id="610" name="未知用户241" initials="未" lastIdx="1" clrIdx="0"/>
  <p:cmAuthor id="611" name="未知用户216" initials="未" lastIdx="1" clrIdx="0"/>
  <p:cmAuthor id="612" name="未知用户266" initials="未" lastIdx="1" clrIdx="1"/>
  <p:cmAuthor id="613" name="未知用户243" initials="未" lastIdx="1" clrIdx="0"/>
  <p:cmAuthor id="614" name="未知用户196" initials="未" lastIdx="1" clrIdx="0"/>
  <p:cmAuthor id="616" name="未知用户219" initials="未" lastIdx="6" clrIdx="0"/>
  <p:cmAuthor id="617" name="未知用户222" initials="未" lastIdx="1" clrIdx="0"/>
  <p:cmAuthor id="618" name="未知用户200" initials="未" lastIdx="8" clrIdx="0"/>
  <p:cmAuthor id="619" name="未知用户213" initials="未" lastIdx="1" clrIdx="0"/>
  <p:cmAuthor id="620" name="未知用户214" initials="未" lastIdx="2" clrIdx="0"/>
  <p:cmAuthor id="621" name="未知用户215" initials="未" lastIdx="1" clrIdx="0"/>
  <p:cmAuthor id="622" name="未知用户231" initials="未" lastIdx="1" clrIdx="0"/>
  <p:cmAuthor id="623" name="未知用户233" initials="未" lastIdx="11" clrIdx="0"/>
  <p:cmAuthor id="624" name="未知用户234" initials="未" lastIdx="7" clrIdx="1"/>
  <p:cmAuthor id="625" name="未知用户235" initials="未" lastIdx="1" clrIdx="2"/>
  <p:cmAuthor id="626" name="未知用户236" initials="未" lastIdx="1" clrIdx="0"/>
  <p:cmAuthor id="627" name="未知用户237" initials="未" lastIdx="1" clrIdx="0"/>
  <p:cmAuthor id="628" name="未知用户240" initials="未" lastIdx="2" clrIdx="0"/>
  <p:cmAuthor id="629" name="未知用户221" initials="未" lastIdx="44" clrIdx="1"/>
  <p:cmAuthor id="630" name="v15194" initials="v" lastIdx="5" clrIdx="87"/>
  <p:cmAuthor id="631" name="未知用户276" initials="未" lastIdx="2" clrIdx="0"/>
  <p:cmAuthor id="632" name="未知用户263" initials="未" lastIdx="2" clrIdx="0"/>
  <p:cmAuthor id="633" name="Carol Kelly" initials="C" lastIdx="1" clrIdx="0"/>
  <p:cmAuthor id="634" name="未知的使用者155" initials="未" lastIdx="1" clrIdx="0"/>
  <p:cmAuthor id="637" name="Unknown User55" initials="U" lastIdx="1" clrIdx="1"/>
  <p:cmAuthor id="638" name="未知用户343" initials="未" lastIdx="1" clrIdx="0"/>
  <p:cmAuthor id="639" name="Huipeng Cao" initials="H" lastIdx="1" clrIdx="0"/>
  <p:cmAuthor id="640" name="李 雷雨" initials="李" lastIdx="2" clrIdx="0"/>
  <p:cmAuthor id="641" name="91257" initials="9" lastIdx="0" clrIdx="1"/>
  <p:cmAuthor id="642" name="vicky" initials="v" lastIdx="2" clrIdx="1"/>
  <p:cmAuthor id="643" name="未知用户358" initials="未" lastIdx="1" clrIdx="0"/>
  <p:cmAuthor id="644" name="未知用户359" initials="未" lastIdx="1" clrIdx="0"/>
  <p:cmAuthor id="645" name="未知用户360" initials="未" lastIdx="10" clrIdx="0"/>
  <p:cmAuthor id="646" name="未知用户361" initials="未" lastIdx="1" clrIdx="0"/>
  <p:cmAuthor id="647" name="未知用户364" initials="未" lastIdx="2" clrIdx="0"/>
  <p:cmAuthor id="708433798" name="jialuo" initials="j" lastIdx="0" clrIdx="0"/>
  <p:cmAuthor id="708433799" name="慧君 玄" initials="慧玄" lastIdx="1" clrIdx="529"/>
  <p:cmAuthor id="652" name="未知用户308" initials="未" lastIdx="3" clrIdx="0"/>
  <p:cmAuthor id="656" name="未知用户333" initials="未" lastIdx="1" clrIdx="0"/>
  <p:cmAuthor id="657" name="未知用户334" initials="未" lastIdx="1" clrIdx="0"/>
  <p:cmAuthor id="658" name="Think" initials="T" lastIdx="6" clrIdx="3"/>
  <p:cmAuthor id="659" name="未知用户341" initials="未" lastIdx="1" clrIdx="0"/>
  <p:cmAuthor id="660" name="未知用户342" initials="未" lastIdx="1" clrIdx="0"/>
  <p:cmAuthor id="662" name="敢 王" initials="敢" lastIdx="1" clrIdx="0"/>
  <p:cmAuthor id="663" name="邓 勇" initials="邓" lastIdx="1" clrIdx="0"/>
  <p:cmAuthor id="664" name="陈城" initials="陈" lastIdx="0" clrIdx="2"/>
  <p:cmAuthor id="665" name="Sharon" initials="S" lastIdx="1" clrIdx="2"/>
  <p:cmAuthor id="666" name="yangxy" initials="y" lastIdx="1" clrIdx="88"/>
  <p:cmAuthor id="667" name="未知用户368" initials="未" lastIdx="2" clrIdx="0"/>
  <p:cmAuthor id="668" name="未知用户403" initials="未" lastIdx="1" clrIdx="0"/>
  <p:cmAuthor id="669" name="未知用户402" initials="未" lastIdx="1" clrIdx="0"/>
  <p:cmAuthor id="670" name="未知用户379" initials="未" lastIdx="10" clrIdx="0"/>
  <p:cmAuthor id="671" name="未知用户380" initials="未" lastIdx="1" clrIdx="0"/>
  <p:cmAuthor id="672" name="未知用户405" initials="未" lastIdx="2" clrIdx="0"/>
  <p:cmAuthor id="673" name="未知用户382" initials="未" lastIdx="1" clrIdx="0"/>
  <p:cmAuthor id="674" name="未知用户383" initials="未" lastIdx="1" clrIdx="0"/>
  <p:cmAuthor id="394525608" name="仇怿俊" initials="仇" lastIdx="0" clrIdx="0"/>
  <p:cmAuthor id="675" name="未知用户384" initials="未" lastIdx="1" clrIdx="1"/>
  <p:cmAuthor id="394525609" name="zhangtong@cmiot.cmcc" initials="A" lastIdx="1" clrIdx="29"/>
  <p:cmAuthor id="676" name="未知用户385" initials="未" lastIdx="7" clrIdx="0"/>
  <p:cmAuthor id="394525610" name="李 雨桐" initials="李" lastIdx="1" clrIdx="50"/>
  <p:cmAuthor id="677" name="未知用户386" initials="未" lastIdx="3" clrIdx="0"/>
  <p:cmAuthor id="394525611" name="ShanQiu LH" initials="SL" lastIdx="1" clrIdx="51"/>
  <p:cmAuthor id="678" name="未知用户387" initials="未" lastIdx="1" clrIdx="0"/>
  <p:cmAuthor id="394525612" name="goulei" initials="g" lastIdx="2" clrIdx="41"/>
  <p:cmAuthor id="679" name="未知用户388" initials="未" lastIdx="0" clrIdx="0"/>
  <p:cmAuthor id="680" name="未知用户411" initials="未" lastIdx="1" clrIdx="0"/>
  <p:cmAuthor id="681" name="未知用户389" initials="未" lastIdx="9" clrIdx="0"/>
  <p:cmAuthor id="682" name="未知用户390" initials="未" lastIdx="1" clrIdx="0"/>
  <p:cmAuthor id="683" name="未知用户391" initials="未" lastIdx="1" clrIdx="0"/>
  <p:cmAuthor id="684" name="未知用户392" initials="未" lastIdx="2" clrIdx="0"/>
  <p:cmAuthor id="685" name="未知用户393" initials="未" lastIdx="1" clrIdx="0"/>
  <p:cmAuthor id="686" name="未知用户394" initials="未" lastIdx="1" clrIdx="0"/>
  <p:cmAuthor id="687" name="未知用户395" initials="未" lastIdx="0" clrIdx="0"/>
  <p:cmAuthor id="688" name="未知用户396" initials="未" lastIdx="1" clrIdx="0"/>
  <p:cmAuthor id="689" name="未知用户406" initials="未" lastIdx="1" clrIdx="0"/>
  <p:cmAuthor id="690" name="未知用户397" initials="未" lastIdx="1" clrIdx="1"/>
  <p:cmAuthor id="691" name="未知用户407" initials="未" lastIdx="1" clrIdx="0"/>
  <p:cmAuthor id="47245819" name="群智集" initials="群" lastIdx="0" clrIdx="0"/>
  <p:cmAuthor id="692" name="未知用户398" initials="未" lastIdx="1" clrIdx="0"/>
  <p:cmAuthor id="47245820" name="郏 鹏" initials="郏" lastIdx="1" clrIdx="16"/>
  <p:cmAuthor id="693" name="未知用户399" initials="未" lastIdx="1" clrIdx="0"/>
  <p:cmAuthor id="47245821" name="郏鹏" initials="M" lastIdx="1" clrIdx="17"/>
  <p:cmAuthor id="694" name="未知用户400" initials="未" lastIdx="2" clrIdx="0"/>
  <p:cmAuthor id="695" name="未知用户401" initials="未" lastIdx="2" clrIdx="0"/>
  <p:cmAuthor id="696" name="未知用户420" initials="未" lastIdx="1" clrIdx="0"/>
  <p:cmAuthor id="697" name="未知用户421" initials="未" lastIdx="1" clrIdx="0"/>
  <p:cmAuthor id="1455940311" name="张荣胜" initials="张" lastIdx="10" clrIdx="10"/>
  <p:cmAuthor id="698" name="未知用户422" initials="未" lastIdx="10" clrIdx="0"/>
  <p:cmAuthor id="1455940312" name="荣胜 张" initials="荣张" lastIdx="1" clrIdx="11"/>
  <p:cmAuthor id="699" name="未知用户423" initials="未" lastIdx="1" clrIdx="0"/>
  <p:cmAuthor id="700" name="未知用户424" initials="未" lastIdx="2" clrIdx="0"/>
  <p:cmAuthor id="701" name="未知用户419" initials="未" lastIdx="2" clrIdx="0"/>
  <p:cmAuthor id="702" name="未知用户425" initials="未" lastIdx="1" clrIdx="0"/>
  <p:cmAuthor id="703" name="未知用户426" initials="未" lastIdx="1" clrIdx="0"/>
  <p:cmAuthor id="704" name="未知用户427" initials="未" lastIdx="1" clrIdx="1"/>
  <p:cmAuthor id="705" name="未知用户428" initials="未" lastIdx="7" clrIdx="0"/>
  <p:cmAuthor id="706" name="未知用户429" initials="未" lastIdx="3" clrIdx="0"/>
  <p:cmAuthor id="707" name="未知用户430" initials="未" lastIdx="1" clrIdx="0"/>
  <p:cmAuthor id="708" name="未知用户431" initials="未" lastIdx="1" clrIdx="0"/>
  <p:cmAuthor id="709" name="未知用户432" initials="未" lastIdx="0" clrIdx="0"/>
  <p:cmAuthor id="710" name="未知用户433" initials="未" lastIdx="1" clrIdx="0"/>
  <p:cmAuthor id="711" name="未知用户434" initials="未" lastIdx="9" clrIdx="0"/>
  <p:cmAuthor id="712" name="未知用户435" initials="未" lastIdx="1" clrIdx="0"/>
  <p:cmAuthor id="713" name="未知用户436" initials="未" lastIdx="1" clrIdx="0"/>
  <p:cmAuthor id="714" name="未知用户437" initials="未" lastIdx="2" clrIdx="0"/>
  <p:cmAuthor id="715" name="未知用户438" initials="未" lastIdx="1" clrIdx="0"/>
  <p:cmAuthor id="716" name="未知用户417" initials="未" lastIdx="10" clrIdx="0"/>
  <p:cmAuthor id="717" name="未知用户439" initials="未" lastIdx="1" clrIdx="0"/>
  <p:cmAuthor id="718" name="未知用户440" initials="未" lastIdx="0" clrIdx="0"/>
  <p:cmAuthor id="719" name="未知用户441" initials="未" lastIdx="1" clrIdx="0"/>
  <p:cmAuthor id="720" name="未知用户442" initials="未" lastIdx="1" clrIdx="0"/>
  <p:cmAuthor id="29922660" name="杨强" initials="杨" lastIdx="0" clrIdx="0"/>
  <p:cmAuthor id="721" name="未知用户443" initials="未" lastIdx="1" clrIdx="1"/>
  <p:cmAuthor id="29922661" name="檀晟 陈" initials="檀晟" lastIdx="1" clrIdx="10"/>
  <p:cmAuthor id="722" name="未知用户444" initials="未" lastIdx="1" clrIdx="0"/>
  <p:cmAuthor id="723" name="未知用户445" initials="未" lastIdx="1" clrIdx="0"/>
  <p:cmAuthor id="724" name="未知用户446" initials="未" lastIdx="1" clrIdx="0"/>
  <p:cmAuthor id="725" name="未知用户447" initials="未" lastIdx="2" clrIdx="0"/>
  <p:cmAuthor id="726" name="未知用户448" initials="未" lastIdx="2" clrIdx="0"/>
  <p:cmAuthor id="49837069" name="李 富岩" initials="李" lastIdx="3" clrIdx="10"/>
  <p:cmAuthor id="49837071" name="YY" initials="Y" lastIdx="1" clrIdx="176"/>
  <p:cmAuthor id="747" name="wenle369@sina.com" initials="w" lastIdx="1" clrIdx="0"/>
  <p:cmAuthor id="752" name="554154816@qq.com" initials="5" lastIdx="0" clrIdx="0"/>
  <p:cmAuthor id="755" name="未知用户418" initials="未" lastIdx="1" clrIdx="0"/>
  <p:cmAuthor id="756" name="未知用户271" initials="未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D7D31"/>
    <a:srgbClr val="066FB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4" d="100"/>
          <a:sy n="84" d="100"/>
        </p:scale>
        <p:origin x="-756" y="-68"/>
      </p:cViewPr>
      <p:guideLst>
        <p:guide orient="horz" pos="1641"/>
        <p:guide pos="287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commentAuthors" Target="commentAuthors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theme" Target="theme/theme1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65CAA8-3493-41BC-A8DF-AAA15E94DAF1}" type="datetimeFigureOut">
              <a:rPr lang="zh-CN" altLang="en-US" smtClean="0"/>
              <a:t>2025/11/24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CF893C-66AC-4621-AFD9-87DACFB2E20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48404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本次信息化整体建设规划意义重大，旨在服务全省科技创新与产业创新深度融合，支撑省科技厅重点工作。</a:t>
            </a:r>
            <a:r>
              <a:rPr lang="en-US" altLang="zh-CN"/>
              <a:t>2023</a:t>
            </a:r>
            <a:r>
              <a:rPr lang="zh-CN" altLang="en-US"/>
              <a:t>年着重于数据应用等基础工作，构建数据中台，实现数据汇聚、共享与治理，同时上线科技成果转化线上平台等。垂类模型应用、地图引擎工具等也在这一年投入使用，为后续发展奠定基础。</a:t>
            </a:r>
            <a:r>
              <a:rPr lang="en-US" altLang="zh-CN"/>
              <a:t>
2024</a:t>
            </a:r>
            <a:r>
              <a:rPr lang="zh-CN" altLang="en-US"/>
              <a:t>年，建设重心转向服务创新生态，通过科技创新图谱支持战略决策、赋能产业发展，开展统计数据管理、项目过程管理等工作，进一步完善创新发展科技服务平台。</a:t>
            </a:r>
            <a:r>
              <a:rPr lang="en-US" altLang="zh-CN"/>
              <a:t>
</a:t>
            </a:r>
            <a:r>
              <a:rPr lang="zh-CN" altLang="en-US"/>
              <a:t>到</a:t>
            </a:r>
            <a:r>
              <a:rPr lang="en-US" altLang="zh-CN"/>
              <a:t>2025</a:t>
            </a:r>
            <a:r>
              <a:rPr lang="zh-CN" altLang="en-US"/>
              <a:t>年，目标是提升业务管理与服务能力，建立各类数据资源库，设立数据开放创新应用实验室。此外，还涉及人工智能创新中心、智库服务等对外业务，不同领域垂类模型也将持续发挥作用。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 dirty="0"/>
              <a:t>创新中心主要通过构建</a:t>
            </a:r>
            <a:r>
              <a:rPr lang="en-US" altLang="zh-CN" dirty="0"/>
              <a:t>5</a:t>
            </a:r>
            <a:r>
              <a:rPr lang="zh-CN" altLang="en-US" dirty="0"/>
              <a:t>大版块内容来支撑整体运作，包括</a:t>
            </a:r>
            <a:r>
              <a:rPr lang="en-US" altLang="zh-CN" dirty="0"/>
              <a:t>3</a:t>
            </a:r>
            <a:r>
              <a:rPr lang="zh-CN" altLang="en-US" dirty="0"/>
              <a:t>个垂类模型及相关配套、管理制度、标准规范、运营体系及安全保障。其中前期重点建设好“</a:t>
            </a:r>
            <a:r>
              <a:rPr lang="zh-CN" altLang="en-US" dirty="0">
                <a:solidFill>
                  <a:srgbClr val="2E75B6"/>
                </a:solidFill>
                <a:latin typeface="微软雅黑" pitchFamily="34" charset="-122"/>
                <a:ea typeface="微软雅黑" pitchFamily="34" charset="-122"/>
                <a:cs typeface="汉仪旗黑-55简" panose="00020600040101010101" charset="-128"/>
                <a:sym typeface="+mn-ea"/>
              </a:rPr>
              <a:t>人工智能+”智库服务、“人工智能+”成果转化</a:t>
            </a:r>
            <a:r>
              <a:rPr lang="en-US" altLang="zh-CN" dirty="0">
                <a:solidFill>
                  <a:srgbClr val="2E75B6"/>
                </a:solidFill>
                <a:latin typeface="微软雅黑" pitchFamily="34" charset="-122"/>
                <a:ea typeface="微软雅黑" pitchFamily="34" charset="-122"/>
                <a:cs typeface="汉仪旗黑-55简" panose="00020600040101010101" charset="-128"/>
                <a:sym typeface="+mn-ea"/>
              </a:rPr>
              <a:t>2</a:t>
            </a:r>
            <a:r>
              <a:rPr lang="zh-CN" altLang="en-US" dirty="0">
                <a:solidFill>
                  <a:srgbClr val="2E75B6"/>
                </a:solidFill>
                <a:latin typeface="微软雅黑" pitchFamily="34" charset="-122"/>
                <a:ea typeface="微软雅黑" pitchFamily="34" charset="-122"/>
                <a:cs typeface="汉仪旗黑-55简" panose="00020600040101010101" charset="-128"/>
                <a:sym typeface="+mn-ea"/>
              </a:rPr>
              <a:t>个垂类模型，对内通过支撑创新发展科技服务平台进行使用，提升院内研究及服务能力、支撑厅内工作，对外，通过山东省科技成果转化线上平台进行使用，并通过运营体系逐步对外赋能，服务全省智库、企业及高校院所，打造人工智能领域开放创新生态，</a:t>
            </a:r>
            <a:r>
              <a:rPr lang="zh-CN" altLang="en-US">
                <a:latin typeface="微软雅黑" charset="0"/>
                <a:ea typeface="微软雅黑" charset="0"/>
                <a:cs typeface="微软雅黑" charset="0"/>
                <a:sym typeface="+mn-ea"/>
              </a:rPr>
              <a:t>提升我省智库及成果转化服务水平，推动我省科技创新和产业创新深度融合。</a:t>
            </a:r>
            <a:endParaRPr lang="zh-CN" altLang="en-US" dirty="0">
              <a:solidFill>
                <a:srgbClr val="2E75B6"/>
              </a:solidFill>
              <a:latin typeface="微软雅黑" pitchFamily="34" charset="-122"/>
              <a:ea typeface="微软雅黑" pitchFamily="34" charset="-122"/>
              <a:cs typeface="汉仪旗黑-55简" panose="00020600040101010101" charset="-128"/>
              <a:sym typeface="+mn-ea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6837353-30EB-4A48-80EB-173D804AEFB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 Light" panose="020B0502040204020203" charset="-122"/>
                <a:ea typeface="微软雅黑 Light" panose="020B0502040204020203" charset="-122"/>
                <a:cs typeface="+mn-cs"/>
              </a:rPr>
              <a:t>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 Light" panose="020B0502040204020203" charset="-122"/>
              <a:ea typeface="微软雅黑 Light" panose="020B0502040204020203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 altLang="zh-CN" dirty="0" smtClean="0"/>
              <a:t>1. </a:t>
            </a:r>
            <a:r>
              <a:rPr lang="zh-CN" altLang="en-US" dirty="0" smtClean="0"/>
              <a:t>信息化系统：项目“底层操作系统”，负责内部流程数字化（如审批、台账、权限管理），为其他三者提供“基础运行环境”（比如大模型需要的内部数据存储、线上市场需要的后台权限体系）。</a:t>
            </a:r>
          </a:p>
          <a:p>
            <a:r>
              <a:rPr lang="en-US" altLang="zh-CN" dirty="0" smtClean="0"/>
              <a:t>2. </a:t>
            </a:r>
            <a:r>
              <a:rPr lang="zh-CN" altLang="en-US" dirty="0" smtClean="0"/>
              <a:t>线上科技大市场：项目“对外服务窗口”，核心是把大模型的工具化成果（如智能匹配、问答）落地为可使用的线上服务，不做底层研发和数据存储。</a:t>
            </a:r>
          </a:p>
          <a:p>
            <a:r>
              <a:rPr lang="en-US" altLang="zh-CN" dirty="0" smtClean="0"/>
              <a:t>3. </a:t>
            </a:r>
            <a:r>
              <a:rPr lang="zh-CN" altLang="en-US" dirty="0" smtClean="0"/>
              <a:t>数据采购项目：项目“外部数据燃料库”，核心职责是采购、清洗、合规化外部垂类数据，仅输出“基础数据资源”给信息化系统（存储）、大市场（查询）和大模型（训练</a:t>
            </a:r>
            <a:r>
              <a:rPr lang="en-US" altLang="zh-CN" dirty="0" smtClean="0"/>
              <a:t>/</a:t>
            </a:r>
            <a:r>
              <a:rPr lang="zh-CN" altLang="en-US" dirty="0" smtClean="0"/>
              <a:t>推理），不参与系统搭建或服务交付。</a:t>
            </a:r>
          </a:p>
          <a:p>
            <a:r>
              <a:rPr lang="en-US" altLang="zh-CN" dirty="0" smtClean="0"/>
              <a:t>4. </a:t>
            </a:r>
            <a:r>
              <a:rPr lang="zh-CN" altLang="en-US" dirty="0" smtClean="0"/>
              <a:t>垂类大模型研发：项目“智能能力引擎”，核心是基于“信息化系统的内部数据</a:t>
            </a:r>
            <a:r>
              <a:rPr lang="en-US" altLang="zh-CN" dirty="0" smtClean="0"/>
              <a:t>+</a:t>
            </a:r>
            <a:r>
              <a:rPr lang="zh-CN" altLang="en-US" dirty="0" smtClean="0"/>
              <a:t>数据采购项目的外部数据”，训练垂类模型，输出“智能功能模块”（如智能检索、自动生成），供信息化系统（内部效率提升）和线上科技大市场（对外服务升级）调用。</a:t>
            </a:r>
            <a:endParaRPr lang="zh-CN" alt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microsoft.com/office/2007/relationships/hdphoto" Target="../media/hdphoto2.wdp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7" Type="http://schemas.microsoft.com/office/2007/relationships/hdphoto" Target="../media/hdphoto1.wdp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image" Target="../media/image4.png"/><Relationship Id="rId5" Type="http://schemas.openxmlformats.org/officeDocument/2006/relationships/image" Target="../media/image2.png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tags" Target="../tags/tag6.xml"/><Relationship Id="rId2" Type="http://schemas.openxmlformats.org/officeDocument/2006/relationships/tags" Target="../tags/tag5.xml"/><Relationship Id="rId1" Type="http://schemas.openxmlformats.org/officeDocument/2006/relationships/tags" Target="../tags/tag4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7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tags" Target="../tags/tag10.xml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4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5" Type="http://schemas.microsoft.com/office/2007/relationships/hdphoto" Target="../media/hdphoto1.wdp"/><Relationship Id="rId4" Type="http://schemas.openxmlformats.org/officeDocument/2006/relationships/image" Target="../media/image4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Relationship Id="rId5" Type="http://schemas.microsoft.com/office/2007/relationships/hdphoto" Target="../media/hdphoto2.wdp"/><Relationship Id="rId4" Type="http://schemas.openxmlformats.org/officeDocument/2006/relationships/image" Target="../media/image4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tags" Target="../tags/tag13.xml"/><Relationship Id="rId7" Type="http://schemas.microsoft.com/office/2007/relationships/hdphoto" Target="../media/hdphoto1.wdp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6" Type="http://schemas.openxmlformats.org/officeDocument/2006/relationships/image" Target="../media/image4.png"/><Relationship Id="rId5" Type="http://schemas.openxmlformats.org/officeDocument/2006/relationships/image" Target="../media/image2.png"/><Relationship Id="rId4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tags" Target="../tags/tag16.xml"/><Relationship Id="rId2" Type="http://schemas.openxmlformats.org/officeDocument/2006/relationships/tags" Target="../tags/tag15.xml"/><Relationship Id="rId1" Type="http://schemas.openxmlformats.org/officeDocument/2006/relationships/tags" Target="../tags/tag14.xml"/><Relationship Id="rId5" Type="http://schemas.openxmlformats.org/officeDocument/2006/relationships/slideMaster" Target="../slideMasters/slideMaster2.xml"/><Relationship Id="rId4" Type="http://schemas.openxmlformats.org/officeDocument/2006/relationships/tags" Target="../tags/tag17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tags" Target="../tags/tag20.xml"/><Relationship Id="rId2" Type="http://schemas.openxmlformats.org/officeDocument/2006/relationships/tags" Target="../tags/tag19.xml"/><Relationship Id="rId1" Type="http://schemas.openxmlformats.org/officeDocument/2006/relationships/tags" Target="../tags/tag18.xml"/><Relationship Id="rId4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椭圆 16"/>
          <p:cNvSpPr/>
          <p:nvPr userDrawn="1"/>
        </p:nvSpPr>
        <p:spPr>
          <a:xfrm>
            <a:off x="6840771" y="-430727"/>
            <a:ext cx="2718263" cy="405740"/>
          </a:xfrm>
          <a:prstGeom prst="ellipse">
            <a:avLst/>
          </a:prstGeom>
          <a:gradFill flip="none" rotWithShape="1">
            <a:gsLst>
              <a:gs pos="0">
                <a:schemeClr val="accent2">
                  <a:lumMod val="20000"/>
                  <a:lumOff val="80000"/>
                  <a:alpha val="5064"/>
                </a:schemeClr>
              </a:gs>
              <a:gs pos="100000">
                <a:schemeClr val="accent3">
                  <a:lumMod val="40000"/>
                  <a:lumOff val="60000"/>
                </a:schemeClr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  <a:prstDash val="dash"/>
          </a:ln>
        </p:spPr>
        <p:txBody>
          <a:bodyPr wrap="square" lIns="68579" tIns="34289" rIns="68579" bIns="34289" rtlCol="0" anchor="ctr">
            <a:spAutoFit/>
          </a:bodyPr>
          <a:lstStyle/>
          <a:p>
            <a:pPr algn="ctr" defTabSz="685800"/>
            <a:endParaRPr kumimoji="1" lang="zh-CN" altLang="en-US" sz="1400" dirty="0">
              <a:solidFill>
                <a:srgbClr val="000000"/>
              </a:solidFill>
            </a:endParaRPr>
          </a:p>
        </p:txBody>
      </p:sp>
      <p:sp>
        <p:nvSpPr>
          <p:cNvPr id="4" name="矩形 3"/>
          <p:cNvSpPr/>
          <p:nvPr userDrawn="1"/>
        </p:nvSpPr>
        <p:spPr>
          <a:xfrm>
            <a:off x="4502728" y="254075"/>
            <a:ext cx="138545" cy="288539"/>
          </a:xfrm>
          <a:prstGeom prst="rect">
            <a:avLst/>
          </a:prstGeom>
          <a:gradFill flip="none" rotWithShape="1">
            <a:gsLst>
              <a:gs pos="4000">
                <a:schemeClr val="accent3">
                  <a:lumMod val="20000"/>
                  <a:lumOff val="80000"/>
                </a:schemeClr>
              </a:gs>
              <a:gs pos="43000">
                <a:schemeClr val="accent3">
                  <a:lumMod val="20000"/>
                  <a:lumOff val="80000"/>
                  <a:alpha val="0"/>
                </a:schemeClr>
              </a:gs>
            </a:gsLst>
            <a:lin ang="3000000" scaled="0"/>
            <a:tileRect/>
          </a:gradFill>
          <a:ln>
            <a:noFill/>
            <a:prstDash val="dash"/>
          </a:ln>
        </p:spPr>
        <p:txBody>
          <a:bodyPr wrap="none" lIns="68579" tIns="34289" rIns="68579" bIns="34289" rtlCol="0" anchor="ctr">
            <a:spAutoFit/>
          </a:bodyPr>
          <a:lstStyle/>
          <a:p>
            <a:pPr algn="ctr" defTabSz="685800"/>
            <a:endParaRPr kumimoji="1" lang="zh-CN" altLang="en-US" sz="1400" dirty="0">
              <a:solidFill>
                <a:srgbClr val="000000"/>
              </a:solidFill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484" y="192518"/>
            <a:ext cx="2365577" cy="511403"/>
          </a:xfrm>
          <a:prstGeom prst="rect">
            <a:avLst/>
          </a:prstGeom>
        </p:spPr>
      </p:pic>
      <p:sp>
        <p:nvSpPr>
          <p:cNvPr id="5" name="文本框 4"/>
          <p:cNvSpPr txBox="1"/>
          <p:nvPr userDrawn="1"/>
        </p:nvSpPr>
        <p:spPr>
          <a:xfrm>
            <a:off x="2244437" y="-498764"/>
            <a:ext cx="0" cy="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spcFirstLastPara="0" vert="horz" wrap="none" lIns="42862" tIns="42862" rIns="42862" bIns="42862" numCol="1" spcCol="953" rtlCol="0" anchor="ctr" anchorCtr="0">
            <a:noAutofit/>
          </a:bodyPr>
          <a:lstStyle/>
          <a:p>
            <a:pPr defTabSz="499745">
              <a:lnSpc>
                <a:spcPct val="150000"/>
              </a:lnSpc>
              <a:spcBef>
                <a:spcPct val="0"/>
              </a:spcBef>
              <a:spcAft>
                <a:spcPct val="35000"/>
              </a:spcAft>
            </a:pPr>
            <a:endParaRPr kumimoji="1" lang="zh-CN" altLang="en-US" dirty="0">
              <a:solidFill>
                <a:srgbClr val="000000"/>
              </a:solidFill>
            </a:endParaRPr>
          </a:p>
        </p:txBody>
      </p:sp>
      <p:pic>
        <p:nvPicPr>
          <p:cNvPr id="13" name="图片 1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45036" y="3652059"/>
            <a:ext cx="2098964" cy="2098964"/>
          </a:xfrm>
          <a:prstGeom prst="rect">
            <a:avLst/>
          </a:prstGeom>
        </p:spPr>
      </p:pic>
      <p:grpSp>
        <p:nvGrpSpPr>
          <p:cNvPr id="6" name="组合 5"/>
          <p:cNvGrpSpPr/>
          <p:nvPr userDrawn="1"/>
        </p:nvGrpSpPr>
        <p:grpSpPr>
          <a:xfrm>
            <a:off x="5967974" y="192519"/>
            <a:ext cx="3234995" cy="507831"/>
            <a:chOff x="7557248" y="256690"/>
            <a:chExt cx="4313326" cy="677108"/>
          </a:xfrm>
        </p:grpSpPr>
        <p:sp>
          <p:nvSpPr>
            <p:cNvPr id="16" name="文本框 15"/>
            <p:cNvSpPr txBox="1"/>
            <p:nvPr userDrawn="1"/>
          </p:nvSpPr>
          <p:spPr>
            <a:xfrm>
              <a:off x="7697584" y="256690"/>
              <a:ext cx="4172990" cy="6771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685800"/>
              <a:r>
                <a:rPr lang="zh-CN" altLang="en-US" sz="1400" dirty="0">
                  <a:solidFill>
                    <a:srgbClr val="4F78C9">
                      <a:lumMod val="75000"/>
                    </a:srgbClr>
                  </a:solidFill>
                </a:rPr>
                <a:t>      </a:t>
              </a:r>
              <a:r>
                <a:rPr lang="zh-CN" altLang="en-US" b="1" dirty="0">
                  <a:solidFill>
                    <a:srgbClr val="4F78C9">
                      <a:lumMod val="75000"/>
                    </a:srgbClr>
                  </a:solidFill>
                </a:rPr>
                <a:t>山东省创新发展研究院</a:t>
              </a:r>
              <a:endParaRPr lang="zh-CN" altLang="en-US" sz="1400" b="1" dirty="0">
                <a:solidFill>
                  <a:srgbClr val="4F78C9">
                    <a:lumMod val="75000"/>
                  </a:srgbClr>
                </a:solidFill>
              </a:endParaRPr>
            </a:p>
            <a:p>
              <a:pPr defTabSz="685800"/>
              <a:r>
                <a:rPr lang="en-US" altLang="zh-CN" sz="900" dirty="0">
                  <a:solidFill>
                    <a:srgbClr val="4F78C9">
                      <a:lumMod val="75000"/>
                    </a:srgbClr>
                  </a:solidFill>
                </a:rPr>
                <a:t>         Shandong Academy of Innovation and Development </a:t>
              </a:r>
              <a:endParaRPr lang="zh-CN" altLang="en-US" sz="900" dirty="0">
                <a:solidFill>
                  <a:srgbClr val="4F78C9">
                    <a:lumMod val="75000"/>
                  </a:srgbClr>
                </a:solidFill>
              </a:endParaRPr>
            </a:p>
          </p:txBody>
        </p:sp>
        <p:pic>
          <p:nvPicPr>
            <p:cNvPr id="2" name="图片 1"/>
            <p:cNvPicPr>
              <a:picLocks noChangeAspect="1"/>
            </p:cNvPicPr>
            <p:nvPr userDrawn="1"/>
          </p:nvPicPr>
          <p:blipFill rotWithShape="1"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0000" b="90000" l="10000" r="90000">
                          <a14:backgroundMark x1="45098" y1="38095" x2="52941" y2="30952"/>
                          <a14:backgroundMark x1="56863" y1="52381" x2="56863" y2="52381"/>
                          <a14:backgroundMark x1="39216" y1="54762" x2="41176" y2="59524"/>
                        </a14:backgroundRemoval>
                      </a14:imgEffect>
                    </a14:imgLayer>
                  </a14:imgProps>
                </a:ext>
              </a:extLst>
            </a:blip>
            <a:srcRect l="19355"/>
            <a:stretch>
              <a:fillRect/>
            </a:stretch>
          </p:blipFill>
          <p:spPr>
            <a:xfrm>
              <a:off x="7557248" y="284958"/>
              <a:ext cx="603480" cy="616259"/>
            </a:xfrm>
            <a:prstGeom prst="rect">
              <a:avLst/>
            </a:prstGeom>
          </p:spPr>
        </p:pic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3780" y="1383043"/>
            <a:ext cx="4286267" cy="2507191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7162" y="3261797"/>
            <a:ext cx="1641281" cy="1627717"/>
          </a:xfrm>
          <a:prstGeom prst="rect">
            <a:avLst/>
          </a:prstGeom>
        </p:spPr>
      </p:pic>
      <p:grpSp>
        <p:nvGrpSpPr>
          <p:cNvPr id="16" name="组合 15"/>
          <p:cNvGrpSpPr/>
          <p:nvPr userDrawn="1"/>
        </p:nvGrpSpPr>
        <p:grpSpPr>
          <a:xfrm flipH="1">
            <a:off x="-123206" y="3621024"/>
            <a:ext cx="9450086" cy="1514010"/>
            <a:chOff x="-232666" y="4877336"/>
            <a:chExt cx="12609141" cy="1980664"/>
          </a:xfrm>
        </p:grpSpPr>
        <p:sp>
          <p:nvSpPr>
            <p:cNvPr id="17" name="任意多边形: 形状 15"/>
            <p:cNvSpPr/>
            <p:nvPr/>
          </p:nvSpPr>
          <p:spPr>
            <a:xfrm rot="496127">
              <a:off x="-232666" y="6022301"/>
              <a:ext cx="3911600" cy="686124"/>
            </a:xfrm>
            <a:custGeom>
              <a:avLst/>
              <a:gdLst>
                <a:gd name="connsiteX0" fmla="*/ 0 w 3911600"/>
                <a:gd name="connsiteY0" fmla="*/ 0 h 686124"/>
                <a:gd name="connsiteX1" fmla="*/ 178120 w 3911600"/>
                <a:gd name="connsiteY1" fmla="*/ 42556 h 686124"/>
                <a:gd name="connsiteX2" fmla="*/ 3397486 w 3911600"/>
                <a:gd name="connsiteY2" fmla="*/ 476122 h 686124"/>
                <a:gd name="connsiteX3" fmla="*/ 3911600 w 3911600"/>
                <a:gd name="connsiteY3" fmla="*/ 496817 h 686124"/>
                <a:gd name="connsiteX4" fmla="*/ 3911600 w 3911600"/>
                <a:gd name="connsiteY4" fmla="*/ 686124 h 686124"/>
                <a:gd name="connsiteX5" fmla="*/ 0 w 3911600"/>
                <a:gd name="connsiteY5" fmla="*/ 686124 h 686124"/>
                <a:gd name="connsiteX6" fmla="*/ 0 w 3911600"/>
                <a:gd name="connsiteY6" fmla="*/ 0 h 6861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911600" h="686124">
                  <a:moveTo>
                    <a:pt x="0" y="0"/>
                  </a:moveTo>
                  <a:lnTo>
                    <a:pt x="178120" y="42556"/>
                  </a:lnTo>
                  <a:cubicBezTo>
                    <a:pt x="1207103" y="268543"/>
                    <a:pt x="2284871" y="416346"/>
                    <a:pt x="3397486" y="476122"/>
                  </a:cubicBezTo>
                  <a:lnTo>
                    <a:pt x="3911600" y="496817"/>
                  </a:lnTo>
                  <a:lnTo>
                    <a:pt x="3911600" y="686124"/>
                  </a:lnTo>
                  <a:lnTo>
                    <a:pt x="0" y="6861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12700" cap="flat" cmpd="sng" algn="ctr">
              <a:noFill/>
              <a:prstDash val="solid"/>
              <a:miter lim="800000"/>
            </a:ln>
            <a:effectLst>
              <a:outerShdw blurRad="716178" dist="383667" dir="5400000" sx="90000" sy="90000" algn="t" rotWithShape="0">
                <a:schemeClr val="accent1">
                  <a:alpha val="28000"/>
                </a:schemeClr>
              </a:outerShdw>
            </a:effectLst>
          </p:spPr>
          <p:txBody>
            <a:bodyPr wrap="square" lIns="26518" tIns="13258" rIns="26518" bIns="13258" rtlCol="0" anchor="ctr">
              <a:noAutofit/>
            </a:bodyPr>
            <a:lstStyle/>
            <a:p>
              <a:pPr algn="ctr" defTabSz="457200"/>
              <a:endParaRPr lang="zh-CN" altLang="en-US" sz="1600" kern="0">
                <a:solidFill>
                  <a:prstClr val="white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Alibaba PuHuiTi 2.0 55 Regular" pitchFamily="18" charset="-122"/>
              </a:endParaRPr>
            </a:p>
          </p:txBody>
        </p:sp>
        <p:sp>
          <p:nvSpPr>
            <p:cNvPr id="18" name="任意多边形: 形状 17"/>
            <p:cNvSpPr/>
            <p:nvPr/>
          </p:nvSpPr>
          <p:spPr>
            <a:xfrm rot="21280960">
              <a:off x="6966275" y="4877336"/>
              <a:ext cx="5410200" cy="1717101"/>
            </a:xfrm>
            <a:custGeom>
              <a:avLst/>
              <a:gdLst>
                <a:gd name="connsiteX0" fmla="*/ 5410200 w 5410200"/>
                <a:gd name="connsiteY0" fmla="*/ 0 h 1717101"/>
                <a:gd name="connsiteX1" fmla="*/ 5410200 w 5410200"/>
                <a:gd name="connsiteY1" fmla="*/ 1717101 h 1717101"/>
                <a:gd name="connsiteX2" fmla="*/ 0 w 5410200"/>
                <a:gd name="connsiteY2" fmla="*/ 1717101 h 1717101"/>
                <a:gd name="connsiteX3" fmla="*/ 0 w 5410200"/>
                <a:gd name="connsiteY3" fmla="*/ 1412852 h 1717101"/>
                <a:gd name="connsiteX4" fmla="*/ 279750 w 5410200"/>
                <a:gd name="connsiteY4" fmla="*/ 1381719 h 1717101"/>
                <a:gd name="connsiteX5" fmla="*/ 5312624 w 5410200"/>
                <a:gd name="connsiteY5" fmla="*/ 44170 h 1717101"/>
                <a:gd name="connsiteX6" fmla="*/ 5410200 w 5410200"/>
                <a:gd name="connsiteY6" fmla="*/ 0 h 17171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410200" h="1717101">
                  <a:moveTo>
                    <a:pt x="5410200" y="0"/>
                  </a:moveTo>
                  <a:lnTo>
                    <a:pt x="5410200" y="1717101"/>
                  </a:lnTo>
                  <a:lnTo>
                    <a:pt x="0" y="1717101"/>
                  </a:lnTo>
                  <a:lnTo>
                    <a:pt x="0" y="1412852"/>
                  </a:lnTo>
                  <a:lnTo>
                    <a:pt x="279750" y="1381719"/>
                  </a:lnTo>
                  <a:cubicBezTo>
                    <a:pt x="2094791" y="1156941"/>
                    <a:pt x="3794464" y="695521"/>
                    <a:pt x="5312624" y="44170"/>
                  </a:cubicBezTo>
                  <a:lnTo>
                    <a:pt x="5410200" y="0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defTabSz="685800"/>
              <a:endParaRPr lang="zh-CN" altLang="en-US" sz="1400">
                <a:solidFill>
                  <a:prstClr val="white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endParaRPr>
            </a:p>
          </p:txBody>
        </p:sp>
        <p:sp>
          <p:nvSpPr>
            <p:cNvPr id="19" name="任意多边形: 形状 9"/>
            <p:cNvSpPr/>
            <p:nvPr/>
          </p:nvSpPr>
          <p:spPr>
            <a:xfrm>
              <a:off x="0" y="5140899"/>
              <a:ext cx="12192000" cy="1717101"/>
            </a:xfrm>
            <a:custGeom>
              <a:avLst/>
              <a:gdLst>
                <a:gd name="connsiteX0" fmla="*/ 12192000 w 12192000"/>
                <a:gd name="connsiteY0" fmla="*/ 0 h 1717101"/>
                <a:gd name="connsiteX1" fmla="*/ 12192000 w 12192000"/>
                <a:gd name="connsiteY1" fmla="*/ 1717101 h 1717101"/>
                <a:gd name="connsiteX2" fmla="*/ 0 w 12192000"/>
                <a:gd name="connsiteY2" fmla="*/ 1717101 h 1717101"/>
                <a:gd name="connsiteX3" fmla="*/ 0 w 12192000"/>
                <a:gd name="connsiteY3" fmla="*/ 1030977 h 1717101"/>
                <a:gd name="connsiteX4" fmla="*/ 178120 w 12192000"/>
                <a:gd name="connsiteY4" fmla="*/ 1073533 h 1717101"/>
                <a:gd name="connsiteX5" fmla="*/ 4521200 w 12192000"/>
                <a:gd name="connsiteY5" fmla="*/ 1537170 h 1717101"/>
                <a:gd name="connsiteX6" fmla="*/ 12094424 w 12192000"/>
                <a:gd name="connsiteY6" fmla="*/ 44170 h 17171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192000" h="1717101">
                  <a:moveTo>
                    <a:pt x="12192000" y="0"/>
                  </a:moveTo>
                  <a:lnTo>
                    <a:pt x="12192000" y="1717101"/>
                  </a:lnTo>
                  <a:lnTo>
                    <a:pt x="0" y="1717101"/>
                  </a:lnTo>
                  <a:lnTo>
                    <a:pt x="0" y="1030977"/>
                  </a:lnTo>
                  <a:lnTo>
                    <a:pt x="178120" y="1073533"/>
                  </a:lnTo>
                  <a:cubicBezTo>
                    <a:pt x="1550098" y="1374849"/>
                    <a:pt x="3008803" y="1537170"/>
                    <a:pt x="4521200" y="1537170"/>
                  </a:cubicBezTo>
                  <a:cubicBezTo>
                    <a:pt x="7293929" y="1537170"/>
                    <a:pt x="9886192" y="991590"/>
                    <a:pt x="12094424" y="44170"/>
                  </a:cubicBezTo>
                  <a:close/>
                </a:path>
              </a:pathLst>
            </a:custGeom>
            <a:solidFill>
              <a:schemeClr val="bg2">
                <a:alpha val="99251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defTabSz="685800">
                <a:defRPr/>
              </a:pPr>
              <a:endParaRPr lang="zh-CN" altLang="en-US" sz="1400">
                <a:solidFill>
                  <a:prstClr val="white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endParaRPr>
            </a:p>
          </p:txBody>
        </p:sp>
      </p:grpSp>
      <p:grpSp>
        <p:nvGrpSpPr>
          <p:cNvPr id="22" name="组合 21"/>
          <p:cNvGrpSpPr/>
          <p:nvPr userDrawn="1"/>
        </p:nvGrpSpPr>
        <p:grpSpPr>
          <a:xfrm>
            <a:off x="514352" y="404310"/>
            <a:ext cx="3234995" cy="507831"/>
            <a:chOff x="7557248" y="256690"/>
            <a:chExt cx="4313326" cy="677108"/>
          </a:xfrm>
        </p:grpSpPr>
        <p:sp>
          <p:nvSpPr>
            <p:cNvPr id="23" name="文本框 22"/>
            <p:cNvSpPr txBox="1"/>
            <p:nvPr userDrawn="1"/>
          </p:nvSpPr>
          <p:spPr>
            <a:xfrm>
              <a:off x="7697584" y="256690"/>
              <a:ext cx="4172990" cy="6771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685800"/>
              <a:r>
                <a:rPr lang="zh-CN" altLang="en-US" sz="1400" dirty="0">
                  <a:solidFill>
                    <a:srgbClr val="4F78C9">
                      <a:lumMod val="75000"/>
                    </a:srgbClr>
                  </a:solidFill>
                </a:rPr>
                <a:t>      </a:t>
              </a:r>
              <a:r>
                <a:rPr lang="zh-CN" altLang="en-US" b="1" dirty="0">
                  <a:solidFill>
                    <a:srgbClr val="4F78C9">
                      <a:lumMod val="75000"/>
                    </a:srgbClr>
                  </a:solidFill>
                </a:rPr>
                <a:t>山东省创新发展研究院</a:t>
              </a:r>
              <a:endParaRPr lang="zh-CN" altLang="en-US" sz="1400" b="1" dirty="0">
                <a:solidFill>
                  <a:srgbClr val="4F78C9">
                    <a:lumMod val="75000"/>
                  </a:srgbClr>
                </a:solidFill>
              </a:endParaRPr>
            </a:p>
            <a:p>
              <a:pPr defTabSz="685800"/>
              <a:r>
                <a:rPr lang="en-US" altLang="zh-CN" sz="900" dirty="0">
                  <a:solidFill>
                    <a:srgbClr val="4F78C9">
                      <a:lumMod val="75000"/>
                    </a:srgbClr>
                  </a:solidFill>
                </a:rPr>
                <a:t>         Shandong Academy of Innovation and Development </a:t>
              </a:r>
              <a:endParaRPr lang="zh-CN" altLang="en-US" sz="900" dirty="0">
                <a:solidFill>
                  <a:srgbClr val="4F78C9">
                    <a:lumMod val="75000"/>
                  </a:srgbClr>
                </a:solidFill>
              </a:endParaRPr>
            </a:p>
          </p:txBody>
        </p:sp>
        <p:pic>
          <p:nvPicPr>
            <p:cNvPr id="24" name="图片 23"/>
            <p:cNvPicPr>
              <a:picLocks noChangeAspect="1"/>
            </p:cNvPicPr>
            <p:nvPr userDrawn="1"/>
          </p:nvPicPr>
          <p:blipFill rotWithShape="1"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0000" b="90000" l="10000" r="90000">
                          <a14:backgroundMark x1="45098" y1="38095" x2="52941" y2="30952"/>
                          <a14:backgroundMark x1="56863" y1="52381" x2="56863" y2="52381"/>
                          <a14:backgroundMark x1="39216" y1="54762" x2="41176" y2="59524"/>
                        </a14:backgroundRemoval>
                      </a14:imgEffect>
                    </a14:imgLayer>
                  </a14:imgProps>
                </a:ext>
              </a:extLst>
            </a:blip>
            <a:srcRect l="19355"/>
            <a:stretch>
              <a:fillRect/>
            </a:stretch>
          </p:blipFill>
          <p:spPr>
            <a:xfrm>
              <a:off x="7557248" y="284958"/>
              <a:ext cx="603480" cy="616259"/>
            </a:xfrm>
            <a:prstGeom prst="rect">
              <a:avLst/>
            </a:prstGeom>
          </p:spPr>
        </p:pic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>
          <a:xfrm>
            <a:off x="521970" y="4767264"/>
            <a:ext cx="2057400" cy="273844"/>
          </a:xfrm>
        </p:spPr>
        <p:txBody>
          <a:bodyPr wrap="square" lIns="68579" tIns="34289" rIns="68579" bIns="34289">
            <a:normAutofit/>
          </a:bodyPr>
          <a:lstStyle/>
          <a:p>
            <a:pPr defTabSz="685800"/>
            <a:fld id="{5592522B-0F24-4480-B9DD-A9474A6880D6}" type="datetimeFigureOut">
              <a:rPr lang="zh-CN" altLang="en-US" sz="1400" smtClean="0">
                <a:solidFill>
                  <a:srgbClr val="000000"/>
                </a:solidFill>
              </a:rPr>
              <a:t>2025/11/24</a:t>
            </a:fld>
            <a:endParaRPr lang="zh-CN" altLang="en-US" sz="1400" dirty="0">
              <a:solidFill>
                <a:srgbClr val="000000"/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>
          <a:xfrm>
            <a:off x="3028950" y="4767264"/>
            <a:ext cx="3086100" cy="273844"/>
          </a:xfrm>
        </p:spPr>
        <p:txBody>
          <a:bodyPr lIns="68579" tIns="34289" rIns="68579" bIns="34289"/>
          <a:lstStyle/>
          <a:p>
            <a:pPr defTabSz="685800"/>
            <a:endParaRPr lang="zh-CN" altLang="en-US" sz="1400">
              <a:solidFill>
                <a:srgbClr val="000000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>
          <a:xfrm>
            <a:off x="6565487" y="4767264"/>
            <a:ext cx="2057400" cy="273844"/>
          </a:xfrm>
        </p:spPr>
        <p:txBody>
          <a:bodyPr wrap="square" lIns="68579" tIns="34289" rIns="68579" bIns="34289">
            <a:normAutofit/>
          </a:bodyPr>
          <a:lstStyle/>
          <a:p>
            <a:pPr defTabSz="685800"/>
            <a:fld id="{BE5F26B5-172A-4DC2-B0B7-181CFC56B87C}" type="slidenum">
              <a:rPr lang="zh-CN" altLang="en-US" sz="1400" smtClean="0">
                <a:solidFill>
                  <a:srgbClr val="000000"/>
                </a:solidFill>
              </a:rPr>
              <a:t>‹#›</a:t>
            </a:fld>
            <a:endParaRPr lang="zh-CN" altLang="en-US" sz="1400">
              <a:solidFill>
                <a:srgbClr val="000000"/>
              </a:solidFill>
            </a:endParaRPr>
          </a:p>
        </p:txBody>
      </p:sp>
      <p:cxnSp>
        <p:nvCxnSpPr>
          <p:cNvPr id="8" name="直接连接符 7"/>
          <p:cNvCxnSpPr/>
          <p:nvPr userDrawn="1"/>
        </p:nvCxnSpPr>
        <p:spPr>
          <a:xfrm>
            <a:off x="506255" y="762478"/>
            <a:ext cx="8413909" cy="1285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矩形 24"/>
          <p:cNvSpPr/>
          <p:nvPr userDrawn="1"/>
        </p:nvSpPr>
        <p:spPr>
          <a:xfrm>
            <a:off x="4502728" y="254075"/>
            <a:ext cx="138545" cy="288539"/>
          </a:xfrm>
          <a:prstGeom prst="rect">
            <a:avLst/>
          </a:prstGeom>
          <a:gradFill flip="none" rotWithShape="1">
            <a:gsLst>
              <a:gs pos="4000">
                <a:schemeClr val="accent3">
                  <a:lumMod val="20000"/>
                  <a:lumOff val="80000"/>
                </a:schemeClr>
              </a:gs>
              <a:gs pos="43000">
                <a:schemeClr val="accent3">
                  <a:lumMod val="20000"/>
                  <a:lumOff val="80000"/>
                  <a:alpha val="0"/>
                </a:schemeClr>
              </a:gs>
            </a:gsLst>
            <a:lin ang="3000000" scaled="0"/>
            <a:tileRect/>
          </a:gradFill>
          <a:ln>
            <a:noFill/>
            <a:prstDash val="dash"/>
          </a:ln>
        </p:spPr>
        <p:txBody>
          <a:bodyPr wrap="none" lIns="68579" tIns="34289" rIns="68579" bIns="34289" rtlCol="0" anchor="ctr">
            <a:spAutoFit/>
          </a:bodyPr>
          <a:lstStyle/>
          <a:p>
            <a:pPr algn="ctr" defTabSz="685800"/>
            <a:endParaRPr kumimoji="1" lang="zh-CN" altLang="en-US" sz="1400" dirty="0">
              <a:solidFill>
                <a:srgbClr val="000000"/>
              </a:solidFill>
            </a:endParaRPr>
          </a:p>
        </p:txBody>
      </p:sp>
      <p:pic>
        <p:nvPicPr>
          <p:cNvPr id="26" name="图片 25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484" y="192518"/>
            <a:ext cx="2365577" cy="511403"/>
          </a:xfrm>
          <a:prstGeom prst="rect">
            <a:avLst/>
          </a:prstGeom>
        </p:spPr>
      </p:pic>
      <p:sp>
        <p:nvSpPr>
          <p:cNvPr id="27" name="文本框 26"/>
          <p:cNvSpPr txBox="1"/>
          <p:nvPr userDrawn="1"/>
        </p:nvSpPr>
        <p:spPr>
          <a:xfrm>
            <a:off x="2244437" y="-498764"/>
            <a:ext cx="0" cy="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spcFirstLastPara="0" vert="horz" wrap="none" lIns="42862" tIns="42862" rIns="42862" bIns="42862" numCol="1" spcCol="953" rtlCol="0" anchor="ctr" anchorCtr="0">
            <a:noAutofit/>
          </a:bodyPr>
          <a:lstStyle/>
          <a:p>
            <a:pPr defTabSz="499745">
              <a:lnSpc>
                <a:spcPct val="150000"/>
              </a:lnSpc>
              <a:spcBef>
                <a:spcPct val="0"/>
              </a:spcBef>
              <a:spcAft>
                <a:spcPct val="35000"/>
              </a:spcAft>
            </a:pPr>
            <a:endParaRPr kumimoji="1" lang="zh-CN" altLang="en-US" dirty="0">
              <a:solidFill>
                <a:srgbClr val="000000"/>
              </a:solidFill>
            </a:endParaRPr>
          </a:p>
        </p:txBody>
      </p:sp>
      <p:grpSp>
        <p:nvGrpSpPr>
          <p:cNvPr id="28" name="组合 27"/>
          <p:cNvGrpSpPr/>
          <p:nvPr userDrawn="1"/>
        </p:nvGrpSpPr>
        <p:grpSpPr>
          <a:xfrm>
            <a:off x="5967974" y="192519"/>
            <a:ext cx="3234995" cy="507831"/>
            <a:chOff x="7557248" y="256690"/>
            <a:chExt cx="4313326" cy="677108"/>
          </a:xfrm>
        </p:grpSpPr>
        <p:sp>
          <p:nvSpPr>
            <p:cNvPr id="29" name="文本框 28"/>
            <p:cNvSpPr txBox="1"/>
            <p:nvPr userDrawn="1"/>
          </p:nvSpPr>
          <p:spPr>
            <a:xfrm>
              <a:off x="7697584" y="256690"/>
              <a:ext cx="4172990" cy="6771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685800"/>
              <a:r>
                <a:rPr lang="zh-CN" altLang="en-US" sz="1400" dirty="0">
                  <a:solidFill>
                    <a:srgbClr val="4F78C9">
                      <a:lumMod val="75000"/>
                    </a:srgbClr>
                  </a:solidFill>
                </a:rPr>
                <a:t>      </a:t>
              </a:r>
              <a:r>
                <a:rPr lang="zh-CN" altLang="en-US" b="1" dirty="0">
                  <a:solidFill>
                    <a:srgbClr val="4F78C9">
                      <a:lumMod val="75000"/>
                    </a:srgbClr>
                  </a:solidFill>
                </a:rPr>
                <a:t>山东省创新发展研究院</a:t>
              </a:r>
              <a:endParaRPr lang="zh-CN" altLang="en-US" sz="1400" b="1" dirty="0">
                <a:solidFill>
                  <a:srgbClr val="4F78C9">
                    <a:lumMod val="75000"/>
                  </a:srgbClr>
                </a:solidFill>
              </a:endParaRPr>
            </a:p>
            <a:p>
              <a:pPr defTabSz="685800"/>
              <a:r>
                <a:rPr lang="en-US" altLang="zh-CN" sz="900" dirty="0">
                  <a:solidFill>
                    <a:srgbClr val="4F78C9">
                      <a:lumMod val="75000"/>
                    </a:srgbClr>
                  </a:solidFill>
                </a:rPr>
                <a:t>         Shandong Academy of Innovation and Development </a:t>
              </a:r>
              <a:endParaRPr lang="zh-CN" altLang="en-US" sz="900" dirty="0">
                <a:solidFill>
                  <a:srgbClr val="4F78C9">
                    <a:lumMod val="75000"/>
                  </a:srgbClr>
                </a:solidFill>
              </a:endParaRPr>
            </a:p>
          </p:txBody>
        </p:sp>
        <p:pic>
          <p:nvPicPr>
            <p:cNvPr id="30" name="图片 29"/>
            <p:cNvPicPr>
              <a:picLocks noChangeAspect="1"/>
            </p:cNvPicPr>
            <p:nvPr userDrawn="1"/>
          </p:nvPicPr>
          <p:blipFill rotWithShape="1">
            <a:blip r:embed="rId6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ackgroundRemoval t="10000" b="90000" l="10000" r="90000">
                          <a14:backgroundMark x1="45098" y1="38095" x2="52941" y2="30952"/>
                          <a14:backgroundMark x1="56863" y1="52381" x2="56863" y2="52381"/>
                          <a14:backgroundMark x1="39216" y1="54762" x2="41176" y2="59524"/>
                        </a14:backgroundRemoval>
                      </a14:imgEffect>
                    </a14:imgLayer>
                  </a14:imgProps>
                </a:ext>
              </a:extLst>
            </a:blip>
            <a:srcRect l="19355"/>
            <a:stretch>
              <a:fillRect/>
            </a:stretch>
          </p:blipFill>
          <p:spPr>
            <a:xfrm>
              <a:off x="7557248" y="284958"/>
              <a:ext cx="603480" cy="616259"/>
            </a:xfrm>
            <a:prstGeom prst="rect">
              <a:avLst/>
            </a:prstGeom>
          </p:spPr>
        </p:pic>
      </p:grpSp>
      <p:sp>
        <p:nvSpPr>
          <p:cNvPr id="31" name="标题 30"/>
          <p:cNvSpPr>
            <a:spLocks noGrp="1"/>
          </p:cNvSpPr>
          <p:nvPr>
            <p:ph type="title"/>
          </p:nvPr>
        </p:nvSpPr>
        <p:spPr>
          <a:xfrm>
            <a:off x="703421" y="145734"/>
            <a:ext cx="8138160" cy="560546"/>
          </a:xfrm>
          <a:prstGeom prst="rect">
            <a:avLst/>
          </a:prstGeom>
        </p:spPr>
        <p:txBody>
          <a:bodyPr lIns="68579" tIns="34289" rIns="68579" bIns="34289" anchor="ctr" anchorCtr="0"/>
          <a:lstStyle>
            <a:lvl1pPr>
              <a:defRPr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22000" y="295804"/>
            <a:ext cx="8100000" cy="594000"/>
          </a:xfrm>
        </p:spPr>
        <p:txBody>
          <a:bodyPr lIns="68579" tIns="34289" rIns="68579" bIns="34289"/>
          <a:lstStyle>
            <a:lvl1pPr algn="ctr">
              <a:defRPr sz="240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459000" y="4735800"/>
            <a:ext cx="2025000" cy="237600"/>
          </a:xfrm>
        </p:spPr>
        <p:txBody>
          <a:bodyPr lIns="68579" tIns="34289" rIns="68579" bIns="34289"/>
          <a:lstStyle/>
          <a:p>
            <a:pPr defTabSz="685800"/>
            <a:fld id="{760FBDFE-C587-4B4C-A407-44438C67B59E}" type="datetimeFigureOut">
              <a:rPr lang="zh-CN" altLang="en-US" sz="1400" smtClean="0">
                <a:solidFill>
                  <a:srgbClr val="000000"/>
                </a:solidFill>
              </a:rPr>
              <a:t>2025/11/24</a:t>
            </a:fld>
            <a:endParaRPr lang="zh-CN" altLang="en-US" sz="1400">
              <a:solidFill>
                <a:srgbClr val="000000"/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3087000" y="4735800"/>
            <a:ext cx="2970000" cy="237600"/>
          </a:xfrm>
        </p:spPr>
        <p:txBody>
          <a:bodyPr lIns="68579" tIns="34289" rIns="68579" bIns="34289"/>
          <a:lstStyle/>
          <a:p>
            <a:pPr defTabSz="685800"/>
            <a:endParaRPr lang="zh-CN" altLang="en-US" sz="1400" dirty="0">
              <a:solidFill>
                <a:srgbClr val="000000"/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6658200" y="4735800"/>
            <a:ext cx="2025000" cy="237600"/>
          </a:xfrm>
        </p:spPr>
        <p:txBody>
          <a:bodyPr lIns="68579" tIns="34289" rIns="68579" bIns="34289"/>
          <a:lstStyle/>
          <a:p>
            <a:pPr defTabSz="685800"/>
            <a:fld id="{49AE70B2-8BF9-45C0-BB95-33D1B9D3A854}" type="slidenum">
              <a:rPr lang="zh-CN" altLang="en-US" sz="1400" smtClean="0">
                <a:solidFill>
                  <a:srgbClr val="000000"/>
                </a:solidFill>
              </a:rPr>
              <a:t>‹#›</a:t>
            </a:fld>
            <a:endParaRPr lang="zh-CN" altLang="en-US" sz="1400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-K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7"/>
          <p:cNvSpPr txBox="1"/>
          <p:nvPr userDrawn="1"/>
        </p:nvSpPr>
        <p:spPr>
          <a:xfrm>
            <a:off x="8341520" y="4933475"/>
            <a:ext cx="766763" cy="1731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algn="r" defTabSz="821690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zh-CN" sz="1100" dirty="0">
                <a:solidFill>
                  <a:srgbClr val="FFFFFF">
                    <a:lumMod val="50000"/>
                  </a:srgbClr>
                </a:solidFill>
                <a:latin typeface="微软雅黑" pitchFamily="34" charset="-122"/>
                <a:ea typeface="微软雅黑" pitchFamily="34" charset="-122"/>
              </a:rPr>
              <a:t>Page </a:t>
            </a:r>
            <a:fld id="{195FF813-92D5-41C2-A763-54D244C7EABD}" type="slidenum">
              <a:rPr lang="zh-CN" altLang="en-US" sz="1100" dirty="0" smtClean="0">
                <a:solidFill>
                  <a:srgbClr val="FFFFFF">
                    <a:lumMod val="50000"/>
                  </a:srgbClr>
                </a:solidFill>
                <a:latin typeface="微软雅黑" pitchFamily="34" charset="-122"/>
                <a:ea typeface="微软雅黑" pitchFamily="34" charset="-122"/>
                <a:sym typeface="+mn-ea"/>
              </a:rPr>
              <a:t>‹#›</a:t>
            </a:fld>
            <a:endParaRPr lang="zh-CN" altLang="en-US" sz="1100" b="1" dirty="0">
              <a:solidFill>
                <a:srgbClr val="9BBB5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21" name="直接连接符 20"/>
          <p:cNvCxnSpPr/>
          <p:nvPr userDrawn="1">
            <p:custDataLst>
              <p:tags r:id="rId1"/>
            </p:custDataLst>
          </p:nvPr>
        </p:nvCxnSpPr>
        <p:spPr>
          <a:xfrm>
            <a:off x="174784" y="523399"/>
            <a:ext cx="8834438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矩形 5"/>
          <p:cNvSpPr/>
          <p:nvPr userDrawn="1">
            <p:custDataLst>
              <p:tags r:id="rId2"/>
            </p:custDataLst>
          </p:nvPr>
        </p:nvSpPr>
        <p:spPr>
          <a:xfrm>
            <a:off x="185737" y="90726"/>
            <a:ext cx="220028" cy="35814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7148" tIns="28574" rIns="57148" bIns="28574" rtlCol="0" anchor="ctr"/>
          <a:lstStyle/>
          <a:p>
            <a:pPr algn="ctr" defTabSz="685800"/>
            <a:endParaRPr lang="zh-CN" altLang="en-US" sz="1400" baseline="-25000">
              <a:solidFill>
                <a:srgbClr val="FFFFFF"/>
              </a:solidFill>
            </a:endParaRPr>
          </a:p>
        </p:txBody>
      </p:sp>
      <p:sp>
        <p:nvSpPr>
          <p:cNvPr id="5" name="矩形 4"/>
          <p:cNvSpPr/>
          <p:nvPr userDrawn="1">
            <p:custDataLst>
              <p:tags r:id="rId3"/>
            </p:custDataLst>
          </p:nvPr>
        </p:nvSpPr>
        <p:spPr>
          <a:xfrm>
            <a:off x="405765" y="90965"/>
            <a:ext cx="83344" cy="357664"/>
          </a:xfrm>
          <a:prstGeom prst="rect">
            <a:avLst/>
          </a:prstGeom>
          <a:solidFill>
            <a:srgbClr val="08BAFC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7148" tIns="28574" rIns="57148" bIns="28574" rtlCol="0" anchor="ctr"/>
          <a:lstStyle/>
          <a:p>
            <a:pPr algn="ctr" defTabSz="685800"/>
            <a:endParaRPr lang="en-US" altLang="zh-CN" sz="1400" baseline="-25000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386955" y="816769"/>
            <a:ext cx="4127897" cy="3995738"/>
          </a:xfrm>
        </p:spPr>
        <p:txBody>
          <a:bodyPr lIns="68579" tIns="34289" rIns="68579" bIns="34289"/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4629149" y="816769"/>
            <a:ext cx="4127898" cy="3995738"/>
          </a:xfrm>
        </p:spPr>
        <p:txBody>
          <a:bodyPr lIns="68579" tIns="34289" rIns="68579" bIns="34289"/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406598" y="4874890"/>
            <a:ext cx="2057400" cy="158714"/>
          </a:xfrm>
          <a:prstGeom prst="rect">
            <a:avLst/>
          </a:prstGeom>
        </p:spPr>
        <p:txBody>
          <a:bodyPr lIns="68579" tIns="34289" rIns="68579" bIns="34289"/>
          <a:lstStyle/>
          <a:p>
            <a:pPr defTabSz="685800"/>
            <a:fld id="{F615E469-C0CF-4C85-82C8-A46A38D0B181}" type="datetimeFigureOut">
              <a:rPr lang="zh-CN" altLang="en-US" sz="1400" smtClean="0">
                <a:solidFill>
                  <a:srgbClr val="000000"/>
                </a:solidFill>
              </a:rPr>
              <a:t>2025/11/24</a:t>
            </a:fld>
            <a:endParaRPr lang="zh-CN" altLang="en-US" sz="1400">
              <a:solidFill>
                <a:srgbClr val="000000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028950" y="4882393"/>
            <a:ext cx="3086100" cy="158714"/>
          </a:xfrm>
          <a:prstGeom prst="rect">
            <a:avLst/>
          </a:prstGeom>
        </p:spPr>
        <p:txBody>
          <a:bodyPr lIns="68579" tIns="34289" rIns="68579" bIns="34289"/>
          <a:lstStyle/>
          <a:p>
            <a:pPr defTabSz="685800"/>
            <a:endParaRPr lang="zh-CN" altLang="en-US" sz="1400">
              <a:solidFill>
                <a:srgbClr val="000000"/>
              </a:solidFill>
            </a:endParaRPr>
          </a:p>
        </p:txBody>
      </p:sp>
      <p:sp>
        <p:nvSpPr>
          <p:cNvPr id="12" name="标题占位符 1"/>
          <p:cNvSpPr>
            <a:spLocks noGrp="1"/>
          </p:cNvSpPr>
          <p:nvPr>
            <p:ph type="title"/>
          </p:nvPr>
        </p:nvSpPr>
        <p:spPr>
          <a:xfrm>
            <a:off x="117088" y="153721"/>
            <a:ext cx="6398012" cy="480692"/>
          </a:xfrm>
          <a:prstGeom prst="rect">
            <a:avLst/>
          </a:prstGeom>
        </p:spPr>
        <p:txBody>
          <a:bodyPr vert="horz" lIns="68579" tIns="34289" rIns="68579" bIns="34289" rtlCol="0" anchor="ctr">
            <a:norm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2" name="矩形 1"/>
          <p:cNvSpPr/>
          <p:nvPr userDrawn="1"/>
        </p:nvSpPr>
        <p:spPr bwMode="gray">
          <a:xfrm>
            <a:off x="1" y="153721"/>
            <a:ext cx="9094304" cy="480692"/>
          </a:xfrm>
          <a:prstGeom prst="rect">
            <a:avLst/>
          </a:prstGeom>
          <a:solidFill>
            <a:srgbClr val="C00000"/>
          </a:solidFill>
          <a:ln w="9525" algn="ctr">
            <a:noFill/>
            <a:round/>
          </a:ln>
        </p:spPr>
        <p:txBody>
          <a:bodyPr lIns="0" tIns="0" rIns="0" bIns="0" rtlCol="0" anchor="ctr">
            <a:normAutofit/>
          </a:bodyPr>
          <a:lstStyle/>
          <a:p>
            <a:pPr algn="ctr" defTabSz="685800">
              <a:lnSpc>
                <a:spcPct val="120000"/>
              </a:lnSpc>
            </a:pPr>
            <a:endParaRPr lang="zh-CN" altLang="en-US" sz="1500" b="1" dirty="0">
              <a:solidFill>
                <a:srgbClr val="FFFFFF"/>
              </a:solidFill>
              <a:latin typeface="微软雅黑" pitchFamily="34" charset="-122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椭圆 16"/>
          <p:cNvSpPr/>
          <p:nvPr userDrawn="1"/>
        </p:nvSpPr>
        <p:spPr>
          <a:xfrm>
            <a:off x="6840770" y="-428024"/>
            <a:ext cx="2718263" cy="400333"/>
          </a:xfrm>
          <a:prstGeom prst="ellipse">
            <a:avLst/>
          </a:prstGeom>
          <a:gradFill flip="none" rotWithShape="1">
            <a:gsLst>
              <a:gs pos="0">
                <a:schemeClr val="accent2">
                  <a:lumMod val="20000"/>
                  <a:lumOff val="80000"/>
                  <a:alpha val="5064"/>
                </a:schemeClr>
              </a:gs>
              <a:gs pos="100000">
                <a:schemeClr val="accent3">
                  <a:lumMod val="40000"/>
                  <a:lumOff val="60000"/>
                </a:schemeClr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  <a:prstDash val="dash"/>
          </a:ln>
        </p:spPr>
        <p:txBody>
          <a:bodyPr wrap="square" lIns="68580" tIns="34290" rIns="68580" bIns="34290" rtlCol="0" anchor="ctr">
            <a:spAutoFit/>
          </a:bodyPr>
          <a:lstStyle/>
          <a:p>
            <a:pPr algn="ctr" defTabSz="685800"/>
            <a:endParaRPr kumimoji="1" lang="zh-CN" altLang="en-US" sz="1400" dirty="0">
              <a:solidFill>
                <a:srgbClr val="000000"/>
              </a:solidFill>
            </a:endParaRPr>
          </a:p>
        </p:txBody>
      </p:sp>
      <p:sp>
        <p:nvSpPr>
          <p:cNvPr id="4" name="矩形 3"/>
          <p:cNvSpPr/>
          <p:nvPr userDrawn="1"/>
        </p:nvSpPr>
        <p:spPr>
          <a:xfrm>
            <a:off x="4502718" y="255997"/>
            <a:ext cx="138563" cy="284693"/>
          </a:xfrm>
          <a:prstGeom prst="rect">
            <a:avLst/>
          </a:prstGeom>
          <a:gradFill flip="none" rotWithShape="1">
            <a:gsLst>
              <a:gs pos="4000">
                <a:schemeClr val="accent3">
                  <a:lumMod val="20000"/>
                  <a:lumOff val="80000"/>
                </a:schemeClr>
              </a:gs>
              <a:gs pos="43000">
                <a:schemeClr val="accent3">
                  <a:lumMod val="20000"/>
                  <a:lumOff val="80000"/>
                  <a:alpha val="0"/>
                </a:schemeClr>
              </a:gs>
            </a:gsLst>
            <a:lin ang="3000000" scaled="0"/>
            <a:tileRect/>
          </a:gradFill>
          <a:ln>
            <a:noFill/>
            <a:prstDash val="dash"/>
          </a:ln>
        </p:spPr>
        <p:txBody>
          <a:bodyPr wrap="none" lIns="68580" tIns="34290" rIns="68580" bIns="34290" rtlCol="0" anchor="ctr">
            <a:spAutoFit/>
          </a:bodyPr>
          <a:lstStyle/>
          <a:p>
            <a:pPr algn="ctr" defTabSz="685800"/>
            <a:endParaRPr kumimoji="1" lang="zh-CN" altLang="en-US" sz="1400" dirty="0">
              <a:solidFill>
                <a:srgbClr val="000000"/>
              </a:solidFill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483" y="192517"/>
            <a:ext cx="2365577" cy="511403"/>
          </a:xfrm>
          <a:prstGeom prst="rect">
            <a:avLst/>
          </a:prstGeom>
        </p:spPr>
      </p:pic>
      <p:sp>
        <p:nvSpPr>
          <p:cNvPr id="5" name="文本框 4"/>
          <p:cNvSpPr txBox="1"/>
          <p:nvPr userDrawn="1"/>
        </p:nvSpPr>
        <p:spPr>
          <a:xfrm>
            <a:off x="2244437" y="-498764"/>
            <a:ext cx="0" cy="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spcFirstLastPara="0" vert="horz" wrap="none" lIns="42863" tIns="42863" rIns="42863" bIns="42863" numCol="1" spcCol="953" rtlCol="0" anchor="ctr" anchorCtr="0">
            <a:noAutofit/>
          </a:bodyPr>
          <a:lstStyle/>
          <a:p>
            <a:pPr defTabSz="500380">
              <a:lnSpc>
                <a:spcPct val="150000"/>
              </a:lnSpc>
              <a:spcBef>
                <a:spcPct val="0"/>
              </a:spcBef>
              <a:spcAft>
                <a:spcPct val="35000"/>
              </a:spcAft>
            </a:pPr>
            <a:endParaRPr kumimoji="1" lang="zh-CN" altLang="en-US" dirty="0">
              <a:solidFill>
                <a:srgbClr val="000000"/>
              </a:solidFill>
            </a:endParaRPr>
          </a:p>
        </p:txBody>
      </p:sp>
      <p:pic>
        <p:nvPicPr>
          <p:cNvPr id="13" name="图片 1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45036" y="3652058"/>
            <a:ext cx="2098964" cy="2098964"/>
          </a:xfrm>
          <a:prstGeom prst="rect">
            <a:avLst/>
          </a:prstGeom>
        </p:spPr>
      </p:pic>
      <p:grpSp>
        <p:nvGrpSpPr>
          <p:cNvPr id="6" name="组合 5"/>
          <p:cNvGrpSpPr/>
          <p:nvPr userDrawn="1"/>
        </p:nvGrpSpPr>
        <p:grpSpPr>
          <a:xfrm>
            <a:off x="5967973" y="192518"/>
            <a:ext cx="3234995" cy="507831"/>
            <a:chOff x="7557248" y="256690"/>
            <a:chExt cx="4313326" cy="677108"/>
          </a:xfrm>
        </p:grpSpPr>
        <p:sp>
          <p:nvSpPr>
            <p:cNvPr id="16" name="文本框 15"/>
            <p:cNvSpPr txBox="1"/>
            <p:nvPr userDrawn="1"/>
          </p:nvSpPr>
          <p:spPr>
            <a:xfrm>
              <a:off x="7697584" y="256690"/>
              <a:ext cx="4172990" cy="6771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685800"/>
              <a:r>
                <a:rPr lang="zh-CN" altLang="en-US" sz="1400" dirty="0">
                  <a:solidFill>
                    <a:srgbClr val="4F78C9">
                      <a:lumMod val="75000"/>
                    </a:srgbClr>
                  </a:solidFill>
                </a:rPr>
                <a:t>      </a:t>
              </a:r>
              <a:r>
                <a:rPr lang="zh-CN" altLang="en-US" b="1" dirty="0">
                  <a:solidFill>
                    <a:srgbClr val="4F78C9">
                      <a:lumMod val="75000"/>
                    </a:srgbClr>
                  </a:solidFill>
                </a:rPr>
                <a:t>山东省创新发展研究院</a:t>
              </a:r>
              <a:endParaRPr lang="zh-CN" altLang="en-US" sz="1400" b="1" dirty="0">
                <a:solidFill>
                  <a:srgbClr val="4F78C9">
                    <a:lumMod val="75000"/>
                  </a:srgbClr>
                </a:solidFill>
              </a:endParaRPr>
            </a:p>
            <a:p>
              <a:pPr defTabSz="685800"/>
              <a:r>
                <a:rPr lang="en-US" altLang="zh-CN" sz="900" dirty="0">
                  <a:solidFill>
                    <a:srgbClr val="4F78C9">
                      <a:lumMod val="75000"/>
                    </a:srgbClr>
                  </a:solidFill>
                </a:rPr>
                <a:t>         Shandong Academy of Innovation and Development </a:t>
              </a:r>
              <a:endParaRPr lang="zh-CN" altLang="en-US" sz="900" dirty="0">
                <a:solidFill>
                  <a:srgbClr val="4F78C9">
                    <a:lumMod val="75000"/>
                  </a:srgbClr>
                </a:solidFill>
              </a:endParaRPr>
            </a:p>
          </p:txBody>
        </p:sp>
        <p:pic>
          <p:nvPicPr>
            <p:cNvPr id="2" name="图片 1"/>
            <p:cNvPicPr>
              <a:picLocks noChangeAspect="1"/>
            </p:cNvPicPr>
            <p:nvPr userDrawn="1"/>
          </p:nvPicPr>
          <p:blipFill rotWithShape="1"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0000" b="90000" l="10000" r="90000">
                          <a14:backgroundMark x1="45098" y1="38095" x2="52941" y2="30952"/>
                          <a14:backgroundMark x1="56863" y1="52381" x2="56863" y2="52381"/>
                          <a14:backgroundMark x1="39216" y1="54762" x2="41176" y2="59524"/>
                        </a14:backgroundRemoval>
                      </a14:imgEffect>
                    </a14:imgLayer>
                  </a14:imgProps>
                </a:ext>
              </a:extLst>
            </a:blip>
            <a:srcRect l="19355"/>
            <a:stretch>
              <a:fillRect/>
            </a:stretch>
          </p:blipFill>
          <p:spPr>
            <a:xfrm>
              <a:off x="7557248" y="284958"/>
              <a:ext cx="603480" cy="616259"/>
            </a:xfrm>
            <a:prstGeom prst="rect">
              <a:avLst/>
            </a:prstGeom>
          </p:spPr>
        </p:pic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3779" y="1383042"/>
            <a:ext cx="4286267" cy="2507191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7161" y="3261796"/>
            <a:ext cx="1641281" cy="1627717"/>
          </a:xfrm>
          <a:prstGeom prst="rect">
            <a:avLst/>
          </a:prstGeom>
        </p:spPr>
      </p:pic>
      <p:grpSp>
        <p:nvGrpSpPr>
          <p:cNvPr id="16" name="组合 15"/>
          <p:cNvGrpSpPr/>
          <p:nvPr userDrawn="1"/>
        </p:nvGrpSpPr>
        <p:grpSpPr>
          <a:xfrm flipH="1">
            <a:off x="-123206" y="3621024"/>
            <a:ext cx="9450086" cy="1514010"/>
            <a:chOff x="-232666" y="4877336"/>
            <a:chExt cx="12609141" cy="1980664"/>
          </a:xfrm>
        </p:grpSpPr>
        <p:sp>
          <p:nvSpPr>
            <p:cNvPr id="17" name="任意多边形: 形状 15"/>
            <p:cNvSpPr/>
            <p:nvPr/>
          </p:nvSpPr>
          <p:spPr>
            <a:xfrm rot="496127">
              <a:off x="-232666" y="6022301"/>
              <a:ext cx="3911600" cy="686124"/>
            </a:xfrm>
            <a:custGeom>
              <a:avLst/>
              <a:gdLst>
                <a:gd name="connsiteX0" fmla="*/ 0 w 3911600"/>
                <a:gd name="connsiteY0" fmla="*/ 0 h 686124"/>
                <a:gd name="connsiteX1" fmla="*/ 178120 w 3911600"/>
                <a:gd name="connsiteY1" fmla="*/ 42556 h 686124"/>
                <a:gd name="connsiteX2" fmla="*/ 3397486 w 3911600"/>
                <a:gd name="connsiteY2" fmla="*/ 476122 h 686124"/>
                <a:gd name="connsiteX3" fmla="*/ 3911600 w 3911600"/>
                <a:gd name="connsiteY3" fmla="*/ 496817 h 686124"/>
                <a:gd name="connsiteX4" fmla="*/ 3911600 w 3911600"/>
                <a:gd name="connsiteY4" fmla="*/ 686124 h 686124"/>
                <a:gd name="connsiteX5" fmla="*/ 0 w 3911600"/>
                <a:gd name="connsiteY5" fmla="*/ 686124 h 686124"/>
                <a:gd name="connsiteX6" fmla="*/ 0 w 3911600"/>
                <a:gd name="connsiteY6" fmla="*/ 0 h 6861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911600" h="686124">
                  <a:moveTo>
                    <a:pt x="0" y="0"/>
                  </a:moveTo>
                  <a:lnTo>
                    <a:pt x="178120" y="42556"/>
                  </a:lnTo>
                  <a:cubicBezTo>
                    <a:pt x="1207103" y="268543"/>
                    <a:pt x="2284871" y="416346"/>
                    <a:pt x="3397486" y="476122"/>
                  </a:cubicBezTo>
                  <a:lnTo>
                    <a:pt x="3911600" y="496817"/>
                  </a:lnTo>
                  <a:lnTo>
                    <a:pt x="3911600" y="686124"/>
                  </a:lnTo>
                  <a:lnTo>
                    <a:pt x="0" y="6861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12700" cap="flat" cmpd="sng" algn="ctr">
              <a:noFill/>
              <a:prstDash val="solid"/>
              <a:miter lim="800000"/>
            </a:ln>
            <a:effectLst>
              <a:outerShdw blurRad="716178" dist="383667" dir="5400000" sx="90000" sy="90000" algn="t" rotWithShape="0">
                <a:schemeClr val="accent1">
                  <a:alpha val="28000"/>
                </a:schemeClr>
              </a:outerShdw>
            </a:effectLst>
          </p:spPr>
          <p:txBody>
            <a:bodyPr wrap="square" lIns="26518" tIns="13258" rIns="26518" bIns="13258" rtlCol="0" anchor="ctr">
              <a:noAutofit/>
            </a:bodyPr>
            <a:lstStyle/>
            <a:p>
              <a:pPr algn="ctr" defTabSz="457200"/>
              <a:endParaRPr lang="zh-CN" altLang="en-US" sz="1600" kern="0">
                <a:solidFill>
                  <a:prstClr val="white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Alibaba PuHuiTi 2.0 55 Regular" pitchFamily="18" charset="-122"/>
              </a:endParaRPr>
            </a:p>
          </p:txBody>
        </p:sp>
        <p:sp>
          <p:nvSpPr>
            <p:cNvPr id="18" name="任意多边形: 形状 17"/>
            <p:cNvSpPr/>
            <p:nvPr/>
          </p:nvSpPr>
          <p:spPr>
            <a:xfrm rot="21280960">
              <a:off x="6966275" y="4877336"/>
              <a:ext cx="5410200" cy="1717101"/>
            </a:xfrm>
            <a:custGeom>
              <a:avLst/>
              <a:gdLst>
                <a:gd name="connsiteX0" fmla="*/ 5410200 w 5410200"/>
                <a:gd name="connsiteY0" fmla="*/ 0 h 1717101"/>
                <a:gd name="connsiteX1" fmla="*/ 5410200 w 5410200"/>
                <a:gd name="connsiteY1" fmla="*/ 1717101 h 1717101"/>
                <a:gd name="connsiteX2" fmla="*/ 0 w 5410200"/>
                <a:gd name="connsiteY2" fmla="*/ 1717101 h 1717101"/>
                <a:gd name="connsiteX3" fmla="*/ 0 w 5410200"/>
                <a:gd name="connsiteY3" fmla="*/ 1412852 h 1717101"/>
                <a:gd name="connsiteX4" fmla="*/ 279750 w 5410200"/>
                <a:gd name="connsiteY4" fmla="*/ 1381719 h 1717101"/>
                <a:gd name="connsiteX5" fmla="*/ 5312624 w 5410200"/>
                <a:gd name="connsiteY5" fmla="*/ 44170 h 1717101"/>
                <a:gd name="connsiteX6" fmla="*/ 5410200 w 5410200"/>
                <a:gd name="connsiteY6" fmla="*/ 0 h 17171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410200" h="1717101">
                  <a:moveTo>
                    <a:pt x="5410200" y="0"/>
                  </a:moveTo>
                  <a:lnTo>
                    <a:pt x="5410200" y="1717101"/>
                  </a:lnTo>
                  <a:lnTo>
                    <a:pt x="0" y="1717101"/>
                  </a:lnTo>
                  <a:lnTo>
                    <a:pt x="0" y="1412852"/>
                  </a:lnTo>
                  <a:lnTo>
                    <a:pt x="279750" y="1381719"/>
                  </a:lnTo>
                  <a:cubicBezTo>
                    <a:pt x="2094791" y="1156941"/>
                    <a:pt x="3794464" y="695521"/>
                    <a:pt x="5312624" y="44170"/>
                  </a:cubicBezTo>
                  <a:lnTo>
                    <a:pt x="5410200" y="0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defTabSz="685800"/>
              <a:endParaRPr lang="zh-CN" altLang="en-US" sz="1400">
                <a:solidFill>
                  <a:prstClr val="white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endParaRPr>
            </a:p>
          </p:txBody>
        </p:sp>
        <p:sp>
          <p:nvSpPr>
            <p:cNvPr id="19" name="任意多边形: 形状 9"/>
            <p:cNvSpPr/>
            <p:nvPr/>
          </p:nvSpPr>
          <p:spPr>
            <a:xfrm>
              <a:off x="0" y="5140899"/>
              <a:ext cx="12192000" cy="1717101"/>
            </a:xfrm>
            <a:custGeom>
              <a:avLst/>
              <a:gdLst>
                <a:gd name="connsiteX0" fmla="*/ 12192000 w 12192000"/>
                <a:gd name="connsiteY0" fmla="*/ 0 h 1717101"/>
                <a:gd name="connsiteX1" fmla="*/ 12192000 w 12192000"/>
                <a:gd name="connsiteY1" fmla="*/ 1717101 h 1717101"/>
                <a:gd name="connsiteX2" fmla="*/ 0 w 12192000"/>
                <a:gd name="connsiteY2" fmla="*/ 1717101 h 1717101"/>
                <a:gd name="connsiteX3" fmla="*/ 0 w 12192000"/>
                <a:gd name="connsiteY3" fmla="*/ 1030977 h 1717101"/>
                <a:gd name="connsiteX4" fmla="*/ 178120 w 12192000"/>
                <a:gd name="connsiteY4" fmla="*/ 1073533 h 1717101"/>
                <a:gd name="connsiteX5" fmla="*/ 4521200 w 12192000"/>
                <a:gd name="connsiteY5" fmla="*/ 1537170 h 1717101"/>
                <a:gd name="connsiteX6" fmla="*/ 12094424 w 12192000"/>
                <a:gd name="connsiteY6" fmla="*/ 44170 h 17171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192000" h="1717101">
                  <a:moveTo>
                    <a:pt x="12192000" y="0"/>
                  </a:moveTo>
                  <a:lnTo>
                    <a:pt x="12192000" y="1717101"/>
                  </a:lnTo>
                  <a:lnTo>
                    <a:pt x="0" y="1717101"/>
                  </a:lnTo>
                  <a:lnTo>
                    <a:pt x="0" y="1030977"/>
                  </a:lnTo>
                  <a:lnTo>
                    <a:pt x="178120" y="1073533"/>
                  </a:lnTo>
                  <a:cubicBezTo>
                    <a:pt x="1550098" y="1374849"/>
                    <a:pt x="3008803" y="1537170"/>
                    <a:pt x="4521200" y="1537170"/>
                  </a:cubicBezTo>
                  <a:cubicBezTo>
                    <a:pt x="7293929" y="1537170"/>
                    <a:pt x="9886192" y="991590"/>
                    <a:pt x="12094424" y="44170"/>
                  </a:cubicBezTo>
                  <a:close/>
                </a:path>
              </a:pathLst>
            </a:custGeom>
            <a:solidFill>
              <a:schemeClr val="bg2">
                <a:alpha val="99251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defTabSz="685800">
                <a:defRPr/>
              </a:pPr>
              <a:endParaRPr lang="zh-CN" altLang="en-US" sz="1400">
                <a:solidFill>
                  <a:prstClr val="white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endParaRPr>
            </a:p>
          </p:txBody>
        </p:sp>
      </p:grpSp>
      <p:grpSp>
        <p:nvGrpSpPr>
          <p:cNvPr id="22" name="组合 21"/>
          <p:cNvGrpSpPr/>
          <p:nvPr userDrawn="1"/>
        </p:nvGrpSpPr>
        <p:grpSpPr>
          <a:xfrm>
            <a:off x="514351" y="404309"/>
            <a:ext cx="3234995" cy="507831"/>
            <a:chOff x="7557248" y="256690"/>
            <a:chExt cx="4313326" cy="677108"/>
          </a:xfrm>
        </p:grpSpPr>
        <p:sp>
          <p:nvSpPr>
            <p:cNvPr id="23" name="文本框 22"/>
            <p:cNvSpPr txBox="1"/>
            <p:nvPr userDrawn="1"/>
          </p:nvSpPr>
          <p:spPr>
            <a:xfrm>
              <a:off x="7697584" y="256690"/>
              <a:ext cx="4172990" cy="6771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685800"/>
              <a:r>
                <a:rPr lang="zh-CN" altLang="en-US" sz="1400" dirty="0">
                  <a:solidFill>
                    <a:srgbClr val="4F78C9">
                      <a:lumMod val="75000"/>
                    </a:srgbClr>
                  </a:solidFill>
                </a:rPr>
                <a:t>      </a:t>
              </a:r>
              <a:r>
                <a:rPr lang="zh-CN" altLang="en-US" b="1" dirty="0">
                  <a:solidFill>
                    <a:srgbClr val="4F78C9">
                      <a:lumMod val="75000"/>
                    </a:srgbClr>
                  </a:solidFill>
                </a:rPr>
                <a:t>山东省创新发展研究院</a:t>
              </a:r>
              <a:endParaRPr lang="zh-CN" altLang="en-US" sz="1400" b="1" dirty="0">
                <a:solidFill>
                  <a:srgbClr val="4F78C9">
                    <a:lumMod val="75000"/>
                  </a:srgbClr>
                </a:solidFill>
              </a:endParaRPr>
            </a:p>
            <a:p>
              <a:pPr defTabSz="685800"/>
              <a:r>
                <a:rPr lang="en-US" altLang="zh-CN" sz="900" dirty="0">
                  <a:solidFill>
                    <a:srgbClr val="4F78C9">
                      <a:lumMod val="75000"/>
                    </a:srgbClr>
                  </a:solidFill>
                </a:rPr>
                <a:t>         Shandong Academy of Innovation and Development </a:t>
              </a:r>
              <a:endParaRPr lang="zh-CN" altLang="en-US" sz="900" dirty="0">
                <a:solidFill>
                  <a:srgbClr val="4F78C9">
                    <a:lumMod val="75000"/>
                  </a:srgbClr>
                </a:solidFill>
              </a:endParaRPr>
            </a:p>
          </p:txBody>
        </p:sp>
        <p:pic>
          <p:nvPicPr>
            <p:cNvPr id="24" name="图片 23"/>
            <p:cNvPicPr>
              <a:picLocks noChangeAspect="1"/>
            </p:cNvPicPr>
            <p:nvPr userDrawn="1"/>
          </p:nvPicPr>
          <p:blipFill rotWithShape="1"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0000" b="90000" l="10000" r="90000">
                          <a14:backgroundMark x1="45098" y1="38095" x2="52941" y2="30952"/>
                          <a14:backgroundMark x1="56863" y1="52381" x2="56863" y2="52381"/>
                          <a14:backgroundMark x1="39216" y1="54762" x2="41176" y2="59524"/>
                        </a14:backgroundRemoval>
                      </a14:imgEffect>
                    </a14:imgLayer>
                  </a14:imgProps>
                </a:ext>
              </a:extLst>
            </a:blip>
            <a:srcRect l="19355"/>
            <a:stretch>
              <a:fillRect/>
            </a:stretch>
          </p:blipFill>
          <p:spPr>
            <a:xfrm>
              <a:off x="7557248" y="284958"/>
              <a:ext cx="603480" cy="616259"/>
            </a:xfrm>
            <a:prstGeom prst="rect">
              <a:avLst/>
            </a:prstGeom>
          </p:spPr>
        </p:pic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>
          <a:xfrm>
            <a:off x="521970" y="4767263"/>
            <a:ext cx="2057400" cy="273844"/>
          </a:xfrm>
        </p:spPr>
        <p:txBody>
          <a:bodyPr wrap="square" lIns="68580" tIns="34290" rIns="68580" bIns="34290">
            <a:normAutofit/>
          </a:bodyPr>
          <a:lstStyle/>
          <a:p>
            <a:pPr defTabSz="685800"/>
            <a:fld id="{5592522B-0F24-4480-B9DD-A9474A6880D6}" type="datetimeFigureOut">
              <a:rPr lang="zh-CN" altLang="en-US" sz="1400" smtClean="0">
                <a:solidFill>
                  <a:srgbClr val="000000"/>
                </a:solidFill>
              </a:rPr>
              <a:t>2025/11/24</a:t>
            </a:fld>
            <a:endParaRPr lang="zh-CN" altLang="en-US" sz="1400" dirty="0">
              <a:solidFill>
                <a:srgbClr val="000000"/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>
          <a:xfrm>
            <a:off x="3028950" y="4767263"/>
            <a:ext cx="3086100" cy="273844"/>
          </a:xfrm>
        </p:spPr>
        <p:txBody>
          <a:bodyPr lIns="68580" tIns="34290" rIns="68580" bIns="34290"/>
          <a:lstStyle/>
          <a:p>
            <a:pPr defTabSz="685800"/>
            <a:endParaRPr lang="zh-CN" altLang="en-US" sz="1400">
              <a:solidFill>
                <a:srgbClr val="000000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>
          <a:xfrm>
            <a:off x="6565487" y="4767263"/>
            <a:ext cx="2057400" cy="273844"/>
          </a:xfrm>
        </p:spPr>
        <p:txBody>
          <a:bodyPr wrap="square" lIns="68580" tIns="34290" rIns="68580" bIns="34290">
            <a:normAutofit/>
          </a:bodyPr>
          <a:lstStyle/>
          <a:p>
            <a:pPr defTabSz="685800"/>
            <a:fld id="{BE5F26B5-172A-4DC2-B0B7-181CFC56B87C}" type="slidenum">
              <a:rPr lang="zh-CN" altLang="en-US" sz="1400" smtClean="0">
                <a:solidFill>
                  <a:srgbClr val="000000"/>
                </a:solidFill>
              </a:rPr>
              <a:t>‹#›</a:t>
            </a:fld>
            <a:endParaRPr lang="zh-CN" altLang="en-US" sz="1400">
              <a:solidFill>
                <a:srgbClr val="000000"/>
              </a:solidFill>
            </a:endParaRPr>
          </a:p>
        </p:txBody>
      </p:sp>
      <p:cxnSp>
        <p:nvCxnSpPr>
          <p:cNvPr id="8" name="直接连接符 7"/>
          <p:cNvCxnSpPr/>
          <p:nvPr userDrawn="1"/>
        </p:nvCxnSpPr>
        <p:spPr>
          <a:xfrm>
            <a:off x="506254" y="762477"/>
            <a:ext cx="8413909" cy="1285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矩形 24"/>
          <p:cNvSpPr/>
          <p:nvPr userDrawn="1"/>
        </p:nvSpPr>
        <p:spPr>
          <a:xfrm>
            <a:off x="4502718" y="255997"/>
            <a:ext cx="138563" cy="284693"/>
          </a:xfrm>
          <a:prstGeom prst="rect">
            <a:avLst/>
          </a:prstGeom>
          <a:gradFill flip="none" rotWithShape="1">
            <a:gsLst>
              <a:gs pos="4000">
                <a:schemeClr val="accent3">
                  <a:lumMod val="20000"/>
                  <a:lumOff val="80000"/>
                </a:schemeClr>
              </a:gs>
              <a:gs pos="43000">
                <a:schemeClr val="accent3">
                  <a:lumMod val="20000"/>
                  <a:lumOff val="80000"/>
                  <a:alpha val="0"/>
                </a:schemeClr>
              </a:gs>
            </a:gsLst>
            <a:lin ang="3000000" scaled="0"/>
            <a:tileRect/>
          </a:gradFill>
          <a:ln>
            <a:noFill/>
            <a:prstDash val="dash"/>
          </a:ln>
        </p:spPr>
        <p:txBody>
          <a:bodyPr wrap="none" lIns="68580" tIns="34290" rIns="68580" bIns="34290" rtlCol="0" anchor="ctr">
            <a:spAutoFit/>
          </a:bodyPr>
          <a:lstStyle/>
          <a:p>
            <a:pPr algn="ctr" defTabSz="685800"/>
            <a:endParaRPr kumimoji="1" lang="zh-CN" altLang="en-US" sz="1400" dirty="0">
              <a:solidFill>
                <a:srgbClr val="000000"/>
              </a:solidFill>
            </a:endParaRPr>
          </a:p>
        </p:txBody>
      </p:sp>
      <p:pic>
        <p:nvPicPr>
          <p:cNvPr id="26" name="图片 25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483" y="192517"/>
            <a:ext cx="2365577" cy="511403"/>
          </a:xfrm>
          <a:prstGeom prst="rect">
            <a:avLst/>
          </a:prstGeom>
        </p:spPr>
      </p:pic>
      <p:sp>
        <p:nvSpPr>
          <p:cNvPr id="27" name="文本框 26"/>
          <p:cNvSpPr txBox="1"/>
          <p:nvPr userDrawn="1"/>
        </p:nvSpPr>
        <p:spPr>
          <a:xfrm>
            <a:off x="2244437" y="-498764"/>
            <a:ext cx="0" cy="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spcFirstLastPara="0" vert="horz" wrap="none" lIns="42863" tIns="42863" rIns="42863" bIns="42863" numCol="1" spcCol="953" rtlCol="0" anchor="ctr" anchorCtr="0">
            <a:noAutofit/>
          </a:bodyPr>
          <a:lstStyle/>
          <a:p>
            <a:pPr defTabSz="500380">
              <a:lnSpc>
                <a:spcPct val="150000"/>
              </a:lnSpc>
              <a:spcBef>
                <a:spcPct val="0"/>
              </a:spcBef>
              <a:spcAft>
                <a:spcPct val="35000"/>
              </a:spcAft>
            </a:pPr>
            <a:endParaRPr kumimoji="1" lang="zh-CN" altLang="en-US" dirty="0">
              <a:solidFill>
                <a:srgbClr val="000000"/>
              </a:solidFill>
            </a:endParaRPr>
          </a:p>
        </p:txBody>
      </p:sp>
      <p:grpSp>
        <p:nvGrpSpPr>
          <p:cNvPr id="28" name="组合 27"/>
          <p:cNvGrpSpPr/>
          <p:nvPr userDrawn="1"/>
        </p:nvGrpSpPr>
        <p:grpSpPr>
          <a:xfrm>
            <a:off x="5967973" y="192518"/>
            <a:ext cx="3234995" cy="507831"/>
            <a:chOff x="7557248" y="256690"/>
            <a:chExt cx="4313326" cy="677108"/>
          </a:xfrm>
        </p:grpSpPr>
        <p:sp>
          <p:nvSpPr>
            <p:cNvPr id="29" name="文本框 28"/>
            <p:cNvSpPr txBox="1"/>
            <p:nvPr userDrawn="1"/>
          </p:nvSpPr>
          <p:spPr>
            <a:xfrm>
              <a:off x="7697584" y="256690"/>
              <a:ext cx="4172990" cy="6771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685800"/>
              <a:r>
                <a:rPr lang="zh-CN" altLang="en-US" sz="1400" dirty="0">
                  <a:solidFill>
                    <a:srgbClr val="4F78C9">
                      <a:lumMod val="75000"/>
                    </a:srgbClr>
                  </a:solidFill>
                </a:rPr>
                <a:t>      </a:t>
              </a:r>
              <a:r>
                <a:rPr lang="zh-CN" altLang="en-US" b="1" dirty="0">
                  <a:solidFill>
                    <a:srgbClr val="4F78C9">
                      <a:lumMod val="75000"/>
                    </a:srgbClr>
                  </a:solidFill>
                </a:rPr>
                <a:t>山东省创新发展研究院</a:t>
              </a:r>
              <a:endParaRPr lang="zh-CN" altLang="en-US" sz="1400" b="1" dirty="0">
                <a:solidFill>
                  <a:srgbClr val="4F78C9">
                    <a:lumMod val="75000"/>
                  </a:srgbClr>
                </a:solidFill>
              </a:endParaRPr>
            </a:p>
            <a:p>
              <a:pPr defTabSz="685800"/>
              <a:r>
                <a:rPr lang="en-US" altLang="zh-CN" sz="900" dirty="0">
                  <a:solidFill>
                    <a:srgbClr val="4F78C9">
                      <a:lumMod val="75000"/>
                    </a:srgbClr>
                  </a:solidFill>
                </a:rPr>
                <a:t>         Shandong Academy of Innovation and Development </a:t>
              </a:r>
              <a:endParaRPr lang="zh-CN" altLang="en-US" sz="900" dirty="0">
                <a:solidFill>
                  <a:srgbClr val="4F78C9">
                    <a:lumMod val="75000"/>
                  </a:srgbClr>
                </a:solidFill>
              </a:endParaRPr>
            </a:p>
          </p:txBody>
        </p:sp>
        <p:pic>
          <p:nvPicPr>
            <p:cNvPr id="30" name="图片 29"/>
            <p:cNvPicPr>
              <a:picLocks noChangeAspect="1"/>
            </p:cNvPicPr>
            <p:nvPr userDrawn="1"/>
          </p:nvPicPr>
          <p:blipFill rotWithShape="1">
            <a:blip r:embed="rId6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ackgroundRemoval t="10000" b="90000" l="10000" r="90000">
                          <a14:backgroundMark x1="45098" y1="38095" x2="52941" y2="30952"/>
                          <a14:backgroundMark x1="56863" y1="52381" x2="56863" y2="52381"/>
                          <a14:backgroundMark x1="39216" y1="54762" x2="41176" y2="59524"/>
                        </a14:backgroundRemoval>
                      </a14:imgEffect>
                    </a14:imgLayer>
                  </a14:imgProps>
                </a:ext>
              </a:extLst>
            </a:blip>
            <a:srcRect l="19355"/>
            <a:stretch>
              <a:fillRect/>
            </a:stretch>
          </p:blipFill>
          <p:spPr>
            <a:xfrm>
              <a:off x="7557248" y="284958"/>
              <a:ext cx="603480" cy="616259"/>
            </a:xfrm>
            <a:prstGeom prst="rect">
              <a:avLst/>
            </a:prstGeom>
          </p:spPr>
        </p:pic>
      </p:grpSp>
      <p:sp>
        <p:nvSpPr>
          <p:cNvPr id="31" name="标题 30"/>
          <p:cNvSpPr>
            <a:spLocks noGrp="1"/>
          </p:cNvSpPr>
          <p:nvPr>
            <p:ph type="title"/>
          </p:nvPr>
        </p:nvSpPr>
        <p:spPr>
          <a:xfrm>
            <a:off x="703421" y="145733"/>
            <a:ext cx="8138160" cy="560546"/>
          </a:xfrm>
          <a:prstGeom prst="rect">
            <a:avLst/>
          </a:prstGeom>
        </p:spPr>
        <p:txBody>
          <a:bodyPr lIns="68580" tIns="34290" rIns="68580" bIns="34290" anchor="ctr" anchorCtr="0"/>
          <a:lstStyle>
            <a:lvl1pPr>
              <a:defRPr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22000" y="295804"/>
            <a:ext cx="8100000" cy="594000"/>
          </a:xfrm>
        </p:spPr>
        <p:txBody>
          <a:bodyPr lIns="68580" tIns="34290" rIns="68580" bIns="34290"/>
          <a:lstStyle>
            <a:lvl1pPr algn="ctr">
              <a:defRPr sz="240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459000" y="4735800"/>
            <a:ext cx="2025000" cy="237600"/>
          </a:xfrm>
        </p:spPr>
        <p:txBody>
          <a:bodyPr lIns="68580" tIns="34290" rIns="68580" bIns="34290"/>
          <a:lstStyle/>
          <a:p>
            <a:pPr defTabSz="685800"/>
            <a:fld id="{760FBDFE-C587-4B4C-A407-44438C67B59E}" type="datetimeFigureOut">
              <a:rPr lang="zh-CN" altLang="en-US" sz="1400" smtClean="0">
                <a:solidFill>
                  <a:srgbClr val="000000"/>
                </a:solidFill>
              </a:rPr>
              <a:t>2025/11/24</a:t>
            </a:fld>
            <a:endParaRPr lang="zh-CN" altLang="en-US" sz="1400">
              <a:solidFill>
                <a:srgbClr val="000000"/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3087000" y="4735800"/>
            <a:ext cx="2970000" cy="237600"/>
          </a:xfrm>
        </p:spPr>
        <p:txBody>
          <a:bodyPr lIns="68580" tIns="34290" rIns="68580" bIns="34290"/>
          <a:lstStyle/>
          <a:p>
            <a:pPr defTabSz="685800"/>
            <a:endParaRPr lang="zh-CN" altLang="en-US" sz="1400" dirty="0">
              <a:solidFill>
                <a:srgbClr val="000000"/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6658200" y="4735800"/>
            <a:ext cx="2025000" cy="237600"/>
          </a:xfrm>
        </p:spPr>
        <p:txBody>
          <a:bodyPr lIns="68580" tIns="34290" rIns="68580" bIns="34290"/>
          <a:lstStyle/>
          <a:p>
            <a:pPr defTabSz="685800"/>
            <a:fld id="{49AE70B2-8BF9-45C0-BB95-33D1B9D3A854}" type="slidenum">
              <a:rPr lang="zh-CN" altLang="en-US" sz="1400" smtClean="0">
                <a:solidFill>
                  <a:srgbClr val="000000"/>
                </a:solidFill>
              </a:rPr>
              <a:t>‹#›</a:t>
            </a:fld>
            <a:endParaRPr lang="zh-CN" altLang="en-US" sz="1400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-K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7"/>
          <p:cNvSpPr txBox="1"/>
          <p:nvPr userDrawn="1"/>
        </p:nvSpPr>
        <p:spPr>
          <a:xfrm>
            <a:off x="8341519" y="4933474"/>
            <a:ext cx="766763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algn="r" defTabSz="821690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zh-CN" sz="1100" dirty="0">
                <a:solidFill>
                  <a:srgbClr val="FFFFFF">
                    <a:lumMod val="50000"/>
                  </a:srgbClr>
                </a:solidFill>
                <a:latin typeface="微软雅黑" pitchFamily="34" charset="-122"/>
                <a:ea typeface="微软雅黑" pitchFamily="34" charset="-122"/>
              </a:rPr>
              <a:t>Page </a:t>
            </a:r>
            <a:fld id="{195FF813-92D5-41C2-A763-54D244C7EABD}" type="slidenum">
              <a:rPr lang="zh-CN" altLang="en-US" sz="1100" dirty="0" smtClean="0">
                <a:solidFill>
                  <a:srgbClr val="FFFFFF">
                    <a:lumMod val="50000"/>
                  </a:srgbClr>
                </a:solidFill>
                <a:latin typeface="微软雅黑" pitchFamily="34" charset="-122"/>
                <a:ea typeface="微软雅黑" pitchFamily="34" charset="-122"/>
                <a:sym typeface="+mn-ea"/>
              </a:rPr>
              <a:t>‹#›</a:t>
            </a:fld>
            <a:endParaRPr lang="zh-CN" altLang="en-US" sz="1100" b="1" dirty="0">
              <a:solidFill>
                <a:srgbClr val="9BBB5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21" name="直接连接符 20"/>
          <p:cNvCxnSpPr/>
          <p:nvPr userDrawn="1">
            <p:custDataLst>
              <p:tags r:id="rId1"/>
            </p:custDataLst>
          </p:nvPr>
        </p:nvCxnSpPr>
        <p:spPr>
          <a:xfrm>
            <a:off x="174784" y="523399"/>
            <a:ext cx="8834438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矩形 5"/>
          <p:cNvSpPr/>
          <p:nvPr userDrawn="1">
            <p:custDataLst>
              <p:tags r:id="rId2"/>
            </p:custDataLst>
          </p:nvPr>
        </p:nvSpPr>
        <p:spPr>
          <a:xfrm>
            <a:off x="185737" y="90726"/>
            <a:ext cx="220028" cy="35814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7149" tIns="28575" rIns="57149" bIns="28575" rtlCol="0" anchor="ctr"/>
          <a:lstStyle/>
          <a:p>
            <a:pPr algn="ctr" defTabSz="685800"/>
            <a:endParaRPr lang="zh-CN" altLang="en-US" sz="1400" baseline="-25000">
              <a:solidFill>
                <a:srgbClr val="FFFFFF"/>
              </a:solidFill>
            </a:endParaRPr>
          </a:p>
        </p:txBody>
      </p:sp>
      <p:sp>
        <p:nvSpPr>
          <p:cNvPr id="5" name="矩形 4"/>
          <p:cNvSpPr/>
          <p:nvPr userDrawn="1">
            <p:custDataLst>
              <p:tags r:id="rId3"/>
            </p:custDataLst>
          </p:nvPr>
        </p:nvSpPr>
        <p:spPr>
          <a:xfrm>
            <a:off x="405765" y="90964"/>
            <a:ext cx="83344" cy="357664"/>
          </a:xfrm>
          <a:prstGeom prst="rect">
            <a:avLst/>
          </a:prstGeom>
          <a:solidFill>
            <a:srgbClr val="08BAFC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7149" tIns="28575" rIns="57149" bIns="28575" rtlCol="0" anchor="ctr"/>
          <a:lstStyle/>
          <a:p>
            <a:pPr algn="ctr" defTabSz="685800"/>
            <a:endParaRPr lang="en-US" altLang="zh-CN" sz="1400" baseline="-25000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386954" y="816769"/>
            <a:ext cx="4127897" cy="3995738"/>
          </a:xfrm>
        </p:spPr>
        <p:txBody>
          <a:bodyPr lIns="68580" tIns="34290" rIns="68580" bIns="34290"/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4629149" y="816769"/>
            <a:ext cx="4127898" cy="3995738"/>
          </a:xfrm>
        </p:spPr>
        <p:txBody>
          <a:bodyPr lIns="68580" tIns="34290" rIns="68580" bIns="34290"/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406598" y="4874889"/>
            <a:ext cx="2057400" cy="158714"/>
          </a:xfrm>
          <a:prstGeom prst="rect">
            <a:avLst/>
          </a:prstGeom>
        </p:spPr>
        <p:txBody>
          <a:bodyPr lIns="68580" tIns="34290" rIns="68580" bIns="34290"/>
          <a:lstStyle/>
          <a:p>
            <a:pPr defTabSz="685800"/>
            <a:fld id="{F615E469-C0CF-4C85-82C8-A46A38D0B181}" type="datetimeFigureOut">
              <a:rPr lang="zh-CN" altLang="en-US" sz="1400" smtClean="0">
                <a:solidFill>
                  <a:srgbClr val="000000"/>
                </a:solidFill>
              </a:rPr>
              <a:t>2025/11/24</a:t>
            </a:fld>
            <a:endParaRPr lang="zh-CN" altLang="en-US" sz="1400">
              <a:solidFill>
                <a:srgbClr val="000000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028950" y="4882393"/>
            <a:ext cx="3086100" cy="158714"/>
          </a:xfrm>
          <a:prstGeom prst="rect">
            <a:avLst/>
          </a:prstGeom>
        </p:spPr>
        <p:txBody>
          <a:bodyPr lIns="68580" tIns="34290" rIns="68580" bIns="34290"/>
          <a:lstStyle/>
          <a:p>
            <a:pPr defTabSz="685800"/>
            <a:endParaRPr lang="zh-CN" altLang="en-US" sz="1400">
              <a:solidFill>
                <a:srgbClr val="000000"/>
              </a:solidFill>
            </a:endParaRPr>
          </a:p>
        </p:txBody>
      </p:sp>
      <p:sp>
        <p:nvSpPr>
          <p:cNvPr id="12" name="标题占位符 1"/>
          <p:cNvSpPr>
            <a:spLocks noGrp="1"/>
          </p:cNvSpPr>
          <p:nvPr>
            <p:ph type="title"/>
          </p:nvPr>
        </p:nvSpPr>
        <p:spPr>
          <a:xfrm>
            <a:off x="117088" y="153721"/>
            <a:ext cx="6398012" cy="480692"/>
          </a:xfrm>
          <a:prstGeom prst="rect">
            <a:avLst/>
          </a:prstGeom>
        </p:spPr>
        <p:txBody>
          <a:bodyPr vert="horz" lIns="68580" tIns="34290" rIns="68580" bIns="34290" rtlCol="0" anchor="ctr">
            <a:norm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2" name="矩形 1"/>
          <p:cNvSpPr/>
          <p:nvPr userDrawn="1"/>
        </p:nvSpPr>
        <p:spPr bwMode="gray">
          <a:xfrm>
            <a:off x="1" y="153721"/>
            <a:ext cx="9094304" cy="480692"/>
          </a:xfrm>
          <a:prstGeom prst="rect">
            <a:avLst/>
          </a:prstGeom>
          <a:solidFill>
            <a:srgbClr val="C00000"/>
          </a:solidFill>
          <a:ln w="9525" algn="ctr">
            <a:noFill/>
            <a:round/>
          </a:ln>
        </p:spPr>
        <p:txBody>
          <a:bodyPr lIns="0" tIns="0" rIns="0" bIns="0" rtlCol="0" anchor="ctr">
            <a:normAutofit/>
          </a:bodyPr>
          <a:lstStyle/>
          <a:p>
            <a:pPr algn="ctr" defTabSz="685800">
              <a:lnSpc>
                <a:spcPct val="120000"/>
              </a:lnSpc>
            </a:pPr>
            <a:endParaRPr lang="zh-CN" altLang="en-US" sz="1500" b="1" dirty="0">
              <a:solidFill>
                <a:srgbClr val="FFFFFF"/>
              </a:solidFill>
              <a:latin typeface="微软雅黑" pitchFamily="34" charset="-122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10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Relationship Id="rId6" Type="http://schemas.openxmlformats.org/officeDocument/2006/relationships/slideLayout" Target="../slideLayouts/slideLayout13.xml"/><Relationship Id="rId5" Type="http://schemas.openxmlformats.org/officeDocument/2006/relationships/slideLayout" Target="../slideLayouts/slideLayout12.xml"/><Relationship Id="rId4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1341344" y="-423582"/>
            <a:ext cx="0" cy="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spcFirstLastPara="0" vert="horz" wrap="none" lIns="42862" tIns="42862" rIns="42862" bIns="42862" numCol="1" spcCol="953" rtlCol="0" anchor="ctr" anchorCtr="0">
            <a:noAutofit/>
          </a:bodyPr>
          <a:lstStyle/>
          <a:p>
            <a:pPr defTabSz="499745">
              <a:lnSpc>
                <a:spcPct val="150000"/>
              </a:lnSpc>
              <a:spcBef>
                <a:spcPct val="0"/>
              </a:spcBef>
              <a:spcAft>
                <a:spcPct val="35000"/>
              </a:spcAft>
            </a:pPr>
            <a:endParaRPr kumimoji="1" lang="zh-CN" altLang="en-US" dirty="0">
              <a:solidFill>
                <a:srgbClr val="000000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hd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1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1341344" y="-423582"/>
            <a:ext cx="0" cy="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spcFirstLastPara="0" vert="horz" wrap="none" lIns="42863" tIns="42863" rIns="42863" bIns="42863" numCol="1" spcCol="953" rtlCol="0" anchor="ctr" anchorCtr="0">
            <a:noAutofit/>
          </a:bodyPr>
          <a:lstStyle/>
          <a:p>
            <a:pPr defTabSz="500380">
              <a:lnSpc>
                <a:spcPct val="150000"/>
              </a:lnSpc>
              <a:spcBef>
                <a:spcPct val="0"/>
              </a:spcBef>
              <a:spcAft>
                <a:spcPct val="35000"/>
              </a:spcAft>
            </a:pPr>
            <a:endParaRPr kumimoji="1" lang="zh-CN" altLang="en-US" dirty="0">
              <a:solidFill>
                <a:srgbClr val="000000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58" r:id="rId2"/>
    <p:sldLayoutId id="2147483659" r:id="rId3"/>
    <p:sldLayoutId id="2147483660" r:id="rId4"/>
    <p:sldLayoutId id="2147483661" r:id="rId5"/>
    <p:sldLayoutId id="2147483662" r:id="rId6"/>
  </p:sldLayoutIdLst>
  <p:hf hd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1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tags" Target="../tags/tag28.xml"/><Relationship Id="rId13" Type="http://schemas.openxmlformats.org/officeDocument/2006/relationships/tags" Target="../tags/tag33.xml"/><Relationship Id="rId18" Type="http://schemas.openxmlformats.org/officeDocument/2006/relationships/tags" Target="../tags/tag38.xml"/><Relationship Id="rId3" Type="http://schemas.openxmlformats.org/officeDocument/2006/relationships/tags" Target="../tags/tag23.xml"/><Relationship Id="rId21" Type="http://schemas.openxmlformats.org/officeDocument/2006/relationships/notesSlide" Target="../notesSlides/notesSlide1.xml"/><Relationship Id="rId7" Type="http://schemas.openxmlformats.org/officeDocument/2006/relationships/tags" Target="../tags/tag27.xml"/><Relationship Id="rId12" Type="http://schemas.openxmlformats.org/officeDocument/2006/relationships/tags" Target="../tags/tag32.xml"/><Relationship Id="rId17" Type="http://schemas.openxmlformats.org/officeDocument/2006/relationships/tags" Target="../tags/tag37.xml"/><Relationship Id="rId2" Type="http://schemas.openxmlformats.org/officeDocument/2006/relationships/tags" Target="../tags/tag22.xml"/><Relationship Id="rId16" Type="http://schemas.openxmlformats.org/officeDocument/2006/relationships/tags" Target="../tags/tag36.xml"/><Relationship Id="rId20" Type="http://schemas.openxmlformats.org/officeDocument/2006/relationships/slideLayout" Target="../slideLayouts/slideLayout1.xml"/><Relationship Id="rId1" Type="http://schemas.openxmlformats.org/officeDocument/2006/relationships/tags" Target="../tags/tag21.xml"/><Relationship Id="rId6" Type="http://schemas.openxmlformats.org/officeDocument/2006/relationships/tags" Target="../tags/tag26.xml"/><Relationship Id="rId11" Type="http://schemas.openxmlformats.org/officeDocument/2006/relationships/tags" Target="../tags/tag31.xml"/><Relationship Id="rId5" Type="http://schemas.openxmlformats.org/officeDocument/2006/relationships/tags" Target="../tags/tag25.xml"/><Relationship Id="rId15" Type="http://schemas.openxmlformats.org/officeDocument/2006/relationships/tags" Target="../tags/tag35.xml"/><Relationship Id="rId10" Type="http://schemas.openxmlformats.org/officeDocument/2006/relationships/tags" Target="../tags/tag30.xml"/><Relationship Id="rId19" Type="http://schemas.openxmlformats.org/officeDocument/2006/relationships/tags" Target="../tags/tag39.xml"/><Relationship Id="rId4" Type="http://schemas.openxmlformats.org/officeDocument/2006/relationships/tags" Target="../tags/tag24.xml"/><Relationship Id="rId9" Type="http://schemas.openxmlformats.org/officeDocument/2006/relationships/tags" Target="../tags/tag29.xml"/><Relationship Id="rId14" Type="http://schemas.openxmlformats.org/officeDocument/2006/relationships/tags" Target="../tags/tag34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47.xml"/><Relationship Id="rId13" Type="http://schemas.openxmlformats.org/officeDocument/2006/relationships/tags" Target="../tags/tag52.xml"/><Relationship Id="rId18" Type="http://schemas.openxmlformats.org/officeDocument/2006/relationships/tags" Target="../tags/tag57.xml"/><Relationship Id="rId26" Type="http://schemas.openxmlformats.org/officeDocument/2006/relationships/tags" Target="../tags/tag65.xml"/><Relationship Id="rId3" Type="http://schemas.openxmlformats.org/officeDocument/2006/relationships/tags" Target="../tags/tag42.xml"/><Relationship Id="rId21" Type="http://schemas.openxmlformats.org/officeDocument/2006/relationships/tags" Target="../tags/tag60.xml"/><Relationship Id="rId7" Type="http://schemas.openxmlformats.org/officeDocument/2006/relationships/tags" Target="../tags/tag46.xml"/><Relationship Id="rId12" Type="http://schemas.openxmlformats.org/officeDocument/2006/relationships/tags" Target="../tags/tag51.xml"/><Relationship Id="rId17" Type="http://schemas.openxmlformats.org/officeDocument/2006/relationships/tags" Target="../tags/tag56.xml"/><Relationship Id="rId25" Type="http://schemas.openxmlformats.org/officeDocument/2006/relationships/tags" Target="../tags/tag64.xml"/><Relationship Id="rId2" Type="http://schemas.openxmlformats.org/officeDocument/2006/relationships/tags" Target="../tags/tag41.xml"/><Relationship Id="rId16" Type="http://schemas.openxmlformats.org/officeDocument/2006/relationships/tags" Target="../tags/tag55.xml"/><Relationship Id="rId20" Type="http://schemas.openxmlformats.org/officeDocument/2006/relationships/tags" Target="../tags/tag59.xml"/><Relationship Id="rId29" Type="http://schemas.openxmlformats.org/officeDocument/2006/relationships/slideLayout" Target="../slideLayouts/slideLayout1.xml"/><Relationship Id="rId1" Type="http://schemas.openxmlformats.org/officeDocument/2006/relationships/tags" Target="../tags/tag40.xml"/><Relationship Id="rId6" Type="http://schemas.openxmlformats.org/officeDocument/2006/relationships/tags" Target="../tags/tag45.xml"/><Relationship Id="rId11" Type="http://schemas.openxmlformats.org/officeDocument/2006/relationships/tags" Target="../tags/tag50.xml"/><Relationship Id="rId24" Type="http://schemas.openxmlformats.org/officeDocument/2006/relationships/tags" Target="../tags/tag63.xml"/><Relationship Id="rId5" Type="http://schemas.openxmlformats.org/officeDocument/2006/relationships/tags" Target="../tags/tag44.xml"/><Relationship Id="rId15" Type="http://schemas.openxmlformats.org/officeDocument/2006/relationships/tags" Target="../tags/tag54.xml"/><Relationship Id="rId23" Type="http://schemas.openxmlformats.org/officeDocument/2006/relationships/tags" Target="../tags/tag62.xml"/><Relationship Id="rId28" Type="http://schemas.openxmlformats.org/officeDocument/2006/relationships/tags" Target="../tags/tag67.xml"/><Relationship Id="rId10" Type="http://schemas.openxmlformats.org/officeDocument/2006/relationships/tags" Target="../tags/tag49.xml"/><Relationship Id="rId19" Type="http://schemas.openxmlformats.org/officeDocument/2006/relationships/tags" Target="../tags/tag58.xml"/><Relationship Id="rId4" Type="http://schemas.openxmlformats.org/officeDocument/2006/relationships/tags" Target="../tags/tag43.xml"/><Relationship Id="rId9" Type="http://schemas.openxmlformats.org/officeDocument/2006/relationships/tags" Target="../tags/tag48.xml"/><Relationship Id="rId14" Type="http://schemas.openxmlformats.org/officeDocument/2006/relationships/tags" Target="../tags/tag53.xml"/><Relationship Id="rId22" Type="http://schemas.openxmlformats.org/officeDocument/2006/relationships/tags" Target="../tags/tag61.xml"/><Relationship Id="rId27" Type="http://schemas.openxmlformats.org/officeDocument/2006/relationships/tags" Target="../tags/tag66.xml"/><Relationship Id="rId3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75.xml"/><Relationship Id="rId13" Type="http://schemas.openxmlformats.org/officeDocument/2006/relationships/tags" Target="../tags/tag80.xml"/><Relationship Id="rId18" Type="http://schemas.openxmlformats.org/officeDocument/2006/relationships/tags" Target="../tags/tag85.xml"/><Relationship Id="rId3" Type="http://schemas.openxmlformats.org/officeDocument/2006/relationships/tags" Target="../tags/tag70.xml"/><Relationship Id="rId21" Type="http://schemas.openxmlformats.org/officeDocument/2006/relationships/tags" Target="../tags/tag88.xml"/><Relationship Id="rId7" Type="http://schemas.openxmlformats.org/officeDocument/2006/relationships/tags" Target="../tags/tag74.xml"/><Relationship Id="rId12" Type="http://schemas.openxmlformats.org/officeDocument/2006/relationships/tags" Target="../tags/tag79.xml"/><Relationship Id="rId17" Type="http://schemas.openxmlformats.org/officeDocument/2006/relationships/tags" Target="../tags/tag84.xml"/><Relationship Id="rId2" Type="http://schemas.openxmlformats.org/officeDocument/2006/relationships/tags" Target="../tags/tag69.xml"/><Relationship Id="rId16" Type="http://schemas.openxmlformats.org/officeDocument/2006/relationships/tags" Target="../tags/tag83.xml"/><Relationship Id="rId20" Type="http://schemas.openxmlformats.org/officeDocument/2006/relationships/tags" Target="../tags/tag87.xml"/><Relationship Id="rId1" Type="http://schemas.openxmlformats.org/officeDocument/2006/relationships/tags" Target="../tags/tag68.xml"/><Relationship Id="rId6" Type="http://schemas.openxmlformats.org/officeDocument/2006/relationships/tags" Target="../tags/tag73.xml"/><Relationship Id="rId11" Type="http://schemas.openxmlformats.org/officeDocument/2006/relationships/tags" Target="../tags/tag78.xml"/><Relationship Id="rId5" Type="http://schemas.openxmlformats.org/officeDocument/2006/relationships/tags" Target="../tags/tag72.xml"/><Relationship Id="rId15" Type="http://schemas.openxmlformats.org/officeDocument/2006/relationships/tags" Target="../tags/tag82.xml"/><Relationship Id="rId23" Type="http://schemas.openxmlformats.org/officeDocument/2006/relationships/notesSlide" Target="../notesSlides/notesSlide3.xml"/><Relationship Id="rId10" Type="http://schemas.openxmlformats.org/officeDocument/2006/relationships/tags" Target="../tags/tag77.xml"/><Relationship Id="rId19" Type="http://schemas.openxmlformats.org/officeDocument/2006/relationships/tags" Target="../tags/tag86.xml"/><Relationship Id="rId4" Type="http://schemas.openxmlformats.org/officeDocument/2006/relationships/tags" Target="../tags/tag71.xml"/><Relationship Id="rId9" Type="http://schemas.openxmlformats.org/officeDocument/2006/relationships/tags" Target="../tags/tag76.xml"/><Relationship Id="rId14" Type="http://schemas.openxmlformats.org/officeDocument/2006/relationships/tags" Target="../tags/tag81.xml"/><Relationship Id="rId22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tags" Target="../tags/tag96.xml"/><Relationship Id="rId13" Type="http://schemas.openxmlformats.org/officeDocument/2006/relationships/tags" Target="../tags/tag101.xml"/><Relationship Id="rId18" Type="http://schemas.openxmlformats.org/officeDocument/2006/relationships/tags" Target="../tags/tag106.xml"/><Relationship Id="rId26" Type="http://schemas.openxmlformats.org/officeDocument/2006/relationships/tags" Target="../tags/tag114.xml"/><Relationship Id="rId3" Type="http://schemas.openxmlformats.org/officeDocument/2006/relationships/tags" Target="../tags/tag91.xml"/><Relationship Id="rId21" Type="http://schemas.openxmlformats.org/officeDocument/2006/relationships/tags" Target="../tags/tag109.xml"/><Relationship Id="rId7" Type="http://schemas.openxmlformats.org/officeDocument/2006/relationships/tags" Target="../tags/tag95.xml"/><Relationship Id="rId12" Type="http://schemas.openxmlformats.org/officeDocument/2006/relationships/tags" Target="../tags/tag100.xml"/><Relationship Id="rId17" Type="http://schemas.openxmlformats.org/officeDocument/2006/relationships/tags" Target="../tags/tag105.xml"/><Relationship Id="rId25" Type="http://schemas.openxmlformats.org/officeDocument/2006/relationships/tags" Target="../tags/tag113.xml"/><Relationship Id="rId2" Type="http://schemas.openxmlformats.org/officeDocument/2006/relationships/tags" Target="../tags/tag90.xml"/><Relationship Id="rId16" Type="http://schemas.openxmlformats.org/officeDocument/2006/relationships/tags" Target="../tags/tag104.xml"/><Relationship Id="rId20" Type="http://schemas.openxmlformats.org/officeDocument/2006/relationships/tags" Target="../tags/tag108.xml"/><Relationship Id="rId29" Type="http://schemas.openxmlformats.org/officeDocument/2006/relationships/tags" Target="../tags/tag117.xml"/><Relationship Id="rId1" Type="http://schemas.openxmlformats.org/officeDocument/2006/relationships/tags" Target="../tags/tag89.xml"/><Relationship Id="rId6" Type="http://schemas.openxmlformats.org/officeDocument/2006/relationships/tags" Target="../tags/tag94.xml"/><Relationship Id="rId11" Type="http://schemas.openxmlformats.org/officeDocument/2006/relationships/tags" Target="../tags/tag99.xml"/><Relationship Id="rId24" Type="http://schemas.openxmlformats.org/officeDocument/2006/relationships/tags" Target="../tags/tag112.xml"/><Relationship Id="rId32" Type="http://schemas.openxmlformats.org/officeDocument/2006/relationships/image" Target="../media/image7.png"/><Relationship Id="rId5" Type="http://schemas.openxmlformats.org/officeDocument/2006/relationships/tags" Target="../tags/tag93.xml"/><Relationship Id="rId15" Type="http://schemas.openxmlformats.org/officeDocument/2006/relationships/tags" Target="../tags/tag103.xml"/><Relationship Id="rId23" Type="http://schemas.openxmlformats.org/officeDocument/2006/relationships/tags" Target="../tags/tag111.xml"/><Relationship Id="rId28" Type="http://schemas.openxmlformats.org/officeDocument/2006/relationships/tags" Target="../tags/tag116.xml"/><Relationship Id="rId10" Type="http://schemas.openxmlformats.org/officeDocument/2006/relationships/tags" Target="../tags/tag98.xml"/><Relationship Id="rId19" Type="http://schemas.openxmlformats.org/officeDocument/2006/relationships/tags" Target="../tags/tag107.xml"/><Relationship Id="rId31" Type="http://schemas.openxmlformats.org/officeDocument/2006/relationships/slideLayout" Target="../slideLayouts/slideLayout8.xml"/><Relationship Id="rId4" Type="http://schemas.openxmlformats.org/officeDocument/2006/relationships/tags" Target="../tags/tag92.xml"/><Relationship Id="rId9" Type="http://schemas.openxmlformats.org/officeDocument/2006/relationships/tags" Target="../tags/tag97.xml"/><Relationship Id="rId14" Type="http://schemas.openxmlformats.org/officeDocument/2006/relationships/tags" Target="../tags/tag102.xml"/><Relationship Id="rId22" Type="http://schemas.openxmlformats.org/officeDocument/2006/relationships/tags" Target="../tags/tag110.xml"/><Relationship Id="rId27" Type="http://schemas.openxmlformats.org/officeDocument/2006/relationships/tags" Target="../tags/tag115.xml"/><Relationship Id="rId30" Type="http://schemas.openxmlformats.org/officeDocument/2006/relationships/tags" Target="../tags/tag118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tags" Target="../tags/tag126.xml"/><Relationship Id="rId13" Type="http://schemas.openxmlformats.org/officeDocument/2006/relationships/tags" Target="../tags/tag131.xml"/><Relationship Id="rId18" Type="http://schemas.openxmlformats.org/officeDocument/2006/relationships/tags" Target="../tags/tag136.xml"/><Relationship Id="rId26" Type="http://schemas.openxmlformats.org/officeDocument/2006/relationships/tags" Target="../tags/tag144.xml"/><Relationship Id="rId39" Type="http://schemas.openxmlformats.org/officeDocument/2006/relationships/notesSlide" Target="../notesSlides/notesSlide4.xml"/><Relationship Id="rId3" Type="http://schemas.openxmlformats.org/officeDocument/2006/relationships/tags" Target="../tags/tag121.xml"/><Relationship Id="rId21" Type="http://schemas.openxmlformats.org/officeDocument/2006/relationships/tags" Target="../tags/tag139.xml"/><Relationship Id="rId34" Type="http://schemas.openxmlformats.org/officeDocument/2006/relationships/tags" Target="../tags/tag152.xml"/><Relationship Id="rId7" Type="http://schemas.openxmlformats.org/officeDocument/2006/relationships/tags" Target="../tags/tag125.xml"/><Relationship Id="rId12" Type="http://schemas.openxmlformats.org/officeDocument/2006/relationships/tags" Target="../tags/tag130.xml"/><Relationship Id="rId17" Type="http://schemas.openxmlformats.org/officeDocument/2006/relationships/tags" Target="../tags/tag135.xml"/><Relationship Id="rId25" Type="http://schemas.openxmlformats.org/officeDocument/2006/relationships/tags" Target="../tags/tag143.xml"/><Relationship Id="rId33" Type="http://schemas.openxmlformats.org/officeDocument/2006/relationships/tags" Target="../tags/tag151.xml"/><Relationship Id="rId38" Type="http://schemas.openxmlformats.org/officeDocument/2006/relationships/slideLayout" Target="../slideLayouts/slideLayout8.xml"/><Relationship Id="rId2" Type="http://schemas.openxmlformats.org/officeDocument/2006/relationships/tags" Target="../tags/tag120.xml"/><Relationship Id="rId16" Type="http://schemas.openxmlformats.org/officeDocument/2006/relationships/tags" Target="../tags/tag134.xml"/><Relationship Id="rId20" Type="http://schemas.openxmlformats.org/officeDocument/2006/relationships/tags" Target="../tags/tag138.xml"/><Relationship Id="rId29" Type="http://schemas.openxmlformats.org/officeDocument/2006/relationships/tags" Target="../tags/tag147.xml"/><Relationship Id="rId1" Type="http://schemas.openxmlformats.org/officeDocument/2006/relationships/tags" Target="../tags/tag119.xml"/><Relationship Id="rId6" Type="http://schemas.openxmlformats.org/officeDocument/2006/relationships/tags" Target="../tags/tag124.xml"/><Relationship Id="rId11" Type="http://schemas.openxmlformats.org/officeDocument/2006/relationships/tags" Target="../tags/tag129.xml"/><Relationship Id="rId24" Type="http://schemas.openxmlformats.org/officeDocument/2006/relationships/tags" Target="../tags/tag142.xml"/><Relationship Id="rId32" Type="http://schemas.openxmlformats.org/officeDocument/2006/relationships/tags" Target="../tags/tag150.xml"/><Relationship Id="rId37" Type="http://schemas.openxmlformats.org/officeDocument/2006/relationships/tags" Target="../tags/tag155.xml"/><Relationship Id="rId40" Type="http://schemas.openxmlformats.org/officeDocument/2006/relationships/image" Target="../media/image7.png"/><Relationship Id="rId5" Type="http://schemas.openxmlformats.org/officeDocument/2006/relationships/tags" Target="../tags/tag123.xml"/><Relationship Id="rId15" Type="http://schemas.openxmlformats.org/officeDocument/2006/relationships/tags" Target="../tags/tag133.xml"/><Relationship Id="rId23" Type="http://schemas.openxmlformats.org/officeDocument/2006/relationships/tags" Target="../tags/tag141.xml"/><Relationship Id="rId28" Type="http://schemas.openxmlformats.org/officeDocument/2006/relationships/tags" Target="../tags/tag146.xml"/><Relationship Id="rId36" Type="http://schemas.openxmlformats.org/officeDocument/2006/relationships/tags" Target="../tags/tag154.xml"/><Relationship Id="rId10" Type="http://schemas.openxmlformats.org/officeDocument/2006/relationships/tags" Target="../tags/tag128.xml"/><Relationship Id="rId19" Type="http://schemas.openxmlformats.org/officeDocument/2006/relationships/tags" Target="../tags/tag137.xml"/><Relationship Id="rId31" Type="http://schemas.openxmlformats.org/officeDocument/2006/relationships/tags" Target="../tags/tag149.xml"/><Relationship Id="rId4" Type="http://schemas.openxmlformats.org/officeDocument/2006/relationships/tags" Target="../tags/tag122.xml"/><Relationship Id="rId9" Type="http://schemas.openxmlformats.org/officeDocument/2006/relationships/tags" Target="../tags/tag127.xml"/><Relationship Id="rId14" Type="http://schemas.openxmlformats.org/officeDocument/2006/relationships/tags" Target="../tags/tag132.xml"/><Relationship Id="rId22" Type="http://schemas.openxmlformats.org/officeDocument/2006/relationships/tags" Target="../tags/tag140.xml"/><Relationship Id="rId27" Type="http://schemas.openxmlformats.org/officeDocument/2006/relationships/tags" Target="../tags/tag145.xml"/><Relationship Id="rId30" Type="http://schemas.openxmlformats.org/officeDocument/2006/relationships/tags" Target="../tags/tag148.xml"/><Relationship Id="rId35" Type="http://schemas.openxmlformats.org/officeDocument/2006/relationships/tags" Target="../tags/tag15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tags" Target="../tags/tag163.xml"/><Relationship Id="rId13" Type="http://schemas.openxmlformats.org/officeDocument/2006/relationships/tags" Target="../tags/tag168.xml"/><Relationship Id="rId18" Type="http://schemas.openxmlformats.org/officeDocument/2006/relationships/tags" Target="../tags/tag173.xml"/><Relationship Id="rId26" Type="http://schemas.openxmlformats.org/officeDocument/2006/relationships/tags" Target="../tags/tag181.xml"/><Relationship Id="rId39" Type="http://schemas.openxmlformats.org/officeDocument/2006/relationships/tags" Target="../tags/tag194.xml"/><Relationship Id="rId3" Type="http://schemas.openxmlformats.org/officeDocument/2006/relationships/tags" Target="../tags/tag158.xml"/><Relationship Id="rId21" Type="http://schemas.openxmlformats.org/officeDocument/2006/relationships/tags" Target="../tags/tag176.xml"/><Relationship Id="rId34" Type="http://schemas.openxmlformats.org/officeDocument/2006/relationships/tags" Target="../tags/tag189.xml"/><Relationship Id="rId42" Type="http://schemas.openxmlformats.org/officeDocument/2006/relationships/tags" Target="../tags/tag197.xml"/><Relationship Id="rId7" Type="http://schemas.openxmlformats.org/officeDocument/2006/relationships/tags" Target="../tags/tag162.xml"/><Relationship Id="rId12" Type="http://schemas.openxmlformats.org/officeDocument/2006/relationships/tags" Target="../tags/tag167.xml"/><Relationship Id="rId17" Type="http://schemas.openxmlformats.org/officeDocument/2006/relationships/tags" Target="../tags/tag172.xml"/><Relationship Id="rId25" Type="http://schemas.openxmlformats.org/officeDocument/2006/relationships/tags" Target="../tags/tag180.xml"/><Relationship Id="rId33" Type="http://schemas.openxmlformats.org/officeDocument/2006/relationships/tags" Target="../tags/tag188.xml"/><Relationship Id="rId38" Type="http://schemas.openxmlformats.org/officeDocument/2006/relationships/tags" Target="../tags/tag193.xml"/><Relationship Id="rId2" Type="http://schemas.openxmlformats.org/officeDocument/2006/relationships/tags" Target="../tags/tag157.xml"/><Relationship Id="rId16" Type="http://schemas.openxmlformats.org/officeDocument/2006/relationships/tags" Target="../tags/tag171.xml"/><Relationship Id="rId20" Type="http://schemas.openxmlformats.org/officeDocument/2006/relationships/tags" Target="../tags/tag175.xml"/><Relationship Id="rId29" Type="http://schemas.openxmlformats.org/officeDocument/2006/relationships/tags" Target="../tags/tag184.xml"/><Relationship Id="rId41" Type="http://schemas.openxmlformats.org/officeDocument/2006/relationships/tags" Target="../tags/tag196.xml"/><Relationship Id="rId1" Type="http://schemas.openxmlformats.org/officeDocument/2006/relationships/tags" Target="../tags/tag156.xml"/><Relationship Id="rId6" Type="http://schemas.openxmlformats.org/officeDocument/2006/relationships/tags" Target="../tags/tag161.xml"/><Relationship Id="rId11" Type="http://schemas.openxmlformats.org/officeDocument/2006/relationships/tags" Target="../tags/tag166.xml"/><Relationship Id="rId24" Type="http://schemas.openxmlformats.org/officeDocument/2006/relationships/tags" Target="../tags/tag179.xml"/><Relationship Id="rId32" Type="http://schemas.openxmlformats.org/officeDocument/2006/relationships/tags" Target="../tags/tag187.xml"/><Relationship Id="rId37" Type="http://schemas.openxmlformats.org/officeDocument/2006/relationships/tags" Target="../tags/tag192.xml"/><Relationship Id="rId40" Type="http://schemas.openxmlformats.org/officeDocument/2006/relationships/tags" Target="../tags/tag195.xml"/><Relationship Id="rId45" Type="http://schemas.openxmlformats.org/officeDocument/2006/relationships/notesSlide" Target="../notesSlides/notesSlide6.xml"/><Relationship Id="rId5" Type="http://schemas.openxmlformats.org/officeDocument/2006/relationships/tags" Target="../tags/tag160.xml"/><Relationship Id="rId15" Type="http://schemas.openxmlformats.org/officeDocument/2006/relationships/tags" Target="../tags/tag170.xml"/><Relationship Id="rId23" Type="http://schemas.openxmlformats.org/officeDocument/2006/relationships/tags" Target="../tags/tag178.xml"/><Relationship Id="rId28" Type="http://schemas.openxmlformats.org/officeDocument/2006/relationships/tags" Target="../tags/tag183.xml"/><Relationship Id="rId36" Type="http://schemas.openxmlformats.org/officeDocument/2006/relationships/tags" Target="../tags/tag191.xml"/><Relationship Id="rId10" Type="http://schemas.openxmlformats.org/officeDocument/2006/relationships/tags" Target="../tags/tag165.xml"/><Relationship Id="rId19" Type="http://schemas.openxmlformats.org/officeDocument/2006/relationships/tags" Target="../tags/tag174.xml"/><Relationship Id="rId31" Type="http://schemas.openxmlformats.org/officeDocument/2006/relationships/tags" Target="../tags/tag186.xml"/><Relationship Id="rId44" Type="http://schemas.openxmlformats.org/officeDocument/2006/relationships/slideLayout" Target="../slideLayouts/slideLayout1.xml"/><Relationship Id="rId4" Type="http://schemas.openxmlformats.org/officeDocument/2006/relationships/tags" Target="../tags/tag159.xml"/><Relationship Id="rId9" Type="http://schemas.openxmlformats.org/officeDocument/2006/relationships/tags" Target="../tags/tag164.xml"/><Relationship Id="rId14" Type="http://schemas.openxmlformats.org/officeDocument/2006/relationships/tags" Target="../tags/tag169.xml"/><Relationship Id="rId22" Type="http://schemas.openxmlformats.org/officeDocument/2006/relationships/tags" Target="../tags/tag177.xml"/><Relationship Id="rId27" Type="http://schemas.openxmlformats.org/officeDocument/2006/relationships/tags" Target="../tags/tag182.xml"/><Relationship Id="rId30" Type="http://schemas.openxmlformats.org/officeDocument/2006/relationships/tags" Target="../tags/tag185.xml"/><Relationship Id="rId35" Type="http://schemas.openxmlformats.org/officeDocument/2006/relationships/tags" Target="../tags/tag190.xml"/><Relationship Id="rId43" Type="http://schemas.openxmlformats.org/officeDocument/2006/relationships/tags" Target="../tags/tag198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tags" Target="../tags/tag206.xml"/><Relationship Id="rId13" Type="http://schemas.openxmlformats.org/officeDocument/2006/relationships/tags" Target="../tags/tag211.xml"/><Relationship Id="rId18" Type="http://schemas.openxmlformats.org/officeDocument/2006/relationships/tags" Target="../tags/tag216.xml"/><Relationship Id="rId26" Type="http://schemas.openxmlformats.org/officeDocument/2006/relationships/tags" Target="../tags/tag224.xml"/><Relationship Id="rId39" Type="http://schemas.openxmlformats.org/officeDocument/2006/relationships/slideLayout" Target="../slideLayouts/slideLayout1.xml"/><Relationship Id="rId3" Type="http://schemas.openxmlformats.org/officeDocument/2006/relationships/tags" Target="../tags/tag201.xml"/><Relationship Id="rId21" Type="http://schemas.openxmlformats.org/officeDocument/2006/relationships/tags" Target="../tags/tag219.xml"/><Relationship Id="rId34" Type="http://schemas.openxmlformats.org/officeDocument/2006/relationships/tags" Target="../tags/tag232.xml"/><Relationship Id="rId42" Type="http://schemas.openxmlformats.org/officeDocument/2006/relationships/image" Target="../media/image9.jpeg"/><Relationship Id="rId7" Type="http://schemas.openxmlformats.org/officeDocument/2006/relationships/tags" Target="../tags/tag205.xml"/><Relationship Id="rId12" Type="http://schemas.openxmlformats.org/officeDocument/2006/relationships/tags" Target="../tags/tag210.xml"/><Relationship Id="rId17" Type="http://schemas.openxmlformats.org/officeDocument/2006/relationships/tags" Target="../tags/tag215.xml"/><Relationship Id="rId25" Type="http://schemas.openxmlformats.org/officeDocument/2006/relationships/tags" Target="../tags/tag223.xml"/><Relationship Id="rId33" Type="http://schemas.openxmlformats.org/officeDocument/2006/relationships/tags" Target="../tags/tag231.xml"/><Relationship Id="rId38" Type="http://schemas.openxmlformats.org/officeDocument/2006/relationships/tags" Target="../tags/tag236.xml"/><Relationship Id="rId2" Type="http://schemas.openxmlformats.org/officeDocument/2006/relationships/tags" Target="../tags/tag200.xml"/><Relationship Id="rId16" Type="http://schemas.openxmlformats.org/officeDocument/2006/relationships/tags" Target="../tags/tag214.xml"/><Relationship Id="rId20" Type="http://schemas.openxmlformats.org/officeDocument/2006/relationships/tags" Target="../tags/tag218.xml"/><Relationship Id="rId29" Type="http://schemas.openxmlformats.org/officeDocument/2006/relationships/tags" Target="../tags/tag227.xml"/><Relationship Id="rId41" Type="http://schemas.openxmlformats.org/officeDocument/2006/relationships/image" Target="../media/image8.jpeg"/><Relationship Id="rId1" Type="http://schemas.openxmlformats.org/officeDocument/2006/relationships/tags" Target="../tags/tag199.xml"/><Relationship Id="rId6" Type="http://schemas.openxmlformats.org/officeDocument/2006/relationships/tags" Target="../tags/tag204.xml"/><Relationship Id="rId11" Type="http://schemas.openxmlformats.org/officeDocument/2006/relationships/tags" Target="../tags/tag209.xml"/><Relationship Id="rId24" Type="http://schemas.openxmlformats.org/officeDocument/2006/relationships/tags" Target="../tags/tag222.xml"/><Relationship Id="rId32" Type="http://schemas.openxmlformats.org/officeDocument/2006/relationships/tags" Target="../tags/tag230.xml"/><Relationship Id="rId37" Type="http://schemas.openxmlformats.org/officeDocument/2006/relationships/tags" Target="../tags/tag235.xml"/><Relationship Id="rId40" Type="http://schemas.openxmlformats.org/officeDocument/2006/relationships/notesSlide" Target="../notesSlides/notesSlide7.xml"/><Relationship Id="rId45" Type="http://schemas.openxmlformats.org/officeDocument/2006/relationships/image" Target="../media/image12.jpeg"/><Relationship Id="rId5" Type="http://schemas.openxmlformats.org/officeDocument/2006/relationships/tags" Target="../tags/tag203.xml"/><Relationship Id="rId15" Type="http://schemas.openxmlformats.org/officeDocument/2006/relationships/tags" Target="../tags/tag213.xml"/><Relationship Id="rId23" Type="http://schemas.openxmlformats.org/officeDocument/2006/relationships/tags" Target="../tags/tag221.xml"/><Relationship Id="rId28" Type="http://schemas.openxmlformats.org/officeDocument/2006/relationships/tags" Target="../tags/tag226.xml"/><Relationship Id="rId36" Type="http://schemas.openxmlformats.org/officeDocument/2006/relationships/tags" Target="../tags/tag234.xml"/><Relationship Id="rId10" Type="http://schemas.openxmlformats.org/officeDocument/2006/relationships/tags" Target="../tags/tag208.xml"/><Relationship Id="rId19" Type="http://schemas.openxmlformats.org/officeDocument/2006/relationships/tags" Target="../tags/tag217.xml"/><Relationship Id="rId31" Type="http://schemas.openxmlformats.org/officeDocument/2006/relationships/tags" Target="../tags/tag229.xml"/><Relationship Id="rId44" Type="http://schemas.openxmlformats.org/officeDocument/2006/relationships/image" Target="../media/image11.jpeg"/><Relationship Id="rId4" Type="http://schemas.openxmlformats.org/officeDocument/2006/relationships/tags" Target="../tags/tag202.xml"/><Relationship Id="rId9" Type="http://schemas.openxmlformats.org/officeDocument/2006/relationships/tags" Target="../tags/tag207.xml"/><Relationship Id="rId14" Type="http://schemas.openxmlformats.org/officeDocument/2006/relationships/tags" Target="../tags/tag212.xml"/><Relationship Id="rId22" Type="http://schemas.openxmlformats.org/officeDocument/2006/relationships/tags" Target="../tags/tag220.xml"/><Relationship Id="rId27" Type="http://schemas.openxmlformats.org/officeDocument/2006/relationships/tags" Target="../tags/tag225.xml"/><Relationship Id="rId30" Type="http://schemas.openxmlformats.org/officeDocument/2006/relationships/tags" Target="../tags/tag228.xml"/><Relationship Id="rId35" Type="http://schemas.openxmlformats.org/officeDocument/2006/relationships/tags" Target="../tags/tag233.xml"/><Relationship Id="rId43" Type="http://schemas.openxmlformats.org/officeDocument/2006/relationships/image" Target="../media/image10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8"/>
          <p:cNvSpPr>
            <a:spLocks noGrp="1"/>
          </p:cNvSpPr>
          <p:nvPr/>
        </p:nvSpPr>
        <p:spPr>
          <a:xfrm>
            <a:off x="272891" y="190025"/>
            <a:ext cx="5718810" cy="322421"/>
          </a:xfrm>
          <a:prstGeom prst="rect">
            <a:avLst/>
          </a:prstGeom>
        </p:spPr>
        <p:txBody>
          <a:bodyPr lIns="68579" tIns="34289" rIns="68579" bIns="34289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1B1B1B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200" b="1" spc="225" dirty="0" smtClean="0">
                <a:solidFill>
                  <a:srgbClr val="066FBB"/>
                </a:solidFill>
                <a:latin typeface="微软雅黑" pitchFamily="34" charset="-122"/>
                <a:ea typeface="微软雅黑" pitchFamily="34" charset="-122"/>
                <a:cs typeface="+mj-ea"/>
                <a:sym typeface="+mn-ea"/>
              </a:rPr>
              <a:t>    整体蓝图</a:t>
            </a:r>
            <a:endParaRPr lang="zh-CN" altLang="en-US" sz="2200" b="1" spc="225" dirty="0">
              <a:solidFill>
                <a:srgbClr val="066FBB"/>
              </a:solidFill>
              <a:latin typeface="微软雅黑" pitchFamily="34" charset="-122"/>
              <a:ea typeface="微软雅黑" pitchFamily="34" charset="-122"/>
              <a:cs typeface="+mj-ea"/>
              <a:sym typeface="+mn-ea"/>
            </a:endParaRPr>
          </a:p>
        </p:txBody>
      </p:sp>
      <p:grpSp>
        <p:nvGrpSpPr>
          <p:cNvPr id="65" name="组合 64"/>
          <p:cNvGrpSpPr/>
          <p:nvPr/>
        </p:nvGrpSpPr>
        <p:grpSpPr>
          <a:xfrm>
            <a:off x="1304163" y="767043"/>
            <a:ext cx="6535678" cy="4180972"/>
            <a:chOff x="1738884" y="1022724"/>
            <a:chExt cx="8714237" cy="5574629"/>
          </a:xfrm>
        </p:grpSpPr>
        <p:grpSp>
          <p:nvGrpSpPr>
            <p:cNvPr id="66" name="组合 65"/>
            <p:cNvGrpSpPr/>
            <p:nvPr/>
          </p:nvGrpSpPr>
          <p:grpSpPr>
            <a:xfrm>
              <a:off x="1740152" y="1022724"/>
              <a:ext cx="8712968" cy="1830212"/>
              <a:chOff x="1740152" y="1022724"/>
              <a:chExt cx="8712968" cy="1830212"/>
            </a:xfrm>
          </p:grpSpPr>
          <p:sp>
            <p:nvSpPr>
              <p:cNvPr id="153" name="形状"/>
              <p:cNvSpPr/>
              <p:nvPr/>
            </p:nvSpPr>
            <p:spPr>
              <a:xfrm flipH="1">
                <a:off x="2936547" y="2370128"/>
                <a:ext cx="509972" cy="48280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400" y="21600"/>
                    </a:moveTo>
                    <a:lnTo>
                      <a:pt x="20400" y="21600"/>
                    </a:lnTo>
                    <a:lnTo>
                      <a:pt x="14400" y="4563"/>
                    </a:lnTo>
                    <a:lnTo>
                      <a:pt x="21600" y="4563"/>
                    </a:lnTo>
                    <a:lnTo>
                      <a:pt x="10750" y="0"/>
                    </a:lnTo>
                    <a:lnTo>
                      <a:pt x="0" y="4563"/>
                    </a:lnTo>
                    <a:lnTo>
                      <a:pt x="7200" y="4563"/>
                    </a:lnTo>
                    <a:lnTo>
                      <a:pt x="2400" y="21600"/>
                    </a:lnTo>
                    <a:close/>
                  </a:path>
                </a:pathLst>
              </a:custGeom>
              <a:gradFill>
                <a:gsLst>
                  <a:gs pos="0">
                    <a:srgbClr val="FFFFFF"/>
                  </a:gs>
                  <a:gs pos="100000">
                    <a:srgbClr val="DDDDDD"/>
                  </a:gs>
                </a:gsLst>
                <a:lin ang="16200000"/>
              </a:gradFill>
              <a:ln w="12700">
                <a:miter lim="400000"/>
              </a:ln>
            </p:spPr>
            <p:txBody>
              <a:bodyPr lIns="0" tIns="0" rIns="0" bIns="0"/>
              <a:lstStyle/>
              <a:p>
                <a:pPr defTabSz="914310">
                  <a:defRPr sz="2400"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pPr>
                <a:endParaRPr sz="2400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154" name="形状"/>
              <p:cNvSpPr/>
              <p:nvPr/>
            </p:nvSpPr>
            <p:spPr>
              <a:xfrm flipH="1">
                <a:off x="8699329" y="2370128"/>
                <a:ext cx="509972" cy="48280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400" y="21600"/>
                    </a:moveTo>
                    <a:lnTo>
                      <a:pt x="20400" y="21600"/>
                    </a:lnTo>
                    <a:lnTo>
                      <a:pt x="14400" y="4563"/>
                    </a:lnTo>
                    <a:lnTo>
                      <a:pt x="21600" y="4563"/>
                    </a:lnTo>
                    <a:lnTo>
                      <a:pt x="10750" y="0"/>
                    </a:lnTo>
                    <a:lnTo>
                      <a:pt x="0" y="4563"/>
                    </a:lnTo>
                    <a:lnTo>
                      <a:pt x="7200" y="4563"/>
                    </a:lnTo>
                    <a:lnTo>
                      <a:pt x="2400" y="21600"/>
                    </a:lnTo>
                    <a:close/>
                  </a:path>
                </a:pathLst>
              </a:custGeom>
              <a:gradFill>
                <a:gsLst>
                  <a:gs pos="0">
                    <a:srgbClr val="FFFFFF"/>
                  </a:gs>
                  <a:gs pos="100000">
                    <a:srgbClr val="DDDDDD"/>
                  </a:gs>
                </a:gsLst>
                <a:lin ang="16200000"/>
              </a:gradFill>
              <a:ln w="12700">
                <a:miter lim="400000"/>
              </a:ln>
            </p:spPr>
            <p:txBody>
              <a:bodyPr lIns="0" tIns="0" rIns="0" bIns="0"/>
              <a:lstStyle/>
              <a:p>
                <a:pPr defTabSz="914310">
                  <a:defRPr sz="2400"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pPr>
                <a:endParaRPr sz="2400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166" name="矩形 165"/>
              <p:cNvSpPr/>
              <p:nvPr/>
            </p:nvSpPr>
            <p:spPr>
              <a:xfrm>
                <a:off x="1740152" y="1022724"/>
                <a:ext cx="8707081" cy="360045"/>
              </a:xfrm>
              <a:prstGeom prst="rect">
                <a:avLst/>
              </a:prstGeom>
              <a:solidFill>
                <a:srgbClr val="006EFF"/>
              </a:solidFill>
              <a:ln>
                <a:noFill/>
              </a:ln>
            </p:spPr>
            <p:style>
              <a:lnRef idx="2">
                <a:srgbClr val="006EFF">
                  <a:shade val="50000"/>
                </a:srgbClr>
              </a:lnRef>
              <a:fillRef idx="1">
                <a:srgbClr val="006EFF"/>
              </a:fillRef>
              <a:effectRef idx="0">
                <a:srgbClr val="006EFF"/>
              </a:effectRef>
              <a:fontRef idx="minor">
                <a:srgbClr val="FFFFFF"/>
              </a:fontRef>
            </p:style>
            <p:txBody>
              <a:bodyPr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 defTabSz="914310"/>
                <a:r>
                  <a:rPr lang="zh-CN" altLang="en-US" sz="1200" b="1" kern="0" dirty="0">
                    <a:solidFill>
                      <a:prstClr val="white"/>
                    </a:solidFill>
                  </a:rPr>
                  <a:t>服务全省科技创新与产业创新深度融合</a:t>
                </a:r>
              </a:p>
            </p:txBody>
          </p:sp>
          <p:sp>
            <p:nvSpPr>
              <p:cNvPr id="168" name="矩形 167"/>
              <p:cNvSpPr/>
              <p:nvPr/>
            </p:nvSpPr>
            <p:spPr>
              <a:xfrm>
                <a:off x="1740153" y="1436775"/>
                <a:ext cx="8707080" cy="360045"/>
              </a:xfrm>
              <a:prstGeom prst="rect">
                <a:avLst/>
              </a:prstGeom>
              <a:solidFill>
                <a:srgbClr val="006EFF"/>
              </a:solidFill>
              <a:ln>
                <a:noFill/>
              </a:ln>
            </p:spPr>
            <p:style>
              <a:lnRef idx="2">
                <a:srgbClr val="006EFF">
                  <a:shade val="50000"/>
                </a:srgbClr>
              </a:lnRef>
              <a:fillRef idx="1">
                <a:srgbClr val="006EFF"/>
              </a:fillRef>
              <a:effectRef idx="0">
                <a:srgbClr val="006EFF"/>
              </a:effectRef>
              <a:fontRef idx="minor">
                <a:srgbClr val="FFFFFF"/>
              </a:fontRef>
            </p:style>
            <p:txBody>
              <a:bodyPr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 defTabSz="914310"/>
                <a:r>
                  <a:rPr lang="zh-CN" altLang="en-US" sz="1200" b="1" kern="0" dirty="0">
                    <a:solidFill>
                      <a:prstClr val="white"/>
                    </a:solidFill>
                  </a:rPr>
                  <a:t>支撑省科技厅重点工作</a:t>
                </a:r>
              </a:p>
            </p:txBody>
          </p:sp>
          <p:sp>
            <p:nvSpPr>
              <p:cNvPr id="170" name="矩形 169"/>
              <p:cNvSpPr/>
              <p:nvPr/>
            </p:nvSpPr>
            <p:spPr>
              <a:xfrm>
                <a:off x="1740155" y="1952881"/>
                <a:ext cx="8712965" cy="396000"/>
              </a:xfrm>
              <a:prstGeom prst="rect">
                <a:avLst/>
              </a:prstGeom>
              <a:noFill/>
              <a:ln w="15875">
                <a:solidFill>
                  <a:schemeClr val="tx2">
                    <a:lumMod val="50000"/>
                    <a:lumOff val="50000"/>
                  </a:schemeClr>
                </a:solidFill>
              </a:ln>
            </p:spPr>
            <p:style>
              <a:lnRef idx="2">
                <a:srgbClr val="006EFF">
                  <a:shade val="50000"/>
                </a:srgbClr>
              </a:lnRef>
              <a:fillRef idx="1">
                <a:srgbClr val="006EFF"/>
              </a:fillRef>
              <a:effectRef idx="0">
                <a:srgbClr val="006EFF"/>
              </a:effectRef>
              <a:fontRef idx="minor">
                <a:srgbClr val="FFFFFF"/>
              </a:fontRef>
            </p:style>
            <p:txBody>
              <a:bodyPr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 defTabSz="914310"/>
                <a:endParaRPr lang="zh-CN" altLang="en-US" sz="1400" b="1">
                  <a:sym typeface="+mn-lt"/>
                </a:endParaRPr>
              </a:p>
            </p:txBody>
          </p:sp>
          <p:sp>
            <p:nvSpPr>
              <p:cNvPr id="171" name="矩形 170"/>
              <p:cNvSpPr/>
              <p:nvPr/>
            </p:nvSpPr>
            <p:spPr>
              <a:xfrm>
                <a:off x="4745971" y="2035272"/>
                <a:ext cx="2640000" cy="231140"/>
              </a:xfrm>
              <a:prstGeom prst="rect">
                <a:avLst/>
              </a:prstGeom>
              <a:solidFill>
                <a:srgbClr val="006EFF"/>
              </a:solidFill>
              <a:ln>
                <a:noFill/>
              </a:ln>
            </p:spPr>
            <p:style>
              <a:lnRef idx="2">
                <a:srgbClr val="006EFF">
                  <a:shade val="50000"/>
                </a:srgbClr>
              </a:lnRef>
              <a:fillRef idx="1">
                <a:srgbClr val="006EFF"/>
              </a:fillRef>
              <a:effectRef idx="0">
                <a:srgbClr val="006EFF"/>
              </a:effectRef>
              <a:fontRef idx="minor">
                <a:srgbClr val="FFFFFF"/>
              </a:fontRef>
            </p:style>
            <p:txBody>
              <a:bodyPr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 defTabSz="914310"/>
                <a:r>
                  <a:rPr lang="zh-CN" altLang="en-US" sz="900" b="1" kern="0" dirty="0">
                    <a:solidFill>
                      <a:prstClr val="white"/>
                    </a:solidFill>
                    <a:sym typeface="+mn-ea"/>
                  </a:rPr>
                  <a:t>服务创新生态</a:t>
                </a:r>
              </a:p>
            </p:txBody>
          </p:sp>
          <p:sp>
            <p:nvSpPr>
              <p:cNvPr id="172" name="矩形 171"/>
              <p:cNvSpPr/>
              <p:nvPr>
                <p:custDataLst>
                  <p:tags r:id="rId18"/>
                </p:custDataLst>
              </p:nvPr>
            </p:nvSpPr>
            <p:spPr>
              <a:xfrm>
                <a:off x="1871533" y="2035272"/>
                <a:ext cx="2640000" cy="231140"/>
              </a:xfrm>
              <a:prstGeom prst="rect">
                <a:avLst/>
              </a:prstGeom>
              <a:solidFill>
                <a:srgbClr val="006EFF"/>
              </a:solidFill>
              <a:ln>
                <a:noFill/>
              </a:ln>
            </p:spPr>
            <p:style>
              <a:lnRef idx="2">
                <a:srgbClr val="006EFF">
                  <a:shade val="50000"/>
                </a:srgbClr>
              </a:lnRef>
              <a:fillRef idx="1">
                <a:srgbClr val="006EFF"/>
              </a:fillRef>
              <a:effectRef idx="0">
                <a:srgbClr val="006EFF"/>
              </a:effectRef>
              <a:fontRef idx="minor">
                <a:srgbClr val="FFFFFF"/>
              </a:fontRef>
            </p:style>
            <p:txBody>
              <a:bodyPr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 defTabSz="914310"/>
                <a:r>
                  <a:rPr lang="zh-CN" altLang="en-US" sz="900" b="1" kern="0" dirty="0">
                    <a:solidFill>
                      <a:prstClr val="white"/>
                    </a:solidFill>
                    <a:sym typeface="+mn-ea"/>
                  </a:rPr>
                  <a:t>支持战略决策</a:t>
                </a:r>
              </a:p>
            </p:txBody>
          </p:sp>
          <p:sp>
            <p:nvSpPr>
              <p:cNvPr id="173" name="矩形 172"/>
              <p:cNvSpPr/>
              <p:nvPr>
                <p:custDataLst>
                  <p:tags r:id="rId19"/>
                </p:custDataLst>
              </p:nvPr>
            </p:nvSpPr>
            <p:spPr>
              <a:xfrm>
                <a:off x="7620408" y="2042256"/>
                <a:ext cx="2640000" cy="217171"/>
              </a:xfrm>
              <a:prstGeom prst="rect">
                <a:avLst/>
              </a:prstGeom>
              <a:solidFill>
                <a:srgbClr val="006EFF"/>
              </a:solidFill>
              <a:ln>
                <a:noFill/>
              </a:ln>
            </p:spPr>
            <p:style>
              <a:lnRef idx="2">
                <a:srgbClr val="006EFF">
                  <a:shade val="50000"/>
                </a:srgbClr>
              </a:lnRef>
              <a:fillRef idx="1">
                <a:srgbClr val="006EFF"/>
              </a:fillRef>
              <a:effectRef idx="0">
                <a:srgbClr val="006EFF"/>
              </a:effectRef>
              <a:fontRef idx="minor">
                <a:srgbClr val="FFFFFF"/>
              </a:fontRef>
            </p:style>
            <p:txBody>
              <a:bodyPr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 defTabSz="914310"/>
                <a:r>
                  <a:rPr lang="zh-CN" altLang="en-US" sz="900" b="1" kern="0" dirty="0">
                    <a:solidFill>
                      <a:prstClr val="white"/>
                    </a:solidFill>
                    <a:sym typeface="+mn-ea"/>
                  </a:rPr>
                  <a:t>赋能产业发展</a:t>
                </a:r>
              </a:p>
            </p:txBody>
          </p:sp>
          <p:sp>
            <p:nvSpPr>
              <p:cNvPr id="174" name="文本框 160"/>
              <p:cNvSpPr txBox="1"/>
              <p:nvPr/>
            </p:nvSpPr>
            <p:spPr>
              <a:xfrm>
                <a:off x="3049089" y="2387593"/>
                <a:ext cx="1678759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 defTabSz="914310">
                  <a:lnSpc>
                    <a:spcPct val="150000"/>
                  </a:lnSpc>
                </a:pPr>
                <a:r>
                  <a:rPr lang="zh-CN" altLang="en-US" sz="800" b="1" dirty="0">
                    <a:solidFill>
                      <a:srgbClr val="000000"/>
                    </a:solidFill>
                  </a:rPr>
                  <a:t>提升业务管理能力</a:t>
                </a:r>
              </a:p>
            </p:txBody>
          </p:sp>
          <p:sp>
            <p:nvSpPr>
              <p:cNvPr id="175" name="文本框 160"/>
              <p:cNvSpPr txBox="1"/>
              <p:nvPr/>
            </p:nvSpPr>
            <p:spPr>
              <a:xfrm>
                <a:off x="7085071" y="2387593"/>
                <a:ext cx="2323297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 defTabSz="914310">
                  <a:lnSpc>
                    <a:spcPct val="150000"/>
                  </a:lnSpc>
                </a:pPr>
                <a:r>
                  <a:rPr lang="zh-CN" altLang="en-US" sz="800" b="1" dirty="0">
                    <a:solidFill>
                      <a:srgbClr val="000000"/>
                    </a:solidFill>
                  </a:rPr>
                  <a:t>提升业务服务能力</a:t>
                </a:r>
              </a:p>
            </p:txBody>
          </p:sp>
        </p:grpSp>
        <p:grpSp>
          <p:nvGrpSpPr>
            <p:cNvPr id="67" name="组合 66"/>
            <p:cNvGrpSpPr/>
            <p:nvPr/>
          </p:nvGrpSpPr>
          <p:grpSpPr>
            <a:xfrm>
              <a:off x="1738884" y="2862375"/>
              <a:ext cx="8714237" cy="3734978"/>
              <a:chOff x="1738884" y="2862375"/>
              <a:chExt cx="8714237" cy="3734978"/>
            </a:xfrm>
          </p:grpSpPr>
          <p:grpSp>
            <p:nvGrpSpPr>
              <p:cNvPr id="68" name="组合 67"/>
              <p:cNvGrpSpPr/>
              <p:nvPr/>
            </p:nvGrpSpPr>
            <p:grpSpPr>
              <a:xfrm>
                <a:off x="1738884" y="2864944"/>
                <a:ext cx="4274044" cy="2460396"/>
                <a:chOff x="1303685" y="2148707"/>
                <a:chExt cx="3205533" cy="1845297"/>
              </a:xfrm>
            </p:grpSpPr>
            <p:sp>
              <p:nvSpPr>
                <p:cNvPr id="143" name="矩形 142"/>
                <p:cNvSpPr/>
                <p:nvPr/>
              </p:nvSpPr>
              <p:spPr>
                <a:xfrm>
                  <a:off x="1304637" y="2571750"/>
                  <a:ext cx="1548000" cy="1422254"/>
                </a:xfrm>
                <a:prstGeom prst="rect">
                  <a:avLst/>
                </a:prstGeom>
                <a:noFill/>
                <a:ln w="19050">
                  <a:solidFill>
                    <a:schemeClr val="tx1"/>
                  </a:solidFill>
                </a:ln>
              </p:spPr>
              <p:style>
                <a:lnRef idx="2">
                  <a:srgbClr val="006EFF">
                    <a:shade val="50000"/>
                  </a:srgbClr>
                </a:lnRef>
                <a:fillRef idx="1">
                  <a:srgbClr val="006EFF"/>
                </a:fillRef>
                <a:effectRef idx="0">
                  <a:srgbClr val="006EFF"/>
                </a:effectRef>
                <a:fontRef idx="minor">
                  <a:srgbClr val="FFFFFF"/>
                </a:fontRef>
              </p:style>
              <p:txBody>
                <a:bodyPr vertOverflow="overflow" horzOverflow="overflow" vert="horz" wrap="square" lIns="68580" tIns="34290" rIns="68580" bIns="34290" numCol="1" spcCol="0" rtlCol="0" fromWordArt="0" anchor="ctr" anchorCtr="0" forceAA="0" compatLnSpc="1">
                  <a:noAutofit/>
                </a:bodyPr>
                <a:lstStyle/>
                <a:p>
                  <a:pPr algn="ctr" defTabSz="914310"/>
                  <a:endParaRPr lang="zh-CN" altLang="en-US" sz="1200" b="1" kern="0" dirty="0">
                    <a:solidFill>
                      <a:srgbClr val="1B1B1B"/>
                    </a:solidFill>
                    <a:sym typeface="+mn-lt"/>
                  </a:endParaRPr>
                </a:p>
              </p:txBody>
            </p:sp>
            <p:grpSp>
              <p:nvGrpSpPr>
                <p:cNvPr id="144" name="组合 143"/>
                <p:cNvGrpSpPr/>
                <p:nvPr/>
              </p:nvGrpSpPr>
              <p:grpSpPr>
                <a:xfrm>
                  <a:off x="1657935" y="2787774"/>
                  <a:ext cx="828000" cy="1028375"/>
                  <a:chOff x="1657935" y="2868017"/>
                  <a:chExt cx="828000" cy="1028375"/>
                </a:xfrm>
              </p:grpSpPr>
              <p:sp>
                <p:nvSpPr>
                  <p:cNvPr id="148" name="矩形: 圆角 60"/>
                  <p:cNvSpPr/>
                  <p:nvPr/>
                </p:nvSpPr>
                <p:spPr>
                  <a:xfrm>
                    <a:off x="1657935" y="3734392"/>
                    <a:ext cx="828000" cy="162000"/>
                  </a:xfrm>
                  <a:prstGeom prst="roundRect">
                    <a:avLst/>
                  </a:prstGeom>
                  <a:noFill/>
                  <a:ln w="12700" cap="flat" cmpd="sng" algn="ctr">
                    <a:solidFill>
                      <a:schemeClr val="tx1"/>
                    </a:solidFill>
                    <a:prstDash val="solid"/>
                    <a:miter lim="800000"/>
                  </a:ln>
                  <a:effectLst/>
                </p:spPr>
                <p:txBody>
                  <a:bodyPr rtlCol="0" anchor="ctr">
                    <a:noAutofit/>
                  </a:bodyPr>
                  <a:lstStyle/>
                  <a:p>
                    <a:pPr algn="ctr" defTabSz="914310"/>
                    <a:r>
                      <a:rPr lang="zh-CN" altLang="en-US" sz="800" b="1" dirty="0">
                        <a:solidFill>
                          <a:srgbClr val="000000"/>
                        </a:solidFill>
                        <a:sym typeface="+mn-ea"/>
                      </a:rPr>
                      <a:t>图谱管理分析</a:t>
                    </a:r>
                  </a:p>
                </p:txBody>
              </p:sp>
              <p:sp>
                <p:nvSpPr>
                  <p:cNvPr id="150" name="矩形: 圆角 60"/>
                  <p:cNvSpPr/>
                  <p:nvPr/>
                </p:nvSpPr>
                <p:spPr>
                  <a:xfrm>
                    <a:off x="1657935" y="2868017"/>
                    <a:ext cx="828000" cy="162000"/>
                  </a:xfrm>
                  <a:prstGeom prst="roundRect">
                    <a:avLst/>
                  </a:prstGeom>
                  <a:noFill/>
                  <a:ln w="12700" cap="flat" cmpd="sng" algn="ctr">
                    <a:solidFill>
                      <a:schemeClr val="tx1"/>
                    </a:solidFill>
                    <a:prstDash val="solid"/>
                    <a:miter lim="800000"/>
                  </a:ln>
                  <a:effectLst/>
                </p:spPr>
                <p:txBody>
                  <a:bodyPr rtlCol="0" anchor="ctr">
                    <a:noAutofit/>
                  </a:bodyPr>
                  <a:lstStyle/>
                  <a:p>
                    <a:pPr algn="ctr" defTabSz="914310"/>
                    <a:r>
                      <a:rPr lang="zh-CN" altLang="en-US" sz="800" b="1" dirty="0">
                        <a:solidFill>
                          <a:srgbClr val="000000"/>
                        </a:solidFill>
                        <a:sym typeface="+mn-ea"/>
                      </a:rPr>
                      <a:t>管理统计数据</a:t>
                    </a:r>
                  </a:p>
                </p:txBody>
              </p:sp>
              <p:sp>
                <p:nvSpPr>
                  <p:cNvPr id="151" name="矩形: 圆角 60"/>
                  <p:cNvSpPr/>
                  <p:nvPr/>
                </p:nvSpPr>
                <p:spPr>
                  <a:xfrm>
                    <a:off x="1657935" y="3156809"/>
                    <a:ext cx="828000" cy="162000"/>
                  </a:xfrm>
                  <a:prstGeom prst="roundRect">
                    <a:avLst/>
                  </a:prstGeom>
                  <a:noFill/>
                  <a:ln w="12700" cap="flat" cmpd="sng" algn="ctr">
                    <a:solidFill>
                      <a:schemeClr val="tx1"/>
                    </a:solidFill>
                    <a:prstDash val="solid"/>
                    <a:miter lim="800000"/>
                  </a:ln>
                  <a:effectLst/>
                </p:spPr>
                <p:txBody>
                  <a:bodyPr rtlCol="0" anchor="ctr">
                    <a:noAutofit/>
                  </a:bodyPr>
                  <a:lstStyle/>
                  <a:p>
                    <a:pPr algn="ctr" defTabSz="914310"/>
                    <a:r>
                      <a:rPr lang="zh-CN" altLang="en-US" sz="800" b="1" dirty="0">
                        <a:solidFill>
                          <a:srgbClr val="000000"/>
                        </a:solidFill>
                        <a:sym typeface="+mn-ea"/>
                      </a:rPr>
                      <a:t>管理项目过程</a:t>
                    </a:r>
                  </a:p>
                </p:txBody>
              </p:sp>
              <p:sp>
                <p:nvSpPr>
                  <p:cNvPr id="152" name="矩形: 圆角 60"/>
                  <p:cNvSpPr/>
                  <p:nvPr>
                    <p:custDataLst>
                      <p:tags r:id="rId17"/>
                    </p:custDataLst>
                  </p:nvPr>
                </p:nvSpPr>
                <p:spPr>
                  <a:xfrm>
                    <a:off x="1657935" y="3445601"/>
                    <a:ext cx="828000" cy="162000"/>
                  </a:xfrm>
                  <a:prstGeom prst="roundRect">
                    <a:avLst/>
                  </a:prstGeom>
                  <a:noFill/>
                  <a:ln w="12700" cap="flat" cmpd="sng" algn="ctr">
                    <a:solidFill>
                      <a:schemeClr val="tx1"/>
                    </a:solidFill>
                    <a:prstDash val="solid"/>
                    <a:miter lim="800000"/>
                  </a:ln>
                  <a:effectLst/>
                </p:spPr>
                <p:txBody>
                  <a:bodyPr rtlCol="0" anchor="ctr">
                    <a:noAutofit/>
                  </a:bodyPr>
                  <a:lstStyle/>
                  <a:p>
                    <a:pPr algn="ctr" defTabSz="914310"/>
                    <a:r>
                      <a:rPr lang="zh-CN" altLang="en-US" sz="800" b="1" dirty="0">
                        <a:solidFill>
                          <a:srgbClr val="000000"/>
                        </a:solidFill>
                        <a:sym typeface="+mn-ea"/>
                      </a:rPr>
                      <a:t>产业监测分析</a:t>
                    </a:r>
                  </a:p>
                </p:txBody>
              </p:sp>
            </p:grpSp>
            <p:sp>
              <p:nvSpPr>
                <p:cNvPr id="145" name="矩形 144"/>
                <p:cNvSpPr/>
                <p:nvPr/>
              </p:nvSpPr>
              <p:spPr>
                <a:xfrm>
                  <a:off x="1304637" y="2148707"/>
                  <a:ext cx="3204581" cy="423043"/>
                </a:xfrm>
                <a:prstGeom prst="rect">
                  <a:avLst/>
                </a:prstGeom>
                <a:noFill/>
                <a:ln w="19050">
                  <a:solidFill>
                    <a:schemeClr val="tx1"/>
                  </a:solidFill>
                </a:ln>
              </p:spPr>
              <p:style>
                <a:lnRef idx="2">
                  <a:srgbClr val="006EFF">
                    <a:shade val="50000"/>
                  </a:srgbClr>
                </a:lnRef>
                <a:fillRef idx="1">
                  <a:srgbClr val="006EFF"/>
                </a:fillRef>
                <a:effectRef idx="0">
                  <a:srgbClr val="006EFF"/>
                </a:effectRef>
                <a:fontRef idx="minor">
                  <a:srgbClr val="FFFFFF"/>
                </a:fontRef>
              </p:style>
              <p:txBody>
                <a:bodyPr vertOverflow="overflow" horzOverflow="overflow" vert="horz" wrap="square" lIns="68580" tIns="34290" rIns="68580" bIns="34290" numCol="1" spcCol="0" rtlCol="0" fromWordArt="0" anchor="ctr" anchorCtr="0" forceAA="0" compatLnSpc="1">
                  <a:noAutofit/>
                </a:bodyPr>
                <a:lstStyle/>
                <a:p>
                  <a:pPr algn="ctr" defTabSz="914310"/>
                  <a:endParaRPr lang="zh-CN" altLang="en-US" sz="1200" b="1" kern="0" dirty="0">
                    <a:solidFill>
                      <a:srgbClr val="1B1B1B"/>
                    </a:solidFill>
                    <a:sym typeface="+mn-lt"/>
                  </a:endParaRPr>
                </a:p>
              </p:txBody>
            </p:sp>
            <p:sp>
              <p:nvSpPr>
                <p:cNvPr id="146" name="文本框 51"/>
                <p:cNvSpPr txBox="1"/>
                <p:nvPr/>
              </p:nvSpPr>
              <p:spPr>
                <a:xfrm>
                  <a:off x="1303685" y="2234228"/>
                  <a:ext cx="3205056" cy="252000"/>
                </a:xfrm>
                <a:prstGeom prst="rect">
                  <a:avLst/>
                </a:prstGeom>
                <a:noFill/>
              </p:spPr>
              <p:txBody>
                <a:bodyPr wrap="square">
                  <a:noAutofit/>
                </a:bodyPr>
                <a:lstStyle/>
                <a:p>
                  <a:pPr algn="ctr" defTabSz="914310"/>
                  <a:r>
                    <a:rPr lang="zh-CN" altLang="en-US" sz="1100" b="1" dirty="0">
                      <a:solidFill>
                        <a:srgbClr val="000000"/>
                      </a:solidFill>
                      <a:sym typeface="+mn-lt"/>
                    </a:rPr>
                    <a:t>支撑创新发展科技服务平台（对内管理）</a:t>
                  </a:r>
                </a:p>
              </p:txBody>
            </p:sp>
            <p:sp>
              <p:nvSpPr>
                <p:cNvPr id="147" name="矩形 146"/>
                <p:cNvSpPr/>
                <p:nvPr/>
              </p:nvSpPr>
              <p:spPr>
                <a:xfrm>
                  <a:off x="1304637" y="2486228"/>
                  <a:ext cx="1539171" cy="157530"/>
                </a:xfrm>
                <a:prstGeom prst="rect">
                  <a:avLst/>
                </a:prstGeom>
                <a:solidFill>
                  <a:schemeClr val="bg1"/>
                </a:solidFill>
                <a:ln w="19050">
                  <a:noFill/>
                </a:ln>
                <a:effectLst>
                  <a:softEdge rad="12700"/>
                </a:effectLst>
              </p:spPr>
              <p:style>
                <a:lnRef idx="2">
                  <a:srgbClr val="006EFF">
                    <a:shade val="50000"/>
                  </a:srgbClr>
                </a:lnRef>
                <a:fillRef idx="1">
                  <a:srgbClr val="006EFF"/>
                </a:fillRef>
                <a:effectRef idx="0">
                  <a:srgbClr val="006EFF"/>
                </a:effectRef>
                <a:fontRef idx="minor">
                  <a:srgbClr val="FFFFFF"/>
                </a:fontRef>
              </p:style>
              <p:txBody>
                <a:bodyPr vertOverflow="overflow" horzOverflow="overflow" vert="horz" wrap="square" lIns="68580" tIns="34290" rIns="68580" bIns="34290" numCol="1" spcCol="0" rtlCol="0" fromWordArt="0" anchor="ctr" anchorCtr="0" forceAA="0" compatLnSpc="1">
                  <a:noAutofit/>
                </a:bodyPr>
                <a:lstStyle/>
                <a:p>
                  <a:pPr algn="ctr" defTabSz="914310"/>
                  <a:endParaRPr lang="zh-CN" altLang="en-US" sz="1200" b="1" kern="0" dirty="0">
                    <a:solidFill>
                      <a:srgbClr val="1B1B1B"/>
                    </a:solidFill>
                    <a:sym typeface="+mn-lt"/>
                  </a:endParaRPr>
                </a:p>
              </p:txBody>
            </p:sp>
          </p:grpSp>
          <p:grpSp>
            <p:nvGrpSpPr>
              <p:cNvPr id="69" name="组合 68"/>
              <p:cNvGrpSpPr/>
              <p:nvPr/>
            </p:nvGrpSpPr>
            <p:grpSpPr>
              <a:xfrm>
                <a:off x="6204396" y="2862375"/>
                <a:ext cx="4248725" cy="2462965"/>
                <a:chOff x="4652819" y="2146780"/>
                <a:chExt cx="3186544" cy="1847224"/>
              </a:xfrm>
            </p:grpSpPr>
            <p:sp>
              <p:nvSpPr>
                <p:cNvPr id="129" name="矩形 128"/>
                <p:cNvSpPr/>
                <p:nvPr>
                  <p:custDataLst>
                    <p:tags r:id="rId13"/>
                  </p:custDataLst>
                </p:nvPr>
              </p:nvSpPr>
              <p:spPr>
                <a:xfrm>
                  <a:off x="6291363" y="2571750"/>
                  <a:ext cx="1548000" cy="1422254"/>
                </a:xfrm>
                <a:prstGeom prst="rect">
                  <a:avLst/>
                </a:prstGeom>
                <a:noFill/>
                <a:ln w="19050">
                  <a:solidFill>
                    <a:schemeClr val="tx1"/>
                  </a:solidFill>
                </a:ln>
              </p:spPr>
              <p:style>
                <a:lnRef idx="2">
                  <a:srgbClr val="006EFF">
                    <a:shade val="50000"/>
                  </a:srgbClr>
                </a:lnRef>
                <a:fillRef idx="1">
                  <a:srgbClr val="006EFF"/>
                </a:fillRef>
                <a:effectRef idx="0">
                  <a:srgbClr val="006EFF"/>
                </a:effectRef>
                <a:fontRef idx="minor">
                  <a:srgbClr val="FFFFFF"/>
                </a:fontRef>
              </p:style>
              <p:txBody>
                <a:bodyPr vertOverflow="overflow" horzOverflow="overflow" vert="horz" wrap="square" lIns="68580" tIns="34290" rIns="68580" bIns="34290" numCol="1" spcCol="0" rtlCol="0" fromWordArt="0" anchor="ctr" anchorCtr="0" forceAA="0" compatLnSpc="1">
                  <a:noAutofit/>
                </a:bodyPr>
                <a:lstStyle/>
                <a:p>
                  <a:pPr algn="ctr" defTabSz="914310"/>
                  <a:endParaRPr lang="zh-CN" altLang="en-US" sz="1200" b="1" kern="0" dirty="0">
                    <a:solidFill>
                      <a:srgbClr val="1B1B1B"/>
                    </a:solidFill>
                    <a:sym typeface="+mn-lt"/>
                  </a:endParaRPr>
                </a:p>
              </p:txBody>
            </p:sp>
            <p:grpSp>
              <p:nvGrpSpPr>
                <p:cNvPr id="130" name="组合 129"/>
                <p:cNvGrpSpPr/>
                <p:nvPr/>
              </p:nvGrpSpPr>
              <p:grpSpPr>
                <a:xfrm>
                  <a:off x="6371722" y="2787774"/>
                  <a:ext cx="1420209" cy="1028375"/>
                  <a:chOff x="6343908" y="2868017"/>
                  <a:chExt cx="1420209" cy="1028375"/>
                </a:xfrm>
              </p:grpSpPr>
              <p:sp>
                <p:nvSpPr>
                  <p:cNvPr id="134" name="矩形: 圆角 60"/>
                  <p:cNvSpPr/>
                  <p:nvPr/>
                </p:nvSpPr>
                <p:spPr>
                  <a:xfrm>
                    <a:off x="7044116" y="3156809"/>
                    <a:ext cx="720000" cy="162000"/>
                  </a:xfrm>
                  <a:prstGeom prst="roundRect">
                    <a:avLst/>
                  </a:prstGeom>
                  <a:noFill/>
                  <a:ln w="12700" cap="flat" cmpd="sng" algn="ctr">
                    <a:solidFill>
                      <a:schemeClr val="tx1"/>
                    </a:solidFill>
                    <a:prstDash val="solid"/>
                    <a:miter lim="800000"/>
                  </a:ln>
                  <a:effectLst/>
                </p:spPr>
                <p:txBody>
                  <a:bodyPr rtlCol="0" anchor="ctr">
                    <a:noAutofit/>
                  </a:bodyPr>
                  <a:lstStyle/>
                  <a:p>
                    <a:pPr algn="ctr" defTabSz="914310"/>
                    <a:r>
                      <a:rPr lang="zh-CN" altLang="en-US" sz="800" b="1" dirty="0">
                        <a:solidFill>
                          <a:srgbClr val="000000"/>
                        </a:solidFill>
                        <a:sym typeface="+mn-ea"/>
                      </a:rPr>
                      <a:t>供需对接</a:t>
                    </a:r>
                  </a:p>
                </p:txBody>
              </p:sp>
              <p:sp>
                <p:nvSpPr>
                  <p:cNvPr id="135" name="矩形: 圆角 60"/>
                  <p:cNvSpPr/>
                  <p:nvPr/>
                </p:nvSpPr>
                <p:spPr>
                  <a:xfrm>
                    <a:off x="6343909" y="2868017"/>
                    <a:ext cx="648000" cy="162000"/>
                  </a:xfrm>
                  <a:prstGeom prst="roundRect">
                    <a:avLst/>
                  </a:prstGeom>
                  <a:noFill/>
                  <a:ln w="12700" cap="flat" cmpd="sng" algn="ctr">
                    <a:solidFill>
                      <a:schemeClr val="tx1"/>
                    </a:solidFill>
                    <a:prstDash val="solid"/>
                    <a:miter lim="800000"/>
                  </a:ln>
                  <a:effectLst/>
                </p:spPr>
                <p:txBody>
                  <a:bodyPr rtlCol="0" anchor="ctr">
                    <a:noAutofit/>
                  </a:bodyPr>
                  <a:lstStyle/>
                  <a:p>
                    <a:pPr algn="ctr" defTabSz="914310"/>
                    <a:r>
                      <a:rPr lang="zh-CN" altLang="en-US" sz="800" b="1" dirty="0">
                        <a:solidFill>
                          <a:srgbClr val="000000"/>
                        </a:solidFill>
                        <a:sym typeface="+mn-ea"/>
                      </a:rPr>
                      <a:t>科技成果</a:t>
                    </a:r>
                  </a:p>
                </p:txBody>
              </p:sp>
              <p:sp>
                <p:nvSpPr>
                  <p:cNvPr id="136" name="矩形: 圆角 60"/>
                  <p:cNvSpPr/>
                  <p:nvPr/>
                </p:nvSpPr>
                <p:spPr>
                  <a:xfrm>
                    <a:off x="6343908" y="3156809"/>
                    <a:ext cx="648000" cy="162000"/>
                  </a:xfrm>
                  <a:prstGeom prst="roundRect">
                    <a:avLst/>
                  </a:prstGeom>
                  <a:noFill/>
                  <a:ln w="12700" cap="flat" cmpd="sng" algn="ctr">
                    <a:solidFill>
                      <a:schemeClr val="tx1"/>
                    </a:solidFill>
                    <a:prstDash val="solid"/>
                    <a:miter lim="800000"/>
                  </a:ln>
                  <a:effectLst/>
                </p:spPr>
                <p:txBody>
                  <a:bodyPr rtlCol="0" anchor="ctr">
                    <a:noAutofit/>
                  </a:bodyPr>
                  <a:lstStyle/>
                  <a:p>
                    <a:pPr algn="ctr" defTabSz="914310"/>
                    <a:r>
                      <a:rPr lang="zh-CN" altLang="en-US" sz="800" b="1" dirty="0">
                        <a:solidFill>
                          <a:srgbClr val="000000"/>
                        </a:solidFill>
                        <a:sym typeface="+mn-ea"/>
                      </a:rPr>
                      <a:t>科技金融</a:t>
                    </a:r>
                  </a:p>
                </p:txBody>
              </p:sp>
              <p:sp>
                <p:nvSpPr>
                  <p:cNvPr id="137" name="矩形: 圆角 60"/>
                  <p:cNvSpPr/>
                  <p:nvPr>
                    <p:custDataLst>
                      <p:tags r:id="rId15"/>
                    </p:custDataLst>
                  </p:nvPr>
                </p:nvSpPr>
                <p:spPr>
                  <a:xfrm>
                    <a:off x="7044116" y="2868017"/>
                    <a:ext cx="720000" cy="162000"/>
                  </a:xfrm>
                  <a:prstGeom prst="roundRect">
                    <a:avLst/>
                  </a:prstGeom>
                  <a:noFill/>
                  <a:ln w="12700" cap="flat" cmpd="sng" algn="ctr">
                    <a:solidFill>
                      <a:schemeClr val="tx1"/>
                    </a:solidFill>
                    <a:prstDash val="solid"/>
                    <a:miter lim="800000"/>
                  </a:ln>
                  <a:effectLst/>
                </p:spPr>
                <p:txBody>
                  <a:bodyPr rtlCol="0" anchor="ctr">
                    <a:noAutofit/>
                  </a:bodyPr>
                  <a:lstStyle/>
                  <a:p>
                    <a:pPr algn="ctr" defTabSz="914310"/>
                    <a:r>
                      <a:rPr lang="zh-CN" altLang="en-US" sz="800" b="1" dirty="0">
                        <a:solidFill>
                          <a:srgbClr val="000000"/>
                        </a:solidFill>
                        <a:sym typeface="+mn-ea"/>
                      </a:rPr>
                      <a:t>科技人才</a:t>
                    </a:r>
                  </a:p>
                </p:txBody>
              </p:sp>
              <p:sp>
                <p:nvSpPr>
                  <p:cNvPr id="138" name="矩形: 圆角 60"/>
                  <p:cNvSpPr/>
                  <p:nvPr/>
                </p:nvSpPr>
                <p:spPr>
                  <a:xfrm>
                    <a:off x="7044117" y="3734392"/>
                    <a:ext cx="720000" cy="162000"/>
                  </a:xfrm>
                  <a:prstGeom prst="roundRect">
                    <a:avLst/>
                  </a:prstGeom>
                  <a:noFill/>
                  <a:ln w="12700" cap="flat" cmpd="sng" algn="ctr">
                    <a:solidFill>
                      <a:schemeClr val="tx1"/>
                    </a:solidFill>
                    <a:prstDash val="solid"/>
                    <a:miter lim="800000"/>
                  </a:ln>
                  <a:effectLst/>
                </p:spPr>
                <p:txBody>
                  <a:bodyPr rtlCol="0" anchor="ctr">
                    <a:noAutofit/>
                  </a:bodyPr>
                  <a:lstStyle/>
                  <a:p>
                    <a:pPr algn="ctr" defTabSz="914310"/>
                    <a:r>
                      <a:rPr lang="zh-CN" altLang="en-US" sz="800" b="1" dirty="0">
                        <a:solidFill>
                          <a:srgbClr val="000000"/>
                        </a:solidFill>
                        <a:sym typeface="+mn-ea"/>
                      </a:rPr>
                      <a:t>技术经理人</a:t>
                    </a:r>
                  </a:p>
                </p:txBody>
              </p:sp>
              <p:sp>
                <p:nvSpPr>
                  <p:cNvPr id="139" name="矩形: 圆角 60"/>
                  <p:cNvSpPr/>
                  <p:nvPr/>
                </p:nvSpPr>
                <p:spPr>
                  <a:xfrm>
                    <a:off x="6343908" y="3445601"/>
                    <a:ext cx="648000" cy="162000"/>
                  </a:xfrm>
                  <a:prstGeom prst="roundRect">
                    <a:avLst/>
                  </a:prstGeom>
                  <a:noFill/>
                  <a:ln w="12700" cap="flat" cmpd="sng" algn="ctr">
                    <a:solidFill>
                      <a:schemeClr val="tx1"/>
                    </a:solidFill>
                    <a:prstDash val="solid"/>
                    <a:miter lim="800000"/>
                  </a:ln>
                  <a:effectLst/>
                </p:spPr>
                <p:txBody>
                  <a:bodyPr rtlCol="0" anchor="ctr">
                    <a:noAutofit/>
                  </a:bodyPr>
                  <a:lstStyle/>
                  <a:p>
                    <a:pPr algn="ctr" defTabSz="914310"/>
                    <a:r>
                      <a:rPr lang="zh-CN" altLang="en-US" sz="800" b="1" dirty="0">
                        <a:solidFill>
                          <a:srgbClr val="000000"/>
                        </a:solidFill>
                        <a:sym typeface="+mn-ea"/>
                      </a:rPr>
                      <a:t>直播活动</a:t>
                    </a:r>
                  </a:p>
                </p:txBody>
              </p:sp>
              <p:sp>
                <p:nvSpPr>
                  <p:cNvPr id="141" name="矩形: 圆角 60"/>
                  <p:cNvSpPr/>
                  <p:nvPr/>
                </p:nvSpPr>
                <p:spPr>
                  <a:xfrm>
                    <a:off x="6343908" y="3734392"/>
                    <a:ext cx="648000" cy="162000"/>
                  </a:xfrm>
                  <a:prstGeom prst="roundRect">
                    <a:avLst/>
                  </a:prstGeom>
                  <a:noFill/>
                  <a:ln w="12700" cap="flat" cmpd="sng" algn="ctr">
                    <a:solidFill>
                      <a:schemeClr val="tx1"/>
                    </a:solidFill>
                    <a:prstDash val="solid"/>
                    <a:miter lim="800000"/>
                  </a:ln>
                  <a:effectLst/>
                </p:spPr>
                <p:txBody>
                  <a:bodyPr rtlCol="0" anchor="ctr">
                    <a:noAutofit/>
                  </a:bodyPr>
                  <a:lstStyle/>
                  <a:p>
                    <a:pPr algn="ctr" defTabSz="914310"/>
                    <a:r>
                      <a:rPr lang="zh-CN" altLang="en-US" sz="800" b="1" dirty="0">
                        <a:solidFill>
                          <a:srgbClr val="000000"/>
                        </a:solidFill>
                        <a:sym typeface="+mn-ea"/>
                      </a:rPr>
                      <a:t>创新积分</a:t>
                    </a:r>
                  </a:p>
                </p:txBody>
              </p:sp>
              <p:sp>
                <p:nvSpPr>
                  <p:cNvPr id="142" name="矩形: 圆角 60"/>
                  <p:cNvSpPr/>
                  <p:nvPr>
                    <p:custDataLst>
                      <p:tags r:id="rId16"/>
                    </p:custDataLst>
                  </p:nvPr>
                </p:nvSpPr>
                <p:spPr>
                  <a:xfrm>
                    <a:off x="7044117" y="3445601"/>
                    <a:ext cx="720000" cy="162000"/>
                  </a:xfrm>
                  <a:prstGeom prst="roundRect">
                    <a:avLst/>
                  </a:prstGeom>
                  <a:noFill/>
                  <a:ln w="12700" cap="flat" cmpd="sng" algn="ctr">
                    <a:solidFill>
                      <a:schemeClr val="tx1"/>
                    </a:solidFill>
                    <a:prstDash val="solid"/>
                    <a:miter lim="800000"/>
                  </a:ln>
                  <a:effectLst/>
                </p:spPr>
                <p:txBody>
                  <a:bodyPr rtlCol="0" anchor="ctr">
                    <a:noAutofit/>
                  </a:bodyPr>
                  <a:lstStyle/>
                  <a:p>
                    <a:pPr algn="ctr" defTabSz="914310"/>
                    <a:r>
                      <a:rPr lang="zh-CN" altLang="en-US" sz="800" b="1" dirty="0">
                        <a:solidFill>
                          <a:srgbClr val="000000"/>
                        </a:solidFill>
                        <a:sym typeface="+mn-ea"/>
                      </a:rPr>
                      <a:t>先用后转</a:t>
                    </a:r>
                  </a:p>
                </p:txBody>
              </p:sp>
            </p:grpSp>
            <p:sp>
              <p:nvSpPr>
                <p:cNvPr id="131" name="矩形 130"/>
                <p:cNvSpPr/>
                <p:nvPr>
                  <p:custDataLst>
                    <p:tags r:id="rId14"/>
                  </p:custDataLst>
                </p:nvPr>
              </p:nvSpPr>
              <p:spPr>
                <a:xfrm>
                  <a:off x="4652819" y="2146780"/>
                  <a:ext cx="3186543" cy="423214"/>
                </a:xfrm>
                <a:prstGeom prst="rect">
                  <a:avLst/>
                </a:prstGeom>
                <a:noFill/>
                <a:ln w="19050">
                  <a:solidFill>
                    <a:schemeClr val="tx1"/>
                  </a:solidFill>
                </a:ln>
              </p:spPr>
              <p:style>
                <a:lnRef idx="2">
                  <a:srgbClr val="006EFF">
                    <a:shade val="50000"/>
                  </a:srgbClr>
                </a:lnRef>
                <a:fillRef idx="1">
                  <a:srgbClr val="006EFF"/>
                </a:fillRef>
                <a:effectRef idx="0">
                  <a:srgbClr val="006EFF"/>
                </a:effectRef>
                <a:fontRef idx="minor">
                  <a:srgbClr val="FFFFFF"/>
                </a:fontRef>
              </p:style>
              <p:txBody>
                <a:bodyPr vertOverflow="overflow" horzOverflow="overflow" vert="horz" wrap="square" lIns="68580" tIns="34290" rIns="68580" bIns="34290" numCol="1" spcCol="0" rtlCol="0" fromWordArt="0" anchor="ctr" anchorCtr="0" forceAA="0" compatLnSpc="1">
                  <a:noAutofit/>
                </a:bodyPr>
                <a:lstStyle/>
                <a:p>
                  <a:pPr algn="ctr" defTabSz="914310"/>
                  <a:endParaRPr lang="zh-CN" altLang="en-US" sz="1200" b="1" kern="0" dirty="0">
                    <a:solidFill>
                      <a:srgbClr val="1B1B1B"/>
                    </a:solidFill>
                    <a:sym typeface="+mn-lt"/>
                  </a:endParaRPr>
                </a:p>
              </p:txBody>
            </p:sp>
            <p:sp>
              <p:nvSpPr>
                <p:cNvPr id="132" name="文本框 51"/>
                <p:cNvSpPr txBox="1"/>
                <p:nvPr/>
              </p:nvSpPr>
              <p:spPr>
                <a:xfrm>
                  <a:off x="4652820" y="2232387"/>
                  <a:ext cx="3186542" cy="252000"/>
                </a:xfrm>
                <a:prstGeom prst="rect">
                  <a:avLst/>
                </a:prstGeom>
                <a:noFill/>
              </p:spPr>
              <p:txBody>
                <a:bodyPr wrap="square">
                  <a:noAutofit/>
                </a:bodyPr>
                <a:lstStyle/>
                <a:p>
                  <a:pPr algn="ctr" defTabSz="914310"/>
                  <a:r>
                    <a:rPr lang="zh-CN" altLang="en-US" sz="1100" b="1" dirty="0">
                      <a:solidFill>
                        <a:srgbClr val="000000"/>
                      </a:solidFill>
                      <a:sym typeface="+mn-lt"/>
                    </a:rPr>
                    <a:t>科技成果转化线上平台（对外服务）</a:t>
                  </a:r>
                </a:p>
              </p:txBody>
            </p:sp>
            <p:sp>
              <p:nvSpPr>
                <p:cNvPr id="133" name="矩形 132"/>
                <p:cNvSpPr/>
                <p:nvPr/>
              </p:nvSpPr>
              <p:spPr>
                <a:xfrm>
                  <a:off x="6295777" y="2481098"/>
                  <a:ext cx="1539171" cy="157530"/>
                </a:xfrm>
                <a:prstGeom prst="rect">
                  <a:avLst/>
                </a:prstGeom>
                <a:solidFill>
                  <a:schemeClr val="bg1"/>
                </a:solidFill>
                <a:ln w="19050">
                  <a:noFill/>
                </a:ln>
                <a:effectLst>
                  <a:softEdge rad="12700"/>
                </a:effectLst>
              </p:spPr>
              <p:style>
                <a:lnRef idx="2">
                  <a:srgbClr val="006EFF">
                    <a:shade val="50000"/>
                  </a:srgbClr>
                </a:lnRef>
                <a:fillRef idx="1">
                  <a:srgbClr val="006EFF"/>
                </a:fillRef>
                <a:effectRef idx="0">
                  <a:srgbClr val="006EFF"/>
                </a:effectRef>
                <a:fontRef idx="minor">
                  <a:srgbClr val="FFFFFF"/>
                </a:fontRef>
              </p:style>
              <p:txBody>
                <a:bodyPr vertOverflow="overflow" horzOverflow="overflow" vert="horz" wrap="square" lIns="68580" tIns="34290" rIns="68580" bIns="34290" numCol="1" spcCol="0" rtlCol="0" fromWordArt="0" anchor="ctr" anchorCtr="0" forceAA="0" compatLnSpc="1">
                  <a:noAutofit/>
                </a:bodyPr>
                <a:lstStyle/>
                <a:p>
                  <a:pPr algn="ctr" defTabSz="914310"/>
                  <a:endParaRPr lang="zh-CN" altLang="en-US" sz="1200" b="1" kern="0" dirty="0">
                    <a:solidFill>
                      <a:srgbClr val="1B1B1B"/>
                    </a:solidFill>
                    <a:sym typeface="+mn-lt"/>
                  </a:endParaRPr>
                </a:p>
              </p:txBody>
            </p:sp>
          </p:grpSp>
          <p:sp>
            <p:nvSpPr>
              <p:cNvPr id="70" name="下箭头 69"/>
              <p:cNvSpPr/>
              <p:nvPr/>
            </p:nvSpPr>
            <p:spPr>
              <a:xfrm rot="10800000">
                <a:off x="2679229" y="5205355"/>
                <a:ext cx="192000" cy="240000"/>
              </a:xfrm>
              <a:prstGeom prst="downArrow">
                <a:avLst/>
              </a:prstGeom>
              <a:solidFill>
                <a:schemeClr val="tx2">
                  <a:lumMod val="65000"/>
                  <a:lumOff val="35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68580" tIns="34290" rIns="68580" bIns="34290" rtlCol="0" anchor="ctr"/>
              <a:lstStyle/>
              <a:p>
                <a:pPr algn="ctr" defTabSz="914310"/>
                <a:endParaRPr lang="zh-CN" altLang="en-US" sz="1400">
                  <a:solidFill>
                    <a:srgbClr val="FFFFFF"/>
                  </a:solidFill>
                </a:endParaRPr>
              </a:p>
            </p:txBody>
          </p:sp>
          <p:sp>
            <p:nvSpPr>
              <p:cNvPr id="71" name="下箭头 70"/>
              <p:cNvSpPr/>
              <p:nvPr/>
            </p:nvSpPr>
            <p:spPr>
              <a:xfrm rot="10800000">
                <a:off x="6008732" y="5205356"/>
                <a:ext cx="192000" cy="240000"/>
              </a:xfrm>
              <a:prstGeom prst="downArrow">
                <a:avLst/>
              </a:prstGeom>
              <a:solidFill>
                <a:schemeClr val="tx2">
                  <a:lumMod val="65000"/>
                  <a:lumOff val="35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68580" tIns="34290" rIns="68580" bIns="34290" rtlCol="0" anchor="ctr"/>
              <a:lstStyle/>
              <a:p>
                <a:pPr algn="ctr" defTabSz="914310"/>
                <a:endParaRPr lang="zh-CN" altLang="en-US" sz="1400">
                  <a:solidFill>
                    <a:srgbClr val="FFFFFF"/>
                  </a:solidFill>
                </a:endParaRPr>
              </a:p>
            </p:txBody>
          </p:sp>
          <p:sp>
            <p:nvSpPr>
              <p:cNvPr id="72" name="下箭头 71"/>
              <p:cNvSpPr/>
              <p:nvPr/>
            </p:nvSpPr>
            <p:spPr>
              <a:xfrm rot="10800000">
                <a:off x="9325118" y="5205357"/>
                <a:ext cx="192000" cy="240000"/>
              </a:xfrm>
              <a:prstGeom prst="downArrow">
                <a:avLst/>
              </a:prstGeom>
              <a:solidFill>
                <a:schemeClr val="tx2">
                  <a:lumMod val="65000"/>
                  <a:lumOff val="35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68580" tIns="34290" rIns="68580" bIns="34290" rtlCol="0" anchor="ctr"/>
              <a:lstStyle/>
              <a:p>
                <a:pPr algn="ctr" defTabSz="914310"/>
                <a:endParaRPr lang="zh-CN" altLang="en-US" sz="1400">
                  <a:solidFill>
                    <a:srgbClr val="FFFFFF"/>
                  </a:solidFill>
                </a:endParaRPr>
              </a:p>
            </p:txBody>
          </p:sp>
          <p:sp>
            <p:nvSpPr>
              <p:cNvPr id="73" name="下箭头 72"/>
              <p:cNvSpPr/>
              <p:nvPr/>
            </p:nvSpPr>
            <p:spPr>
              <a:xfrm rot="5400000">
                <a:off x="3696381" y="4169457"/>
                <a:ext cx="192000" cy="192000"/>
              </a:xfrm>
              <a:prstGeom prst="downArrow">
                <a:avLst/>
              </a:prstGeom>
              <a:solidFill>
                <a:schemeClr val="tx2">
                  <a:lumMod val="65000"/>
                  <a:lumOff val="35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68580" tIns="34290" rIns="68580" bIns="34290" rtlCol="0" anchor="ctr"/>
              <a:lstStyle/>
              <a:p>
                <a:pPr algn="ctr" defTabSz="914310"/>
                <a:endParaRPr lang="zh-CN" altLang="en-US" sz="1400">
                  <a:solidFill>
                    <a:srgbClr val="FFFFFF"/>
                  </a:solidFill>
                </a:endParaRPr>
              </a:p>
            </p:txBody>
          </p:sp>
          <p:sp>
            <p:nvSpPr>
              <p:cNvPr id="74" name="下箭头 73"/>
              <p:cNvSpPr/>
              <p:nvPr/>
            </p:nvSpPr>
            <p:spPr>
              <a:xfrm rot="16200000">
                <a:off x="8291812" y="4169457"/>
                <a:ext cx="192000" cy="192000"/>
              </a:xfrm>
              <a:prstGeom prst="downArrow">
                <a:avLst/>
              </a:prstGeom>
              <a:solidFill>
                <a:schemeClr val="tx2">
                  <a:lumMod val="65000"/>
                  <a:lumOff val="35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68580" tIns="34290" rIns="68580" bIns="34290" rtlCol="0" anchor="ctr"/>
              <a:lstStyle/>
              <a:p>
                <a:pPr algn="ctr" defTabSz="914310"/>
                <a:endParaRPr lang="zh-CN" altLang="en-US" sz="1400">
                  <a:solidFill>
                    <a:srgbClr val="FFFFFF"/>
                  </a:solidFill>
                </a:endParaRPr>
              </a:p>
            </p:txBody>
          </p:sp>
          <p:grpSp>
            <p:nvGrpSpPr>
              <p:cNvPr id="75" name="组合 74"/>
              <p:cNvGrpSpPr/>
              <p:nvPr/>
            </p:nvGrpSpPr>
            <p:grpSpPr>
              <a:xfrm>
                <a:off x="1740153" y="5445353"/>
                <a:ext cx="8712968" cy="1152000"/>
                <a:chOff x="1305114" y="4084015"/>
                <a:chExt cx="6534726" cy="864000"/>
              </a:xfrm>
            </p:grpSpPr>
            <p:sp>
              <p:nvSpPr>
                <p:cNvPr id="92" name="矩形 91"/>
                <p:cNvSpPr/>
                <p:nvPr/>
              </p:nvSpPr>
              <p:spPr>
                <a:xfrm>
                  <a:off x="1305114" y="4084015"/>
                  <a:ext cx="6534726" cy="864000"/>
                </a:xfrm>
                <a:prstGeom prst="rect">
                  <a:avLst/>
                </a:prstGeom>
                <a:noFill/>
                <a:ln w="19050">
                  <a:solidFill>
                    <a:schemeClr val="tx1"/>
                  </a:solidFill>
                </a:ln>
              </p:spPr>
              <p:style>
                <a:lnRef idx="2">
                  <a:srgbClr val="006EFF">
                    <a:shade val="50000"/>
                  </a:srgbClr>
                </a:lnRef>
                <a:fillRef idx="1">
                  <a:srgbClr val="006EFF"/>
                </a:fillRef>
                <a:effectRef idx="0">
                  <a:srgbClr val="006EFF"/>
                </a:effectRef>
                <a:fontRef idx="minor">
                  <a:srgbClr val="FFFFFF"/>
                </a:fontRef>
              </p:style>
              <p:txBody>
                <a:bodyPr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pPr algn="ctr" defTabSz="914310">
                    <a:lnSpc>
                      <a:spcPct val="150000"/>
                    </a:lnSpc>
                    <a:defRPr/>
                  </a:pPr>
                  <a:endParaRPr lang="zh-CN" altLang="en-US" sz="1200" b="1" kern="0" dirty="0">
                    <a:solidFill>
                      <a:srgbClr val="1B1B1B"/>
                    </a:solidFill>
                    <a:sym typeface="+mn-ea"/>
                  </a:endParaRPr>
                </a:p>
              </p:txBody>
            </p:sp>
            <p:sp>
              <p:nvSpPr>
                <p:cNvPr id="93" name="文本框 160"/>
                <p:cNvSpPr txBox="1"/>
                <p:nvPr/>
              </p:nvSpPr>
              <p:spPr>
                <a:xfrm>
                  <a:off x="3952226" y="4084016"/>
                  <a:ext cx="1259069" cy="34624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ctr" defTabSz="914310">
                    <a:lnSpc>
                      <a:spcPct val="150000"/>
                    </a:lnSpc>
                  </a:pPr>
                  <a:r>
                    <a:rPr lang="zh-CN" altLang="en-US" sz="1100" b="1" dirty="0">
                      <a:solidFill>
                        <a:srgbClr val="000000"/>
                      </a:solidFill>
                    </a:rPr>
                    <a:t>数据资源</a:t>
                  </a:r>
                </a:p>
              </p:txBody>
            </p:sp>
            <p:sp>
              <p:nvSpPr>
                <p:cNvPr id="96" name="矩形: 圆角 12"/>
                <p:cNvSpPr/>
                <p:nvPr>
                  <p:custDataLst>
                    <p:tags r:id="rId8"/>
                  </p:custDataLst>
                </p:nvPr>
              </p:nvSpPr>
              <p:spPr>
                <a:xfrm>
                  <a:off x="1502162" y="4407998"/>
                  <a:ext cx="1080000" cy="396000"/>
                </a:xfrm>
                <a:prstGeom prst="roundRect">
                  <a:avLst/>
                </a:prstGeom>
                <a:noFill/>
                <a:ln w="12700" cap="flat" cmpd="sng" algn="ctr">
                  <a:solidFill>
                    <a:schemeClr val="tx1"/>
                  </a:solidFill>
                  <a:prstDash val="solid"/>
                  <a:miter lim="800000"/>
                </a:ln>
                <a:effectLst/>
              </p:spPr>
              <p:txBody>
                <a:bodyPr rtlCol="0" anchor="ctr">
                  <a:noAutofit/>
                </a:bodyPr>
                <a:lstStyle/>
                <a:p>
                  <a:pPr algn="ctr" defTabSz="914310">
                    <a:defRPr/>
                  </a:pPr>
                  <a:r>
                    <a:rPr lang="zh-CN" altLang="en-US" sz="800" b="1" dirty="0">
                      <a:solidFill>
                        <a:srgbClr val="000000"/>
                      </a:solidFill>
                      <a:sym typeface="+mn-ea"/>
                    </a:rPr>
                    <a:t>线上平台录入数据</a:t>
                  </a:r>
                </a:p>
              </p:txBody>
            </p:sp>
            <p:sp>
              <p:nvSpPr>
                <p:cNvPr id="97" name="矩形: 圆角 12"/>
                <p:cNvSpPr/>
                <p:nvPr>
                  <p:custDataLst>
                    <p:tags r:id="rId9"/>
                  </p:custDataLst>
                </p:nvPr>
              </p:nvSpPr>
              <p:spPr>
                <a:xfrm>
                  <a:off x="2773678" y="4404710"/>
                  <a:ext cx="1080000" cy="396000"/>
                </a:xfrm>
                <a:prstGeom prst="roundRect">
                  <a:avLst/>
                </a:prstGeom>
                <a:noFill/>
                <a:ln w="12700" cap="flat" cmpd="sng" algn="ctr">
                  <a:solidFill>
                    <a:schemeClr val="tx1"/>
                  </a:solidFill>
                  <a:prstDash val="solid"/>
                  <a:miter lim="800000"/>
                </a:ln>
                <a:effectLst/>
              </p:spPr>
              <p:txBody>
                <a:bodyPr rtlCol="0" anchor="ctr">
                  <a:noAutofit/>
                </a:bodyPr>
                <a:lstStyle/>
                <a:p>
                  <a:pPr algn="ctr" defTabSz="914310">
                    <a:defRPr/>
                  </a:pPr>
                  <a:r>
                    <a:rPr lang="zh-CN" altLang="en-US" sz="800" b="1" dirty="0">
                      <a:solidFill>
                        <a:srgbClr val="000000"/>
                      </a:solidFill>
                      <a:sym typeface="+mn-ea"/>
                    </a:rPr>
                    <a:t>大市场运营数据</a:t>
                  </a:r>
                </a:p>
              </p:txBody>
            </p:sp>
            <p:sp>
              <p:nvSpPr>
                <p:cNvPr id="98" name="矩形: 圆角 12"/>
                <p:cNvSpPr/>
                <p:nvPr>
                  <p:custDataLst>
                    <p:tags r:id="rId10"/>
                  </p:custDataLst>
                </p:nvPr>
              </p:nvSpPr>
              <p:spPr>
                <a:xfrm>
                  <a:off x="4045194" y="4404211"/>
                  <a:ext cx="1080000" cy="396000"/>
                </a:xfrm>
                <a:prstGeom prst="roundRect">
                  <a:avLst/>
                </a:prstGeom>
                <a:noFill/>
                <a:ln w="12700" cap="flat" cmpd="sng" algn="ctr">
                  <a:solidFill>
                    <a:schemeClr val="tx1"/>
                  </a:solidFill>
                  <a:prstDash val="solid"/>
                  <a:miter lim="800000"/>
                </a:ln>
                <a:effectLst/>
              </p:spPr>
              <p:txBody>
                <a:bodyPr rtlCol="0" anchor="ctr">
                  <a:noAutofit/>
                </a:bodyPr>
                <a:lstStyle/>
                <a:p>
                  <a:pPr algn="ctr" defTabSz="914310">
                    <a:defRPr/>
                  </a:pPr>
                  <a:r>
                    <a:rPr lang="zh-CN" altLang="en-US" sz="800" b="1" dirty="0">
                      <a:solidFill>
                        <a:srgbClr val="000000"/>
                      </a:solidFill>
                      <a:sym typeface="+mn-ea"/>
                    </a:rPr>
                    <a:t>采购数据</a:t>
                  </a:r>
                </a:p>
              </p:txBody>
            </p:sp>
            <p:sp>
              <p:nvSpPr>
                <p:cNvPr id="126" name="矩形: 圆角 12"/>
                <p:cNvSpPr/>
                <p:nvPr>
                  <p:custDataLst>
                    <p:tags r:id="rId11"/>
                  </p:custDataLst>
                </p:nvPr>
              </p:nvSpPr>
              <p:spPr>
                <a:xfrm>
                  <a:off x="5316710" y="4384897"/>
                  <a:ext cx="1080000" cy="396000"/>
                </a:xfrm>
                <a:prstGeom prst="roundRect">
                  <a:avLst/>
                </a:prstGeom>
                <a:noFill/>
                <a:ln w="12700" cap="flat" cmpd="sng" algn="ctr">
                  <a:solidFill>
                    <a:schemeClr val="tx1"/>
                  </a:solidFill>
                  <a:prstDash val="solid"/>
                  <a:miter lim="800000"/>
                </a:ln>
                <a:effectLst/>
              </p:spPr>
              <p:txBody>
                <a:bodyPr rtlCol="0" anchor="ctr">
                  <a:noAutofit/>
                </a:bodyPr>
                <a:lstStyle/>
                <a:p>
                  <a:pPr algn="ctr" defTabSz="914310">
                    <a:defRPr/>
                  </a:pPr>
                  <a:r>
                    <a:rPr lang="zh-CN" altLang="en-US" sz="800" b="1" dirty="0">
                      <a:solidFill>
                        <a:srgbClr val="000000"/>
                      </a:solidFill>
                      <a:sym typeface="+mn-ea"/>
                    </a:rPr>
                    <a:t>治理数据</a:t>
                  </a:r>
                </a:p>
              </p:txBody>
            </p:sp>
            <p:sp>
              <p:nvSpPr>
                <p:cNvPr id="128" name="矩形: 圆角 12"/>
                <p:cNvSpPr/>
                <p:nvPr>
                  <p:custDataLst>
                    <p:tags r:id="rId12"/>
                  </p:custDataLst>
                </p:nvPr>
              </p:nvSpPr>
              <p:spPr>
                <a:xfrm>
                  <a:off x="6588224" y="4384897"/>
                  <a:ext cx="1080000" cy="396000"/>
                </a:xfrm>
                <a:prstGeom prst="roundRect">
                  <a:avLst/>
                </a:prstGeom>
                <a:noFill/>
                <a:ln w="12700" cap="flat" cmpd="sng" algn="ctr">
                  <a:solidFill>
                    <a:schemeClr val="tx1"/>
                  </a:solidFill>
                  <a:prstDash val="solid"/>
                  <a:miter lim="800000"/>
                </a:ln>
                <a:effectLst/>
              </p:spPr>
              <p:txBody>
                <a:bodyPr rtlCol="0" anchor="ctr">
                  <a:noAutofit/>
                </a:bodyPr>
                <a:lstStyle/>
                <a:p>
                  <a:pPr algn="ctr" defTabSz="914310">
                    <a:defRPr/>
                  </a:pPr>
                  <a:r>
                    <a:rPr lang="zh-CN" altLang="en-US" sz="800" b="1" dirty="0">
                      <a:solidFill>
                        <a:srgbClr val="000000"/>
                      </a:solidFill>
                      <a:sym typeface="+mn-ea"/>
                    </a:rPr>
                    <a:t>训练数据</a:t>
                  </a:r>
                </a:p>
              </p:txBody>
            </p:sp>
          </p:grpSp>
          <p:grpSp>
            <p:nvGrpSpPr>
              <p:cNvPr id="76" name="组合 75"/>
              <p:cNvGrpSpPr/>
              <p:nvPr/>
            </p:nvGrpSpPr>
            <p:grpSpPr>
              <a:xfrm>
                <a:off x="3901464" y="3501138"/>
                <a:ext cx="4390348" cy="1824202"/>
                <a:chOff x="3901464" y="3501138"/>
                <a:chExt cx="4390348" cy="1824202"/>
              </a:xfrm>
            </p:grpSpPr>
            <p:sp>
              <p:nvSpPr>
                <p:cNvPr id="77" name="矩形 76"/>
                <p:cNvSpPr/>
                <p:nvPr/>
              </p:nvSpPr>
              <p:spPr>
                <a:xfrm>
                  <a:off x="3901464" y="3501138"/>
                  <a:ext cx="4390348" cy="1824202"/>
                </a:xfrm>
                <a:prstGeom prst="rect">
                  <a:avLst/>
                </a:prstGeom>
                <a:noFill/>
                <a:ln w="19050">
                  <a:solidFill>
                    <a:schemeClr val="tx1"/>
                  </a:solidFill>
                </a:ln>
              </p:spPr>
              <p:style>
                <a:lnRef idx="2">
                  <a:srgbClr val="006EFF">
                    <a:shade val="50000"/>
                  </a:srgbClr>
                </a:lnRef>
                <a:fillRef idx="1">
                  <a:srgbClr val="006EFF"/>
                </a:fillRef>
                <a:effectRef idx="0">
                  <a:srgbClr val="006EFF"/>
                </a:effectRef>
                <a:fontRef idx="minor">
                  <a:srgbClr val="FFFFFF"/>
                </a:fontRef>
              </p:style>
              <p:txBody>
                <a:bodyPr vertOverflow="overflow" horzOverflow="overflow" vert="horz" wrap="square" lIns="68580" tIns="34290" rIns="68580" bIns="34290" numCol="1" spcCol="0" rtlCol="0" fromWordArt="0" anchor="ctr" anchorCtr="0" forceAA="0" compatLnSpc="1">
                  <a:noAutofit/>
                </a:bodyPr>
                <a:lstStyle/>
                <a:p>
                  <a:pPr algn="ctr" defTabSz="914310">
                    <a:defRPr/>
                  </a:pPr>
                  <a:endParaRPr lang="en-US" altLang="zh-CN" sz="1200" b="1" kern="0" dirty="0">
                    <a:solidFill>
                      <a:srgbClr val="1B1B1B"/>
                    </a:solidFill>
                    <a:sym typeface="+mn-ea"/>
                  </a:endParaRPr>
                </a:p>
              </p:txBody>
            </p:sp>
            <p:sp>
              <p:nvSpPr>
                <p:cNvPr id="78" name="文本框 160"/>
                <p:cNvSpPr txBox="1"/>
                <p:nvPr/>
              </p:nvSpPr>
              <p:spPr>
                <a:xfrm>
                  <a:off x="5257259" y="3501138"/>
                  <a:ext cx="1678759" cy="43088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68580" tIns="34290" rIns="68580" bIns="34290" rtlCol="0">
                  <a:spAutoFit/>
                </a:bodyPr>
                <a:lstStyle/>
                <a:p>
                  <a:pPr algn="ctr" defTabSz="914310">
                    <a:lnSpc>
                      <a:spcPct val="150000"/>
                    </a:lnSpc>
                  </a:pPr>
                  <a:r>
                    <a:rPr lang="zh-CN" altLang="en-US" sz="1100" b="1" dirty="0">
                      <a:solidFill>
                        <a:srgbClr val="000000"/>
                      </a:solidFill>
                    </a:rPr>
                    <a:t>人工智能</a:t>
                  </a:r>
                </a:p>
              </p:txBody>
            </p:sp>
            <p:sp>
              <p:nvSpPr>
                <p:cNvPr id="79" name="矩形 78"/>
                <p:cNvSpPr/>
                <p:nvPr>
                  <p:custDataLst>
                    <p:tags r:id="rId1"/>
                  </p:custDataLst>
                </p:nvPr>
              </p:nvSpPr>
              <p:spPr>
                <a:xfrm>
                  <a:off x="4151784" y="4167035"/>
                  <a:ext cx="864000" cy="288000"/>
                </a:xfrm>
                <a:prstGeom prst="rect">
                  <a:avLst/>
                </a:prstGeom>
                <a:noFill/>
                <a:ln w="12700" cap="flat" cmpd="sng" algn="ctr">
                  <a:solidFill>
                    <a:schemeClr val="tx1"/>
                  </a:solidFill>
                  <a:prstDash val="solid"/>
                  <a:miter lim="800000"/>
                </a:ln>
                <a:effectLst/>
              </p:spPr>
              <p:txBody>
                <a:bodyPr rtlCol="0" anchor="ctr">
                  <a:noAutofit/>
                </a:bodyPr>
                <a:lstStyle/>
                <a:p>
                  <a:pPr algn="ctr" defTabSz="914310"/>
                  <a:r>
                    <a:rPr lang="zh-CN" altLang="en-US" sz="800" b="1" dirty="0">
                      <a:solidFill>
                        <a:srgbClr val="000000"/>
                      </a:solidFill>
                    </a:rPr>
                    <a:t>模型托管</a:t>
                  </a:r>
                </a:p>
              </p:txBody>
            </p:sp>
            <p:sp>
              <p:nvSpPr>
                <p:cNvPr id="80" name="矩形 79"/>
                <p:cNvSpPr/>
                <p:nvPr>
                  <p:custDataLst>
                    <p:tags r:id="rId2"/>
                  </p:custDataLst>
                </p:nvPr>
              </p:nvSpPr>
              <p:spPr>
                <a:xfrm>
                  <a:off x="7188018" y="4167035"/>
                  <a:ext cx="864000" cy="288000"/>
                </a:xfrm>
                <a:prstGeom prst="rect">
                  <a:avLst/>
                </a:prstGeom>
                <a:noFill/>
                <a:ln w="12700" cap="flat" cmpd="sng" algn="ctr">
                  <a:solidFill>
                    <a:schemeClr val="tx1"/>
                  </a:solidFill>
                  <a:prstDash val="solid"/>
                  <a:miter lim="800000"/>
                </a:ln>
                <a:effectLst/>
              </p:spPr>
              <p:txBody>
                <a:bodyPr rtlCol="0" anchor="ctr">
                  <a:noAutofit/>
                </a:bodyPr>
                <a:lstStyle/>
                <a:p>
                  <a:pPr algn="ctr" defTabSz="914310"/>
                  <a:r>
                    <a:rPr lang="zh-CN" altLang="en-US" sz="800" b="1" dirty="0">
                      <a:solidFill>
                        <a:srgbClr val="000000"/>
                      </a:solidFill>
                    </a:rPr>
                    <a:t>模型存储</a:t>
                  </a:r>
                </a:p>
              </p:txBody>
            </p:sp>
            <p:sp>
              <p:nvSpPr>
                <p:cNvPr id="81" name="矩形 80"/>
                <p:cNvSpPr/>
                <p:nvPr>
                  <p:custDataLst>
                    <p:tags r:id="rId3"/>
                  </p:custDataLst>
                </p:nvPr>
              </p:nvSpPr>
              <p:spPr>
                <a:xfrm>
                  <a:off x="5163862" y="4167303"/>
                  <a:ext cx="864000" cy="288000"/>
                </a:xfrm>
                <a:prstGeom prst="rect">
                  <a:avLst/>
                </a:prstGeom>
                <a:noFill/>
                <a:ln w="12700" cap="flat" cmpd="sng" algn="ctr">
                  <a:solidFill>
                    <a:schemeClr val="tx1"/>
                  </a:solidFill>
                  <a:prstDash val="solid"/>
                  <a:miter lim="800000"/>
                </a:ln>
                <a:effectLst/>
              </p:spPr>
              <p:txBody>
                <a:bodyPr rtlCol="0" anchor="ctr">
                  <a:noAutofit/>
                </a:bodyPr>
                <a:lstStyle/>
                <a:p>
                  <a:pPr algn="ctr" defTabSz="914310"/>
                  <a:r>
                    <a:rPr lang="zh-CN" altLang="en-US" sz="800" b="1" dirty="0">
                      <a:solidFill>
                        <a:srgbClr val="000000"/>
                      </a:solidFill>
                    </a:rPr>
                    <a:t>模型调优</a:t>
                  </a:r>
                </a:p>
              </p:txBody>
            </p:sp>
            <p:sp>
              <p:nvSpPr>
                <p:cNvPr id="82" name="矩形 81"/>
                <p:cNvSpPr/>
                <p:nvPr>
                  <p:custDataLst>
                    <p:tags r:id="rId4"/>
                  </p:custDataLst>
                </p:nvPr>
              </p:nvSpPr>
              <p:spPr>
                <a:xfrm>
                  <a:off x="6175940" y="4172674"/>
                  <a:ext cx="864000" cy="288000"/>
                </a:xfrm>
                <a:prstGeom prst="rect">
                  <a:avLst/>
                </a:prstGeom>
                <a:noFill/>
                <a:ln w="12700" cap="flat" cmpd="sng" algn="ctr">
                  <a:solidFill>
                    <a:schemeClr val="tx1"/>
                  </a:solidFill>
                  <a:prstDash val="solid"/>
                  <a:miter lim="800000"/>
                </a:ln>
                <a:effectLst/>
              </p:spPr>
              <p:txBody>
                <a:bodyPr rtlCol="0" anchor="ctr">
                  <a:noAutofit/>
                </a:bodyPr>
                <a:lstStyle/>
                <a:p>
                  <a:pPr algn="ctr" defTabSz="914310"/>
                  <a:r>
                    <a:rPr lang="zh-CN" altLang="en-US" sz="800" b="1" dirty="0">
                      <a:solidFill>
                        <a:srgbClr val="000000"/>
                      </a:solidFill>
                    </a:rPr>
                    <a:t>模型训练</a:t>
                  </a:r>
                </a:p>
              </p:txBody>
            </p:sp>
            <p:sp>
              <p:nvSpPr>
                <p:cNvPr id="83" name="矩形 82"/>
                <p:cNvSpPr/>
                <p:nvPr>
                  <p:custDataLst>
                    <p:tags r:id="rId5"/>
                  </p:custDataLst>
                </p:nvPr>
              </p:nvSpPr>
              <p:spPr>
                <a:xfrm>
                  <a:off x="4151784" y="4653168"/>
                  <a:ext cx="864000" cy="288000"/>
                </a:xfrm>
                <a:prstGeom prst="rect">
                  <a:avLst/>
                </a:prstGeom>
                <a:noFill/>
                <a:ln w="12700" cap="flat" cmpd="sng" algn="ctr">
                  <a:solidFill>
                    <a:schemeClr val="tx1"/>
                  </a:solidFill>
                  <a:prstDash val="solid"/>
                  <a:miter lim="800000"/>
                </a:ln>
                <a:effectLst/>
              </p:spPr>
              <p:txBody>
                <a:bodyPr rtlCol="0" anchor="ctr">
                  <a:noAutofit/>
                </a:bodyPr>
                <a:lstStyle/>
                <a:p>
                  <a:pPr algn="ctr" defTabSz="914310"/>
                  <a:r>
                    <a:rPr lang="zh-CN" altLang="en-US" sz="800" b="1" dirty="0">
                      <a:solidFill>
                        <a:srgbClr val="000000"/>
                      </a:solidFill>
                    </a:rPr>
                    <a:t>模型推理</a:t>
                  </a:r>
                </a:p>
              </p:txBody>
            </p:sp>
            <p:sp>
              <p:nvSpPr>
                <p:cNvPr id="84" name="矩形 83"/>
                <p:cNvSpPr/>
                <p:nvPr>
                  <p:custDataLst>
                    <p:tags r:id="rId6"/>
                  </p:custDataLst>
                </p:nvPr>
              </p:nvSpPr>
              <p:spPr>
                <a:xfrm>
                  <a:off x="6175940" y="4642366"/>
                  <a:ext cx="1876078" cy="288000"/>
                </a:xfrm>
                <a:prstGeom prst="rect">
                  <a:avLst/>
                </a:prstGeom>
                <a:noFill/>
                <a:ln w="12700" cap="flat" cmpd="sng" algn="ctr">
                  <a:solidFill>
                    <a:schemeClr val="tx1"/>
                  </a:solidFill>
                  <a:prstDash val="solid"/>
                  <a:miter lim="800000"/>
                </a:ln>
                <a:effectLst/>
              </p:spPr>
              <p:txBody>
                <a:bodyPr rtlCol="0" anchor="ctr">
                  <a:noAutofit/>
                </a:bodyPr>
                <a:lstStyle/>
                <a:p>
                  <a:pPr algn="ctr" defTabSz="914310"/>
                  <a:r>
                    <a:rPr lang="zh-CN" altLang="en-US" sz="800" b="1" dirty="0">
                      <a:solidFill>
                        <a:srgbClr val="000000"/>
                      </a:solidFill>
                    </a:rPr>
                    <a:t>数据标注全流程</a:t>
                  </a:r>
                </a:p>
              </p:txBody>
            </p:sp>
            <p:sp>
              <p:nvSpPr>
                <p:cNvPr id="85" name="矩形 84"/>
                <p:cNvSpPr/>
                <p:nvPr>
                  <p:custDataLst>
                    <p:tags r:id="rId7"/>
                  </p:custDataLst>
                </p:nvPr>
              </p:nvSpPr>
              <p:spPr>
                <a:xfrm>
                  <a:off x="5163862" y="4642367"/>
                  <a:ext cx="864000" cy="288000"/>
                </a:xfrm>
                <a:prstGeom prst="rect">
                  <a:avLst/>
                </a:prstGeom>
                <a:noFill/>
                <a:ln w="12700" cap="flat" cmpd="sng" algn="ctr">
                  <a:solidFill>
                    <a:schemeClr val="tx1"/>
                  </a:solidFill>
                  <a:prstDash val="solid"/>
                  <a:miter lim="800000"/>
                </a:ln>
                <a:effectLst/>
              </p:spPr>
              <p:txBody>
                <a:bodyPr rtlCol="0" anchor="ctr">
                  <a:noAutofit/>
                </a:bodyPr>
                <a:lstStyle/>
                <a:p>
                  <a:pPr algn="ctr" defTabSz="914310"/>
                  <a:r>
                    <a:rPr lang="zh-CN" altLang="en-US" sz="800" b="1" dirty="0">
                      <a:solidFill>
                        <a:srgbClr val="000000"/>
                      </a:solidFill>
                    </a:rPr>
                    <a:t>数据存储</a:t>
                  </a:r>
                </a:p>
              </p:txBody>
            </p:sp>
          </p:grpSp>
        </p:grp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8"/>
          <p:cNvSpPr>
            <a:spLocks noGrp="1"/>
          </p:cNvSpPr>
          <p:nvPr/>
        </p:nvSpPr>
        <p:spPr>
          <a:xfrm>
            <a:off x="272891" y="190025"/>
            <a:ext cx="5718810" cy="322421"/>
          </a:xfrm>
          <a:prstGeom prst="rect">
            <a:avLst/>
          </a:prstGeom>
        </p:spPr>
        <p:txBody>
          <a:bodyPr lIns="68579" tIns="34289" rIns="68579" bIns="34289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1B1B1B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200" b="1" spc="225" dirty="0" smtClean="0">
                <a:solidFill>
                  <a:srgbClr val="066FBB"/>
                </a:solidFill>
                <a:latin typeface="微软雅黑" pitchFamily="34" charset="-122"/>
                <a:ea typeface="微软雅黑" pitchFamily="34" charset="-122"/>
                <a:cs typeface="+mj-ea"/>
                <a:sym typeface="+mn-ea"/>
              </a:rPr>
              <a:t>    </a:t>
            </a:r>
            <a:r>
              <a:rPr lang="zh-CN" altLang="en-US" sz="2200" b="1" spc="225" dirty="0" smtClean="0">
                <a:solidFill>
                  <a:srgbClr val="066FBB"/>
                </a:solidFill>
                <a:latin typeface="微软雅黑" pitchFamily="34" charset="-122"/>
                <a:ea typeface="微软雅黑" pitchFamily="34" charset="-122"/>
                <a:cs typeface="+mj-ea"/>
                <a:sym typeface="+mn-ea"/>
              </a:rPr>
              <a:t>信息化建设全景</a:t>
            </a:r>
            <a:endParaRPr lang="zh-CN" altLang="en-US" sz="2200" b="1" spc="225" dirty="0">
              <a:solidFill>
                <a:srgbClr val="066FBB"/>
              </a:solidFill>
              <a:latin typeface="微软雅黑" pitchFamily="34" charset="-122"/>
              <a:ea typeface="微软雅黑" pitchFamily="34" charset="-122"/>
              <a:cs typeface="+mj-ea"/>
              <a:sym typeface="+mn-ea"/>
            </a:endParaRPr>
          </a:p>
        </p:txBody>
      </p:sp>
      <p:grpSp>
        <p:nvGrpSpPr>
          <p:cNvPr id="107" name="组合 106"/>
          <p:cNvGrpSpPr/>
          <p:nvPr/>
        </p:nvGrpSpPr>
        <p:grpSpPr>
          <a:xfrm>
            <a:off x="1926397" y="3570825"/>
            <a:ext cx="5527358" cy="1066656"/>
            <a:chOff x="2447111" y="5103136"/>
            <a:chExt cx="7369810" cy="1422208"/>
          </a:xfrm>
        </p:grpSpPr>
        <p:sp>
          <p:nvSpPr>
            <p:cNvPr id="108" name="矩形 107"/>
            <p:cNvSpPr/>
            <p:nvPr/>
          </p:nvSpPr>
          <p:spPr>
            <a:xfrm>
              <a:off x="2447111" y="5103136"/>
              <a:ext cx="7369810" cy="1422208"/>
            </a:xfrm>
            <a:prstGeom prst="rect">
              <a:avLst/>
            </a:prstGeom>
            <a:noFill/>
            <a:ln w="158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rgbClr val="006EFF">
                <a:shade val="50000"/>
              </a:srgbClr>
            </a:lnRef>
            <a:fillRef idx="1">
              <a:srgbClr val="006EFF"/>
            </a:fillRef>
            <a:effectRef idx="0">
              <a:srgbClr val="006EFF"/>
            </a:effectRef>
            <a:fontRef idx="minor">
              <a:srgbClr val="FFFFFF"/>
            </a:fontRef>
          </p:style>
          <p:txBody>
            <a:bodyPr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 defTabSz="914310"/>
              <a:endParaRPr lang="zh-CN" altLang="en-US" sz="1400" b="1">
                <a:sym typeface="+mn-lt"/>
              </a:endParaRPr>
            </a:p>
          </p:txBody>
        </p:sp>
        <p:grpSp>
          <p:nvGrpSpPr>
            <p:cNvPr id="113" name="组合 112"/>
            <p:cNvGrpSpPr/>
            <p:nvPr/>
          </p:nvGrpSpPr>
          <p:grpSpPr>
            <a:xfrm>
              <a:off x="2631515" y="5245365"/>
              <a:ext cx="3420000" cy="1135961"/>
              <a:chOff x="3194378" y="3366643"/>
              <a:chExt cx="2325558" cy="1135961"/>
            </a:xfrm>
          </p:grpSpPr>
          <p:sp>
            <p:nvSpPr>
              <p:cNvPr id="124" name="矩形 123"/>
              <p:cNvSpPr/>
              <p:nvPr/>
            </p:nvSpPr>
            <p:spPr>
              <a:xfrm>
                <a:off x="3195012" y="3366643"/>
                <a:ext cx="2324924" cy="1135961"/>
              </a:xfrm>
              <a:prstGeom prst="rect">
                <a:avLst/>
              </a:prstGeom>
              <a:noFill/>
              <a:ln w="15875">
                <a:solidFill>
                  <a:schemeClr val="bg1">
                    <a:lumMod val="50000"/>
                  </a:schemeClr>
                </a:solidFill>
                <a:prstDash val="solid"/>
              </a:ln>
            </p:spPr>
            <p:style>
              <a:lnRef idx="2">
                <a:srgbClr val="006EFF">
                  <a:shade val="50000"/>
                </a:srgbClr>
              </a:lnRef>
              <a:fillRef idx="1">
                <a:srgbClr val="006EFF"/>
              </a:fillRef>
              <a:effectRef idx="0">
                <a:srgbClr val="006EFF"/>
              </a:effectRef>
              <a:fontRef idx="minor">
                <a:srgbClr val="FFFFFF"/>
              </a:fontRef>
            </p:style>
            <p:txBody>
              <a:bodyPr vertOverflow="overflow" horzOverflow="overflow" vert="horz" wrap="square" lIns="91440" tIns="45720" rIns="91440" bIns="45720" numCol="1" spcCol="0" rtlCol="0" fromWordArt="0" anchor="t" anchorCtr="0" forceAA="0" compatLnSpc="1">
                <a:noAutofit/>
              </a:bodyPr>
              <a:lstStyle/>
              <a:p>
                <a:pPr algn="ctr" defTabSz="914310"/>
                <a:endParaRPr lang="zh-CN" altLang="en-US" sz="1100" b="1" dirty="0">
                  <a:solidFill>
                    <a:srgbClr val="1B1B1B"/>
                  </a:solidFill>
                  <a:sym typeface="+mn-lt"/>
                </a:endParaRPr>
              </a:p>
            </p:txBody>
          </p:sp>
          <p:sp>
            <p:nvSpPr>
              <p:cNvPr id="125" name="矩形: 圆角 60"/>
              <p:cNvSpPr/>
              <p:nvPr/>
            </p:nvSpPr>
            <p:spPr>
              <a:xfrm>
                <a:off x="4381721" y="4156445"/>
                <a:ext cx="1008000" cy="216000"/>
              </a:xfrm>
              <a:prstGeom prst="roundRect">
                <a:avLst/>
              </a:prstGeom>
              <a:solidFill>
                <a:srgbClr val="167D40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wrap="square" numCol="1" spcCol="0" rtlCol="0" fromWordArt="0" anchor="ctr" anchorCtr="0" forceAA="0" compatLnSpc="0">
                <a:noAutofit/>
              </a:bodyPr>
              <a:lstStyle/>
              <a:p>
                <a:pPr algn="ctr" defTabSz="914310"/>
                <a:r>
                  <a:rPr lang="zh-CN" altLang="en-US" sz="800" b="1" kern="0" dirty="0">
                    <a:solidFill>
                      <a:prstClr val="white"/>
                    </a:solidFill>
                    <a:sym typeface="+mn-ea"/>
                  </a:rPr>
                  <a:t>数据应用</a:t>
                </a:r>
              </a:p>
            </p:txBody>
          </p:sp>
          <p:sp>
            <p:nvSpPr>
              <p:cNvPr id="126" name="矩形: 圆角 60"/>
              <p:cNvSpPr/>
              <p:nvPr/>
            </p:nvSpPr>
            <p:spPr>
              <a:xfrm>
                <a:off x="3287688" y="3755483"/>
                <a:ext cx="1008000" cy="216000"/>
              </a:xfrm>
              <a:prstGeom prst="roundRect">
                <a:avLst/>
              </a:prstGeom>
              <a:solidFill>
                <a:srgbClr val="167D40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wrap="square" numCol="1" spcCol="0" rtlCol="0" fromWordArt="0" anchor="ctr" anchorCtr="0" forceAA="0" compatLnSpc="0">
                <a:noAutofit/>
              </a:bodyPr>
              <a:lstStyle/>
              <a:p>
                <a:pPr algn="ctr" defTabSz="914310"/>
                <a:r>
                  <a:rPr lang="zh-CN" altLang="en-US" sz="800" b="1" kern="0" dirty="0">
                    <a:solidFill>
                      <a:prstClr val="white"/>
                    </a:solidFill>
                    <a:sym typeface="+mn-ea"/>
                  </a:rPr>
                  <a:t>数据汇聚</a:t>
                </a:r>
              </a:p>
            </p:txBody>
          </p:sp>
          <p:sp>
            <p:nvSpPr>
              <p:cNvPr id="127" name="矩形: 圆角 60"/>
              <p:cNvSpPr/>
              <p:nvPr/>
            </p:nvSpPr>
            <p:spPr>
              <a:xfrm>
                <a:off x="3287688" y="4156445"/>
                <a:ext cx="1008000" cy="216000"/>
              </a:xfrm>
              <a:prstGeom prst="roundRect">
                <a:avLst/>
              </a:prstGeom>
              <a:solidFill>
                <a:srgbClr val="167D40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wrap="square" numCol="1" spcCol="0" rtlCol="0" fromWordArt="0" anchor="ctr" anchorCtr="0" forceAA="0" compatLnSpc="0">
                <a:noAutofit/>
              </a:bodyPr>
              <a:lstStyle/>
              <a:p>
                <a:pPr algn="ctr" defTabSz="914310"/>
                <a:r>
                  <a:rPr lang="zh-CN" altLang="en-US" sz="800" b="1" kern="0" dirty="0">
                    <a:solidFill>
                      <a:prstClr val="white"/>
                    </a:solidFill>
                    <a:sym typeface="+mn-ea"/>
                  </a:rPr>
                  <a:t>数据共享</a:t>
                </a:r>
              </a:p>
            </p:txBody>
          </p:sp>
          <p:sp>
            <p:nvSpPr>
              <p:cNvPr id="128" name="矩形: 圆角 60"/>
              <p:cNvSpPr/>
              <p:nvPr>
                <p:custDataLst>
                  <p:tags r:id="rId28"/>
                </p:custDataLst>
              </p:nvPr>
            </p:nvSpPr>
            <p:spPr>
              <a:xfrm>
                <a:off x="4381721" y="3755483"/>
                <a:ext cx="1008000" cy="216000"/>
              </a:xfrm>
              <a:prstGeom prst="roundRect">
                <a:avLst/>
              </a:prstGeom>
              <a:solidFill>
                <a:srgbClr val="167D40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wrap="square" numCol="1" spcCol="0" rtlCol="0" fromWordArt="0" anchor="ctr" anchorCtr="0" forceAA="0" compatLnSpc="0">
                <a:noAutofit/>
              </a:bodyPr>
              <a:lstStyle/>
              <a:p>
                <a:pPr algn="ctr" defTabSz="914310"/>
                <a:r>
                  <a:rPr lang="zh-CN" altLang="en-US" sz="800" b="1" kern="0" dirty="0">
                    <a:solidFill>
                      <a:prstClr val="white"/>
                    </a:solidFill>
                    <a:sym typeface="+mn-ea"/>
                  </a:rPr>
                  <a:t>数据治理</a:t>
                </a:r>
              </a:p>
            </p:txBody>
          </p:sp>
          <p:sp>
            <p:nvSpPr>
              <p:cNvPr id="129" name="文本框 51"/>
              <p:cNvSpPr txBox="1"/>
              <p:nvPr/>
            </p:nvSpPr>
            <p:spPr>
              <a:xfrm>
                <a:off x="3194378" y="3405852"/>
                <a:ext cx="2325558" cy="254635"/>
              </a:xfrm>
              <a:prstGeom prst="rect">
                <a:avLst/>
              </a:prstGeom>
              <a:noFill/>
            </p:spPr>
            <p:txBody>
              <a:bodyPr wrap="square">
                <a:noAutofit/>
              </a:bodyPr>
              <a:lstStyle/>
              <a:p>
                <a:pPr algn="ctr" defTabSz="914310"/>
                <a:r>
                  <a:rPr lang="zh-CN" altLang="en-US" sz="800" b="1" dirty="0">
                    <a:solidFill>
                      <a:srgbClr val="000000"/>
                    </a:solidFill>
                    <a:sym typeface="+mn-lt"/>
                  </a:rPr>
                  <a:t>数据中台</a:t>
                </a:r>
              </a:p>
            </p:txBody>
          </p:sp>
        </p:grpSp>
        <p:grpSp>
          <p:nvGrpSpPr>
            <p:cNvPr id="114" name="组合 113"/>
            <p:cNvGrpSpPr/>
            <p:nvPr/>
          </p:nvGrpSpPr>
          <p:grpSpPr>
            <a:xfrm>
              <a:off x="6203128" y="5245365"/>
              <a:ext cx="3420000" cy="1135961"/>
              <a:chOff x="3194378" y="3366643"/>
              <a:chExt cx="2325558" cy="1135961"/>
            </a:xfrm>
          </p:grpSpPr>
          <p:sp>
            <p:nvSpPr>
              <p:cNvPr id="115" name="矩形 114"/>
              <p:cNvSpPr/>
              <p:nvPr/>
            </p:nvSpPr>
            <p:spPr>
              <a:xfrm>
                <a:off x="3195012" y="3366643"/>
                <a:ext cx="2324924" cy="1135961"/>
              </a:xfrm>
              <a:prstGeom prst="rect">
                <a:avLst/>
              </a:prstGeom>
              <a:noFill/>
              <a:ln w="15875">
                <a:solidFill>
                  <a:schemeClr val="bg1">
                    <a:lumMod val="50000"/>
                  </a:schemeClr>
                </a:solidFill>
                <a:prstDash val="solid"/>
              </a:ln>
            </p:spPr>
            <p:style>
              <a:lnRef idx="2">
                <a:srgbClr val="006EFF">
                  <a:shade val="50000"/>
                </a:srgbClr>
              </a:lnRef>
              <a:fillRef idx="1">
                <a:srgbClr val="006EFF"/>
              </a:fillRef>
              <a:effectRef idx="0">
                <a:srgbClr val="006EFF"/>
              </a:effectRef>
              <a:fontRef idx="minor">
                <a:srgbClr val="FFFFFF"/>
              </a:fontRef>
            </p:style>
            <p:txBody>
              <a:bodyPr vertOverflow="overflow" horzOverflow="overflow" vert="horz" wrap="square" lIns="91440" tIns="45720" rIns="91440" bIns="45720" numCol="1" spcCol="0" rtlCol="0" fromWordArt="0" anchor="t" anchorCtr="0" forceAA="0" compatLnSpc="1">
                <a:noAutofit/>
              </a:bodyPr>
              <a:lstStyle/>
              <a:p>
                <a:pPr algn="ctr" defTabSz="914310"/>
                <a:endParaRPr lang="zh-CN" altLang="en-US" sz="1100" b="1" dirty="0">
                  <a:solidFill>
                    <a:srgbClr val="1B1B1B"/>
                  </a:solidFill>
                  <a:sym typeface="+mn-lt"/>
                </a:endParaRPr>
              </a:p>
            </p:txBody>
          </p:sp>
          <p:sp>
            <p:nvSpPr>
              <p:cNvPr id="116" name="矩形: 圆角 60"/>
              <p:cNvSpPr/>
              <p:nvPr/>
            </p:nvSpPr>
            <p:spPr>
              <a:xfrm>
                <a:off x="4381721" y="4156445"/>
                <a:ext cx="1008000" cy="216000"/>
              </a:xfrm>
              <a:prstGeom prst="roundRect">
                <a:avLst/>
              </a:prstGeom>
              <a:solidFill>
                <a:srgbClr val="066FBB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>
                <a:noAutofit/>
              </a:bodyPr>
              <a:lstStyle/>
              <a:p>
                <a:pPr algn="ctr" defTabSz="914310"/>
                <a:r>
                  <a:rPr lang="zh-CN" altLang="en-US" sz="800" b="1" dirty="0">
                    <a:solidFill>
                      <a:srgbClr val="FFFFFF"/>
                    </a:solidFill>
                    <a:sym typeface="+mn-ea"/>
                  </a:rPr>
                  <a:t>垂类模型应用</a:t>
                </a:r>
              </a:p>
            </p:txBody>
          </p:sp>
          <p:sp>
            <p:nvSpPr>
              <p:cNvPr id="117" name="矩形: 圆角 60"/>
              <p:cNvSpPr/>
              <p:nvPr/>
            </p:nvSpPr>
            <p:spPr>
              <a:xfrm>
                <a:off x="3287688" y="3755483"/>
                <a:ext cx="1008000" cy="216000"/>
              </a:xfrm>
              <a:prstGeom prst="roundRect">
                <a:avLst/>
              </a:prstGeom>
              <a:solidFill>
                <a:srgbClr val="066FBB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>
                <a:noAutofit/>
              </a:bodyPr>
              <a:lstStyle/>
              <a:p>
                <a:pPr algn="ctr" defTabSz="914310"/>
                <a:r>
                  <a:rPr lang="zh-CN" altLang="en-US" sz="800" b="1" dirty="0">
                    <a:solidFill>
                      <a:srgbClr val="FFFFFF"/>
                    </a:solidFill>
                    <a:sym typeface="+mn-ea"/>
                  </a:rPr>
                  <a:t>地图引擎工具</a:t>
                </a:r>
              </a:p>
            </p:txBody>
          </p:sp>
          <p:sp>
            <p:nvSpPr>
              <p:cNvPr id="118" name="矩形: 圆角 60"/>
              <p:cNvSpPr/>
              <p:nvPr/>
            </p:nvSpPr>
            <p:spPr>
              <a:xfrm>
                <a:off x="3287688" y="4156445"/>
                <a:ext cx="1008000" cy="216000"/>
              </a:xfrm>
              <a:prstGeom prst="roundRect">
                <a:avLst/>
              </a:prstGeom>
              <a:solidFill>
                <a:srgbClr val="066FBB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>
                <a:noAutofit/>
              </a:bodyPr>
              <a:lstStyle/>
              <a:p>
                <a:pPr algn="ctr" defTabSz="914310"/>
                <a:r>
                  <a:rPr lang="zh-CN" altLang="en-US" sz="800" b="1" dirty="0">
                    <a:solidFill>
                      <a:srgbClr val="FFFFFF"/>
                    </a:solidFill>
                    <a:sym typeface="+mn-ea"/>
                  </a:rPr>
                  <a:t>图谱绘制工具</a:t>
                </a:r>
              </a:p>
            </p:txBody>
          </p:sp>
          <p:sp>
            <p:nvSpPr>
              <p:cNvPr id="121" name="矩形: 圆角 60"/>
              <p:cNvSpPr/>
              <p:nvPr>
                <p:custDataLst>
                  <p:tags r:id="rId27"/>
                </p:custDataLst>
              </p:nvPr>
            </p:nvSpPr>
            <p:spPr>
              <a:xfrm>
                <a:off x="4381721" y="3755483"/>
                <a:ext cx="1008000" cy="216000"/>
              </a:xfrm>
              <a:prstGeom prst="roundRect">
                <a:avLst/>
              </a:prstGeom>
              <a:solidFill>
                <a:srgbClr val="066FBB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>
                <a:noAutofit/>
              </a:bodyPr>
              <a:lstStyle/>
              <a:p>
                <a:pPr algn="ctr" defTabSz="914310"/>
                <a:r>
                  <a:rPr lang="zh-CN" altLang="en-US" sz="800" b="1" dirty="0">
                    <a:solidFill>
                      <a:srgbClr val="FFFFFF"/>
                    </a:solidFill>
                    <a:sym typeface="+mn-ea"/>
                  </a:rPr>
                  <a:t>研究辅助工具</a:t>
                </a:r>
              </a:p>
            </p:txBody>
          </p:sp>
          <p:sp>
            <p:nvSpPr>
              <p:cNvPr id="122" name="文本框 51"/>
              <p:cNvSpPr txBox="1"/>
              <p:nvPr/>
            </p:nvSpPr>
            <p:spPr>
              <a:xfrm>
                <a:off x="3194378" y="3405852"/>
                <a:ext cx="2325558" cy="254635"/>
              </a:xfrm>
              <a:prstGeom prst="rect">
                <a:avLst/>
              </a:prstGeom>
              <a:noFill/>
            </p:spPr>
            <p:txBody>
              <a:bodyPr wrap="square">
                <a:noAutofit/>
              </a:bodyPr>
              <a:lstStyle/>
              <a:p>
                <a:pPr algn="ctr" defTabSz="914310"/>
                <a:r>
                  <a:rPr lang="zh-CN" altLang="en-US" sz="800" b="1" dirty="0">
                    <a:solidFill>
                      <a:srgbClr val="000000"/>
                    </a:solidFill>
                    <a:sym typeface="+mn-lt"/>
                  </a:rPr>
                  <a:t>业务中台</a:t>
                </a:r>
              </a:p>
            </p:txBody>
          </p:sp>
        </p:grpSp>
      </p:grpSp>
      <p:grpSp>
        <p:nvGrpSpPr>
          <p:cNvPr id="130" name="组合 129"/>
          <p:cNvGrpSpPr/>
          <p:nvPr/>
        </p:nvGrpSpPr>
        <p:grpSpPr>
          <a:xfrm>
            <a:off x="1926397" y="2390864"/>
            <a:ext cx="5527358" cy="1058484"/>
            <a:chOff x="2374900" y="3187770"/>
            <a:chExt cx="7369810" cy="1411312"/>
          </a:xfrm>
        </p:grpSpPr>
        <p:sp>
          <p:nvSpPr>
            <p:cNvPr id="131" name="矩形 130"/>
            <p:cNvSpPr/>
            <p:nvPr/>
          </p:nvSpPr>
          <p:spPr>
            <a:xfrm>
              <a:off x="2374900" y="3187770"/>
              <a:ext cx="7369810" cy="1411312"/>
            </a:xfrm>
            <a:prstGeom prst="rect">
              <a:avLst/>
            </a:prstGeom>
            <a:noFill/>
            <a:ln w="158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rgbClr val="006EFF">
                <a:shade val="50000"/>
              </a:srgbClr>
            </a:lnRef>
            <a:fillRef idx="1">
              <a:srgbClr val="006EFF"/>
            </a:fillRef>
            <a:effectRef idx="0">
              <a:srgbClr val="006EFF"/>
            </a:effectRef>
            <a:fontRef idx="minor">
              <a:srgbClr val="FFFFFF"/>
            </a:fontRef>
          </p:style>
          <p:txBody>
            <a:bodyPr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 defTabSz="914310"/>
              <a:endParaRPr lang="zh-CN" altLang="en-US" sz="1400" b="1">
                <a:sym typeface="+mn-lt"/>
              </a:endParaRPr>
            </a:p>
          </p:txBody>
        </p:sp>
        <p:grpSp>
          <p:nvGrpSpPr>
            <p:cNvPr id="134" name="组合 133"/>
            <p:cNvGrpSpPr/>
            <p:nvPr/>
          </p:nvGrpSpPr>
          <p:grpSpPr>
            <a:xfrm>
              <a:off x="2559304" y="3357119"/>
              <a:ext cx="2325558" cy="1152000"/>
              <a:chOff x="3194378" y="3422613"/>
              <a:chExt cx="2325558" cy="1152000"/>
            </a:xfrm>
          </p:grpSpPr>
          <p:sp>
            <p:nvSpPr>
              <p:cNvPr id="147" name="矩形 146"/>
              <p:cNvSpPr/>
              <p:nvPr/>
            </p:nvSpPr>
            <p:spPr>
              <a:xfrm>
                <a:off x="3195012" y="3422613"/>
                <a:ext cx="2324924" cy="1152000"/>
              </a:xfrm>
              <a:prstGeom prst="rect">
                <a:avLst/>
              </a:prstGeom>
              <a:noFill/>
              <a:ln w="15875">
                <a:solidFill>
                  <a:schemeClr val="bg1">
                    <a:lumMod val="50000"/>
                  </a:schemeClr>
                </a:solidFill>
                <a:prstDash val="solid"/>
              </a:ln>
            </p:spPr>
            <p:style>
              <a:lnRef idx="2">
                <a:srgbClr val="006EFF">
                  <a:shade val="50000"/>
                </a:srgbClr>
              </a:lnRef>
              <a:fillRef idx="1">
                <a:srgbClr val="006EFF"/>
              </a:fillRef>
              <a:effectRef idx="0">
                <a:srgbClr val="006EFF"/>
              </a:effectRef>
              <a:fontRef idx="minor">
                <a:srgbClr val="FFFFFF"/>
              </a:fontRef>
            </p:style>
            <p:txBody>
              <a:bodyPr vertOverflow="overflow" horzOverflow="overflow" vert="horz" wrap="square" lIns="91440" tIns="45720" rIns="91440" bIns="45720" numCol="1" spcCol="0" rtlCol="0" fromWordArt="0" anchor="t" anchorCtr="0" forceAA="0" compatLnSpc="1">
                <a:noAutofit/>
              </a:bodyPr>
              <a:lstStyle/>
              <a:p>
                <a:pPr algn="ctr" defTabSz="914310"/>
                <a:endParaRPr lang="zh-CN" altLang="en-US" sz="1100" b="1" dirty="0">
                  <a:solidFill>
                    <a:srgbClr val="1B1B1B"/>
                  </a:solidFill>
                  <a:sym typeface="+mn-lt"/>
                </a:endParaRPr>
              </a:p>
            </p:txBody>
          </p:sp>
          <p:sp>
            <p:nvSpPr>
              <p:cNvPr id="149" name="矩形: 圆角 60"/>
              <p:cNvSpPr/>
              <p:nvPr/>
            </p:nvSpPr>
            <p:spPr>
              <a:xfrm>
                <a:off x="4381722" y="4212415"/>
                <a:ext cx="1104000" cy="216000"/>
              </a:xfrm>
              <a:prstGeom prst="roundRect">
                <a:avLst/>
              </a:prstGeom>
              <a:solidFill>
                <a:srgbClr val="066FBB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>
                <a:noAutofit/>
              </a:bodyPr>
              <a:lstStyle/>
              <a:p>
                <a:pPr algn="ctr" defTabSz="914310"/>
                <a:r>
                  <a:rPr lang="zh-CN" altLang="en-US" sz="800" b="1" dirty="0">
                    <a:solidFill>
                      <a:srgbClr val="FFFFFF"/>
                    </a:solidFill>
                    <a:sym typeface="+mn-ea"/>
                  </a:rPr>
                  <a:t>科技创新图谱</a:t>
                </a:r>
              </a:p>
            </p:txBody>
          </p:sp>
          <p:sp>
            <p:nvSpPr>
              <p:cNvPr id="150" name="矩形: 圆角 60"/>
              <p:cNvSpPr/>
              <p:nvPr/>
            </p:nvSpPr>
            <p:spPr>
              <a:xfrm>
                <a:off x="3225201" y="3811453"/>
                <a:ext cx="1104000" cy="216000"/>
              </a:xfrm>
              <a:prstGeom prst="roundRect">
                <a:avLst/>
              </a:prstGeom>
              <a:solidFill>
                <a:srgbClr val="167D40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wrap="square" numCol="1" spcCol="0" rtlCol="0" fromWordArt="0" anchor="ctr" anchorCtr="0" forceAA="0" compatLnSpc="0">
                <a:noAutofit/>
              </a:bodyPr>
              <a:lstStyle/>
              <a:p>
                <a:pPr algn="ctr" defTabSz="914310"/>
                <a:r>
                  <a:rPr lang="zh-CN" altLang="en-US" sz="800" b="1" kern="0" dirty="0">
                    <a:solidFill>
                      <a:prstClr val="white"/>
                    </a:solidFill>
                    <a:sym typeface="+mn-ea"/>
                  </a:rPr>
                  <a:t>统计数据管理</a:t>
                </a:r>
              </a:p>
            </p:txBody>
          </p:sp>
          <p:sp>
            <p:nvSpPr>
              <p:cNvPr id="151" name="矩形: 圆角 60"/>
              <p:cNvSpPr/>
              <p:nvPr/>
            </p:nvSpPr>
            <p:spPr>
              <a:xfrm>
                <a:off x="3225201" y="4212415"/>
                <a:ext cx="1104000" cy="216000"/>
              </a:xfrm>
              <a:prstGeom prst="roundRect">
                <a:avLst/>
              </a:prstGeom>
              <a:solidFill>
                <a:srgbClr val="167D40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wrap="square" numCol="1" spcCol="0" rtlCol="0" fromWordArt="0" anchor="ctr" anchorCtr="0" forceAA="0" compatLnSpc="0">
                <a:noAutofit/>
              </a:bodyPr>
              <a:lstStyle/>
              <a:p>
                <a:pPr algn="ctr" defTabSz="914310"/>
                <a:r>
                  <a:rPr lang="zh-CN" altLang="en-US" sz="800" b="1" kern="0" dirty="0">
                    <a:solidFill>
                      <a:prstClr val="white"/>
                    </a:solidFill>
                    <a:sym typeface="+mn-ea"/>
                  </a:rPr>
                  <a:t>项目过程管理</a:t>
                </a:r>
              </a:p>
            </p:txBody>
          </p:sp>
          <p:sp>
            <p:nvSpPr>
              <p:cNvPr id="152" name="矩形: 圆角 60"/>
              <p:cNvSpPr/>
              <p:nvPr>
                <p:custDataLst>
                  <p:tags r:id="rId26"/>
                </p:custDataLst>
              </p:nvPr>
            </p:nvSpPr>
            <p:spPr>
              <a:xfrm>
                <a:off x="4381722" y="3811453"/>
                <a:ext cx="1104000" cy="216000"/>
              </a:xfrm>
              <a:prstGeom prst="roundRect">
                <a:avLst/>
              </a:prstGeom>
              <a:solidFill>
                <a:srgbClr val="066FBB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>
                <a:noAutofit/>
              </a:bodyPr>
              <a:lstStyle/>
              <a:p>
                <a:pPr algn="ctr" defTabSz="914310"/>
                <a:r>
                  <a:rPr lang="zh-CN" altLang="en-US" sz="800" b="1" dirty="0">
                    <a:solidFill>
                      <a:srgbClr val="FFFFFF"/>
                    </a:solidFill>
                    <a:sym typeface="+mn-ea"/>
                  </a:rPr>
                  <a:t>产业监测分析</a:t>
                </a:r>
              </a:p>
            </p:txBody>
          </p:sp>
          <p:sp>
            <p:nvSpPr>
              <p:cNvPr id="153" name="文本框 51"/>
              <p:cNvSpPr txBox="1"/>
              <p:nvPr/>
            </p:nvSpPr>
            <p:spPr>
              <a:xfrm>
                <a:off x="3194378" y="3461822"/>
                <a:ext cx="2325558" cy="254635"/>
              </a:xfrm>
              <a:prstGeom prst="rect">
                <a:avLst/>
              </a:prstGeom>
              <a:noFill/>
            </p:spPr>
            <p:txBody>
              <a:bodyPr wrap="square">
                <a:noAutofit/>
              </a:bodyPr>
              <a:lstStyle/>
              <a:p>
                <a:pPr algn="ctr" defTabSz="914310"/>
                <a:r>
                  <a:rPr lang="zh-CN" altLang="en-US" sz="800" b="1" dirty="0">
                    <a:solidFill>
                      <a:srgbClr val="000000"/>
                    </a:solidFill>
                    <a:sym typeface="+mn-lt"/>
                  </a:rPr>
                  <a:t>支撑创新发展科技服务平台</a:t>
                </a:r>
              </a:p>
            </p:txBody>
          </p:sp>
        </p:grpSp>
        <p:grpSp>
          <p:nvGrpSpPr>
            <p:cNvPr id="135" name="组合 134"/>
            <p:cNvGrpSpPr/>
            <p:nvPr/>
          </p:nvGrpSpPr>
          <p:grpSpPr>
            <a:xfrm>
              <a:off x="5028878" y="3357119"/>
              <a:ext cx="4522040" cy="1152000"/>
              <a:chOff x="5663952" y="3422613"/>
              <a:chExt cx="4522040" cy="1152000"/>
            </a:xfrm>
          </p:grpSpPr>
          <p:sp>
            <p:nvSpPr>
              <p:cNvPr id="136" name="矩形 135"/>
              <p:cNvSpPr/>
              <p:nvPr>
                <p:custDataLst>
                  <p:tags r:id="rId23"/>
                </p:custDataLst>
              </p:nvPr>
            </p:nvSpPr>
            <p:spPr>
              <a:xfrm>
                <a:off x="5663952" y="3422613"/>
                <a:ext cx="4522040" cy="1152000"/>
              </a:xfrm>
              <a:prstGeom prst="rect">
                <a:avLst/>
              </a:prstGeom>
              <a:noFill/>
              <a:ln w="15875">
                <a:solidFill>
                  <a:schemeClr val="bg1">
                    <a:lumMod val="50000"/>
                  </a:schemeClr>
                </a:solidFill>
                <a:prstDash val="solid"/>
              </a:ln>
            </p:spPr>
            <p:style>
              <a:lnRef idx="2">
                <a:srgbClr val="006EFF">
                  <a:shade val="50000"/>
                </a:srgbClr>
              </a:lnRef>
              <a:fillRef idx="1">
                <a:srgbClr val="006EFF"/>
              </a:fillRef>
              <a:effectRef idx="0">
                <a:srgbClr val="006EFF"/>
              </a:effectRef>
              <a:fontRef idx="minor">
                <a:srgbClr val="FFFFFF"/>
              </a:fontRef>
            </p:style>
            <p:txBody>
              <a:bodyPr vertOverflow="overflow" horzOverflow="overflow" vert="horz" wrap="square" lIns="91440" tIns="45720" rIns="91440" bIns="45720" numCol="1" spcCol="0" rtlCol="0" fromWordArt="0" anchor="t" anchorCtr="0" forceAA="0" compatLnSpc="1">
                <a:noAutofit/>
              </a:bodyPr>
              <a:lstStyle/>
              <a:p>
                <a:pPr algn="ctr" defTabSz="914310"/>
                <a:endParaRPr lang="zh-CN" altLang="en-US" sz="1100" b="1" dirty="0">
                  <a:solidFill>
                    <a:srgbClr val="1B1B1B"/>
                  </a:solidFill>
                  <a:sym typeface="+mn-lt"/>
                </a:endParaRPr>
              </a:p>
            </p:txBody>
          </p:sp>
          <p:sp>
            <p:nvSpPr>
              <p:cNvPr id="137" name="文本框 51"/>
              <p:cNvSpPr txBox="1"/>
              <p:nvPr/>
            </p:nvSpPr>
            <p:spPr>
              <a:xfrm>
                <a:off x="5663952" y="3454211"/>
                <a:ext cx="4522039" cy="254635"/>
              </a:xfrm>
              <a:prstGeom prst="rect">
                <a:avLst/>
              </a:prstGeom>
              <a:noFill/>
            </p:spPr>
            <p:txBody>
              <a:bodyPr wrap="square">
                <a:noAutofit/>
              </a:bodyPr>
              <a:lstStyle/>
              <a:p>
                <a:pPr algn="ctr" defTabSz="914310"/>
                <a:r>
                  <a:rPr lang="zh-CN" altLang="en-US" sz="800" b="1" dirty="0">
                    <a:solidFill>
                      <a:srgbClr val="000000"/>
                    </a:solidFill>
                    <a:sym typeface="+mn-lt"/>
                  </a:rPr>
                  <a:t>科技成果转化线上平台</a:t>
                </a:r>
              </a:p>
            </p:txBody>
          </p:sp>
          <p:sp>
            <p:nvSpPr>
              <p:cNvPr id="138" name="矩形: 圆角 60"/>
              <p:cNvSpPr/>
              <p:nvPr/>
            </p:nvSpPr>
            <p:spPr>
              <a:xfrm>
                <a:off x="6856833" y="4212415"/>
                <a:ext cx="1008000" cy="216000"/>
              </a:xfrm>
              <a:prstGeom prst="roundRect">
                <a:avLst/>
              </a:prstGeom>
              <a:solidFill>
                <a:srgbClr val="167D40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wrap="square" numCol="1" spcCol="0" rtlCol="0" fromWordArt="0" anchor="ctr" anchorCtr="0" forceAA="0" compatLnSpc="0">
                <a:noAutofit/>
              </a:bodyPr>
              <a:lstStyle/>
              <a:p>
                <a:pPr algn="ctr" defTabSz="914310"/>
                <a:r>
                  <a:rPr lang="zh-CN" altLang="en-US" sz="800" b="1" kern="0" dirty="0">
                    <a:solidFill>
                      <a:prstClr val="white"/>
                    </a:solidFill>
                    <a:sym typeface="+mn-ea"/>
                  </a:rPr>
                  <a:t>供需匹配</a:t>
                </a:r>
              </a:p>
            </p:txBody>
          </p:sp>
          <p:sp>
            <p:nvSpPr>
              <p:cNvPr id="139" name="矩形: 圆角 60"/>
              <p:cNvSpPr/>
              <p:nvPr/>
            </p:nvSpPr>
            <p:spPr>
              <a:xfrm>
                <a:off x="5761030" y="3811453"/>
                <a:ext cx="1008000" cy="216000"/>
              </a:xfrm>
              <a:prstGeom prst="roundRect">
                <a:avLst/>
              </a:prstGeom>
              <a:solidFill>
                <a:srgbClr val="167D40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wrap="square" numCol="1" spcCol="0" rtlCol="0" fromWordArt="0" anchor="ctr" anchorCtr="0" forceAA="0" compatLnSpc="0">
                <a:noAutofit/>
              </a:bodyPr>
              <a:lstStyle/>
              <a:p>
                <a:pPr algn="ctr" defTabSz="914310"/>
                <a:r>
                  <a:rPr lang="zh-CN" altLang="en-US" sz="800" b="1" kern="0" dirty="0">
                    <a:solidFill>
                      <a:prstClr val="white"/>
                    </a:solidFill>
                    <a:sym typeface="+mn-ea"/>
                  </a:rPr>
                  <a:t>科技成果</a:t>
                </a:r>
              </a:p>
            </p:txBody>
          </p:sp>
          <p:sp>
            <p:nvSpPr>
              <p:cNvPr id="140" name="矩形: 圆角 60"/>
              <p:cNvSpPr/>
              <p:nvPr/>
            </p:nvSpPr>
            <p:spPr>
              <a:xfrm>
                <a:off x="5761030" y="4212415"/>
                <a:ext cx="1008000" cy="216000"/>
              </a:xfrm>
              <a:prstGeom prst="roundRect">
                <a:avLst/>
              </a:prstGeom>
              <a:solidFill>
                <a:srgbClr val="167D40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wrap="square" numCol="1" spcCol="0" rtlCol="0" fromWordArt="0" anchor="ctr" anchorCtr="0" forceAA="0" compatLnSpc="0">
                <a:noAutofit/>
              </a:bodyPr>
              <a:lstStyle/>
              <a:p>
                <a:pPr algn="ctr" defTabSz="914310"/>
                <a:r>
                  <a:rPr lang="zh-CN" altLang="en-US" sz="800" b="1" kern="0" dirty="0">
                    <a:solidFill>
                      <a:prstClr val="white"/>
                    </a:solidFill>
                    <a:sym typeface="+mn-ea"/>
                  </a:rPr>
                  <a:t>科技金融</a:t>
                </a:r>
              </a:p>
            </p:txBody>
          </p:sp>
          <p:sp>
            <p:nvSpPr>
              <p:cNvPr id="141" name="矩形: 圆角 60"/>
              <p:cNvSpPr/>
              <p:nvPr>
                <p:custDataLst>
                  <p:tags r:id="rId24"/>
                </p:custDataLst>
              </p:nvPr>
            </p:nvSpPr>
            <p:spPr>
              <a:xfrm>
                <a:off x="6856833" y="3811453"/>
                <a:ext cx="1008000" cy="216000"/>
              </a:xfrm>
              <a:prstGeom prst="roundRect">
                <a:avLst/>
              </a:prstGeom>
              <a:solidFill>
                <a:srgbClr val="167D40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wrap="square" numCol="1" spcCol="0" rtlCol="0" fromWordArt="0" anchor="ctr" anchorCtr="0" forceAA="0" compatLnSpc="0">
                <a:noAutofit/>
              </a:bodyPr>
              <a:lstStyle/>
              <a:p>
                <a:pPr algn="ctr" defTabSz="914310"/>
                <a:r>
                  <a:rPr lang="zh-CN" altLang="en-US" sz="800" b="1" kern="0" dirty="0">
                    <a:solidFill>
                      <a:prstClr val="white"/>
                    </a:solidFill>
                    <a:sym typeface="+mn-ea"/>
                  </a:rPr>
                  <a:t>科技人才</a:t>
                </a:r>
              </a:p>
            </p:txBody>
          </p:sp>
          <p:sp>
            <p:nvSpPr>
              <p:cNvPr id="142" name="矩形: 圆角 60"/>
              <p:cNvSpPr/>
              <p:nvPr/>
            </p:nvSpPr>
            <p:spPr>
              <a:xfrm>
                <a:off x="9048440" y="4212415"/>
                <a:ext cx="1008000" cy="216000"/>
              </a:xfrm>
              <a:prstGeom prst="roundRect">
                <a:avLst/>
              </a:prstGeom>
              <a:solidFill>
                <a:srgbClr val="BCE2F5"/>
              </a:solidFill>
              <a:ln w="9525" algn="ctr">
                <a:solidFill>
                  <a:srgbClr val="BCE2F5"/>
                </a:solidFill>
                <a:round/>
              </a:ln>
            </p:spPr>
            <p:txBody>
              <a:bodyPr vert="horz" wrap="square" lIns="0" tIns="0" rIns="0" bIns="0" numCol="1" spcCol="0" rtlCol="0" fromWordArt="0" anchor="ctr" anchorCtr="0" forceAA="0" compatLnSpc="0">
                <a:noAutofit/>
              </a:bodyPr>
              <a:lstStyle/>
              <a:p>
                <a:pPr algn="ctr" defTabSz="914310"/>
                <a:r>
                  <a:rPr lang="zh-CN" altLang="en-US" sz="800" b="1" dirty="0">
                    <a:solidFill>
                      <a:srgbClr val="000000"/>
                    </a:solidFill>
                    <a:sym typeface="+mn-ea"/>
                  </a:rPr>
                  <a:t>技术经理人</a:t>
                </a:r>
              </a:p>
            </p:txBody>
          </p:sp>
          <p:sp>
            <p:nvSpPr>
              <p:cNvPr id="143" name="矩形: 圆角 60"/>
              <p:cNvSpPr/>
              <p:nvPr/>
            </p:nvSpPr>
            <p:spPr>
              <a:xfrm>
                <a:off x="7952636" y="3808735"/>
                <a:ext cx="1008000" cy="216000"/>
              </a:xfrm>
              <a:prstGeom prst="roundRect">
                <a:avLst/>
              </a:prstGeom>
              <a:solidFill>
                <a:srgbClr val="BCE2F5"/>
              </a:solidFill>
              <a:ln w="9525" algn="ctr">
                <a:solidFill>
                  <a:srgbClr val="BCE2F5"/>
                </a:solidFill>
                <a:round/>
              </a:ln>
            </p:spPr>
            <p:txBody>
              <a:bodyPr vert="horz" wrap="square" lIns="0" tIns="0" rIns="0" bIns="0" numCol="1" spcCol="0" rtlCol="0" fromWordArt="0" anchor="ctr" anchorCtr="0" forceAA="0" compatLnSpc="0">
                <a:noAutofit/>
              </a:bodyPr>
              <a:lstStyle/>
              <a:p>
                <a:pPr algn="ctr" defTabSz="914310"/>
                <a:r>
                  <a:rPr lang="zh-CN" altLang="en-US" sz="800" b="1" dirty="0">
                    <a:solidFill>
                      <a:srgbClr val="000000"/>
                    </a:solidFill>
                    <a:sym typeface="+mn-ea"/>
                  </a:rPr>
                  <a:t>直播活动</a:t>
                </a:r>
              </a:p>
            </p:txBody>
          </p:sp>
          <p:sp>
            <p:nvSpPr>
              <p:cNvPr id="144" name="矩形: 圆角 60"/>
              <p:cNvSpPr/>
              <p:nvPr/>
            </p:nvSpPr>
            <p:spPr>
              <a:xfrm>
                <a:off x="7952636" y="4212415"/>
                <a:ext cx="1008000" cy="216000"/>
              </a:xfrm>
              <a:prstGeom prst="roundRect">
                <a:avLst/>
              </a:prstGeom>
              <a:solidFill>
                <a:srgbClr val="BCE2F5"/>
              </a:solidFill>
              <a:ln w="9525" algn="ctr">
                <a:solidFill>
                  <a:srgbClr val="BCE2F5"/>
                </a:solidFill>
                <a:round/>
              </a:ln>
            </p:spPr>
            <p:txBody>
              <a:bodyPr vert="horz" wrap="square" lIns="0" tIns="0" rIns="0" bIns="0" numCol="1" spcCol="0" rtlCol="0" fromWordArt="0" anchor="ctr" anchorCtr="0" forceAA="0" compatLnSpc="0">
                <a:noAutofit/>
              </a:bodyPr>
              <a:lstStyle/>
              <a:p>
                <a:pPr algn="ctr" defTabSz="914310"/>
                <a:r>
                  <a:rPr lang="zh-CN" altLang="en-US" sz="800" b="1" dirty="0">
                    <a:solidFill>
                      <a:srgbClr val="000000"/>
                    </a:solidFill>
                    <a:sym typeface="+mn-ea"/>
                  </a:rPr>
                  <a:t>创新积分</a:t>
                </a:r>
              </a:p>
            </p:txBody>
          </p:sp>
          <p:sp>
            <p:nvSpPr>
              <p:cNvPr id="145" name="矩形: 圆角 60"/>
              <p:cNvSpPr/>
              <p:nvPr>
                <p:custDataLst>
                  <p:tags r:id="rId25"/>
                </p:custDataLst>
              </p:nvPr>
            </p:nvSpPr>
            <p:spPr>
              <a:xfrm>
                <a:off x="9048440" y="3808735"/>
                <a:ext cx="1008000" cy="216000"/>
              </a:xfrm>
              <a:prstGeom prst="roundRect">
                <a:avLst/>
              </a:prstGeom>
              <a:solidFill>
                <a:srgbClr val="BCE2F5"/>
              </a:solidFill>
              <a:ln w="9525" algn="ctr">
                <a:solidFill>
                  <a:srgbClr val="BCE2F5"/>
                </a:solidFill>
                <a:round/>
              </a:ln>
            </p:spPr>
            <p:txBody>
              <a:bodyPr vert="horz" wrap="square" lIns="0" tIns="0" rIns="0" bIns="0" numCol="1" spcCol="0" rtlCol="0" fromWordArt="0" anchor="ctr" anchorCtr="0" forceAA="0" compatLnSpc="0">
                <a:noAutofit/>
              </a:bodyPr>
              <a:lstStyle/>
              <a:p>
                <a:pPr algn="ctr" defTabSz="914310"/>
                <a:r>
                  <a:rPr lang="zh-CN" altLang="en-US" sz="800" b="1" dirty="0">
                    <a:solidFill>
                      <a:srgbClr val="000000"/>
                    </a:solidFill>
                    <a:sym typeface="+mn-ea"/>
                  </a:rPr>
                  <a:t>先用后转</a:t>
                </a:r>
              </a:p>
            </p:txBody>
          </p:sp>
        </p:grpSp>
      </p:grpSp>
      <p:grpSp>
        <p:nvGrpSpPr>
          <p:cNvPr id="154" name="组合 153"/>
          <p:cNvGrpSpPr/>
          <p:nvPr/>
        </p:nvGrpSpPr>
        <p:grpSpPr>
          <a:xfrm>
            <a:off x="7314773" y="1343113"/>
            <a:ext cx="1469699" cy="2794556"/>
            <a:chOff x="9753029" y="2204863"/>
            <a:chExt cx="1959598" cy="3726074"/>
          </a:xfrm>
        </p:grpSpPr>
        <p:sp>
          <p:nvSpPr>
            <p:cNvPr id="155" name="下箭头 154"/>
            <p:cNvSpPr/>
            <p:nvPr/>
          </p:nvSpPr>
          <p:spPr>
            <a:xfrm>
              <a:off x="10765235" y="5713955"/>
              <a:ext cx="216024" cy="216982"/>
            </a:xfrm>
            <a:prstGeom prst="downArrow">
              <a:avLst/>
            </a:prstGeom>
            <a:gradFill flip="none" rotWithShape="1">
              <a:gsLst>
                <a:gs pos="0">
                  <a:schemeClr val="accent2">
                    <a:lumMod val="50000"/>
                    <a:shade val="30000"/>
                    <a:satMod val="115000"/>
                  </a:schemeClr>
                </a:gs>
                <a:gs pos="44000">
                  <a:schemeClr val="accent2">
                    <a:lumMod val="50000"/>
                    <a:shade val="67500"/>
                    <a:satMod val="115000"/>
                  </a:schemeClr>
                </a:gs>
                <a:gs pos="100000">
                  <a:schemeClr val="bg2">
                    <a:lumMod val="75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10"/>
              <a:endParaRPr lang="zh-CN" altLang="en-US" sz="1400">
                <a:solidFill>
                  <a:srgbClr val="FFFFFF"/>
                </a:solidFill>
              </a:endParaRPr>
            </a:p>
          </p:txBody>
        </p:sp>
        <p:sp>
          <p:nvSpPr>
            <p:cNvPr id="156" name="矩形 155"/>
            <p:cNvSpPr/>
            <p:nvPr/>
          </p:nvSpPr>
          <p:spPr>
            <a:xfrm>
              <a:off x="10033869" y="2204863"/>
              <a:ext cx="1678758" cy="3509091"/>
            </a:xfrm>
            <a:prstGeom prst="rect">
              <a:avLst/>
            </a:prstGeom>
            <a:no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rgbClr val="006EFF">
                <a:lumMod val="75000"/>
              </a:srgbClr>
            </a:lnRef>
            <a:fillRef idx="1">
              <a:srgbClr val="006EFF"/>
            </a:fillRef>
            <a:effectRef idx="0">
              <a:srgbClr val="FFFFFF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 defTabSz="914310"/>
              <a:endParaRPr lang="zh-CN" altLang="en-US" sz="1400"/>
            </a:p>
          </p:txBody>
        </p:sp>
        <p:sp>
          <p:nvSpPr>
            <p:cNvPr id="157" name="文本框 160"/>
            <p:cNvSpPr txBox="1"/>
            <p:nvPr/>
          </p:nvSpPr>
          <p:spPr>
            <a:xfrm>
              <a:off x="10033869" y="2270338"/>
              <a:ext cx="1678758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 defTabSz="914310">
                <a:lnSpc>
                  <a:spcPct val="150000"/>
                </a:lnSpc>
              </a:pPr>
              <a:r>
                <a:rPr lang="zh-CN" altLang="en-US" sz="1100" b="1" dirty="0">
                  <a:solidFill>
                    <a:srgbClr val="000000"/>
                  </a:solidFill>
                </a:rPr>
                <a:t>人工智能</a:t>
              </a:r>
            </a:p>
          </p:txBody>
        </p:sp>
        <p:sp>
          <p:nvSpPr>
            <p:cNvPr id="158" name="下箭头 157"/>
            <p:cNvSpPr/>
            <p:nvPr/>
          </p:nvSpPr>
          <p:spPr>
            <a:xfrm rot="5400000">
              <a:off x="9785437" y="5340808"/>
              <a:ext cx="216024" cy="280839"/>
            </a:xfrm>
            <a:prstGeom prst="downArrow">
              <a:avLst/>
            </a:prstGeom>
            <a:gradFill flip="none" rotWithShape="1">
              <a:gsLst>
                <a:gs pos="0">
                  <a:schemeClr val="accent2">
                    <a:lumMod val="50000"/>
                    <a:shade val="30000"/>
                    <a:satMod val="115000"/>
                  </a:schemeClr>
                </a:gs>
                <a:gs pos="44000">
                  <a:schemeClr val="accent2">
                    <a:lumMod val="50000"/>
                    <a:shade val="67500"/>
                    <a:satMod val="115000"/>
                  </a:schemeClr>
                </a:gs>
                <a:gs pos="100000">
                  <a:schemeClr val="bg2">
                    <a:lumMod val="75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10"/>
              <a:endParaRPr lang="zh-CN" altLang="en-US" sz="1400">
                <a:solidFill>
                  <a:srgbClr val="FFFFFF"/>
                </a:solidFill>
              </a:endParaRPr>
            </a:p>
          </p:txBody>
        </p:sp>
        <p:grpSp>
          <p:nvGrpSpPr>
            <p:cNvPr id="159" name="组合 158"/>
            <p:cNvGrpSpPr/>
            <p:nvPr/>
          </p:nvGrpSpPr>
          <p:grpSpPr>
            <a:xfrm>
              <a:off x="10189172" y="2728000"/>
              <a:ext cx="1368151" cy="2939115"/>
              <a:chOff x="9995719" y="2655990"/>
              <a:chExt cx="1368152" cy="2939113"/>
            </a:xfrm>
          </p:grpSpPr>
          <p:sp>
            <p:nvSpPr>
              <p:cNvPr id="160" name="矩形: 圆角 12"/>
              <p:cNvSpPr/>
              <p:nvPr>
                <p:custDataLst>
                  <p:tags r:id="rId19"/>
                </p:custDataLst>
              </p:nvPr>
            </p:nvSpPr>
            <p:spPr>
              <a:xfrm>
                <a:off x="10157795" y="2780929"/>
                <a:ext cx="1044000" cy="480000"/>
              </a:xfrm>
              <a:prstGeom prst="roundRect">
                <a:avLst/>
              </a:prstGeom>
              <a:solidFill>
                <a:srgbClr val="BCE2F5"/>
              </a:solidFill>
              <a:ln w="9525" algn="ctr">
                <a:solidFill>
                  <a:srgbClr val="BCE2F5"/>
                </a:solidFill>
                <a:round/>
              </a:ln>
            </p:spPr>
            <p:txBody>
              <a:bodyPr vert="horz" wrap="square" lIns="0" tIns="0" rIns="0" bIns="0" numCol="1" spcCol="0" rtlCol="0" fromWordArt="0" anchor="ctr" anchorCtr="0" forceAA="0" compatLnSpc="0">
                <a:noAutofit/>
              </a:bodyPr>
              <a:lstStyle/>
              <a:p>
                <a:pPr algn="ctr" defTabSz="914310"/>
                <a:r>
                  <a:rPr lang="zh-CN" altLang="en-US" sz="800" b="1" dirty="0">
                    <a:solidFill>
                      <a:srgbClr val="000000"/>
                    </a:solidFill>
                  </a:rPr>
                  <a:t>智库服务</a:t>
                </a:r>
                <a:endParaRPr lang="en-US" altLang="zh-CN" sz="800" b="1" dirty="0">
                  <a:solidFill>
                    <a:srgbClr val="000000"/>
                  </a:solidFill>
                </a:endParaRPr>
              </a:p>
              <a:p>
                <a:pPr algn="ctr" defTabSz="914310"/>
                <a:r>
                  <a:rPr lang="zh-CN" altLang="en-US" sz="800" b="1" dirty="0">
                    <a:solidFill>
                      <a:srgbClr val="000000"/>
                    </a:solidFill>
                  </a:rPr>
                  <a:t>垂类模型</a:t>
                </a:r>
              </a:p>
            </p:txBody>
          </p:sp>
          <p:sp>
            <p:nvSpPr>
              <p:cNvPr id="161" name="矩形: 圆角 12"/>
              <p:cNvSpPr/>
              <p:nvPr>
                <p:custDataLst>
                  <p:tags r:id="rId20"/>
                </p:custDataLst>
              </p:nvPr>
            </p:nvSpPr>
            <p:spPr>
              <a:xfrm>
                <a:off x="10157795" y="3517010"/>
                <a:ext cx="1044000" cy="480000"/>
              </a:xfrm>
              <a:prstGeom prst="roundRect">
                <a:avLst/>
              </a:prstGeom>
              <a:solidFill>
                <a:srgbClr val="BCE2F5"/>
              </a:solidFill>
              <a:ln w="9525" algn="ctr">
                <a:solidFill>
                  <a:srgbClr val="BCE2F5"/>
                </a:solidFill>
                <a:round/>
              </a:ln>
            </p:spPr>
            <p:txBody>
              <a:bodyPr vert="horz" wrap="square" lIns="0" tIns="0" rIns="0" bIns="0" numCol="1" spcCol="0" rtlCol="0" fromWordArt="0" anchor="ctr" anchorCtr="0" forceAA="0" compatLnSpc="0">
                <a:noAutofit/>
              </a:bodyPr>
              <a:lstStyle/>
              <a:p>
                <a:pPr algn="ctr" defTabSz="914310"/>
                <a:r>
                  <a:rPr lang="zh-CN" altLang="en-US" sz="800" b="1" dirty="0">
                    <a:solidFill>
                      <a:srgbClr val="000000"/>
                    </a:solidFill>
                    <a:sym typeface="+mn-ea"/>
                  </a:rPr>
                  <a:t>成果转化</a:t>
                </a:r>
                <a:endParaRPr lang="en-US" altLang="zh-CN" sz="800" b="1" dirty="0">
                  <a:solidFill>
                    <a:srgbClr val="000000"/>
                  </a:solidFill>
                  <a:sym typeface="+mn-ea"/>
                </a:endParaRPr>
              </a:p>
              <a:p>
                <a:pPr algn="ctr" defTabSz="914310"/>
                <a:r>
                  <a:rPr lang="zh-CN" altLang="en-US" sz="800" b="1" dirty="0">
                    <a:solidFill>
                      <a:srgbClr val="000000"/>
                    </a:solidFill>
                    <a:sym typeface="+mn-ea"/>
                  </a:rPr>
                  <a:t>垂类模型</a:t>
                </a:r>
              </a:p>
            </p:txBody>
          </p:sp>
          <p:sp>
            <p:nvSpPr>
              <p:cNvPr id="162" name="矩形: 圆角 12"/>
              <p:cNvSpPr/>
              <p:nvPr>
                <p:custDataLst>
                  <p:tags r:id="rId21"/>
                </p:custDataLst>
              </p:nvPr>
            </p:nvSpPr>
            <p:spPr>
              <a:xfrm>
                <a:off x="10157795" y="4253091"/>
                <a:ext cx="1044000" cy="480000"/>
              </a:xfrm>
              <a:prstGeom prst="roundRect">
                <a:avLst/>
              </a:prstGeom>
              <a:solidFill>
                <a:schemeClr val="bg1"/>
              </a:solidFill>
              <a:ln w="9525" algn="ctr">
                <a:solidFill>
                  <a:srgbClr val="BCE2F5"/>
                </a:solidFill>
                <a:round/>
              </a:ln>
            </p:spPr>
            <p:txBody>
              <a:bodyPr vert="horz" wrap="square" lIns="0" tIns="0" rIns="0" bIns="0" numCol="1" spcCol="0" rtlCol="0" fromWordArt="0" anchor="ctr" anchorCtr="0" forceAA="0" compatLnSpc="0">
                <a:noAutofit/>
              </a:bodyPr>
              <a:lstStyle/>
              <a:p>
                <a:pPr algn="ctr" defTabSz="914310"/>
                <a:r>
                  <a:rPr lang="zh-CN" altLang="en-US" sz="800" b="1" dirty="0">
                    <a:solidFill>
                      <a:srgbClr val="000000"/>
                    </a:solidFill>
                    <a:sym typeface="+mn-ea"/>
                  </a:rPr>
                  <a:t>产业</a:t>
                </a:r>
                <a:endParaRPr lang="en-US" altLang="zh-CN" sz="800" b="1" dirty="0">
                  <a:solidFill>
                    <a:srgbClr val="000000"/>
                  </a:solidFill>
                  <a:sym typeface="+mn-ea"/>
                </a:endParaRPr>
              </a:p>
              <a:p>
                <a:pPr algn="ctr" defTabSz="914310"/>
                <a:r>
                  <a:rPr lang="zh-CN" altLang="en-US" sz="800" b="1" dirty="0">
                    <a:solidFill>
                      <a:srgbClr val="000000"/>
                    </a:solidFill>
                    <a:sym typeface="+mn-ea"/>
                  </a:rPr>
                  <a:t>垂类模型</a:t>
                </a:r>
              </a:p>
            </p:txBody>
          </p:sp>
          <p:sp>
            <p:nvSpPr>
              <p:cNvPr id="163" name="矩形 162"/>
              <p:cNvSpPr/>
              <p:nvPr/>
            </p:nvSpPr>
            <p:spPr>
              <a:xfrm>
                <a:off x="9995719" y="2655990"/>
                <a:ext cx="1368152" cy="2939113"/>
              </a:xfrm>
              <a:prstGeom prst="rect">
                <a:avLst/>
              </a:prstGeom>
              <a:noFill/>
              <a:ln w="15875">
                <a:solidFill>
                  <a:schemeClr val="bg1">
                    <a:lumMod val="50000"/>
                  </a:schemeClr>
                </a:solidFill>
                <a:prstDash val="solid"/>
              </a:ln>
            </p:spPr>
            <p:style>
              <a:lnRef idx="2">
                <a:srgbClr val="006EFF">
                  <a:shade val="50000"/>
                </a:srgbClr>
              </a:lnRef>
              <a:fillRef idx="1">
                <a:srgbClr val="006EFF"/>
              </a:fillRef>
              <a:effectRef idx="0">
                <a:srgbClr val="006EFF"/>
              </a:effectRef>
              <a:fontRef idx="minor">
                <a:srgbClr val="FFFFFF"/>
              </a:fontRef>
            </p:style>
            <p:txBody>
              <a:bodyPr vertOverflow="overflow" horzOverflow="overflow" vert="horz" wrap="square" lIns="91440" tIns="45720" rIns="91440" bIns="45720" numCol="1" spcCol="0" rtlCol="0" fromWordArt="0" anchor="t" anchorCtr="0" forceAA="0" compatLnSpc="1">
                <a:noAutofit/>
              </a:bodyPr>
              <a:lstStyle/>
              <a:p>
                <a:pPr algn="ctr" defTabSz="914310"/>
                <a:endParaRPr lang="zh-CN" altLang="en-US" sz="1100" b="1" dirty="0">
                  <a:solidFill>
                    <a:srgbClr val="1B1B1B"/>
                  </a:solidFill>
                  <a:sym typeface="+mn-lt"/>
                </a:endParaRPr>
              </a:p>
            </p:txBody>
          </p:sp>
          <p:sp>
            <p:nvSpPr>
              <p:cNvPr id="164" name="矩形: 圆角 12"/>
              <p:cNvSpPr/>
              <p:nvPr>
                <p:custDataLst>
                  <p:tags r:id="rId22"/>
                </p:custDataLst>
              </p:nvPr>
            </p:nvSpPr>
            <p:spPr>
              <a:xfrm>
                <a:off x="10157795" y="4989172"/>
                <a:ext cx="1044000" cy="480000"/>
              </a:xfrm>
              <a:prstGeom prst="roundRect">
                <a:avLst/>
              </a:prstGeom>
              <a:noFill/>
              <a:ln w="9525" algn="ctr">
                <a:solidFill>
                  <a:srgbClr val="BCE2F5"/>
                </a:solidFill>
                <a:round/>
              </a:ln>
            </p:spPr>
            <p:txBody>
              <a:bodyPr vert="horz" wrap="square" lIns="0" tIns="0" rIns="0" bIns="0" numCol="1" spcCol="0" rtlCol="0" fromWordArt="0" anchor="ctr" anchorCtr="0" forceAA="0" compatLnSpc="0">
                <a:noAutofit/>
              </a:bodyPr>
              <a:lstStyle/>
              <a:p>
                <a:pPr algn="ctr" defTabSz="914310"/>
                <a:r>
                  <a:rPr lang="en-US" altLang="zh-CN" sz="800" b="1" dirty="0">
                    <a:solidFill>
                      <a:srgbClr val="000000"/>
                    </a:solidFill>
                    <a:sym typeface="+mn-ea"/>
                  </a:rPr>
                  <a:t>……</a:t>
                </a:r>
                <a:endParaRPr lang="zh-CN" altLang="en-US" sz="800" b="1" dirty="0">
                  <a:solidFill>
                    <a:srgbClr val="000000"/>
                  </a:solidFill>
                  <a:sym typeface="+mn-ea"/>
                </a:endParaRPr>
              </a:p>
            </p:txBody>
          </p:sp>
        </p:grpSp>
      </p:grpSp>
      <p:grpSp>
        <p:nvGrpSpPr>
          <p:cNvPr id="165" name="组合 164"/>
          <p:cNvGrpSpPr/>
          <p:nvPr/>
        </p:nvGrpSpPr>
        <p:grpSpPr>
          <a:xfrm>
            <a:off x="89502" y="4204864"/>
            <a:ext cx="459000" cy="435626"/>
            <a:chOff x="767408" y="5831709"/>
            <a:chExt cx="720000" cy="580834"/>
          </a:xfrm>
        </p:grpSpPr>
        <p:sp>
          <p:nvSpPr>
            <p:cNvPr id="166" name="矩形: 圆角 60"/>
            <p:cNvSpPr/>
            <p:nvPr>
              <p:custDataLst>
                <p:tags r:id="rId16"/>
              </p:custDataLst>
            </p:nvPr>
          </p:nvSpPr>
          <p:spPr>
            <a:xfrm>
              <a:off x="767408" y="5831709"/>
              <a:ext cx="720000" cy="180000"/>
            </a:xfrm>
            <a:prstGeom prst="roundRect">
              <a:avLst/>
            </a:prstGeom>
            <a:solidFill>
              <a:srgbClr val="167D4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4310"/>
              <a:r>
                <a:rPr lang="en-US" altLang="zh-CN" sz="800" b="1" kern="0" dirty="0">
                  <a:solidFill>
                    <a:prstClr val="white"/>
                  </a:solidFill>
                </a:rPr>
                <a:t>2023</a:t>
              </a:r>
              <a:endParaRPr lang="zh-CN" altLang="en-US" sz="800" b="1" kern="0" dirty="0">
                <a:solidFill>
                  <a:prstClr val="white"/>
                </a:solidFill>
              </a:endParaRPr>
            </a:p>
          </p:txBody>
        </p:sp>
        <p:sp>
          <p:nvSpPr>
            <p:cNvPr id="167" name="矩形: 圆角 60"/>
            <p:cNvSpPr/>
            <p:nvPr>
              <p:custDataLst>
                <p:tags r:id="rId17"/>
              </p:custDataLst>
            </p:nvPr>
          </p:nvSpPr>
          <p:spPr>
            <a:xfrm>
              <a:off x="767408" y="6032126"/>
              <a:ext cx="720000" cy="180000"/>
            </a:xfrm>
            <a:prstGeom prst="roundRect">
              <a:avLst/>
            </a:prstGeom>
            <a:solidFill>
              <a:srgbClr val="066FBB"/>
            </a:solidFill>
            <a:ln w="9525" algn="ctr">
              <a:noFill/>
              <a:round/>
            </a:ln>
          </p:spPr>
          <p:txBody>
            <a:bodyPr vert="horz" wrap="square" lIns="0" tIns="0" rIns="0" bIns="0" numCol="1" spcCol="0" rtlCol="0" fromWordArt="0" anchor="ctr" anchorCtr="0" forceAA="0" compatLnSpc="0">
              <a:noAutofit/>
            </a:bodyPr>
            <a:lstStyle/>
            <a:p>
              <a:pPr algn="ctr" defTabSz="914310"/>
              <a:r>
                <a:rPr lang="en-US" altLang="zh-CN" sz="800" b="1" dirty="0">
                  <a:solidFill>
                    <a:srgbClr val="FFFFFF"/>
                  </a:solidFill>
                </a:rPr>
                <a:t>2024</a:t>
              </a:r>
              <a:endParaRPr lang="zh-CN" altLang="en-US" sz="800" b="1" dirty="0">
                <a:solidFill>
                  <a:srgbClr val="FFFFFF"/>
                </a:solidFill>
              </a:endParaRPr>
            </a:p>
          </p:txBody>
        </p:sp>
        <p:sp>
          <p:nvSpPr>
            <p:cNvPr id="168" name="矩形: 圆角 60"/>
            <p:cNvSpPr/>
            <p:nvPr>
              <p:custDataLst>
                <p:tags r:id="rId18"/>
              </p:custDataLst>
            </p:nvPr>
          </p:nvSpPr>
          <p:spPr>
            <a:xfrm>
              <a:off x="767408" y="6232543"/>
              <a:ext cx="720000" cy="180000"/>
            </a:xfrm>
            <a:prstGeom prst="roundRect">
              <a:avLst/>
            </a:prstGeom>
            <a:solidFill>
              <a:srgbClr val="BCE2F5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4310"/>
              <a:r>
                <a:rPr lang="en-US" altLang="zh-CN" sz="800" b="1" kern="0" dirty="0">
                  <a:solidFill>
                    <a:srgbClr val="1B1B1B"/>
                  </a:solidFill>
                </a:rPr>
                <a:t>2025</a:t>
              </a:r>
              <a:endParaRPr lang="zh-CN" altLang="en-US" sz="800" b="1" kern="0" dirty="0">
                <a:solidFill>
                  <a:srgbClr val="1B1B1B"/>
                </a:solidFill>
              </a:endParaRPr>
            </a:p>
          </p:txBody>
        </p:sp>
      </p:grpSp>
      <p:grpSp>
        <p:nvGrpSpPr>
          <p:cNvPr id="169" name="组合 168"/>
          <p:cNvGrpSpPr/>
          <p:nvPr/>
        </p:nvGrpSpPr>
        <p:grpSpPr>
          <a:xfrm>
            <a:off x="595701" y="1343117"/>
            <a:ext cx="1466658" cy="2794553"/>
            <a:chOff x="794268" y="2204866"/>
            <a:chExt cx="1955544" cy="3726071"/>
          </a:xfrm>
        </p:grpSpPr>
        <p:sp>
          <p:nvSpPr>
            <p:cNvPr id="170" name="下箭头 169"/>
            <p:cNvSpPr/>
            <p:nvPr/>
          </p:nvSpPr>
          <p:spPr>
            <a:xfrm>
              <a:off x="1525633" y="5713954"/>
              <a:ext cx="216024" cy="216983"/>
            </a:xfrm>
            <a:prstGeom prst="downArrow">
              <a:avLst/>
            </a:prstGeom>
            <a:gradFill flip="none" rotWithShape="1">
              <a:gsLst>
                <a:gs pos="0">
                  <a:schemeClr val="accent2">
                    <a:lumMod val="50000"/>
                    <a:shade val="30000"/>
                    <a:satMod val="115000"/>
                  </a:schemeClr>
                </a:gs>
                <a:gs pos="44000">
                  <a:schemeClr val="accent2">
                    <a:lumMod val="50000"/>
                    <a:shade val="67500"/>
                    <a:satMod val="115000"/>
                  </a:schemeClr>
                </a:gs>
                <a:gs pos="100000">
                  <a:schemeClr val="bg2">
                    <a:lumMod val="75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10"/>
              <a:endParaRPr lang="zh-CN" altLang="en-US" sz="1400">
                <a:solidFill>
                  <a:srgbClr val="FFFFFF"/>
                </a:solidFill>
              </a:endParaRPr>
            </a:p>
          </p:txBody>
        </p:sp>
        <p:sp>
          <p:nvSpPr>
            <p:cNvPr id="171" name="矩形 170"/>
            <p:cNvSpPr/>
            <p:nvPr/>
          </p:nvSpPr>
          <p:spPr>
            <a:xfrm>
              <a:off x="794268" y="2204866"/>
              <a:ext cx="1678759" cy="3509090"/>
            </a:xfrm>
            <a:prstGeom prst="rect">
              <a:avLst/>
            </a:prstGeom>
            <a:no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rgbClr val="006EFF">
                <a:lumMod val="75000"/>
              </a:srgbClr>
            </a:lnRef>
            <a:fillRef idx="1">
              <a:srgbClr val="006EFF"/>
            </a:fillRef>
            <a:effectRef idx="0">
              <a:srgbClr val="FFFFFF"/>
            </a:effectRef>
            <a:fontRef idx="minor">
              <a:srgbClr val="FFFFFF"/>
            </a:fontRef>
          </p:style>
          <p:txBody>
            <a:bodyPr lIns="68579" tIns="34289" rIns="68579" bIns="34289" rtlCol="0" anchor="ctr"/>
            <a:lstStyle/>
            <a:p>
              <a:pPr algn="ctr" defTabSz="914310"/>
              <a:endParaRPr lang="zh-CN" altLang="en-US" sz="1400"/>
            </a:p>
          </p:txBody>
        </p:sp>
        <p:sp>
          <p:nvSpPr>
            <p:cNvPr id="172" name="文本框 160"/>
            <p:cNvSpPr txBox="1"/>
            <p:nvPr/>
          </p:nvSpPr>
          <p:spPr>
            <a:xfrm>
              <a:off x="794268" y="2270340"/>
              <a:ext cx="1678759" cy="43088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68579" tIns="34289" rIns="68579" bIns="34289" rtlCol="0">
              <a:spAutoFit/>
            </a:bodyPr>
            <a:lstStyle/>
            <a:p>
              <a:pPr algn="ctr" defTabSz="914310">
                <a:lnSpc>
                  <a:spcPct val="150000"/>
                </a:lnSpc>
              </a:pPr>
              <a:r>
                <a:rPr lang="zh-CN" altLang="en-US" sz="1100" b="1" dirty="0">
                  <a:solidFill>
                    <a:srgbClr val="000000"/>
                  </a:solidFill>
                </a:rPr>
                <a:t>数据资源</a:t>
              </a:r>
            </a:p>
          </p:txBody>
        </p:sp>
        <p:sp>
          <p:nvSpPr>
            <p:cNvPr id="173" name="下箭头 172"/>
            <p:cNvSpPr/>
            <p:nvPr/>
          </p:nvSpPr>
          <p:spPr>
            <a:xfrm rot="16200000">
              <a:off x="2501381" y="5340808"/>
              <a:ext cx="216024" cy="280839"/>
            </a:xfrm>
            <a:prstGeom prst="downArrow">
              <a:avLst/>
            </a:prstGeom>
            <a:gradFill flip="none" rotWithShape="1">
              <a:gsLst>
                <a:gs pos="0">
                  <a:schemeClr val="accent2">
                    <a:lumMod val="50000"/>
                    <a:shade val="30000"/>
                    <a:satMod val="115000"/>
                  </a:schemeClr>
                </a:gs>
                <a:gs pos="44000">
                  <a:schemeClr val="accent2">
                    <a:lumMod val="50000"/>
                    <a:shade val="67500"/>
                    <a:satMod val="115000"/>
                  </a:schemeClr>
                </a:gs>
                <a:gs pos="100000">
                  <a:schemeClr val="bg2">
                    <a:lumMod val="75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10"/>
              <a:endParaRPr lang="zh-CN" altLang="en-US" sz="1400">
                <a:solidFill>
                  <a:srgbClr val="FFFFFF"/>
                </a:solidFill>
              </a:endParaRPr>
            </a:p>
          </p:txBody>
        </p:sp>
        <p:grpSp>
          <p:nvGrpSpPr>
            <p:cNvPr id="174" name="组合 173"/>
            <p:cNvGrpSpPr/>
            <p:nvPr/>
          </p:nvGrpSpPr>
          <p:grpSpPr>
            <a:xfrm>
              <a:off x="949569" y="2727999"/>
              <a:ext cx="1368152" cy="2939115"/>
              <a:chOff x="949569" y="2727999"/>
              <a:chExt cx="1368152" cy="2939115"/>
            </a:xfrm>
          </p:grpSpPr>
          <p:sp>
            <p:nvSpPr>
              <p:cNvPr id="175" name="矩形: 圆角 12"/>
              <p:cNvSpPr/>
              <p:nvPr>
                <p:custDataLst>
                  <p:tags r:id="rId5"/>
                </p:custDataLst>
              </p:nvPr>
            </p:nvSpPr>
            <p:spPr>
              <a:xfrm>
                <a:off x="1111645" y="4131087"/>
                <a:ext cx="1044000" cy="180000"/>
              </a:xfrm>
              <a:prstGeom prst="roundRect">
                <a:avLst/>
              </a:prstGeom>
              <a:solidFill>
                <a:srgbClr val="066FBB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lIns="68579" tIns="34289" rIns="68579" bIns="34289" rtlCol="0" anchor="ctr">
                <a:noAutofit/>
              </a:bodyPr>
              <a:lstStyle/>
              <a:p>
                <a:pPr algn="ctr" defTabSz="914310">
                  <a:defRPr/>
                </a:pPr>
                <a:r>
                  <a:rPr lang="zh-CN" altLang="en-US" sz="800" b="1" dirty="0">
                    <a:solidFill>
                      <a:srgbClr val="FFFFFF"/>
                    </a:solidFill>
                    <a:sym typeface="+mn-ea"/>
                  </a:rPr>
                  <a:t>政策库</a:t>
                </a:r>
              </a:p>
            </p:txBody>
          </p:sp>
          <p:sp>
            <p:nvSpPr>
              <p:cNvPr id="176" name="矩形: 圆角 12"/>
              <p:cNvSpPr/>
              <p:nvPr>
                <p:custDataLst>
                  <p:tags r:id="rId6"/>
                </p:custDataLst>
              </p:nvPr>
            </p:nvSpPr>
            <p:spPr>
              <a:xfrm>
                <a:off x="1111645" y="4656741"/>
                <a:ext cx="1044000" cy="180000"/>
              </a:xfrm>
              <a:prstGeom prst="roundRect">
                <a:avLst/>
              </a:prstGeom>
              <a:solidFill>
                <a:srgbClr val="066FBB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lIns="68579" tIns="34289" rIns="68579" bIns="34289" rtlCol="0" anchor="ctr">
                <a:noAutofit/>
              </a:bodyPr>
              <a:lstStyle/>
              <a:p>
                <a:pPr algn="ctr" defTabSz="914310">
                  <a:defRPr/>
                </a:pPr>
                <a:r>
                  <a:rPr lang="zh-CN" altLang="en-US" sz="800" b="1" dirty="0">
                    <a:solidFill>
                      <a:srgbClr val="FFFFFF"/>
                    </a:solidFill>
                    <a:sym typeface="+mn-ea"/>
                  </a:rPr>
                  <a:t>专利库</a:t>
                </a:r>
              </a:p>
            </p:txBody>
          </p:sp>
          <p:sp>
            <p:nvSpPr>
              <p:cNvPr id="177" name="矩形: 圆角 12"/>
              <p:cNvSpPr/>
              <p:nvPr>
                <p:custDataLst>
                  <p:tags r:id="rId7"/>
                </p:custDataLst>
              </p:nvPr>
            </p:nvSpPr>
            <p:spPr>
              <a:xfrm>
                <a:off x="1111645" y="2816952"/>
                <a:ext cx="1044000" cy="180000"/>
              </a:xfrm>
              <a:prstGeom prst="roundRect">
                <a:avLst/>
              </a:prstGeom>
              <a:solidFill>
                <a:srgbClr val="066FBB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lIns="68579" tIns="34289" rIns="68579" bIns="34289" rtlCol="0" anchor="ctr"/>
              <a:lstStyle/>
              <a:p>
                <a:pPr algn="ctr" defTabSz="914310">
                  <a:defRPr/>
                </a:pPr>
                <a:r>
                  <a:rPr lang="zh-CN" altLang="en-US" sz="800" b="1" kern="0" dirty="0">
                    <a:solidFill>
                      <a:prstClr val="white"/>
                    </a:solidFill>
                  </a:rPr>
                  <a:t>工商库</a:t>
                </a:r>
              </a:p>
            </p:txBody>
          </p:sp>
          <p:sp>
            <p:nvSpPr>
              <p:cNvPr id="178" name="矩形: 圆角 12"/>
              <p:cNvSpPr/>
              <p:nvPr>
                <p:custDataLst>
                  <p:tags r:id="rId8"/>
                </p:custDataLst>
              </p:nvPr>
            </p:nvSpPr>
            <p:spPr>
              <a:xfrm>
                <a:off x="1111645" y="3342606"/>
                <a:ext cx="1044000" cy="180000"/>
              </a:xfrm>
              <a:prstGeom prst="roundRect">
                <a:avLst/>
              </a:prstGeom>
              <a:solidFill>
                <a:srgbClr val="066FBB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lIns="68579" tIns="34289" rIns="68579" bIns="34289" rtlCol="0" anchor="ctr">
                <a:noAutofit/>
              </a:bodyPr>
              <a:lstStyle/>
              <a:p>
                <a:pPr algn="ctr" defTabSz="914310">
                  <a:defRPr/>
                </a:pPr>
                <a:r>
                  <a:rPr lang="zh-CN" altLang="en-US" sz="800" b="1" dirty="0">
                    <a:solidFill>
                      <a:srgbClr val="FFFFFF"/>
                    </a:solidFill>
                    <a:sym typeface="+mn-ea"/>
                  </a:rPr>
                  <a:t>成果库</a:t>
                </a:r>
              </a:p>
            </p:txBody>
          </p:sp>
          <p:sp>
            <p:nvSpPr>
              <p:cNvPr id="179" name="矩形: 圆角 12"/>
              <p:cNvSpPr/>
              <p:nvPr>
                <p:custDataLst>
                  <p:tags r:id="rId9"/>
                </p:custDataLst>
              </p:nvPr>
            </p:nvSpPr>
            <p:spPr>
              <a:xfrm>
                <a:off x="1111645" y="4393914"/>
                <a:ext cx="1044000" cy="180000"/>
              </a:xfrm>
              <a:prstGeom prst="roundRect">
                <a:avLst/>
              </a:prstGeom>
              <a:solidFill>
                <a:srgbClr val="066FBB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lIns="68579" tIns="34289" rIns="68579" bIns="34289" rtlCol="0" anchor="ctr">
                <a:noAutofit/>
              </a:bodyPr>
              <a:lstStyle/>
              <a:p>
                <a:pPr algn="ctr" defTabSz="914310">
                  <a:defRPr/>
                </a:pPr>
                <a:r>
                  <a:rPr lang="zh-CN" altLang="en-US" sz="800" b="1" dirty="0">
                    <a:solidFill>
                      <a:srgbClr val="FFFFFF"/>
                    </a:solidFill>
                    <a:sym typeface="+mn-ea"/>
                  </a:rPr>
                  <a:t>园区库</a:t>
                </a:r>
              </a:p>
            </p:txBody>
          </p:sp>
          <p:sp>
            <p:nvSpPr>
              <p:cNvPr id="180" name="矩形: 圆角 12"/>
              <p:cNvSpPr/>
              <p:nvPr>
                <p:custDataLst>
                  <p:tags r:id="rId10"/>
                </p:custDataLst>
              </p:nvPr>
            </p:nvSpPr>
            <p:spPr>
              <a:xfrm>
                <a:off x="1111645" y="3079779"/>
                <a:ext cx="1044000" cy="180000"/>
              </a:xfrm>
              <a:prstGeom prst="roundRect">
                <a:avLst/>
              </a:prstGeom>
              <a:solidFill>
                <a:srgbClr val="066FBB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lIns="68579" tIns="34289" rIns="68579" bIns="34289" rtlCol="0" anchor="ctr">
                <a:noAutofit/>
              </a:bodyPr>
              <a:lstStyle/>
              <a:p>
                <a:pPr algn="ctr" defTabSz="914310">
                  <a:defRPr/>
                </a:pPr>
                <a:r>
                  <a:rPr lang="zh-CN" altLang="en-US" sz="800" b="1" dirty="0">
                    <a:solidFill>
                      <a:srgbClr val="FFFFFF"/>
                    </a:solidFill>
                    <a:sym typeface="+mn-ea"/>
                  </a:rPr>
                  <a:t>高校库</a:t>
                </a:r>
              </a:p>
            </p:txBody>
          </p:sp>
          <p:sp>
            <p:nvSpPr>
              <p:cNvPr id="181" name="矩形: 圆角 12"/>
              <p:cNvSpPr/>
              <p:nvPr>
                <p:custDataLst>
                  <p:tags r:id="rId11"/>
                </p:custDataLst>
              </p:nvPr>
            </p:nvSpPr>
            <p:spPr>
              <a:xfrm>
                <a:off x="1111645" y="3605433"/>
                <a:ext cx="1044000" cy="180000"/>
              </a:xfrm>
              <a:prstGeom prst="roundRect">
                <a:avLst/>
              </a:prstGeom>
              <a:solidFill>
                <a:srgbClr val="066FBB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lIns="68579" tIns="34289" rIns="68579" bIns="34289" rtlCol="0" anchor="ctr">
                <a:noAutofit/>
              </a:bodyPr>
              <a:lstStyle/>
              <a:p>
                <a:pPr algn="ctr" defTabSz="914310">
                  <a:defRPr/>
                </a:pPr>
                <a:r>
                  <a:rPr lang="zh-CN" altLang="en-US" sz="800" b="1" dirty="0">
                    <a:solidFill>
                      <a:srgbClr val="FFFFFF"/>
                    </a:solidFill>
                    <a:sym typeface="+mn-ea"/>
                  </a:rPr>
                  <a:t>资本库</a:t>
                </a:r>
              </a:p>
            </p:txBody>
          </p:sp>
          <p:sp>
            <p:nvSpPr>
              <p:cNvPr id="182" name="矩形: 圆角 12"/>
              <p:cNvSpPr/>
              <p:nvPr>
                <p:custDataLst>
                  <p:tags r:id="rId12"/>
                </p:custDataLst>
              </p:nvPr>
            </p:nvSpPr>
            <p:spPr>
              <a:xfrm>
                <a:off x="1111645" y="3868260"/>
                <a:ext cx="1044000" cy="180000"/>
              </a:xfrm>
              <a:prstGeom prst="roundRect">
                <a:avLst/>
              </a:prstGeom>
              <a:solidFill>
                <a:srgbClr val="066FBB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lIns="68579" tIns="34289" rIns="68579" bIns="34289" rtlCol="0" anchor="ctr">
                <a:noAutofit/>
              </a:bodyPr>
              <a:lstStyle/>
              <a:p>
                <a:pPr algn="ctr" defTabSz="914310">
                  <a:defRPr/>
                </a:pPr>
                <a:r>
                  <a:rPr lang="zh-CN" altLang="en-US" sz="800" b="1" dirty="0">
                    <a:solidFill>
                      <a:srgbClr val="FFFFFF"/>
                    </a:solidFill>
                    <a:sym typeface="+mn-ea"/>
                  </a:rPr>
                  <a:t>人才库</a:t>
                </a:r>
              </a:p>
            </p:txBody>
          </p:sp>
          <p:sp>
            <p:nvSpPr>
              <p:cNvPr id="183" name="矩形: 圆角 12"/>
              <p:cNvSpPr/>
              <p:nvPr>
                <p:custDataLst>
                  <p:tags r:id="rId13"/>
                </p:custDataLst>
              </p:nvPr>
            </p:nvSpPr>
            <p:spPr>
              <a:xfrm>
                <a:off x="1111645" y="4919568"/>
                <a:ext cx="1044000" cy="180000"/>
              </a:xfrm>
              <a:prstGeom prst="roundRect">
                <a:avLst/>
              </a:prstGeom>
              <a:solidFill>
                <a:srgbClr val="066FBB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lIns="68579" tIns="34289" rIns="68579" bIns="34289" rtlCol="0" anchor="ctr">
                <a:noAutofit/>
              </a:bodyPr>
              <a:lstStyle/>
              <a:p>
                <a:pPr algn="ctr" defTabSz="914310">
                  <a:defRPr/>
                </a:pPr>
                <a:r>
                  <a:rPr lang="zh-CN" altLang="en-US" sz="800" b="1" dirty="0">
                    <a:solidFill>
                      <a:srgbClr val="FFFFFF"/>
                    </a:solidFill>
                    <a:sym typeface="+mn-ea"/>
                  </a:rPr>
                  <a:t>著作权库</a:t>
                </a:r>
              </a:p>
            </p:txBody>
          </p:sp>
          <p:sp>
            <p:nvSpPr>
              <p:cNvPr id="184" name="矩形: 圆角 12"/>
              <p:cNvSpPr/>
              <p:nvPr>
                <p:custDataLst>
                  <p:tags r:id="rId14"/>
                </p:custDataLst>
              </p:nvPr>
            </p:nvSpPr>
            <p:spPr>
              <a:xfrm>
                <a:off x="1111645" y="5182395"/>
                <a:ext cx="1044000" cy="180000"/>
              </a:xfrm>
              <a:prstGeom prst="roundRect">
                <a:avLst/>
              </a:prstGeom>
              <a:solidFill>
                <a:srgbClr val="066FBB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lIns="68579" tIns="34289" rIns="68579" bIns="34289" rtlCol="0" anchor="ctr">
                <a:noAutofit/>
              </a:bodyPr>
              <a:lstStyle/>
              <a:p>
                <a:pPr algn="ctr" defTabSz="914310">
                  <a:defRPr/>
                </a:pPr>
                <a:r>
                  <a:rPr lang="zh-CN" altLang="en-US" sz="800" b="1" dirty="0">
                    <a:solidFill>
                      <a:srgbClr val="FFFFFF"/>
                    </a:solidFill>
                    <a:sym typeface="+mn-ea"/>
                  </a:rPr>
                  <a:t>标准库</a:t>
                </a:r>
              </a:p>
            </p:txBody>
          </p:sp>
          <p:sp>
            <p:nvSpPr>
              <p:cNvPr id="185" name="矩形 184"/>
              <p:cNvSpPr/>
              <p:nvPr/>
            </p:nvSpPr>
            <p:spPr>
              <a:xfrm>
                <a:off x="949569" y="2727999"/>
                <a:ext cx="1368152" cy="2939115"/>
              </a:xfrm>
              <a:prstGeom prst="rect">
                <a:avLst/>
              </a:prstGeom>
              <a:noFill/>
              <a:ln w="15875">
                <a:solidFill>
                  <a:schemeClr val="bg1">
                    <a:lumMod val="50000"/>
                  </a:schemeClr>
                </a:solidFill>
                <a:prstDash val="solid"/>
              </a:ln>
            </p:spPr>
            <p:style>
              <a:lnRef idx="2">
                <a:srgbClr val="006EFF">
                  <a:shade val="50000"/>
                </a:srgbClr>
              </a:lnRef>
              <a:fillRef idx="1">
                <a:srgbClr val="006EFF"/>
              </a:fillRef>
              <a:effectRef idx="0">
                <a:srgbClr val="006EFF"/>
              </a:effectRef>
              <a:fontRef idx="minor">
                <a:srgbClr val="FFFFFF"/>
              </a:fontRef>
            </p:style>
            <p:txBody>
              <a:bodyPr vertOverflow="overflow" horzOverflow="overflow" vert="horz" wrap="square" lIns="68579" tIns="34289" rIns="68579" bIns="34289" numCol="1" spcCol="0" rtlCol="0" fromWordArt="0" anchor="t" anchorCtr="0" forceAA="0" compatLnSpc="1">
                <a:noAutofit/>
              </a:bodyPr>
              <a:lstStyle/>
              <a:p>
                <a:pPr algn="ctr" defTabSz="914310"/>
                <a:endParaRPr lang="zh-CN" altLang="en-US" sz="1100" b="1" dirty="0">
                  <a:solidFill>
                    <a:srgbClr val="1B1B1B"/>
                  </a:solidFill>
                  <a:sym typeface="+mn-lt"/>
                </a:endParaRPr>
              </a:p>
            </p:txBody>
          </p:sp>
          <p:sp>
            <p:nvSpPr>
              <p:cNvPr id="186" name="矩形: 圆角 12"/>
              <p:cNvSpPr/>
              <p:nvPr>
                <p:custDataLst>
                  <p:tags r:id="rId15"/>
                </p:custDataLst>
              </p:nvPr>
            </p:nvSpPr>
            <p:spPr>
              <a:xfrm>
                <a:off x="1119800" y="5445226"/>
                <a:ext cx="1044000" cy="180000"/>
              </a:xfrm>
              <a:prstGeom prst="roundRect">
                <a:avLst/>
              </a:prstGeom>
              <a:noFill/>
              <a:ln w="12700" cap="flat" cmpd="sng" algn="ctr">
                <a:solidFill>
                  <a:srgbClr val="0070C0"/>
                </a:solidFill>
                <a:prstDash val="solid"/>
                <a:miter lim="800000"/>
              </a:ln>
              <a:effectLst/>
            </p:spPr>
            <p:txBody>
              <a:bodyPr lIns="68579" tIns="34289" rIns="68579" bIns="34289" rtlCol="0" anchor="ctr">
                <a:noAutofit/>
              </a:bodyPr>
              <a:lstStyle/>
              <a:p>
                <a:pPr algn="ctr" defTabSz="914310">
                  <a:defRPr/>
                </a:pPr>
                <a:r>
                  <a:rPr lang="en-US" altLang="zh-CN" sz="800" b="1" dirty="0">
                    <a:solidFill>
                      <a:srgbClr val="D0D9E8"/>
                    </a:solidFill>
                    <a:sym typeface="+mn-ea"/>
                  </a:rPr>
                  <a:t>……</a:t>
                </a:r>
                <a:endParaRPr lang="zh-CN" altLang="en-US" sz="800" b="1" dirty="0">
                  <a:solidFill>
                    <a:srgbClr val="D0D9E8"/>
                  </a:solidFill>
                  <a:sym typeface="+mn-ea"/>
                </a:endParaRPr>
              </a:p>
            </p:txBody>
          </p:sp>
        </p:grpSp>
      </p:grpSp>
      <p:grpSp>
        <p:nvGrpSpPr>
          <p:cNvPr id="187" name="组合 186"/>
          <p:cNvGrpSpPr/>
          <p:nvPr/>
        </p:nvGrpSpPr>
        <p:grpSpPr>
          <a:xfrm>
            <a:off x="602950" y="897565"/>
            <a:ext cx="1260204" cy="377999"/>
            <a:chOff x="802420" y="1356630"/>
            <a:chExt cx="1680272" cy="540000"/>
          </a:xfrm>
        </p:grpSpPr>
        <p:sp>
          <p:nvSpPr>
            <p:cNvPr id="188" name="矩形 187"/>
            <p:cNvSpPr/>
            <p:nvPr/>
          </p:nvSpPr>
          <p:spPr>
            <a:xfrm>
              <a:off x="802420" y="1356630"/>
              <a:ext cx="1678759" cy="540000"/>
            </a:xfrm>
            <a:prstGeom prst="rect">
              <a:avLst/>
            </a:prstGeom>
            <a:no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rgbClr val="006EFF">
                <a:lumMod val="75000"/>
              </a:srgbClr>
            </a:lnRef>
            <a:fillRef idx="1">
              <a:srgbClr val="006EFF"/>
            </a:fillRef>
            <a:effectRef idx="0">
              <a:srgbClr val="FFFFFF"/>
            </a:effectRef>
            <a:fontRef idx="minor">
              <a:srgbClr val="FFFFFF"/>
            </a:fontRef>
          </p:style>
          <p:txBody>
            <a:bodyPr lIns="68579" tIns="34289" rIns="68579" bIns="34289" rtlCol="0" anchor="ctr"/>
            <a:lstStyle/>
            <a:p>
              <a:pPr algn="ctr" defTabSz="914310"/>
              <a:endParaRPr lang="zh-CN" altLang="en-US" sz="1400"/>
            </a:p>
          </p:txBody>
        </p:sp>
        <p:sp>
          <p:nvSpPr>
            <p:cNvPr id="189" name="文本框 160"/>
            <p:cNvSpPr txBox="1"/>
            <p:nvPr/>
          </p:nvSpPr>
          <p:spPr>
            <a:xfrm>
              <a:off x="803933" y="1362821"/>
              <a:ext cx="1678759" cy="52761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 anchor="ctr">
              <a:spAutoFit/>
            </a:bodyPr>
            <a:lstStyle/>
            <a:p>
              <a:pPr algn="ctr" defTabSz="914310">
                <a:lnSpc>
                  <a:spcPct val="150000"/>
                </a:lnSpc>
              </a:pPr>
              <a:r>
                <a:rPr lang="zh-CN" altLang="en-US" sz="1200" dirty="0">
                  <a:solidFill>
                    <a:srgbClr val="000000"/>
                  </a:solidFill>
                </a:rPr>
                <a:t>党建引领</a:t>
              </a:r>
              <a:endParaRPr lang="en-US" altLang="zh-CN" sz="1200" dirty="0">
                <a:solidFill>
                  <a:srgbClr val="000000"/>
                </a:solidFill>
              </a:endParaRPr>
            </a:p>
          </p:txBody>
        </p:sp>
      </p:grpSp>
      <p:grpSp>
        <p:nvGrpSpPr>
          <p:cNvPr id="190" name="组合 189"/>
          <p:cNvGrpSpPr/>
          <p:nvPr/>
        </p:nvGrpSpPr>
        <p:grpSpPr>
          <a:xfrm>
            <a:off x="1908775" y="897566"/>
            <a:ext cx="5562600" cy="1525669"/>
            <a:chOff x="2545033" y="1610799"/>
            <a:chExt cx="7416800" cy="2034225"/>
          </a:xfrm>
        </p:grpSpPr>
        <p:sp>
          <p:nvSpPr>
            <p:cNvPr id="191" name="矩形 190"/>
            <p:cNvSpPr/>
            <p:nvPr/>
          </p:nvSpPr>
          <p:spPr>
            <a:xfrm>
              <a:off x="2545033" y="1610799"/>
              <a:ext cx="7416800" cy="486000"/>
            </a:xfrm>
            <a:prstGeom prst="rect">
              <a:avLst/>
            </a:prstGeom>
            <a:solidFill>
              <a:srgbClr val="006EFF"/>
            </a:solidFill>
            <a:ln>
              <a:noFill/>
            </a:ln>
          </p:spPr>
          <p:style>
            <a:lnRef idx="2">
              <a:srgbClr val="006EFF">
                <a:shade val="50000"/>
              </a:srgbClr>
            </a:lnRef>
            <a:fillRef idx="1">
              <a:srgbClr val="006EFF"/>
            </a:fillRef>
            <a:effectRef idx="0">
              <a:srgbClr val="006EFF"/>
            </a:effectRef>
            <a:fontRef idx="minor">
              <a:srgbClr val="FFFFFF"/>
            </a:fontRef>
          </p:style>
          <p:txBody>
            <a:bodyPr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 defTabSz="914310"/>
              <a:r>
                <a:rPr lang="zh-CN" altLang="en-US" sz="1200" b="1" kern="0" dirty="0">
                  <a:solidFill>
                    <a:prstClr val="white"/>
                  </a:solidFill>
                </a:rPr>
                <a:t>服务全省科技创新与产业创新深度融合</a:t>
              </a:r>
            </a:p>
          </p:txBody>
        </p:sp>
        <p:grpSp>
          <p:nvGrpSpPr>
            <p:cNvPr id="192" name="组合 191"/>
            <p:cNvGrpSpPr/>
            <p:nvPr/>
          </p:nvGrpSpPr>
          <p:grpSpPr>
            <a:xfrm>
              <a:off x="2568528" y="2924976"/>
              <a:ext cx="7368540" cy="396000"/>
              <a:chOff x="2568528" y="2204864"/>
              <a:chExt cx="7368540" cy="396000"/>
            </a:xfrm>
          </p:grpSpPr>
          <p:sp>
            <p:nvSpPr>
              <p:cNvPr id="204" name="矩形 203"/>
              <p:cNvSpPr/>
              <p:nvPr/>
            </p:nvSpPr>
            <p:spPr>
              <a:xfrm>
                <a:off x="2568528" y="2204864"/>
                <a:ext cx="7368540" cy="396000"/>
              </a:xfrm>
              <a:prstGeom prst="rect">
                <a:avLst/>
              </a:prstGeom>
              <a:noFill/>
              <a:ln w="158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rgbClr val="006EFF">
                  <a:shade val="50000"/>
                </a:srgbClr>
              </a:lnRef>
              <a:fillRef idx="1">
                <a:srgbClr val="006EFF"/>
              </a:fillRef>
              <a:effectRef idx="0">
                <a:srgbClr val="006EFF"/>
              </a:effectRef>
              <a:fontRef idx="minor">
                <a:srgbClr val="FFFFFF"/>
              </a:fontRef>
            </p:style>
            <p:txBody>
              <a:bodyPr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 defTabSz="914310"/>
                <a:endParaRPr lang="zh-CN" altLang="en-US" sz="1400" b="1">
                  <a:sym typeface="+mn-lt"/>
                </a:endParaRPr>
              </a:p>
            </p:txBody>
          </p:sp>
          <p:sp>
            <p:nvSpPr>
              <p:cNvPr id="207" name="矩形 206"/>
              <p:cNvSpPr/>
              <p:nvPr/>
            </p:nvSpPr>
            <p:spPr>
              <a:xfrm>
                <a:off x="5258746" y="2287254"/>
                <a:ext cx="2124000" cy="231140"/>
              </a:xfrm>
              <a:prstGeom prst="rect">
                <a:avLst/>
              </a:prstGeom>
              <a:solidFill>
                <a:srgbClr val="006EFF"/>
              </a:solidFill>
              <a:ln>
                <a:noFill/>
              </a:ln>
            </p:spPr>
            <p:style>
              <a:lnRef idx="2">
                <a:srgbClr val="006EFF">
                  <a:shade val="50000"/>
                </a:srgbClr>
              </a:lnRef>
              <a:fillRef idx="1">
                <a:srgbClr val="006EFF"/>
              </a:fillRef>
              <a:effectRef idx="0">
                <a:srgbClr val="006EFF"/>
              </a:effectRef>
              <a:fontRef idx="minor">
                <a:srgbClr val="FFFFFF"/>
              </a:fontRef>
            </p:style>
            <p:txBody>
              <a:bodyPr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 defTabSz="914310"/>
                <a:r>
                  <a:rPr lang="zh-CN" altLang="en-US" sz="900" b="1" kern="0" dirty="0">
                    <a:solidFill>
                      <a:prstClr val="white"/>
                    </a:solidFill>
                    <a:sym typeface="+mn-ea"/>
                  </a:rPr>
                  <a:t>公共研发服务平台</a:t>
                </a:r>
              </a:p>
            </p:txBody>
          </p:sp>
          <p:sp>
            <p:nvSpPr>
              <p:cNvPr id="209" name="矩形 208"/>
              <p:cNvSpPr/>
              <p:nvPr>
                <p:custDataLst>
                  <p:tags r:id="rId3"/>
                </p:custDataLst>
              </p:nvPr>
            </p:nvSpPr>
            <p:spPr>
              <a:xfrm>
                <a:off x="2854028" y="2287254"/>
                <a:ext cx="2124000" cy="231140"/>
              </a:xfrm>
              <a:prstGeom prst="rect">
                <a:avLst/>
              </a:prstGeom>
              <a:solidFill>
                <a:srgbClr val="006EFF"/>
              </a:solidFill>
              <a:ln>
                <a:noFill/>
              </a:ln>
            </p:spPr>
            <p:style>
              <a:lnRef idx="2">
                <a:srgbClr val="006EFF">
                  <a:shade val="50000"/>
                </a:srgbClr>
              </a:lnRef>
              <a:fillRef idx="1">
                <a:srgbClr val="006EFF"/>
              </a:fillRef>
              <a:effectRef idx="0">
                <a:srgbClr val="006EFF"/>
              </a:effectRef>
              <a:fontRef idx="minor">
                <a:srgbClr val="FFFFFF"/>
              </a:fontRef>
            </p:style>
            <p:txBody>
              <a:bodyPr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 defTabSz="914310"/>
                <a:r>
                  <a:rPr lang="zh-CN" altLang="en-US" sz="900" b="1" kern="0" dirty="0">
                    <a:solidFill>
                      <a:prstClr val="white"/>
                    </a:solidFill>
                    <a:sym typeface="+mn-ea"/>
                  </a:rPr>
                  <a:t>科技创新战略智库</a:t>
                </a:r>
              </a:p>
            </p:txBody>
          </p:sp>
          <p:sp>
            <p:nvSpPr>
              <p:cNvPr id="210" name="矩形 209"/>
              <p:cNvSpPr/>
              <p:nvPr>
                <p:custDataLst>
                  <p:tags r:id="rId4"/>
                </p:custDataLst>
              </p:nvPr>
            </p:nvSpPr>
            <p:spPr>
              <a:xfrm>
                <a:off x="7526762" y="2294239"/>
                <a:ext cx="2124000" cy="217170"/>
              </a:xfrm>
              <a:prstGeom prst="rect">
                <a:avLst/>
              </a:prstGeom>
              <a:solidFill>
                <a:srgbClr val="006EFF"/>
              </a:solidFill>
              <a:ln>
                <a:noFill/>
              </a:ln>
            </p:spPr>
            <p:style>
              <a:lnRef idx="2">
                <a:srgbClr val="006EFF">
                  <a:shade val="50000"/>
                </a:srgbClr>
              </a:lnRef>
              <a:fillRef idx="1">
                <a:srgbClr val="006EFF"/>
              </a:fillRef>
              <a:effectRef idx="0">
                <a:srgbClr val="006EFF"/>
              </a:effectRef>
              <a:fontRef idx="minor">
                <a:srgbClr val="FFFFFF"/>
              </a:fontRef>
            </p:style>
            <p:txBody>
              <a:bodyPr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 defTabSz="914310"/>
                <a:r>
                  <a:rPr lang="zh-CN" altLang="en-US" sz="900" b="1" kern="0" dirty="0">
                    <a:solidFill>
                      <a:prstClr val="white"/>
                    </a:solidFill>
                    <a:sym typeface="+mn-ea"/>
                  </a:rPr>
                  <a:t>科技成果转化体系</a:t>
                </a:r>
              </a:p>
            </p:txBody>
          </p:sp>
        </p:grpSp>
        <p:grpSp>
          <p:nvGrpSpPr>
            <p:cNvPr id="193" name="组合 192"/>
            <p:cNvGrpSpPr/>
            <p:nvPr/>
          </p:nvGrpSpPr>
          <p:grpSpPr>
            <a:xfrm>
              <a:off x="3651383" y="3357024"/>
              <a:ext cx="5188711" cy="288000"/>
              <a:chOff x="2741276" y="1762372"/>
              <a:chExt cx="3891533" cy="561150"/>
            </a:xfrm>
          </p:grpSpPr>
          <p:sp>
            <p:nvSpPr>
              <p:cNvPr id="202" name="形状"/>
              <p:cNvSpPr/>
              <p:nvPr/>
            </p:nvSpPr>
            <p:spPr>
              <a:xfrm flipH="1">
                <a:off x="2741276" y="1762372"/>
                <a:ext cx="382479" cy="56115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400" y="21600"/>
                    </a:moveTo>
                    <a:lnTo>
                      <a:pt x="20400" y="21600"/>
                    </a:lnTo>
                    <a:lnTo>
                      <a:pt x="14400" y="4563"/>
                    </a:lnTo>
                    <a:lnTo>
                      <a:pt x="21600" y="4563"/>
                    </a:lnTo>
                    <a:lnTo>
                      <a:pt x="10750" y="0"/>
                    </a:lnTo>
                    <a:lnTo>
                      <a:pt x="0" y="4563"/>
                    </a:lnTo>
                    <a:lnTo>
                      <a:pt x="7200" y="4563"/>
                    </a:lnTo>
                    <a:lnTo>
                      <a:pt x="2400" y="21600"/>
                    </a:lnTo>
                    <a:close/>
                  </a:path>
                </a:pathLst>
              </a:custGeom>
              <a:gradFill>
                <a:gsLst>
                  <a:gs pos="0">
                    <a:srgbClr val="FFFFFF"/>
                  </a:gs>
                  <a:gs pos="100000">
                    <a:srgbClr val="DDDDDD"/>
                  </a:gs>
                </a:gsLst>
                <a:lin ang="16200000"/>
              </a:gradFill>
              <a:ln w="12700">
                <a:miter lim="400000"/>
              </a:ln>
            </p:spPr>
            <p:txBody>
              <a:bodyPr lIns="0" tIns="0" rIns="0" bIns="0"/>
              <a:lstStyle/>
              <a:p>
                <a:pPr defTabSz="914310">
                  <a:defRPr sz="2400"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pPr>
                <a:endParaRPr sz="2400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203" name="形状"/>
              <p:cNvSpPr/>
              <p:nvPr/>
            </p:nvSpPr>
            <p:spPr>
              <a:xfrm flipH="1">
                <a:off x="6250330" y="1762372"/>
                <a:ext cx="382479" cy="56115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400" y="21600"/>
                    </a:moveTo>
                    <a:lnTo>
                      <a:pt x="20400" y="21600"/>
                    </a:lnTo>
                    <a:lnTo>
                      <a:pt x="14400" y="4563"/>
                    </a:lnTo>
                    <a:lnTo>
                      <a:pt x="21600" y="4563"/>
                    </a:lnTo>
                    <a:lnTo>
                      <a:pt x="10750" y="0"/>
                    </a:lnTo>
                    <a:lnTo>
                      <a:pt x="0" y="4563"/>
                    </a:lnTo>
                    <a:lnTo>
                      <a:pt x="7200" y="4563"/>
                    </a:lnTo>
                    <a:lnTo>
                      <a:pt x="2400" y="21600"/>
                    </a:lnTo>
                    <a:close/>
                  </a:path>
                </a:pathLst>
              </a:custGeom>
              <a:gradFill>
                <a:gsLst>
                  <a:gs pos="0">
                    <a:srgbClr val="FFFFFF"/>
                  </a:gs>
                  <a:gs pos="100000">
                    <a:srgbClr val="DDDDDD"/>
                  </a:gs>
                </a:gsLst>
                <a:lin ang="16200000"/>
              </a:gradFill>
              <a:ln w="12700">
                <a:miter lim="400000"/>
              </a:ln>
            </p:spPr>
            <p:txBody>
              <a:bodyPr lIns="0" tIns="0" rIns="0" bIns="0"/>
              <a:lstStyle/>
              <a:p>
                <a:pPr defTabSz="914310">
                  <a:defRPr sz="2400"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pPr>
                <a:endParaRPr sz="2400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</p:grpSp>
        <p:grpSp>
          <p:nvGrpSpPr>
            <p:cNvPr id="194" name="组合 193"/>
            <p:cNvGrpSpPr/>
            <p:nvPr/>
          </p:nvGrpSpPr>
          <p:grpSpPr>
            <a:xfrm>
              <a:off x="2568529" y="2240912"/>
              <a:ext cx="7369812" cy="396000"/>
              <a:chOff x="2568529" y="1422822"/>
              <a:chExt cx="7369812" cy="396000"/>
            </a:xfrm>
          </p:grpSpPr>
          <p:sp>
            <p:nvSpPr>
              <p:cNvPr id="198" name="矩形 197"/>
              <p:cNvSpPr/>
              <p:nvPr/>
            </p:nvSpPr>
            <p:spPr>
              <a:xfrm>
                <a:off x="2568529" y="1422822"/>
                <a:ext cx="7369812" cy="396000"/>
              </a:xfrm>
              <a:prstGeom prst="rect">
                <a:avLst/>
              </a:prstGeom>
              <a:noFill/>
              <a:ln w="158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rgbClr val="006EFF">
                  <a:shade val="50000"/>
                </a:srgbClr>
              </a:lnRef>
              <a:fillRef idx="1">
                <a:srgbClr val="006EFF"/>
              </a:fillRef>
              <a:effectRef idx="0">
                <a:srgbClr val="006EFF"/>
              </a:effectRef>
              <a:fontRef idx="minor">
                <a:srgbClr val="FFFFFF"/>
              </a:fontRef>
            </p:style>
            <p:txBody>
              <a:bodyPr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 defTabSz="914310"/>
                <a:endParaRPr lang="zh-CN" altLang="en-US" sz="1400" b="1">
                  <a:sym typeface="+mn-lt"/>
                </a:endParaRPr>
              </a:p>
            </p:txBody>
          </p:sp>
          <p:sp>
            <p:nvSpPr>
              <p:cNvPr id="199" name="矩形 198"/>
              <p:cNvSpPr/>
              <p:nvPr/>
            </p:nvSpPr>
            <p:spPr>
              <a:xfrm>
                <a:off x="5190395" y="1505245"/>
                <a:ext cx="2124000" cy="231140"/>
              </a:xfrm>
              <a:prstGeom prst="rect">
                <a:avLst/>
              </a:prstGeom>
              <a:solidFill>
                <a:srgbClr val="006EFF"/>
              </a:solidFill>
              <a:ln>
                <a:noFill/>
              </a:ln>
            </p:spPr>
            <p:style>
              <a:lnRef idx="2">
                <a:srgbClr val="006EFF">
                  <a:shade val="50000"/>
                </a:srgbClr>
              </a:lnRef>
              <a:fillRef idx="1">
                <a:srgbClr val="006EFF"/>
              </a:fillRef>
              <a:effectRef idx="0">
                <a:srgbClr val="006EFF"/>
              </a:effectRef>
              <a:fontRef idx="minor">
                <a:srgbClr val="FFFFFF"/>
              </a:fontRef>
            </p:style>
            <p:txBody>
              <a:bodyPr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 defTabSz="914310"/>
                <a:r>
                  <a:rPr lang="zh-CN" altLang="en-US" sz="900" b="1" kern="0" dirty="0">
                    <a:solidFill>
                      <a:prstClr val="white"/>
                    </a:solidFill>
                    <a:sym typeface="+mn-ea"/>
                  </a:rPr>
                  <a:t>服务创新生态</a:t>
                </a:r>
              </a:p>
            </p:txBody>
          </p:sp>
          <p:sp>
            <p:nvSpPr>
              <p:cNvPr id="200" name="矩形 199"/>
              <p:cNvSpPr/>
              <p:nvPr>
                <p:custDataLst>
                  <p:tags r:id="rId1"/>
                </p:custDataLst>
              </p:nvPr>
            </p:nvSpPr>
            <p:spPr>
              <a:xfrm>
                <a:off x="2854028" y="1505245"/>
                <a:ext cx="2124000" cy="231140"/>
              </a:xfrm>
              <a:prstGeom prst="rect">
                <a:avLst/>
              </a:prstGeom>
              <a:solidFill>
                <a:srgbClr val="006EFF"/>
              </a:solidFill>
              <a:ln>
                <a:noFill/>
              </a:ln>
            </p:spPr>
            <p:style>
              <a:lnRef idx="2">
                <a:srgbClr val="006EFF">
                  <a:shade val="50000"/>
                </a:srgbClr>
              </a:lnRef>
              <a:fillRef idx="1">
                <a:srgbClr val="006EFF"/>
              </a:fillRef>
              <a:effectRef idx="0">
                <a:srgbClr val="006EFF"/>
              </a:effectRef>
              <a:fontRef idx="minor">
                <a:srgbClr val="FFFFFF"/>
              </a:fontRef>
            </p:style>
            <p:txBody>
              <a:bodyPr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 defTabSz="914310"/>
                <a:r>
                  <a:rPr lang="zh-CN" altLang="en-US" sz="900" b="1" kern="0" dirty="0">
                    <a:solidFill>
                      <a:prstClr val="white"/>
                    </a:solidFill>
                    <a:sym typeface="+mn-ea"/>
                  </a:rPr>
                  <a:t>支持战略决策</a:t>
                </a:r>
              </a:p>
            </p:txBody>
          </p:sp>
          <p:sp>
            <p:nvSpPr>
              <p:cNvPr id="201" name="矩形 200"/>
              <p:cNvSpPr/>
              <p:nvPr>
                <p:custDataLst>
                  <p:tags r:id="rId2"/>
                </p:custDataLst>
              </p:nvPr>
            </p:nvSpPr>
            <p:spPr>
              <a:xfrm>
                <a:off x="7526762" y="1512229"/>
                <a:ext cx="2124000" cy="217171"/>
              </a:xfrm>
              <a:prstGeom prst="rect">
                <a:avLst/>
              </a:prstGeom>
              <a:solidFill>
                <a:srgbClr val="006EFF"/>
              </a:solidFill>
              <a:ln>
                <a:noFill/>
              </a:ln>
            </p:spPr>
            <p:style>
              <a:lnRef idx="2">
                <a:srgbClr val="006EFF">
                  <a:shade val="50000"/>
                </a:srgbClr>
              </a:lnRef>
              <a:fillRef idx="1">
                <a:srgbClr val="006EFF"/>
              </a:fillRef>
              <a:effectRef idx="0">
                <a:srgbClr val="006EFF"/>
              </a:effectRef>
              <a:fontRef idx="minor">
                <a:srgbClr val="FFFFFF"/>
              </a:fontRef>
            </p:style>
            <p:txBody>
              <a:bodyPr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 defTabSz="914310"/>
                <a:r>
                  <a:rPr lang="zh-CN" altLang="en-US" sz="900" b="1" kern="0" dirty="0">
                    <a:solidFill>
                      <a:prstClr val="white"/>
                    </a:solidFill>
                    <a:sym typeface="+mn-ea"/>
                  </a:rPr>
                  <a:t>赋能产业发展</a:t>
                </a:r>
              </a:p>
            </p:txBody>
          </p:sp>
        </p:grpSp>
        <p:grpSp>
          <p:nvGrpSpPr>
            <p:cNvPr id="195" name="组合 194"/>
            <p:cNvGrpSpPr/>
            <p:nvPr/>
          </p:nvGrpSpPr>
          <p:grpSpPr>
            <a:xfrm>
              <a:off x="3651383" y="2708984"/>
              <a:ext cx="5188711" cy="288000"/>
              <a:chOff x="2741276" y="1762372"/>
              <a:chExt cx="3891533" cy="561150"/>
            </a:xfrm>
          </p:grpSpPr>
          <p:sp>
            <p:nvSpPr>
              <p:cNvPr id="196" name="形状"/>
              <p:cNvSpPr/>
              <p:nvPr/>
            </p:nvSpPr>
            <p:spPr>
              <a:xfrm flipH="1">
                <a:off x="2741276" y="1762372"/>
                <a:ext cx="382479" cy="56115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400" y="21600"/>
                    </a:moveTo>
                    <a:lnTo>
                      <a:pt x="20400" y="21600"/>
                    </a:lnTo>
                    <a:lnTo>
                      <a:pt x="14400" y="4563"/>
                    </a:lnTo>
                    <a:lnTo>
                      <a:pt x="21600" y="4563"/>
                    </a:lnTo>
                    <a:lnTo>
                      <a:pt x="10750" y="0"/>
                    </a:lnTo>
                    <a:lnTo>
                      <a:pt x="0" y="4563"/>
                    </a:lnTo>
                    <a:lnTo>
                      <a:pt x="7200" y="4563"/>
                    </a:lnTo>
                    <a:lnTo>
                      <a:pt x="2400" y="21600"/>
                    </a:lnTo>
                    <a:close/>
                  </a:path>
                </a:pathLst>
              </a:custGeom>
              <a:gradFill>
                <a:gsLst>
                  <a:gs pos="0">
                    <a:srgbClr val="FFFFFF"/>
                  </a:gs>
                  <a:gs pos="100000">
                    <a:srgbClr val="DDDDDD"/>
                  </a:gs>
                </a:gsLst>
                <a:lin ang="16200000"/>
              </a:gradFill>
              <a:ln w="12700">
                <a:miter lim="400000"/>
              </a:ln>
            </p:spPr>
            <p:txBody>
              <a:bodyPr lIns="0" tIns="0" rIns="0" bIns="0"/>
              <a:lstStyle/>
              <a:p>
                <a:pPr defTabSz="914310">
                  <a:defRPr sz="2400"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pPr>
                <a:endParaRPr sz="2400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197" name="形状"/>
              <p:cNvSpPr/>
              <p:nvPr/>
            </p:nvSpPr>
            <p:spPr>
              <a:xfrm flipH="1">
                <a:off x="6250330" y="1762372"/>
                <a:ext cx="382479" cy="56115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400" y="21600"/>
                    </a:moveTo>
                    <a:lnTo>
                      <a:pt x="20400" y="21600"/>
                    </a:lnTo>
                    <a:lnTo>
                      <a:pt x="14400" y="4563"/>
                    </a:lnTo>
                    <a:lnTo>
                      <a:pt x="21600" y="4563"/>
                    </a:lnTo>
                    <a:lnTo>
                      <a:pt x="10750" y="0"/>
                    </a:lnTo>
                    <a:lnTo>
                      <a:pt x="0" y="4563"/>
                    </a:lnTo>
                    <a:lnTo>
                      <a:pt x="7200" y="4563"/>
                    </a:lnTo>
                    <a:lnTo>
                      <a:pt x="2400" y="21600"/>
                    </a:lnTo>
                    <a:close/>
                  </a:path>
                </a:pathLst>
              </a:custGeom>
              <a:gradFill>
                <a:gsLst>
                  <a:gs pos="0">
                    <a:srgbClr val="FFFFFF"/>
                  </a:gs>
                  <a:gs pos="100000">
                    <a:srgbClr val="DDDDDD"/>
                  </a:gs>
                </a:gsLst>
                <a:lin ang="16200000"/>
              </a:gradFill>
              <a:ln w="12700">
                <a:miter lim="400000"/>
              </a:ln>
            </p:spPr>
            <p:txBody>
              <a:bodyPr lIns="0" tIns="0" rIns="0" bIns="0"/>
              <a:lstStyle/>
              <a:p>
                <a:pPr defTabSz="914310">
                  <a:defRPr sz="2400"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pPr>
                <a:endParaRPr sz="2400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</p:grpSp>
      </p:grpSp>
      <p:grpSp>
        <p:nvGrpSpPr>
          <p:cNvPr id="211" name="组合 210"/>
          <p:cNvGrpSpPr/>
          <p:nvPr/>
        </p:nvGrpSpPr>
        <p:grpSpPr>
          <a:xfrm>
            <a:off x="7526483" y="897564"/>
            <a:ext cx="1259069" cy="378000"/>
            <a:chOff x="10035309" y="1204683"/>
            <a:chExt cx="1678759" cy="540000"/>
          </a:xfrm>
        </p:grpSpPr>
        <p:sp>
          <p:nvSpPr>
            <p:cNvPr id="212" name="矩形 211"/>
            <p:cNvSpPr/>
            <p:nvPr/>
          </p:nvSpPr>
          <p:spPr>
            <a:xfrm>
              <a:off x="10035309" y="1204683"/>
              <a:ext cx="1678759" cy="540000"/>
            </a:xfrm>
            <a:prstGeom prst="rect">
              <a:avLst/>
            </a:prstGeom>
            <a:no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rgbClr val="006EFF">
                <a:lumMod val="75000"/>
              </a:srgbClr>
            </a:lnRef>
            <a:fillRef idx="1">
              <a:srgbClr val="006EFF"/>
            </a:fillRef>
            <a:effectRef idx="0">
              <a:srgbClr val="FFFFFF"/>
            </a:effectRef>
            <a:fontRef idx="minor">
              <a:srgbClr val="FFFFFF"/>
            </a:fontRef>
          </p:style>
          <p:txBody>
            <a:bodyPr lIns="68579" tIns="34289" rIns="68579" bIns="34289" rtlCol="0" anchor="ctr"/>
            <a:lstStyle/>
            <a:p>
              <a:pPr algn="ctr" defTabSz="914310"/>
              <a:endParaRPr lang="zh-CN" altLang="en-US" sz="1400"/>
            </a:p>
          </p:txBody>
        </p:sp>
        <p:sp>
          <p:nvSpPr>
            <p:cNvPr id="213" name="文本框 160"/>
            <p:cNvSpPr txBox="1"/>
            <p:nvPr/>
          </p:nvSpPr>
          <p:spPr>
            <a:xfrm>
              <a:off x="10035309" y="1210874"/>
              <a:ext cx="1678759" cy="52761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 anchor="ctr">
              <a:spAutoFit/>
            </a:bodyPr>
            <a:lstStyle/>
            <a:p>
              <a:pPr algn="ctr" defTabSz="914310">
                <a:lnSpc>
                  <a:spcPct val="150000"/>
                </a:lnSpc>
              </a:pPr>
              <a:r>
                <a:rPr lang="zh-CN" altLang="en-US" sz="1200" dirty="0">
                  <a:solidFill>
                    <a:srgbClr val="000000"/>
                  </a:solidFill>
                </a:rPr>
                <a:t>人才队伍建设</a:t>
              </a:r>
              <a:endParaRPr lang="en-US" altLang="zh-CN" sz="1200" dirty="0">
                <a:solidFill>
                  <a:srgbClr val="000000"/>
                </a:solidFill>
              </a:endParaRPr>
            </a:p>
          </p:txBody>
        </p:sp>
      </p:grpSp>
      <p:grpSp>
        <p:nvGrpSpPr>
          <p:cNvPr id="214" name="组合 213"/>
          <p:cNvGrpSpPr/>
          <p:nvPr/>
        </p:nvGrpSpPr>
        <p:grpSpPr>
          <a:xfrm>
            <a:off x="595702" y="4133669"/>
            <a:ext cx="1259071" cy="778403"/>
            <a:chOff x="794268" y="5511555"/>
            <a:chExt cx="1678761" cy="1037869"/>
          </a:xfrm>
        </p:grpSpPr>
        <p:sp>
          <p:nvSpPr>
            <p:cNvPr id="216" name="形状"/>
            <p:cNvSpPr/>
            <p:nvPr/>
          </p:nvSpPr>
          <p:spPr>
            <a:xfrm rot="10800000" flipH="1">
              <a:off x="794270" y="6187318"/>
              <a:ext cx="382479" cy="36210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400" y="21600"/>
                  </a:moveTo>
                  <a:lnTo>
                    <a:pt x="20400" y="21600"/>
                  </a:lnTo>
                  <a:lnTo>
                    <a:pt x="14400" y="4563"/>
                  </a:lnTo>
                  <a:lnTo>
                    <a:pt x="21600" y="4563"/>
                  </a:lnTo>
                  <a:lnTo>
                    <a:pt x="10750" y="0"/>
                  </a:lnTo>
                  <a:lnTo>
                    <a:pt x="0" y="4563"/>
                  </a:lnTo>
                  <a:lnTo>
                    <a:pt x="7200" y="4563"/>
                  </a:lnTo>
                  <a:lnTo>
                    <a:pt x="2400" y="21600"/>
                  </a:lnTo>
                  <a:close/>
                </a:path>
              </a:pathLst>
            </a:custGeom>
            <a:gradFill>
              <a:gsLst>
                <a:gs pos="0">
                  <a:srgbClr val="FFFFFF"/>
                </a:gs>
                <a:gs pos="100000">
                  <a:srgbClr val="DDDDDD"/>
                </a:gs>
              </a:gsLst>
              <a:lin ang="16200000"/>
            </a:gradFill>
            <a:ln w="12700">
              <a:miter lim="400000"/>
            </a:ln>
          </p:spPr>
          <p:txBody>
            <a:bodyPr lIns="0" tIns="0" rIns="0" bIns="0"/>
            <a:lstStyle/>
            <a:p>
              <a:pPr defTabSz="685783">
                <a:defRPr sz="2400"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pPr>
              <a:endParaRPr>
                <a:solidFill>
                  <a:srgbClr val="333333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17" name="形状"/>
            <p:cNvSpPr/>
            <p:nvPr/>
          </p:nvSpPr>
          <p:spPr>
            <a:xfrm rot="10800000" flipH="1">
              <a:off x="2090550" y="6187318"/>
              <a:ext cx="382479" cy="36210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400" y="21600"/>
                  </a:moveTo>
                  <a:lnTo>
                    <a:pt x="20400" y="21600"/>
                  </a:lnTo>
                  <a:lnTo>
                    <a:pt x="14400" y="4563"/>
                  </a:lnTo>
                  <a:lnTo>
                    <a:pt x="21600" y="4563"/>
                  </a:lnTo>
                  <a:lnTo>
                    <a:pt x="10750" y="0"/>
                  </a:lnTo>
                  <a:lnTo>
                    <a:pt x="0" y="4563"/>
                  </a:lnTo>
                  <a:lnTo>
                    <a:pt x="7200" y="4563"/>
                  </a:lnTo>
                  <a:lnTo>
                    <a:pt x="2400" y="21600"/>
                  </a:lnTo>
                  <a:close/>
                </a:path>
              </a:pathLst>
            </a:custGeom>
            <a:gradFill>
              <a:gsLst>
                <a:gs pos="0">
                  <a:srgbClr val="FFFFFF"/>
                </a:gs>
                <a:gs pos="100000">
                  <a:srgbClr val="DDDDDD"/>
                </a:gs>
              </a:gsLst>
              <a:lin ang="16200000"/>
            </a:gradFill>
            <a:ln w="12700">
              <a:miter lim="400000"/>
            </a:ln>
          </p:spPr>
          <p:txBody>
            <a:bodyPr lIns="0" tIns="0" rIns="0" bIns="0"/>
            <a:lstStyle/>
            <a:p>
              <a:pPr defTabSz="685783">
                <a:defRPr sz="2400"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pPr>
              <a:endParaRPr>
                <a:solidFill>
                  <a:srgbClr val="333333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grpSp>
          <p:nvGrpSpPr>
            <p:cNvPr id="222" name="组合 221"/>
            <p:cNvGrpSpPr/>
            <p:nvPr/>
          </p:nvGrpSpPr>
          <p:grpSpPr>
            <a:xfrm>
              <a:off x="794270" y="5511555"/>
              <a:ext cx="1678759" cy="677107"/>
              <a:chOff x="600817" y="5701288"/>
              <a:chExt cx="1678759" cy="677107"/>
            </a:xfrm>
          </p:grpSpPr>
          <p:sp>
            <p:nvSpPr>
              <p:cNvPr id="227" name="矩形 226"/>
              <p:cNvSpPr/>
              <p:nvPr/>
            </p:nvSpPr>
            <p:spPr>
              <a:xfrm>
                <a:off x="600817" y="5706632"/>
                <a:ext cx="1678759" cy="666419"/>
              </a:xfrm>
              <a:prstGeom prst="rect">
                <a:avLst/>
              </a:prstGeom>
              <a:noFill/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rgbClr val="006EFF">
                  <a:lumMod val="75000"/>
                </a:srgbClr>
              </a:lnRef>
              <a:fillRef idx="1">
                <a:srgbClr val="006EFF"/>
              </a:fillRef>
              <a:effectRef idx="0">
                <a:srgbClr val="FFFFFF"/>
              </a:effectRef>
              <a:fontRef idx="minor">
                <a:srgbClr val="FFFFFF"/>
              </a:fontRef>
            </p:style>
            <p:txBody>
              <a:bodyPr rtlCol="0" anchor="ctr"/>
              <a:lstStyle/>
              <a:p>
                <a:pPr algn="ctr" defTabSz="914310"/>
                <a:endParaRPr lang="zh-CN" altLang="en-US" sz="1200">
                  <a:sym typeface="+mn-lt"/>
                </a:endParaRPr>
              </a:p>
            </p:txBody>
          </p:sp>
          <p:sp>
            <p:nvSpPr>
              <p:cNvPr id="229" name="文本框 160"/>
              <p:cNvSpPr txBox="1"/>
              <p:nvPr/>
            </p:nvSpPr>
            <p:spPr>
              <a:xfrm>
                <a:off x="600817" y="5701288"/>
                <a:ext cx="1678759" cy="6771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 anchor="ctr">
                <a:spAutoFit/>
              </a:bodyPr>
              <a:lstStyle/>
              <a:p>
                <a:pPr algn="ctr" defTabSz="914310">
                  <a:lnSpc>
                    <a:spcPct val="150000"/>
                  </a:lnSpc>
                </a:pPr>
                <a:r>
                  <a:rPr lang="zh-CN" altLang="en-US" sz="900" b="1" dirty="0">
                    <a:solidFill>
                      <a:srgbClr val="000000"/>
                    </a:solidFill>
                  </a:rPr>
                  <a:t>数据开放创新应用实验室</a:t>
                </a:r>
                <a:r>
                  <a:rPr lang="en-US" altLang="zh-CN" sz="900" b="1" dirty="0">
                    <a:solidFill>
                      <a:srgbClr val="000000"/>
                    </a:solidFill>
                  </a:rPr>
                  <a:t>(</a:t>
                </a:r>
                <a:r>
                  <a:rPr lang="zh-CN" altLang="en-US" sz="900" b="1" dirty="0">
                    <a:solidFill>
                      <a:srgbClr val="000000"/>
                    </a:solidFill>
                  </a:rPr>
                  <a:t>省大数据局批复</a:t>
                </a:r>
                <a:r>
                  <a:rPr lang="en-US" altLang="zh-CN" sz="900" b="1" dirty="0">
                    <a:solidFill>
                      <a:srgbClr val="000000"/>
                    </a:solidFill>
                  </a:rPr>
                  <a:t>)</a:t>
                </a:r>
              </a:p>
            </p:txBody>
          </p:sp>
        </p:grpSp>
        <p:sp>
          <p:nvSpPr>
            <p:cNvPr id="223" name="文本框 51"/>
            <p:cNvSpPr txBox="1"/>
            <p:nvPr/>
          </p:nvSpPr>
          <p:spPr>
            <a:xfrm>
              <a:off x="794268" y="6241052"/>
              <a:ext cx="1674706" cy="254635"/>
            </a:xfrm>
            <a:prstGeom prst="rect">
              <a:avLst/>
            </a:prstGeom>
            <a:noFill/>
          </p:spPr>
          <p:txBody>
            <a:bodyPr wrap="square">
              <a:noAutofit/>
            </a:bodyPr>
            <a:lstStyle/>
            <a:p>
              <a:pPr algn="ctr" defTabSz="914310"/>
              <a:r>
                <a:rPr lang="zh-CN" altLang="en-US" sz="800" b="1" dirty="0">
                  <a:solidFill>
                    <a:srgbClr val="000000"/>
                  </a:solidFill>
                  <a:sym typeface="+mn-lt"/>
                </a:rPr>
                <a:t>对外</a:t>
              </a:r>
            </a:p>
          </p:txBody>
        </p:sp>
      </p:grpSp>
      <p:grpSp>
        <p:nvGrpSpPr>
          <p:cNvPr id="231" name="组合 230"/>
          <p:cNvGrpSpPr/>
          <p:nvPr/>
        </p:nvGrpSpPr>
        <p:grpSpPr>
          <a:xfrm>
            <a:off x="7525401" y="4133659"/>
            <a:ext cx="1260150" cy="778407"/>
            <a:chOff x="10033868" y="5511548"/>
            <a:chExt cx="1680200" cy="1037876"/>
          </a:xfrm>
        </p:grpSpPr>
        <p:sp>
          <p:nvSpPr>
            <p:cNvPr id="235" name="形状"/>
            <p:cNvSpPr/>
            <p:nvPr/>
          </p:nvSpPr>
          <p:spPr>
            <a:xfrm rot="10800000" flipH="1">
              <a:off x="10033868" y="6187318"/>
              <a:ext cx="382479" cy="36210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400" y="21600"/>
                  </a:moveTo>
                  <a:lnTo>
                    <a:pt x="20400" y="21600"/>
                  </a:lnTo>
                  <a:lnTo>
                    <a:pt x="14400" y="4563"/>
                  </a:lnTo>
                  <a:lnTo>
                    <a:pt x="21600" y="4563"/>
                  </a:lnTo>
                  <a:lnTo>
                    <a:pt x="10750" y="0"/>
                  </a:lnTo>
                  <a:lnTo>
                    <a:pt x="0" y="4563"/>
                  </a:lnTo>
                  <a:lnTo>
                    <a:pt x="7200" y="4563"/>
                  </a:lnTo>
                  <a:lnTo>
                    <a:pt x="2400" y="21600"/>
                  </a:lnTo>
                  <a:close/>
                </a:path>
              </a:pathLst>
            </a:custGeom>
            <a:gradFill>
              <a:gsLst>
                <a:gs pos="0">
                  <a:srgbClr val="FFFFFF"/>
                </a:gs>
                <a:gs pos="100000">
                  <a:srgbClr val="DDDDDD"/>
                </a:gs>
              </a:gsLst>
              <a:lin ang="16200000"/>
            </a:gradFill>
            <a:ln w="12700">
              <a:miter lim="400000"/>
            </a:ln>
          </p:spPr>
          <p:txBody>
            <a:bodyPr lIns="0" tIns="0" rIns="0" bIns="0"/>
            <a:lstStyle/>
            <a:p>
              <a:pPr defTabSz="685783">
                <a:defRPr sz="2400"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pPr>
              <a:endParaRPr>
                <a:solidFill>
                  <a:srgbClr val="333333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41" name="形状"/>
            <p:cNvSpPr/>
            <p:nvPr/>
          </p:nvSpPr>
          <p:spPr>
            <a:xfrm rot="10800000" flipH="1">
              <a:off x="11330148" y="6187318"/>
              <a:ext cx="382479" cy="36210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400" y="21600"/>
                  </a:moveTo>
                  <a:lnTo>
                    <a:pt x="20400" y="21600"/>
                  </a:lnTo>
                  <a:lnTo>
                    <a:pt x="14400" y="4563"/>
                  </a:lnTo>
                  <a:lnTo>
                    <a:pt x="21600" y="4563"/>
                  </a:lnTo>
                  <a:lnTo>
                    <a:pt x="10750" y="0"/>
                  </a:lnTo>
                  <a:lnTo>
                    <a:pt x="0" y="4563"/>
                  </a:lnTo>
                  <a:lnTo>
                    <a:pt x="7200" y="4563"/>
                  </a:lnTo>
                  <a:lnTo>
                    <a:pt x="2400" y="21600"/>
                  </a:lnTo>
                  <a:close/>
                </a:path>
              </a:pathLst>
            </a:custGeom>
            <a:gradFill>
              <a:gsLst>
                <a:gs pos="0">
                  <a:srgbClr val="FFFFFF"/>
                </a:gs>
                <a:gs pos="100000">
                  <a:srgbClr val="DDDDDD"/>
                </a:gs>
              </a:gsLst>
              <a:lin ang="16200000"/>
            </a:gradFill>
            <a:ln w="12700">
              <a:miter lim="400000"/>
            </a:ln>
          </p:spPr>
          <p:txBody>
            <a:bodyPr lIns="0" tIns="0" rIns="0" bIns="0"/>
            <a:lstStyle/>
            <a:p>
              <a:pPr defTabSz="685783">
                <a:defRPr sz="2400"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pPr>
              <a:endParaRPr>
                <a:solidFill>
                  <a:srgbClr val="333333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grpSp>
          <p:nvGrpSpPr>
            <p:cNvPr id="250" name="组合 249"/>
            <p:cNvGrpSpPr/>
            <p:nvPr/>
          </p:nvGrpSpPr>
          <p:grpSpPr>
            <a:xfrm>
              <a:off x="10033869" y="5511548"/>
              <a:ext cx="1678758" cy="677108"/>
              <a:chOff x="600817" y="5701289"/>
              <a:chExt cx="1678759" cy="677108"/>
            </a:xfrm>
          </p:grpSpPr>
          <p:sp>
            <p:nvSpPr>
              <p:cNvPr id="257" name="矩形 256"/>
              <p:cNvSpPr/>
              <p:nvPr/>
            </p:nvSpPr>
            <p:spPr>
              <a:xfrm>
                <a:off x="600817" y="5706632"/>
                <a:ext cx="1678759" cy="666419"/>
              </a:xfrm>
              <a:prstGeom prst="rect">
                <a:avLst/>
              </a:prstGeom>
              <a:noFill/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rgbClr val="006EFF">
                  <a:lumMod val="75000"/>
                </a:srgbClr>
              </a:lnRef>
              <a:fillRef idx="1">
                <a:srgbClr val="006EFF"/>
              </a:fillRef>
              <a:effectRef idx="0">
                <a:srgbClr val="FFFFFF"/>
              </a:effectRef>
              <a:fontRef idx="minor">
                <a:srgbClr val="FFFFFF"/>
              </a:fontRef>
            </p:style>
            <p:txBody>
              <a:bodyPr rtlCol="0" anchor="ctr"/>
              <a:lstStyle/>
              <a:p>
                <a:pPr algn="ctr" defTabSz="914310"/>
                <a:endParaRPr lang="zh-CN" altLang="en-US" sz="1200">
                  <a:sym typeface="+mn-lt"/>
                </a:endParaRPr>
              </a:p>
            </p:txBody>
          </p:sp>
          <p:sp>
            <p:nvSpPr>
              <p:cNvPr id="258" name="文本框 160"/>
              <p:cNvSpPr txBox="1"/>
              <p:nvPr/>
            </p:nvSpPr>
            <p:spPr>
              <a:xfrm>
                <a:off x="600817" y="5701289"/>
                <a:ext cx="1678759" cy="67710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 anchor="ctr">
                <a:spAutoFit/>
              </a:bodyPr>
              <a:lstStyle/>
              <a:p>
                <a:pPr algn="ctr" defTabSz="914310">
                  <a:lnSpc>
                    <a:spcPct val="150000"/>
                  </a:lnSpc>
                </a:pPr>
                <a:r>
                  <a:rPr lang="zh-CN" altLang="en-US" sz="900" b="1" dirty="0">
                    <a:solidFill>
                      <a:srgbClr val="000000"/>
                    </a:solidFill>
                  </a:rPr>
                  <a:t>人工智能</a:t>
                </a:r>
                <a:endParaRPr lang="en-US" altLang="zh-CN" sz="900" b="1" dirty="0">
                  <a:solidFill>
                    <a:srgbClr val="000000"/>
                  </a:solidFill>
                </a:endParaRPr>
              </a:p>
              <a:p>
                <a:pPr algn="ctr" defTabSz="914310">
                  <a:lnSpc>
                    <a:spcPct val="150000"/>
                  </a:lnSpc>
                </a:pPr>
                <a:r>
                  <a:rPr lang="zh-CN" altLang="en-US" sz="900" b="1" dirty="0">
                    <a:solidFill>
                      <a:srgbClr val="000000"/>
                    </a:solidFill>
                  </a:rPr>
                  <a:t>创新中心</a:t>
                </a:r>
              </a:p>
            </p:txBody>
          </p:sp>
        </p:grpSp>
        <p:sp>
          <p:nvSpPr>
            <p:cNvPr id="256" name="文本框 51"/>
            <p:cNvSpPr txBox="1"/>
            <p:nvPr/>
          </p:nvSpPr>
          <p:spPr>
            <a:xfrm>
              <a:off x="10039362" y="6241051"/>
              <a:ext cx="1674706" cy="254635"/>
            </a:xfrm>
            <a:prstGeom prst="rect">
              <a:avLst/>
            </a:prstGeom>
            <a:noFill/>
          </p:spPr>
          <p:txBody>
            <a:bodyPr wrap="square">
              <a:noAutofit/>
            </a:bodyPr>
            <a:lstStyle/>
            <a:p>
              <a:pPr algn="ctr" defTabSz="914310"/>
              <a:r>
                <a:rPr lang="zh-CN" altLang="en-US" sz="800" b="1" dirty="0">
                  <a:solidFill>
                    <a:srgbClr val="000000"/>
                  </a:solidFill>
                  <a:sym typeface="+mn-lt"/>
                </a:rPr>
                <a:t>对外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190024" y="730092"/>
            <a:ext cx="8687276" cy="483870"/>
          </a:xfrm>
          <a:prstGeom prst="rect">
            <a:avLst/>
          </a:prstGeom>
          <a:noFill/>
        </p:spPr>
        <p:txBody>
          <a:bodyPr wrap="square" lIns="68579" tIns="34289" rIns="68579" bIns="34289" rtlCol="0" anchor="ctr">
            <a:spAutoFit/>
          </a:bodyPr>
          <a:lstStyle>
            <a:defPPr>
              <a:defRPr lang="zh-CN"/>
            </a:defPPr>
            <a:lvl1pPr marL="285750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Ø"/>
              <a:defRPr sz="1600" b="1"/>
            </a:lvl1pPr>
          </a:lstStyle>
          <a:p>
            <a:pPr defTabSz="685800">
              <a:buFont typeface="Wingdings" panose="05000000000000000000" charset="0"/>
              <a:buChar char="p"/>
            </a:pPr>
            <a:r>
              <a:rPr lang="zh-CN" altLang="en-US" sz="900" b="0" dirty="0">
                <a:solidFill>
                  <a:srgbClr val="000000"/>
                </a:solidFill>
                <a:latin typeface="微软雅黑" pitchFamily="34" charset="-122"/>
                <a:cs typeface="汉仪旗黑-55简" panose="00020600040101010101" charset="-128"/>
                <a:sym typeface="+mn-ea"/>
              </a:rPr>
              <a:t>构建“</a:t>
            </a:r>
            <a:r>
              <a:rPr lang="zh-CN" altLang="en-US" sz="900" dirty="0">
                <a:solidFill>
                  <a:srgbClr val="2E75B6"/>
                </a:solidFill>
                <a:latin typeface="微软雅黑" pitchFamily="34" charset="-122"/>
                <a:cs typeface="汉仪旗黑-55简" panose="00020600040101010101" charset="-128"/>
                <a:sym typeface="+mn-ea"/>
              </a:rPr>
              <a:t>人工智能+”智库服务、“人工智能+”成果转化、“人工智能+”产业</a:t>
            </a:r>
            <a:r>
              <a:rPr lang="zh-CN" altLang="en-US" sz="900" b="0" dirty="0">
                <a:solidFill>
                  <a:srgbClr val="000000"/>
                </a:solidFill>
                <a:latin typeface="微软雅黑" pitchFamily="34" charset="-122"/>
                <a:cs typeface="汉仪旗黑-55简" panose="00020600040101010101" charset="-128"/>
                <a:sym typeface="+mn-ea"/>
              </a:rPr>
              <a:t>等垂类模型，服务智库，服务科技企业、服务高校院所等，通过持续运营逐步完善中心建设水平和服务场景，推动</a:t>
            </a:r>
            <a:r>
              <a:rPr lang="en-US" altLang="zh-CN" sz="900" b="0" dirty="0">
                <a:solidFill>
                  <a:srgbClr val="000000"/>
                </a:solidFill>
                <a:latin typeface="微软雅黑" pitchFamily="34" charset="-122"/>
                <a:cs typeface="汉仪旗黑-55简" panose="00020600040101010101" charset="-128"/>
                <a:sym typeface="+mn-ea"/>
              </a:rPr>
              <a:t>AI</a:t>
            </a:r>
            <a:r>
              <a:rPr lang="zh-CN" altLang="en-US" sz="900" b="0" dirty="0">
                <a:solidFill>
                  <a:srgbClr val="000000"/>
                </a:solidFill>
                <a:latin typeface="微软雅黑" pitchFamily="34" charset="-122"/>
                <a:cs typeface="汉仪旗黑-55简" panose="00020600040101010101" charset="-128"/>
                <a:sym typeface="+mn-ea"/>
              </a:rPr>
              <a:t>生态集聚及项目孵化，助力全省新质生产力加速形成。</a:t>
            </a:r>
          </a:p>
        </p:txBody>
      </p:sp>
      <p:sp>
        <p:nvSpPr>
          <p:cNvPr id="8" name="矩形: 圆角 30"/>
          <p:cNvSpPr/>
          <p:nvPr/>
        </p:nvSpPr>
        <p:spPr>
          <a:xfrm>
            <a:off x="1432085" y="1758316"/>
            <a:ext cx="5510213" cy="630555"/>
          </a:xfrm>
          <a:prstGeom prst="roundRect">
            <a:avLst>
              <a:gd name="adj" fmla="val 3769"/>
            </a:avLst>
          </a:prstGeom>
          <a:solidFill>
            <a:schemeClr val="bg1"/>
          </a:solidFill>
          <a:ln w="12700">
            <a:solidFill>
              <a:srgbClr val="B9C9E9"/>
            </a:solidFill>
          </a:ln>
          <a:effectLst>
            <a:outerShdw blurRad="254000" dist="38100" dir="4200000" algn="tl" rotWithShape="0">
              <a:srgbClr val="5B9BD5">
                <a:alpha val="19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79" tIns="34289" rIns="68579" bIns="34289" rtlCol="0" anchor="ctr"/>
          <a:lstStyle/>
          <a:p>
            <a:pPr algn="ctr" defTabSz="685800"/>
            <a:endParaRPr lang="zh-CN" altLang="en-US" sz="1400" dirty="0">
              <a:solidFill>
                <a:srgbClr val="FFFFFF"/>
              </a:solidFill>
            </a:endParaRPr>
          </a:p>
        </p:txBody>
      </p:sp>
      <p:sp>
        <p:nvSpPr>
          <p:cNvPr id="9" name="矩形: 圆角 31"/>
          <p:cNvSpPr/>
          <p:nvPr/>
        </p:nvSpPr>
        <p:spPr>
          <a:xfrm>
            <a:off x="1421606" y="2482692"/>
            <a:ext cx="2747010" cy="458153"/>
          </a:xfrm>
          <a:prstGeom prst="roundRect">
            <a:avLst>
              <a:gd name="adj" fmla="val 9526"/>
            </a:avLst>
          </a:prstGeom>
          <a:solidFill>
            <a:srgbClr val="4887D3"/>
          </a:solidFill>
          <a:ln w="12700">
            <a:gradFill>
              <a:gsLst>
                <a:gs pos="0">
                  <a:schemeClr val="bg1">
                    <a:alpha val="0"/>
                  </a:schemeClr>
                </a:gs>
                <a:gs pos="100000">
                  <a:schemeClr val="bg1"/>
                </a:gs>
              </a:gsLst>
              <a:lin ang="5400000" scaled="1"/>
            </a:gradFill>
          </a:ln>
          <a:effectLst>
            <a:outerShdw blurRad="254000" dist="38100" dir="4200000" algn="tl" rotWithShape="0">
              <a:srgbClr val="5B9BD5">
                <a:alpha val="19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79" tIns="34289" rIns="68579" bIns="34289" rtlCol="0" anchor="ctr"/>
          <a:lstStyle/>
          <a:p>
            <a:pPr algn="ctr" defTabSz="685800"/>
            <a:endParaRPr lang="zh-CN" altLang="en-US" sz="1400">
              <a:solidFill>
                <a:srgbClr val="FFFFFF"/>
              </a:solidFill>
            </a:endParaRPr>
          </a:p>
        </p:txBody>
      </p:sp>
      <p:sp>
        <p:nvSpPr>
          <p:cNvPr id="10" name="矩形: 圆角 32"/>
          <p:cNvSpPr/>
          <p:nvPr/>
        </p:nvSpPr>
        <p:spPr>
          <a:xfrm>
            <a:off x="4242437" y="2482691"/>
            <a:ext cx="2699861" cy="1746885"/>
          </a:xfrm>
          <a:prstGeom prst="roundRect">
            <a:avLst>
              <a:gd name="adj" fmla="val 9526"/>
            </a:avLst>
          </a:prstGeom>
          <a:solidFill>
            <a:srgbClr val="4887D3"/>
          </a:solidFill>
          <a:ln w="12700">
            <a:gradFill>
              <a:gsLst>
                <a:gs pos="0">
                  <a:schemeClr val="bg1">
                    <a:alpha val="0"/>
                  </a:schemeClr>
                </a:gs>
                <a:gs pos="100000">
                  <a:schemeClr val="bg1"/>
                </a:gs>
              </a:gsLst>
              <a:lin ang="5400000" scaled="1"/>
            </a:gradFill>
          </a:ln>
          <a:effectLst>
            <a:outerShdw blurRad="254000" dist="38100" dir="4200000" algn="tl" rotWithShape="0">
              <a:srgbClr val="5B9BD5">
                <a:alpha val="19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79" tIns="34289" rIns="68579" bIns="34289" rtlCol="0" anchor="ctr"/>
          <a:lstStyle/>
          <a:p>
            <a:pPr algn="ctr" defTabSz="685800"/>
            <a:endParaRPr lang="zh-CN" altLang="en-US" sz="1400" dirty="0">
              <a:solidFill>
                <a:srgbClr val="FFFFFF"/>
              </a:solidFill>
            </a:endParaRPr>
          </a:p>
        </p:txBody>
      </p:sp>
      <p:sp>
        <p:nvSpPr>
          <p:cNvPr id="11" name="矩形: 圆角 31"/>
          <p:cNvSpPr/>
          <p:nvPr/>
        </p:nvSpPr>
        <p:spPr>
          <a:xfrm>
            <a:off x="4307683" y="2688908"/>
            <a:ext cx="2568416" cy="1494473"/>
          </a:xfrm>
          <a:prstGeom prst="roundRect">
            <a:avLst>
              <a:gd name="adj" fmla="val 9526"/>
            </a:avLst>
          </a:prstGeom>
          <a:solidFill>
            <a:schemeClr val="bg1"/>
          </a:solidFill>
          <a:ln w="12700">
            <a:gradFill>
              <a:gsLst>
                <a:gs pos="0">
                  <a:schemeClr val="bg1">
                    <a:alpha val="0"/>
                  </a:schemeClr>
                </a:gs>
                <a:gs pos="100000">
                  <a:schemeClr val="bg1"/>
                </a:gs>
              </a:gsLst>
              <a:lin ang="5400000" scaled="1"/>
            </a:gradFill>
          </a:ln>
          <a:effectLst>
            <a:outerShdw blurRad="254000" dist="38100" dir="4200000" algn="tl" rotWithShape="0">
              <a:srgbClr val="5B9BD5">
                <a:alpha val="19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79" tIns="34289" rIns="68579" bIns="34289" rtlCol="0" anchor="ctr"/>
          <a:lstStyle/>
          <a:p>
            <a:pPr algn="ctr" defTabSz="685800"/>
            <a:endParaRPr lang="zh-CN" altLang="en-US" sz="1400">
              <a:solidFill>
                <a:srgbClr val="FFFFFF"/>
              </a:solidFill>
            </a:endParaRPr>
          </a:p>
        </p:txBody>
      </p:sp>
      <p:sp>
        <p:nvSpPr>
          <p:cNvPr id="12" name="矩形: 圆角 33"/>
          <p:cNvSpPr/>
          <p:nvPr/>
        </p:nvSpPr>
        <p:spPr>
          <a:xfrm>
            <a:off x="683420" y="1224916"/>
            <a:ext cx="7242334" cy="298609"/>
          </a:xfrm>
          <a:prstGeom prst="roundRect">
            <a:avLst>
              <a:gd name="adj" fmla="val 13893"/>
            </a:avLst>
          </a:prstGeom>
          <a:solidFill>
            <a:schemeClr val="bg1"/>
          </a:solidFill>
          <a:ln w="12700">
            <a:solidFill>
              <a:srgbClr val="B9C9E9"/>
            </a:solidFill>
          </a:ln>
          <a:effectLst>
            <a:outerShdw blurRad="254000" dist="38100" dir="4200000" algn="tl" rotWithShape="0">
              <a:srgbClr val="5B9BD5">
                <a:alpha val="19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79" tIns="34289" rIns="68579" bIns="34289" rtlCol="0" anchor="ctr"/>
          <a:lstStyle/>
          <a:p>
            <a:pPr algn="ctr" defTabSz="685800"/>
            <a:endParaRPr lang="zh-CN" altLang="en-US" sz="1400" dirty="0">
              <a:solidFill>
                <a:srgbClr val="FFFFFF"/>
              </a:solidFill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1458754" y="1757840"/>
            <a:ext cx="421958" cy="599599"/>
          </a:xfrm>
          <a:prstGeom prst="rect">
            <a:avLst/>
          </a:prstGeom>
          <a:noFill/>
          <a:ln w="12700" cap="flat" cmpd="sng" algn="ctr">
            <a:noFill/>
            <a:prstDash val="lgDash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>
                    <a:lumMod val="65000"/>
                    <a:alpha val="48000"/>
                  </a:schemeClr>
                </a:solidFill>
              </a14:hiddenFill>
            </a:ext>
          </a:extLst>
        </p:spPr>
        <p:txBody>
          <a:bodyPr vertOverflow="overflow" horzOverflow="overflow" vert="horz" wrap="square" lIns="68579" tIns="34289" rIns="68579" bIns="34289" numCol="1" spcCol="0" rtlCol="0" fromWordArt="0" anchor="ctr" anchorCtr="0" forceAA="0" compatLnSpc="1">
            <a:noAutofit/>
          </a:bodyPr>
          <a:lstStyle/>
          <a:p>
            <a:pPr algn="ctr" defTabSz="685800">
              <a:defRPr/>
            </a:pPr>
            <a:r>
              <a:rPr lang="zh-CN" altLang="en-US" sz="900" b="1" kern="0" dirty="0">
                <a:solidFill>
                  <a:srgbClr val="000000"/>
                </a:solidFill>
                <a:latin typeface="微软雅黑" pitchFamily="34" charset="-122"/>
                <a:sym typeface="+mn-ea"/>
              </a:rPr>
              <a:t>模型应用场景</a:t>
            </a:r>
          </a:p>
        </p:txBody>
      </p:sp>
      <p:sp>
        <p:nvSpPr>
          <p:cNvPr id="14" name="文本框 13"/>
          <p:cNvSpPr txBox="1"/>
          <p:nvPr>
            <p:custDataLst>
              <p:tags r:id="rId2"/>
            </p:custDataLst>
          </p:nvPr>
        </p:nvSpPr>
        <p:spPr>
          <a:xfrm>
            <a:off x="3547112" y="1871831"/>
            <a:ext cx="688181" cy="188595"/>
          </a:xfrm>
          <a:prstGeom prst="rect">
            <a:avLst/>
          </a:prstGeom>
          <a:solidFill>
            <a:srgbClr val="4887D3"/>
          </a:solidFill>
          <a:ln>
            <a:solidFill>
              <a:srgbClr val="FFFFFF">
                <a:lumMod val="85000"/>
              </a:srgbClr>
            </a:solidFill>
          </a:ln>
        </p:spPr>
        <p:txBody>
          <a:bodyPr wrap="square" lIns="0" tIns="34289" rIns="0" bIns="34289" rtlCol="0" anchor="ctr" anchorCtr="0">
            <a:noAutofit/>
          </a:bodyPr>
          <a:lstStyle/>
          <a:p>
            <a:pPr algn="ctr" defTabSz="685800"/>
            <a:r>
              <a:rPr lang="en-US" altLang="zh-CN" sz="800" kern="0" dirty="0">
                <a:solidFill>
                  <a:srgbClr val="FFFFFF"/>
                </a:solidFill>
                <a:latin typeface="微软雅黑" pitchFamily="34" charset="-122"/>
                <a:sym typeface="+mn-ea"/>
              </a:rPr>
              <a:t>AI</a:t>
            </a:r>
            <a:r>
              <a:rPr lang="zh-CN" altLang="en-US" sz="800" kern="0" dirty="0">
                <a:solidFill>
                  <a:srgbClr val="FFFFFF"/>
                </a:solidFill>
                <a:latin typeface="微软雅黑" pitchFamily="34" charset="-122"/>
                <a:sym typeface="+mn-ea"/>
              </a:rPr>
              <a:t>报告生成</a:t>
            </a:r>
          </a:p>
        </p:txBody>
      </p:sp>
      <p:sp>
        <p:nvSpPr>
          <p:cNvPr id="16" name="文本框 15"/>
          <p:cNvSpPr txBox="1"/>
          <p:nvPr/>
        </p:nvSpPr>
        <p:spPr>
          <a:xfrm>
            <a:off x="2161223" y="2073832"/>
            <a:ext cx="671513" cy="188595"/>
          </a:xfrm>
          <a:prstGeom prst="rect">
            <a:avLst/>
          </a:prstGeom>
          <a:solidFill>
            <a:srgbClr val="4887D3"/>
          </a:solidFill>
          <a:ln>
            <a:solidFill>
              <a:srgbClr val="FFFFFF">
                <a:lumMod val="85000"/>
              </a:srgbClr>
            </a:solidFill>
          </a:ln>
        </p:spPr>
        <p:txBody>
          <a:bodyPr wrap="square" lIns="0" tIns="34289" rIns="0" bIns="34289" rtlCol="0" anchor="ctr" anchorCtr="0">
            <a:noAutofit/>
          </a:bodyPr>
          <a:lstStyle/>
          <a:p>
            <a:pPr algn="ctr" defTabSz="685800"/>
            <a:r>
              <a:rPr lang="en-US" altLang="zh-CN" sz="800" kern="0" dirty="0">
                <a:solidFill>
                  <a:srgbClr val="FFFFFF"/>
                </a:solidFill>
                <a:latin typeface="微软雅黑" pitchFamily="34" charset="-122"/>
                <a:sym typeface="+mn-ea"/>
              </a:rPr>
              <a:t>AI</a:t>
            </a:r>
            <a:r>
              <a:rPr lang="zh-CN" altLang="en-US" sz="800" kern="0" dirty="0">
                <a:solidFill>
                  <a:srgbClr val="FFFFFF"/>
                </a:solidFill>
                <a:latin typeface="微软雅黑" pitchFamily="34" charset="-122"/>
                <a:sym typeface="+mn-ea"/>
              </a:rPr>
              <a:t>技术拆解</a:t>
            </a:r>
          </a:p>
        </p:txBody>
      </p:sp>
      <p:grpSp>
        <p:nvGrpSpPr>
          <p:cNvPr id="17" name="组合 16"/>
          <p:cNvGrpSpPr/>
          <p:nvPr/>
        </p:nvGrpSpPr>
        <p:grpSpPr>
          <a:xfrm>
            <a:off x="60961" y="4597243"/>
            <a:ext cx="523399" cy="446246"/>
            <a:chOff x="10950803" y="5750433"/>
            <a:chExt cx="647700" cy="594995"/>
          </a:xfrm>
        </p:grpSpPr>
        <p:sp>
          <p:nvSpPr>
            <p:cNvPr id="18" name="文本框 17"/>
            <p:cNvSpPr txBox="1"/>
            <p:nvPr/>
          </p:nvSpPr>
          <p:spPr>
            <a:xfrm>
              <a:off x="10950803" y="5750433"/>
              <a:ext cx="647700" cy="252095"/>
            </a:xfrm>
            <a:prstGeom prst="rect">
              <a:avLst/>
            </a:prstGeom>
            <a:solidFill>
              <a:srgbClr val="70AD47"/>
            </a:solidFill>
            <a:ln>
              <a:solidFill>
                <a:srgbClr val="FFFFFF">
                  <a:lumMod val="85000"/>
                </a:srgbClr>
              </a:solidFill>
            </a:ln>
          </p:spPr>
          <p:txBody>
            <a:bodyPr wrap="square" lIns="0" rIns="0" rtlCol="0">
              <a:noAutofit/>
            </a:bodyPr>
            <a:lstStyle/>
            <a:p>
              <a:pPr algn="ctr" defTabSz="685800">
                <a:defRPr/>
              </a:pPr>
              <a:r>
                <a:rPr lang="en-US" altLang="zh-CN" sz="800" b="1" kern="0">
                  <a:solidFill>
                    <a:srgbClr val="FFFFFF"/>
                  </a:solidFill>
                  <a:latin typeface="微软雅黑" pitchFamily="34" charset="-122"/>
                  <a:sym typeface="+mn-ea"/>
                </a:rPr>
                <a:t>2027</a:t>
              </a:r>
              <a:r>
                <a:rPr lang="zh-CN" altLang="en-US" sz="800" b="1" kern="0">
                  <a:solidFill>
                    <a:srgbClr val="FFFFFF"/>
                  </a:solidFill>
                  <a:latin typeface="微软雅黑" pitchFamily="34" charset="-122"/>
                  <a:sym typeface="+mn-ea"/>
                </a:rPr>
                <a:t>年</a:t>
              </a:r>
            </a:p>
          </p:txBody>
        </p:sp>
        <p:sp>
          <p:nvSpPr>
            <p:cNvPr id="19" name="文本框 18"/>
            <p:cNvSpPr txBox="1"/>
            <p:nvPr/>
          </p:nvSpPr>
          <p:spPr>
            <a:xfrm>
              <a:off x="10950803" y="6093333"/>
              <a:ext cx="647700" cy="252095"/>
            </a:xfrm>
            <a:prstGeom prst="rect">
              <a:avLst/>
            </a:prstGeom>
            <a:solidFill>
              <a:srgbClr val="4887D3"/>
            </a:solidFill>
            <a:ln>
              <a:solidFill>
                <a:srgbClr val="FFFFFF">
                  <a:lumMod val="85000"/>
                </a:srgbClr>
              </a:solidFill>
            </a:ln>
          </p:spPr>
          <p:txBody>
            <a:bodyPr wrap="square" lIns="0" rIns="0" rtlCol="0">
              <a:noAutofit/>
            </a:bodyPr>
            <a:lstStyle/>
            <a:p>
              <a:pPr algn="ctr" defTabSz="685800">
                <a:defRPr/>
              </a:pPr>
              <a:r>
                <a:rPr lang="en-US" altLang="zh-CN" sz="800" b="1" kern="0" dirty="0">
                  <a:solidFill>
                    <a:srgbClr val="FFFFFF"/>
                  </a:solidFill>
                  <a:latin typeface="微软雅黑" pitchFamily="34" charset="-122"/>
                  <a:sym typeface="+mn-ea"/>
                </a:rPr>
                <a:t>2026</a:t>
              </a:r>
              <a:r>
                <a:rPr lang="zh-CN" altLang="en-US" sz="800" b="1" kern="0" dirty="0">
                  <a:solidFill>
                    <a:srgbClr val="FFFFFF"/>
                  </a:solidFill>
                  <a:latin typeface="微软雅黑" pitchFamily="34" charset="-122"/>
                  <a:sym typeface="+mn-ea"/>
                </a:rPr>
                <a:t>年</a:t>
              </a:r>
            </a:p>
          </p:txBody>
        </p:sp>
      </p:grpSp>
      <p:sp>
        <p:nvSpPr>
          <p:cNvPr id="21" name="矩形: 圆角 73"/>
          <p:cNvSpPr/>
          <p:nvPr/>
        </p:nvSpPr>
        <p:spPr>
          <a:xfrm>
            <a:off x="647701" y="1716883"/>
            <a:ext cx="692468" cy="1331119"/>
          </a:xfrm>
          <a:prstGeom prst="roundRect">
            <a:avLst>
              <a:gd name="adj" fmla="val 10414"/>
            </a:avLst>
          </a:prstGeom>
          <a:solidFill>
            <a:srgbClr val="4887D3"/>
          </a:solidFill>
          <a:ln>
            <a:noFill/>
          </a:ln>
          <a:effectLst>
            <a:outerShdw blurRad="177800" dist="38100" dir="2700000" algn="tl" rotWithShape="0">
              <a:srgbClr val="5B9BD5">
                <a:alpha val="4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68579" tIns="34289" rIns="68579" bIns="34289" rtlCol="0" anchor="t" anchorCtr="0"/>
          <a:lstStyle/>
          <a:p>
            <a:pPr algn="ctr" defTabSz="685800"/>
            <a:r>
              <a:rPr lang="zh-CN" altLang="en-US" sz="900" b="1" dirty="0">
                <a:solidFill>
                  <a:srgbClr val="FFFFFF"/>
                </a:solidFill>
                <a:latin typeface="微软雅黑" pitchFamily="34" charset="-122"/>
              </a:rPr>
              <a:t>管理制度</a:t>
            </a:r>
          </a:p>
        </p:txBody>
      </p:sp>
      <p:sp>
        <p:nvSpPr>
          <p:cNvPr id="22" name="矩形: 圆角 74"/>
          <p:cNvSpPr/>
          <p:nvPr/>
        </p:nvSpPr>
        <p:spPr>
          <a:xfrm>
            <a:off x="648178" y="3104199"/>
            <a:ext cx="691991" cy="2014061"/>
          </a:xfrm>
          <a:prstGeom prst="roundRect">
            <a:avLst>
              <a:gd name="adj" fmla="val 10414"/>
            </a:avLst>
          </a:prstGeom>
          <a:solidFill>
            <a:schemeClr val="bg1"/>
          </a:solidFill>
          <a:ln>
            <a:solidFill>
              <a:srgbClr val="B9C9E9"/>
            </a:solidFill>
          </a:ln>
          <a:effectLst>
            <a:outerShdw blurRad="177800" dist="38100" dir="2700000" algn="tl" rotWithShape="0">
              <a:srgbClr val="5B9BD5">
                <a:alpha val="4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68579" tIns="34289" rIns="68579" bIns="34289" numCol="1" spcCol="0" rtlCol="0" fromWordArt="0" anchor="t" anchorCtr="0" forceAA="0" compatLnSpc="1">
            <a:noAutofit/>
          </a:bodyPr>
          <a:lstStyle/>
          <a:p>
            <a:pPr algn="ctr" defTabSz="685800"/>
            <a:r>
              <a:rPr lang="zh-CN" altLang="en-US" sz="900" b="1" dirty="0">
                <a:solidFill>
                  <a:srgbClr val="0070C0"/>
                </a:solidFill>
                <a:latin typeface="微软雅黑" pitchFamily="34" charset="-122"/>
                <a:sym typeface="+mn-ea"/>
              </a:rPr>
              <a:t>标准规范</a:t>
            </a:r>
          </a:p>
        </p:txBody>
      </p:sp>
      <p:sp>
        <p:nvSpPr>
          <p:cNvPr id="23" name="文本框 22"/>
          <p:cNvSpPr txBox="1"/>
          <p:nvPr/>
        </p:nvSpPr>
        <p:spPr>
          <a:xfrm>
            <a:off x="1401604" y="2542224"/>
            <a:ext cx="621030" cy="345281"/>
          </a:xfrm>
          <a:prstGeom prst="rect">
            <a:avLst/>
          </a:prstGeom>
          <a:noFill/>
        </p:spPr>
        <p:txBody>
          <a:bodyPr wrap="square" lIns="68579" tIns="34289" rIns="68579" bIns="34289">
            <a:spAutoFit/>
          </a:bodyPr>
          <a:lstStyle/>
          <a:p>
            <a:pPr algn="ctr" defTabSz="685800">
              <a:defRPr/>
            </a:pPr>
            <a:r>
              <a:rPr lang="zh-CN" altLang="en-US" sz="900" b="1" kern="0" dirty="0">
                <a:solidFill>
                  <a:srgbClr val="FFFFFF"/>
                </a:solidFill>
                <a:latin typeface="微软雅黑" pitchFamily="34" charset="-122"/>
                <a:sym typeface="+mn-ea"/>
              </a:rPr>
              <a:t>模型</a:t>
            </a:r>
          </a:p>
          <a:p>
            <a:pPr algn="ctr" defTabSz="685800">
              <a:defRPr/>
            </a:pPr>
            <a:r>
              <a:rPr lang="zh-CN" altLang="en-US" sz="900" b="1" kern="0" dirty="0">
                <a:solidFill>
                  <a:srgbClr val="FFFFFF"/>
                </a:solidFill>
                <a:latin typeface="微软雅黑" pitchFamily="34" charset="-122"/>
                <a:sym typeface="+mn-ea"/>
              </a:rPr>
              <a:t>定制调优</a:t>
            </a:r>
          </a:p>
        </p:txBody>
      </p:sp>
      <p:sp>
        <p:nvSpPr>
          <p:cNvPr id="24" name="文本框 23"/>
          <p:cNvSpPr txBox="1"/>
          <p:nvPr/>
        </p:nvSpPr>
        <p:spPr>
          <a:xfrm>
            <a:off x="4847749" y="2482692"/>
            <a:ext cx="1660208" cy="206693"/>
          </a:xfrm>
          <a:prstGeom prst="rect">
            <a:avLst/>
          </a:prstGeom>
          <a:noFill/>
        </p:spPr>
        <p:txBody>
          <a:bodyPr wrap="square" lIns="68579" tIns="34289" rIns="68579" bIns="34289">
            <a:spAutoFit/>
          </a:bodyPr>
          <a:lstStyle/>
          <a:p>
            <a:pPr algn="ctr" defTabSz="685800">
              <a:defRPr/>
            </a:pPr>
            <a:r>
              <a:rPr lang="zh-CN" altLang="en-US" sz="900" b="1" kern="0" dirty="0" err="1">
                <a:solidFill>
                  <a:srgbClr val="FFFFFF"/>
                </a:solidFill>
                <a:latin typeface="微软雅黑" pitchFamily="34" charset="-122"/>
                <a:sym typeface="+mn-ea"/>
              </a:rPr>
              <a:t>人工智能管理服务工具</a:t>
            </a:r>
          </a:p>
        </p:txBody>
      </p:sp>
      <p:sp>
        <p:nvSpPr>
          <p:cNvPr id="25" name="文本框 24"/>
          <p:cNvSpPr txBox="1"/>
          <p:nvPr/>
        </p:nvSpPr>
        <p:spPr>
          <a:xfrm>
            <a:off x="1080611" y="1250396"/>
            <a:ext cx="1362075" cy="206693"/>
          </a:xfrm>
          <a:prstGeom prst="rect">
            <a:avLst/>
          </a:prstGeom>
          <a:noFill/>
        </p:spPr>
        <p:txBody>
          <a:bodyPr wrap="square" lIns="68579" tIns="34289" rIns="68579" bIns="34289">
            <a:spAutoFit/>
          </a:bodyPr>
          <a:lstStyle/>
          <a:p>
            <a:pPr algn="ctr" defTabSz="685800">
              <a:defRPr/>
            </a:pPr>
            <a:r>
              <a:rPr lang="zh-CN" altLang="en-US" sz="900" b="1" kern="0" spc="113" dirty="0">
                <a:solidFill>
                  <a:srgbClr val="C00000"/>
                </a:solidFill>
                <a:latin typeface="微软雅黑" pitchFamily="34" charset="-122"/>
                <a:sym typeface="+mn-ea"/>
              </a:rPr>
              <a:t>科技厅</a:t>
            </a:r>
            <a:r>
              <a:rPr lang="en-US" altLang="zh-CN" sz="900" b="1" kern="0" spc="113" dirty="0">
                <a:solidFill>
                  <a:srgbClr val="C00000"/>
                </a:solidFill>
                <a:latin typeface="微软雅黑" pitchFamily="34" charset="-122"/>
                <a:sym typeface="+mn-ea"/>
              </a:rPr>
              <a:t>/</a:t>
            </a:r>
            <a:r>
              <a:rPr lang="zh-CN" altLang="en-US" sz="900" b="1" kern="0" spc="113" dirty="0">
                <a:solidFill>
                  <a:srgbClr val="C00000"/>
                </a:solidFill>
                <a:latin typeface="微软雅黑" pitchFamily="34" charset="-122"/>
                <a:sym typeface="+mn-ea"/>
              </a:rPr>
              <a:t>地市科技局</a:t>
            </a:r>
          </a:p>
        </p:txBody>
      </p:sp>
      <p:sp>
        <p:nvSpPr>
          <p:cNvPr id="26" name="文本框 25"/>
          <p:cNvSpPr txBox="1"/>
          <p:nvPr/>
        </p:nvSpPr>
        <p:spPr>
          <a:xfrm>
            <a:off x="2265998" y="1254920"/>
            <a:ext cx="1593533" cy="206693"/>
          </a:xfrm>
          <a:prstGeom prst="rect">
            <a:avLst/>
          </a:prstGeom>
          <a:noFill/>
        </p:spPr>
        <p:txBody>
          <a:bodyPr wrap="square" lIns="68579" tIns="34289" rIns="68579" bIns="34289">
            <a:spAutoFit/>
          </a:bodyPr>
          <a:lstStyle/>
          <a:p>
            <a:pPr algn="ctr" defTabSz="685800">
              <a:defRPr/>
            </a:pPr>
            <a:r>
              <a:rPr lang="zh-CN" altLang="en-US" sz="900" b="1" kern="0" spc="113" dirty="0">
                <a:solidFill>
                  <a:srgbClr val="C00000"/>
                </a:solidFill>
                <a:latin typeface="微软雅黑" pitchFamily="34" charset="-122"/>
                <a:sym typeface="+mn-ea"/>
              </a:rPr>
              <a:t>省创新发展研究院</a:t>
            </a:r>
          </a:p>
        </p:txBody>
      </p:sp>
      <p:sp>
        <p:nvSpPr>
          <p:cNvPr id="27" name="文本框 26"/>
          <p:cNvSpPr txBox="1"/>
          <p:nvPr/>
        </p:nvSpPr>
        <p:spPr>
          <a:xfrm>
            <a:off x="3710073" y="1260821"/>
            <a:ext cx="972503" cy="206693"/>
          </a:xfrm>
          <a:prstGeom prst="rect">
            <a:avLst/>
          </a:prstGeom>
          <a:noFill/>
        </p:spPr>
        <p:txBody>
          <a:bodyPr wrap="square" lIns="68579" tIns="34289" rIns="68579" bIns="34289">
            <a:spAutoFit/>
          </a:bodyPr>
          <a:lstStyle/>
          <a:p>
            <a:pPr algn="ctr" defTabSz="685800">
              <a:defRPr/>
            </a:pPr>
            <a:r>
              <a:rPr lang="zh-CN" altLang="en-US" sz="900" b="1" kern="0" spc="113" dirty="0">
                <a:solidFill>
                  <a:srgbClr val="C00000"/>
                </a:solidFill>
                <a:latin typeface="微软雅黑" pitchFamily="34" charset="-122"/>
                <a:sym typeface="+mn-ea"/>
              </a:rPr>
              <a:t>全省智库机构</a:t>
            </a:r>
          </a:p>
        </p:txBody>
      </p:sp>
      <p:sp>
        <p:nvSpPr>
          <p:cNvPr id="28" name="文本框 27"/>
          <p:cNvSpPr txBox="1"/>
          <p:nvPr/>
        </p:nvSpPr>
        <p:spPr>
          <a:xfrm>
            <a:off x="5509346" y="1261773"/>
            <a:ext cx="1126331" cy="206693"/>
          </a:xfrm>
          <a:prstGeom prst="rect">
            <a:avLst/>
          </a:prstGeom>
          <a:noFill/>
        </p:spPr>
        <p:txBody>
          <a:bodyPr wrap="square" lIns="68579" tIns="34289" rIns="68579" bIns="34289">
            <a:spAutoFit/>
          </a:bodyPr>
          <a:lstStyle/>
          <a:p>
            <a:pPr algn="ctr" defTabSz="685800">
              <a:defRPr/>
            </a:pPr>
            <a:r>
              <a:rPr lang="zh-CN" altLang="en-US" sz="900" b="1" kern="0" spc="113" dirty="0">
                <a:solidFill>
                  <a:srgbClr val="C00000"/>
                </a:solidFill>
                <a:latin typeface="微软雅黑" pitchFamily="34" charset="-122"/>
                <a:sym typeface="+mn-ea"/>
              </a:rPr>
              <a:t>科研院所</a:t>
            </a:r>
            <a:r>
              <a:rPr lang="en-US" altLang="zh-CN" sz="900" b="1" kern="0" spc="113" dirty="0">
                <a:solidFill>
                  <a:srgbClr val="C00000"/>
                </a:solidFill>
                <a:latin typeface="微软雅黑" pitchFamily="34" charset="-122"/>
                <a:sym typeface="+mn-ea"/>
              </a:rPr>
              <a:t>/</a:t>
            </a:r>
            <a:r>
              <a:rPr lang="zh-CN" altLang="en-US" sz="900" b="1" kern="0" spc="113" dirty="0">
                <a:solidFill>
                  <a:srgbClr val="C00000"/>
                </a:solidFill>
                <a:latin typeface="微软雅黑" pitchFamily="34" charset="-122"/>
                <a:sym typeface="+mn-ea"/>
              </a:rPr>
              <a:t>高校</a:t>
            </a:r>
          </a:p>
        </p:txBody>
      </p:sp>
      <p:sp>
        <p:nvSpPr>
          <p:cNvPr id="29" name="文本框 28"/>
          <p:cNvSpPr txBox="1"/>
          <p:nvPr/>
        </p:nvSpPr>
        <p:spPr>
          <a:xfrm>
            <a:off x="6507481" y="1265873"/>
            <a:ext cx="1041083" cy="206693"/>
          </a:xfrm>
          <a:prstGeom prst="rect">
            <a:avLst/>
          </a:prstGeom>
          <a:noFill/>
        </p:spPr>
        <p:txBody>
          <a:bodyPr wrap="square" lIns="68579" tIns="34289" rIns="68579" bIns="34289">
            <a:spAutoFit/>
          </a:bodyPr>
          <a:lstStyle/>
          <a:p>
            <a:pPr algn="ctr" defTabSz="685800">
              <a:defRPr/>
            </a:pPr>
            <a:r>
              <a:rPr lang="zh-CN" altLang="en-US" sz="900" b="1" kern="0" spc="113" dirty="0">
                <a:solidFill>
                  <a:srgbClr val="C00000"/>
                </a:solidFill>
                <a:latin typeface="微软雅黑" pitchFamily="34" charset="-122"/>
                <a:sym typeface="+mn-ea"/>
              </a:rPr>
              <a:t>技术转移机构</a:t>
            </a:r>
          </a:p>
        </p:txBody>
      </p:sp>
      <p:grpSp>
        <p:nvGrpSpPr>
          <p:cNvPr id="30" name="组合 29"/>
          <p:cNvGrpSpPr>
            <a:grpSpLocks noChangeAspect="1"/>
          </p:cNvGrpSpPr>
          <p:nvPr/>
        </p:nvGrpSpPr>
        <p:grpSpPr>
          <a:xfrm rot="5400000" flipH="1">
            <a:off x="2459413" y="1696799"/>
            <a:ext cx="162000" cy="162000"/>
            <a:chOff x="10310306" y="1236054"/>
            <a:chExt cx="329804" cy="329804"/>
          </a:xfrm>
        </p:grpSpPr>
        <p:sp>
          <p:nvSpPr>
            <p:cNvPr id="35" name="椭圆 34"/>
            <p:cNvSpPr/>
            <p:nvPr/>
          </p:nvSpPr>
          <p:spPr>
            <a:xfrm>
              <a:off x="10310306" y="1236054"/>
              <a:ext cx="329804" cy="329804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accent1"/>
              </a:solidFill>
            </a:ln>
            <a:effectLst>
              <a:outerShdw blurRad="254000" dist="38100" dir="4200000" algn="tl" rotWithShape="0">
                <a:srgbClr val="009975">
                  <a:alpha val="19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 defTabSz="685800"/>
              <a:endParaRPr lang="zh-CN" altLang="en-US" sz="800">
                <a:solidFill>
                  <a:srgbClr val="000000">
                    <a:lumMod val="65000"/>
                    <a:lumOff val="35000"/>
                  </a:srgbClr>
                </a:solidFill>
                <a:latin typeface="微软雅黑" pitchFamily="34" charset="-122"/>
              </a:endParaRPr>
            </a:p>
          </p:txBody>
        </p:sp>
        <p:sp>
          <p:nvSpPr>
            <p:cNvPr id="37" name="箭头: 燕尾形 87"/>
            <p:cNvSpPr>
              <a:spLocks noChangeAspect="1"/>
            </p:cNvSpPr>
            <p:nvPr/>
          </p:nvSpPr>
          <p:spPr>
            <a:xfrm>
              <a:off x="10384184" y="1329527"/>
              <a:ext cx="189161" cy="144000"/>
            </a:xfrm>
            <a:prstGeom prst="notchedRightArrow">
              <a:avLst/>
            </a:prstGeom>
            <a:solidFill>
              <a:srgbClr val="5B9BD5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endParaRPr lang="zh-CN" altLang="en-US" sz="1400" dirty="0">
                <a:solidFill>
                  <a:srgbClr val="FFFFFF"/>
                </a:solidFill>
              </a:endParaRPr>
            </a:p>
          </p:txBody>
        </p:sp>
      </p:grpSp>
      <p:grpSp>
        <p:nvGrpSpPr>
          <p:cNvPr id="38" name="组合 37"/>
          <p:cNvGrpSpPr>
            <a:grpSpLocks noChangeAspect="1"/>
          </p:cNvGrpSpPr>
          <p:nvPr/>
        </p:nvGrpSpPr>
        <p:grpSpPr>
          <a:xfrm rot="16200000" flipH="1">
            <a:off x="5255768" y="1714844"/>
            <a:ext cx="162000" cy="162000"/>
            <a:chOff x="10310306" y="1236054"/>
            <a:chExt cx="329804" cy="329804"/>
          </a:xfrm>
        </p:grpSpPr>
        <p:sp>
          <p:nvSpPr>
            <p:cNvPr id="39" name="椭圆 38"/>
            <p:cNvSpPr/>
            <p:nvPr/>
          </p:nvSpPr>
          <p:spPr>
            <a:xfrm>
              <a:off x="10310306" y="1236054"/>
              <a:ext cx="329804" cy="329804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accent1"/>
              </a:solidFill>
            </a:ln>
            <a:effectLst>
              <a:outerShdw blurRad="254000" dist="38100" dir="4200000" algn="tl" rotWithShape="0">
                <a:srgbClr val="009975">
                  <a:alpha val="19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 defTabSz="685800"/>
              <a:endParaRPr lang="zh-CN" altLang="en-US" sz="800">
                <a:solidFill>
                  <a:srgbClr val="000000">
                    <a:lumMod val="65000"/>
                    <a:lumOff val="35000"/>
                  </a:srgbClr>
                </a:solidFill>
                <a:latin typeface="微软雅黑" pitchFamily="34" charset="-122"/>
              </a:endParaRPr>
            </a:p>
          </p:txBody>
        </p:sp>
        <p:sp>
          <p:nvSpPr>
            <p:cNvPr id="40" name="箭头: 燕尾形 103"/>
            <p:cNvSpPr>
              <a:spLocks noChangeAspect="1"/>
            </p:cNvSpPr>
            <p:nvPr/>
          </p:nvSpPr>
          <p:spPr>
            <a:xfrm>
              <a:off x="10384184" y="1329527"/>
              <a:ext cx="189161" cy="144000"/>
            </a:xfrm>
            <a:prstGeom prst="notchedRightArrow">
              <a:avLst/>
            </a:prstGeom>
            <a:solidFill>
              <a:srgbClr val="5B9BD5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endParaRPr lang="zh-CN" altLang="en-US" sz="1400" dirty="0">
                <a:solidFill>
                  <a:srgbClr val="FFFFFF"/>
                </a:solidFill>
              </a:endParaRPr>
            </a:p>
          </p:txBody>
        </p:sp>
      </p:grpSp>
      <p:sp>
        <p:nvSpPr>
          <p:cNvPr id="42" name="文本框 41"/>
          <p:cNvSpPr txBox="1"/>
          <p:nvPr/>
        </p:nvSpPr>
        <p:spPr>
          <a:xfrm>
            <a:off x="2020253" y="1884761"/>
            <a:ext cx="243840" cy="342424"/>
          </a:xfrm>
          <a:prstGeom prst="rect">
            <a:avLst/>
          </a:prstGeom>
          <a:noFill/>
        </p:spPr>
        <p:txBody>
          <a:bodyPr wrap="square" lIns="68579" tIns="34289" rIns="68579" bIns="34289" anchor="ctr" anchorCtr="0">
            <a:noAutofit/>
          </a:bodyPr>
          <a:lstStyle/>
          <a:p>
            <a:pPr algn="ctr" defTabSz="685800">
              <a:defRPr/>
            </a:pPr>
            <a:endParaRPr lang="zh-CN" altLang="en-US" sz="900" b="1" kern="0" spc="113" dirty="0">
              <a:solidFill>
                <a:srgbClr val="273677">
                  <a:lumMod val="75000"/>
                </a:srgbClr>
              </a:solidFill>
              <a:latin typeface="微软雅黑" pitchFamily="34" charset="-122"/>
              <a:sym typeface="+mn-ea"/>
            </a:endParaRPr>
          </a:p>
        </p:txBody>
      </p:sp>
      <p:sp>
        <p:nvSpPr>
          <p:cNvPr id="43" name="矩形 42"/>
          <p:cNvSpPr/>
          <p:nvPr/>
        </p:nvSpPr>
        <p:spPr bwMode="gray">
          <a:xfrm>
            <a:off x="2016919" y="1829752"/>
            <a:ext cx="4800600" cy="482918"/>
          </a:xfrm>
          <a:prstGeom prst="rect">
            <a:avLst/>
          </a:prstGeom>
          <a:noFill/>
          <a:ln w="9525" algn="ctr">
            <a:solidFill>
              <a:schemeClr val="accent5">
                <a:lumMod val="75000"/>
              </a:schemeClr>
            </a:solidFill>
            <a:prstDash val="dash"/>
            <a:round/>
          </a:ln>
        </p:spPr>
        <p:txBody>
          <a:bodyPr lIns="0" tIns="0" rIns="0" bIns="0" rtlCol="0" anchor="ctr">
            <a:normAutofit/>
          </a:bodyPr>
          <a:lstStyle/>
          <a:p>
            <a:pPr algn="ctr" defTabSz="685800">
              <a:lnSpc>
                <a:spcPct val="120000"/>
              </a:lnSpc>
            </a:pPr>
            <a:endParaRPr lang="zh-CN" altLang="en-US" sz="1500" b="1" dirty="0">
              <a:solidFill>
                <a:srgbClr val="FFFFFF"/>
              </a:solidFill>
              <a:latin typeface="微软雅黑" pitchFamily="34" charset="-122"/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683420" y="1224915"/>
            <a:ext cx="589121" cy="277654"/>
          </a:xfrm>
          <a:prstGeom prst="rect">
            <a:avLst/>
          </a:prstGeom>
          <a:noFill/>
          <a:ln w="12700" cap="flat" cmpd="sng" algn="ctr">
            <a:noFill/>
            <a:prstDash val="lgDash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>
                    <a:lumMod val="65000"/>
                    <a:alpha val="48000"/>
                  </a:schemeClr>
                </a:solidFill>
              </a14:hiddenFill>
            </a:ext>
          </a:extLst>
        </p:spPr>
        <p:txBody>
          <a:bodyPr vertOverflow="overflow" horzOverflow="overflow" vert="horz" wrap="square" lIns="68579" tIns="34289" rIns="68579" bIns="34289" numCol="1" spcCol="0" rtlCol="0" fromWordArt="0" anchor="ctr" anchorCtr="0" forceAA="0" compatLnSpc="1">
            <a:noAutofit/>
          </a:bodyPr>
          <a:lstStyle/>
          <a:p>
            <a:pPr algn="ctr" defTabSz="685800">
              <a:defRPr/>
            </a:pPr>
            <a:r>
              <a:rPr lang="zh-CN" altLang="en-US" sz="900" b="1" kern="0" dirty="0">
                <a:solidFill>
                  <a:srgbClr val="000000"/>
                </a:solidFill>
                <a:latin typeface="微软雅黑" pitchFamily="34" charset="-122"/>
                <a:sym typeface="+mn-ea"/>
              </a:rPr>
              <a:t>用户</a:t>
            </a:r>
          </a:p>
        </p:txBody>
      </p:sp>
      <p:sp>
        <p:nvSpPr>
          <p:cNvPr id="48" name="矩形 47"/>
          <p:cNvSpPr/>
          <p:nvPr>
            <p:custDataLst>
              <p:tags r:id="rId3"/>
            </p:custDataLst>
          </p:nvPr>
        </p:nvSpPr>
        <p:spPr>
          <a:xfrm>
            <a:off x="4860026" y="2738340"/>
            <a:ext cx="568563" cy="194400"/>
          </a:xfrm>
          <a:prstGeom prst="rect">
            <a:avLst/>
          </a:prstGeom>
          <a:noFill/>
          <a:ln w="6350" cap="flat" cmpd="sng">
            <a:solidFill>
              <a:schemeClr val="accent5">
                <a:lumMod val="75000"/>
              </a:schemeClr>
            </a:solidFill>
            <a:prstDash val="dash"/>
            <a:miter/>
          </a:ln>
        </p:spPr>
        <p:txBody>
          <a:bodyPr lIns="68579" tIns="34289" rIns="68579" bIns="34289" anchor="ctr"/>
          <a:lstStyle/>
          <a:p>
            <a:pPr algn="ctr" defTabSz="685800">
              <a:defRPr/>
            </a:pPr>
            <a:r>
              <a:rPr lang="zh-CN" altLang="en-US" sz="800" b="1" kern="0" dirty="0">
                <a:solidFill>
                  <a:srgbClr val="000000"/>
                </a:solidFill>
                <a:latin typeface="微软雅黑" pitchFamily="34" charset="-122"/>
              </a:rPr>
              <a:t>模型托管</a:t>
            </a:r>
          </a:p>
        </p:txBody>
      </p:sp>
      <p:sp>
        <p:nvSpPr>
          <p:cNvPr id="49" name="矩形 48"/>
          <p:cNvSpPr/>
          <p:nvPr>
            <p:custDataLst>
              <p:tags r:id="rId4"/>
            </p:custDataLst>
          </p:nvPr>
        </p:nvSpPr>
        <p:spPr>
          <a:xfrm>
            <a:off x="4860026" y="2983655"/>
            <a:ext cx="568563" cy="194400"/>
          </a:xfrm>
          <a:prstGeom prst="rect">
            <a:avLst/>
          </a:prstGeom>
          <a:noFill/>
          <a:ln w="6350" cap="flat" cmpd="sng">
            <a:solidFill>
              <a:schemeClr val="accent5">
                <a:lumMod val="75000"/>
              </a:schemeClr>
            </a:solidFill>
            <a:prstDash val="dash"/>
            <a:miter/>
          </a:ln>
        </p:spPr>
        <p:txBody>
          <a:bodyPr lIns="68579" tIns="34289" rIns="68579" bIns="34289" anchor="ctr"/>
          <a:lstStyle/>
          <a:p>
            <a:pPr algn="ctr" defTabSz="685800">
              <a:defRPr/>
            </a:pPr>
            <a:r>
              <a:rPr lang="zh-CN" altLang="en-US" sz="800" b="1" kern="0" dirty="0">
                <a:solidFill>
                  <a:srgbClr val="000000"/>
                </a:solidFill>
                <a:latin typeface="微软雅黑" pitchFamily="34" charset="-122"/>
              </a:rPr>
              <a:t>模型存储</a:t>
            </a:r>
          </a:p>
        </p:txBody>
      </p:sp>
      <p:sp>
        <p:nvSpPr>
          <p:cNvPr id="50" name="矩形 49"/>
          <p:cNvSpPr/>
          <p:nvPr>
            <p:custDataLst>
              <p:tags r:id="rId5"/>
            </p:custDataLst>
          </p:nvPr>
        </p:nvSpPr>
        <p:spPr>
          <a:xfrm>
            <a:off x="5545747" y="2738608"/>
            <a:ext cx="568563" cy="194400"/>
          </a:xfrm>
          <a:prstGeom prst="rect">
            <a:avLst/>
          </a:prstGeom>
          <a:noFill/>
          <a:ln w="6350" cap="flat" cmpd="sng">
            <a:solidFill>
              <a:schemeClr val="accent5">
                <a:lumMod val="75000"/>
              </a:schemeClr>
            </a:solidFill>
            <a:prstDash val="dash"/>
            <a:miter/>
          </a:ln>
        </p:spPr>
        <p:txBody>
          <a:bodyPr lIns="68579" tIns="34289" rIns="68579" bIns="34289" anchor="ctr"/>
          <a:lstStyle/>
          <a:p>
            <a:pPr algn="ctr" defTabSz="685800">
              <a:defRPr/>
            </a:pPr>
            <a:r>
              <a:rPr lang="zh-CN" altLang="en-US" sz="800" b="1" kern="0" dirty="0">
                <a:solidFill>
                  <a:srgbClr val="000000"/>
                </a:solidFill>
                <a:latin typeface="微软雅黑" pitchFamily="34" charset="-122"/>
              </a:rPr>
              <a:t>模型调优</a:t>
            </a:r>
          </a:p>
        </p:txBody>
      </p:sp>
      <p:sp>
        <p:nvSpPr>
          <p:cNvPr id="51" name="矩形 50"/>
          <p:cNvSpPr/>
          <p:nvPr>
            <p:custDataLst>
              <p:tags r:id="rId6"/>
            </p:custDataLst>
          </p:nvPr>
        </p:nvSpPr>
        <p:spPr>
          <a:xfrm>
            <a:off x="6248768" y="2743979"/>
            <a:ext cx="568563" cy="194400"/>
          </a:xfrm>
          <a:prstGeom prst="rect">
            <a:avLst/>
          </a:prstGeom>
          <a:noFill/>
          <a:ln w="6350" cap="flat" cmpd="sng">
            <a:solidFill>
              <a:schemeClr val="accent5">
                <a:lumMod val="75000"/>
              </a:schemeClr>
            </a:solidFill>
            <a:prstDash val="dash"/>
            <a:miter/>
          </a:ln>
        </p:spPr>
        <p:txBody>
          <a:bodyPr lIns="68579" tIns="34289" rIns="68579" bIns="34289" anchor="ctr"/>
          <a:lstStyle/>
          <a:p>
            <a:pPr algn="ctr" defTabSz="685800">
              <a:defRPr/>
            </a:pPr>
            <a:r>
              <a:rPr lang="zh-CN" altLang="en-US" sz="800" b="1" kern="0" dirty="0">
                <a:solidFill>
                  <a:srgbClr val="000000"/>
                </a:solidFill>
                <a:latin typeface="微软雅黑" pitchFamily="34" charset="-122"/>
              </a:rPr>
              <a:t>模型训练</a:t>
            </a:r>
          </a:p>
        </p:txBody>
      </p:sp>
      <p:sp>
        <p:nvSpPr>
          <p:cNvPr id="52" name="矩形 51"/>
          <p:cNvSpPr/>
          <p:nvPr>
            <p:custDataLst>
              <p:tags r:id="rId7"/>
            </p:custDataLst>
          </p:nvPr>
        </p:nvSpPr>
        <p:spPr>
          <a:xfrm>
            <a:off x="5544817" y="2994764"/>
            <a:ext cx="568563" cy="194400"/>
          </a:xfrm>
          <a:prstGeom prst="rect">
            <a:avLst/>
          </a:prstGeom>
          <a:noFill/>
          <a:ln w="6350" cap="flat" cmpd="sng">
            <a:solidFill>
              <a:schemeClr val="accent5">
                <a:lumMod val="75000"/>
              </a:schemeClr>
            </a:solidFill>
            <a:prstDash val="dash"/>
            <a:miter/>
          </a:ln>
        </p:spPr>
        <p:txBody>
          <a:bodyPr lIns="68579" tIns="34289" rIns="68579" bIns="34289" anchor="ctr"/>
          <a:lstStyle/>
          <a:p>
            <a:pPr algn="ctr" defTabSz="685800">
              <a:defRPr/>
            </a:pPr>
            <a:r>
              <a:rPr lang="zh-CN" altLang="en-US" sz="800" b="1" kern="0" dirty="0">
                <a:solidFill>
                  <a:srgbClr val="000000"/>
                </a:solidFill>
                <a:latin typeface="微软雅黑" pitchFamily="34" charset="-122"/>
              </a:rPr>
              <a:t>模型推理</a:t>
            </a:r>
          </a:p>
        </p:txBody>
      </p:sp>
      <p:sp>
        <p:nvSpPr>
          <p:cNvPr id="53" name="矩形 52"/>
          <p:cNvSpPr/>
          <p:nvPr>
            <p:custDataLst>
              <p:tags r:id="rId8"/>
            </p:custDataLst>
          </p:nvPr>
        </p:nvSpPr>
        <p:spPr>
          <a:xfrm>
            <a:off x="6248768" y="2996068"/>
            <a:ext cx="568563" cy="194400"/>
          </a:xfrm>
          <a:prstGeom prst="rect">
            <a:avLst/>
          </a:prstGeom>
          <a:noFill/>
          <a:ln w="6350" cap="flat" cmpd="sng">
            <a:solidFill>
              <a:schemeClr val="accent5">
                <a:lumMod val="75000"/>
              </a:schemeClr>
            </a:solidFill>
            <a:prstDash val="dash"/>
            <a:miter/>
          </a:ln>
        </p:spPr>
        <p:txBody>
          <a:bodyPr lIns="68579" tIns="34289" rIns="68579" bIns="34289" anchor="ctr"/>
          <a:lstStyle/>
          <a:p>
            <a:pPr algn="ctr" defTabSz="685800">
              <a:defRPr/>
            </a:pPr>
            <a:r>
              <a:rPr lang="zh-CN" altLang="en-US" sz="800" b="1" kern="0" dirty="0">
                <a:solidFill>
                  <a:srgbClr val="000000"/>
                </a:solidFill>
                <a:latin typeface="微软雅黑" pitchFamily="34" charset="-122"/>
              </a:rPr>
              <a:t>部署应用</a:t>
            </a:r>
          </a:p>
        </p:txBody>
      </p:sp>
      <p:sp>
        <p:nvSpPr>
          <p:cNvPr id="55" name="矩形 54"/>
          <p:cNvSpPr/>
          <p:nvPr>
            <p:custDataLst>
              <p:tags r:id="rId9"/>
            </p:custDataLst>
          </p:nvPr>
        </p:nvSpPr>
        <p:spPr>
          <a:xfrm>
            <a:off x="4849088" y="3696958"/>
            <a:ext cx="568563" cy="193980"/>
          </a:xfrm>
          <a:prstGeom prst="rect">
            <a:avLst/>
          </a:prstGeom>
          <a:noFill/>
          <a:ln w="6350" cap="flat" cmpd="sng">
            <a:solidFill>
              <a:schemeClr val="accent5">
                <a:lumMod val="75000"/>
              </a:schemeClr>
            </a:solidFill>
            <a:prstDash val="dash"/>
            <a:miter/>
          </a:ln>
        </p:spPr>
        <p:txBody>
          <a:bodyPr lIns="68579" tIns="34289" rIns="68579" bIns="34289" anchor="ctr"/>
          <a:lstStyle/>
          <a:p>
            <a:pPr algn="ctr" defTabSz="685800">
              <a:defRPr/>
            </a:pPr>
            <a:r>
              <a:rPr lang="zh-CN" altLang="en-US" sz="800" b="1" kern="0" dirty="0">
                <a:solidFill>
                  <a:srgbClr val="000000"/>
                </a:solidFill>
                <a:latin typeface="微软雅黑" pitchFamily="34" charset="-122"/>
              </a:rPr>
              <a:t>算力监管</a:t>
            </a:r>
          </a:p>
        </p:txBody>
      </p:sp>
      <p:sp>
        <p:nvSpPr>
          <p:cNvPr id="56" name="矩形 55"/>
          <p:cNvSpPr/>
          <p:nvPr>
            <p:custDataLst>
              <p:tags r:id="rId10"/>
            </p:custDataLst>
          </p:nvPr>
        </p:nvSpPr>
        <p:spPr>
          <a:xfrm>
            <a:off x="5554364" y="3711628"/>
            <a:ext cx="568563" cy="193980"/>
          </a:xfrm>
          <a:prstGeom prst="rect">
            <a:avLst/>
          </a:prstGeom>
          <a:noFill/>
          <a:ln w="6350" cap="flat" cmpd="sng">
            <a:solidFill>
              <a:schemeClr val="accent5">
                <a:lumMod val="75000"/>
              </a:schemeClr>
            </a:solidFill>
            <a:prstDash val="dash"/>
            <a:miter/>
          </a:ln>
        </p:spPr>
        <p:txBody>
          <a:bodyPr lIns="68579" tIns="34289" rIns="68579" bIns="34289" anchor="ctr"/>
          <a:lstStyle/>
          <a:p>
            <a:pPr algn="ctr" defTabSz="685800">
              <a:defRPr/>
            </a:pPr>
            <a:r>
              <a:rPr lang="zh-CN" altLang="en-US" sz="800" b="1" kern="0" dirty="0">
                <a:solidFill>
                  <a:srgbClr val="000000"/>
                </a:solidFill>
                <a:latin typeface="微软雅黑" pitchFamily="34" charset="-122"/>
              </a:rPr>
              <a:t>算力调度</a:t>
            </a:r>
          </a:p>
        </p:txBody>
      </p:sp>
      <p:sp>
        <p:nvSpPr>
          <p:cNvPr id="57" name="矩形 56"/>
          <p:cNvSpPr/>
          <p:nvPr>
            <p:custDataLst>
              <p:tags r:id="rId11"/>
            </p:custDataLst>
          </p:nvPr>
        </p:nvSpPr>
        <p:spPr>
          <a:xfrm>
            <a:off x="6276749" y="3716906"/>
            <a:ext cx="568563" cy="193980"/>
          </a:xfrm>
          <a:prstGeom prst="rect">
            <a:avLst/>
          </a:prstGeom>
          <a:noFill/>
          <a:ln w="6350" cap="flat" cmpd="sng">
            <a:solidFill>
              <a:schemeClr val="accent5">
                <a:lumMod val="75000"/>
              </a:schemeClr>
            </a:solidFill>
            <a:prstDash val="dash"/>
            <a:miter/>
          </a:ln>
        </p:spPr>
        <p:txBody>
          <a:bodyPr lIns="68579" tIns="34289" rIns="68579" bIns="34289" anchor="ctr"/>
          <a:lstStyle/>
          <a:p>
            <a:pPr algn="ctr" defTabSz="685800">
              <a:defRPr/>
            </a:pPr>
            <a:r>
              <a:rPr lang="zh-CN" altLang="en-US" sz="800" b="1" kern="0" dirty="0">
                <a:solidFill>
                  <a:srgbClr val="000000"/>
                </a:solidFill>
                <a:latin typeface="微软雅黑" pitchFamily="34" charset="-122"/>
              </a:rPr>
              <a:t>算力计量</a:t>
            </a:r>
          </a:p>
        </p:txBody>
      </p:sp>
      <p:sp>
        <p:nvSpPr>
          <p:cNvPr id="58" name="矩形 57"/>
          <p:cNvSpPr/>
          <p:nvPr>
            <p:custDataLst>
              <p:tags r:id="rId12"/>
            </p:custDataLst>
          </p:nvPr>
        </p:nvSpPr>
        <p:spPr>
          <a:xfrm>
            <a:off x="4849088" y="3954093"/>
            <a:ext cx="568563" cy="193980"/>
          </a:xfrm>
          <a:prstGeom prst="rect">
            <a:avLst/>
          </a:prstGeom>
          <a:noFill/>
          <a:ln w="6350" cap="flat" cmpd="sng">
            <a:solidFill>
              <a:schemeClr val="accent5">
                <a:lumMod val="75000"/>
              </a:schemeClr>
            </a:solidFill>
            <a:prstDash val="dash"/>
            <a:miter/>
          </a:ln>
        </p:spPr>
        <p:txBody>
          <a:bodyPr lIns="68579" tIns="34289" rIns="68579" bIns="34289" anchor="ctr"/>
          <a:lstStyle/>
          <a:p>
            <a:pPr algn="ctr" defTabSz="685800">
              <a:defRPr/>
            </a:pPr>
            <a:r>
              <a:rPr lang="zh-CN" altLang="en-US" sz="800" b="1" kern="0" dirty="0">
                <a:solidFill>
                  <a:srgbClr val="000000"/>
                </a:solidFill>
                <a:latin typeface="微软雅黑" pitchFamily="34" charset="-122"/>
              </a:rPr>
              <a:t>算力运营</a:t>
            </a:r>
          </a:p>
        </p:txBody>
      </p:sp>
      <p:sp>
        <p:nvSpPr>
          <p:cNvPr id="59" name="矩形 58"/>
          <p:cNvSpPr/>
          <p:nvPr>
            <p:custDataLst>
              <p:tags r:id="rId13"/>
            </p:custDataLst>
          </p:nvPr>
        </p:nvSpPr>
        <p:spPr>
          <a:xfrm>
            <a:off x="5554363" y="3968639"/>
            <a:ext cx="780840" cy="193980"/>
          </a:xfrm>
          <a:prstGeom prst="rect">
            <a:avLst/>
          </a:prstGeom>
          <a:noFill/>
          <a:ln w="6350" cap="flat" cmpd="sng">
            <a:solidFill>
              <a:schemeClr val="accent5">
                <a:lumMod val="75000"/>
              </a:schemeClr>
            </a:solidFill>
            <a:prstDash val="dash"/>
            <a:miter/>
          </a:ln>
        </p:spPr>
        <p:txBody>
          <a:bodyPr lIns="68579" tIns="34289" rIns="68579" bIns="34289" anchor="ctr"/>
          <a:lstStyle/>
          <a:p>
            <a:pPr algn="ctr" defTabSz="685800">
              <a:defRPr/>
            </a:pPr>
            <a:r>
              <a:rPr lang="zh-CN" altLang="en-US" sz="800" b="1" kern="0" dirty="0">
                <a:solidFill>
                  <a:srgbClr val="000000"/>
                </a:solidFill>
                <a:latin typeface="微软雅黑" pitchFamily="34" charset="-122"/>
              </a:rPr>
              <a:t>统一</a:t>
            </a:r>
            <a:r>
              <a:rPr lang="en-US" altLang="zh-CN" sz="800" b="1" kern="0" dirty="0">
                <a:solidFill>
                  <a:srgbClr val="000000"/>
                </a:solidFill>
                <a:latin typeface="微软雅黑" pitchFamily="34" charset="-122"/>
              </a:rPr>
              <a:t>AI</a:t>
            </a:r>
            <a:r>
              <a:rPr lang="zh-CN" altLang="en-US" sz="800" b="1" kern="0" dirty="0">
                <a:solidFill>
                  <a:srgbClr val="000000"/>
                </a:solidFill>
                <a:latin typeface="微软雅黑" pitchFamily="34" charset="-122"/>
              </a:rPr>
              <a:t>框架</a:t>
            </a:r>
          </a:p>
        </p:txBody>
      </p:sp>
      <p:cxnSp>
        <p:nvCxnSpPr>
          <p:cNvPr id="60" name="直接连接符 59"/>
          <p:cNvCxnSpPr/>
          <p:nvPr/>
        </p:nvCxnSpPr>
        <p:spPr>
          <a:xfrm>
            <a:off x="4763320" y="3697428"/>
            <a:ext cx="0" cy="431959"/>
          </a:xfrm>
          <a:prstGeom prst="line">
            <a:avLst/>
          </a:prstGeom>
          <a:ln w="1905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文本框 60"/>
          <p:cNvSpPr txBox="1"/>
          <p:nvPr/>
        </p:nvSpPr>
        <p:spPr>
          <a:xfrm>
            <a:off x="4307513" y="3705608"/>
            <a:ext cx="402657" cy="323164"/>
          </a:xfrm>
          <a:prstGeom prst="rect">
            <a:avLst/>
          </a:prstGeom>
          <a:noFill/>
        </p:spPr>
        <p:txBody>
          <a:bodyPr wrap="square" lIns="68579" tIns="34289" rIns="68579" bIns="34289">
            <a:spAutoFit/>
          </a:bodyPr>
          <a:lstStyle/>
          <a:p>
            <a:pPr algn="ctr" defTabSz="685800">
              <a:defRPr/>
            </a:pPr>
            <a:r>
              <a:rPr lang="zh-CN" altLang="en-US" sz="800" b="1" kern="0" dirty="0">
                <a:solidFill>
                  <a:srgbClr val="273677">
                    <a:lumMod val="75000"/>
                  </a:srgbClr>
                </a:solidFill>
                <a:latin typeface="微软雅黑" pitchFamily="34" charset="-122"/>
              </a:rPr>
              <a:t>算力调度</a:t>
            </a:r>
          </a:p>
        </p:txBody>
      </p:sp>
      <p:cxnSp>
        <p:nvCxnSpPr>
          <p:cNvPr id="69" name="直接连接符 68"/>
          <p:cNvCxnSpPr/>
          <p:nvPr/>
        </p:nvCxnSpPr>
        <p:spPr>
          <a:xfrm>
            <a:off x="4763320" y="2742028"/>
            <a:ext cx="0" cy="432000"/>
          </a:xfrm>
          <a:prstGeom prst="line">
            <a:avLst/>
          </a:prstGeom>
          <a:ln w="1905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文本框 69"/>
          <p:cNvSpPr txBox="1"/>
          <p:nvPr/>
        </p:nvSpPr>
        <p:spPr>
          <a:xfrm>
            <a:off x="4297478" y="2805019"/>
            <a:ext cx="421774" cy="323164"/>
          </a:xfrm>
          <a:prstGeom prst="rect">
            <a:avLst/>
          </a:prstGeom>
          <a:noFill/>
        </p:spPr>
        <p:txBody>
          <a:bodyPr wrap="square" lIns="68579" tIns="34289" rIns="68579" bIns="34289">
            <a:spAutoFit/>
          </a:bodyPr>
          <a:lstStyle/>
          <a:p>
            <a:pPr algn="ctr" defTabSz="685800">
              <a:defRPr/>
            </a:pPr>
            <a:r>
              <a:rPr lang="zh-CN" altLang="en-US" sz="800" b="1" kern="0" dirty="0">
                <a:solidFill>
                  <a:srgbClr val="273677">
                    <a:lumMod val="75000"/>
                  </a:srgbClr>
                </a:solidFill>
                <a:latin typeface="微软雅黑" pitchFamily="34" charset="-122"/>
              </a:rPr>
              <a:t>模型管理</a:t>
            </a:r>
          </a:p>
        </p:txBody>
      </p:sp>
      <p:sp>
        <p:nvSpPr>
          <p:cNvPr id="71" name="矩形: 圆角 31"/>
          <p:cNvSpPr/>
          <p:nvPr/>
        </p:nvSpPr>
        <p:spPr>
          <a:xfrm>
            <a:off x="1423037" y="3684746"/>
            <a:ext cx="2745581" cy="544830"/>
          </a:xfrm>
          <a:prstGeom prst="roundRect">
            <a:avLst>
              <a:gd name="adj" fmla="val 9526"/>
            </a:avLst>
          </a:prstGeom>
          <a:solidFill>
            <a:srgbClr val="4887D3"/>
          </a:solidFill>
          <a:ln w="12700">
            <a:gradFill>
              <a:gsLst>
                <a:gs pos="0">
                  <a:schemeClr val="bg1">
                    <a:alpha val="0"/>
                  </a:schemeClr>
                </a:gs>
                <a:gs pos="100000">
                  <a:schemeClr val="bg1"/>
                </a:gs>
              </a:gsLst>
              <a:lin ang="5400000" scaled="1"/>
            </a:gradFill>
          </a:ln>
          <a:effectLst>
            <a:outerShdw blurRad="254000" dist="38100" dir="4200000" algn="tl" rotWithShape="0">
              <a:srgbClr val="5B9BD5">
                <a:alpha val="19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79" tIns="34289" rIns="68579" bIns="34289" rtlCol="0" anchor="ctr"/>
          <a:lstStyle/>
          <a:p>
            <a:pPr algn="ctr" defTabSz="685800"/>
            <a:endParaRPr lang="zh-CN" altLang="en-US" sz="1400">
              <a:solidFill>
                <a:srgbClr val="FFFFFF"/>
              </a:solidFill>
            </a:endParaRPr>
          </a:p>
        </p:txBody>
      </p:sp>
      <p:sp>
        <p:nvSpPr>
          <p:cNvPr id="72" name="文本框 71"/>
          <p:cNvSpPr txBox="1"/>
          <p:nvPr/>
        </p:nvSpPr>
        <p:spPr>
          <a:xfrm>
            <a:off x="1432084" y="3775712"/>
            <a:ext cx="621000" cy="345281"/>
          </a:xfrm>
          <a:prstGeom prst="rect">
            <a:avLst/>
          </a:prstGeom>
          <a:noFill/>
        </p:spPr>
        <p:txBody>
          <a:bodyPr wrap="square" lIns="68579" tIns="34289" rIns="68579" bIns="34289">
            <a:spAutoFit/>
          </a:bodyPr>
          <a:lstStyle/>
          <a:p>
            <a:pPr algn="ctr" defTabSz="685800">
              <a:defRPr/>
            </a:pPr>
            <a:r>
              <a:rPr lang="zh-CN" altLang="en-US" sz="900" b="1" kern="0" dirty="0">
                <a:solidFill>
                  <a:srgbClr val="FFFFFF"/>
                </a:solidFill>
                <a:latin typeface="微软雅黑" pitchFamily="34" charset="-122"/>
                <a:sym typeface="+mn-ea"/>
              </a:rPr>
              <a:t>基础</a:t>
            </a:r>
          </a:p>
          <a:p>
            <a:pPr algn="ctr" defTabSz="685800">
              <a:defRPr/>
            </a:pPr>
            <a:r>
              <a:rPr lang="zh-CN" altLang="en-US" sz="900" b="1" kern="0" dirty="0">
                <a:solidFill>
                  <a:srgbClr val="FFFFFF"/>
                </a:solidFill>
                <a:latin typeface="微软雅黑" pitchFamily="34" charset="-122"/>
                <a:sym typeface="+mn-ea"/>
              </a:rPr>
              <a:t>设施层</a:t>
            </a:r>
          </a:p>
        </p:txBody>
      </p:sp>
      <p:sp>
        <p:nvSpPr>
          <p:cNvPr id="77" name="矩形: 圆角 31"/>
          <p:cNvSpPr/>
          <p:nvPr/>
        </p:nvSpPr>
        <p:spPr>
          <a:xfrm>
            <a:off x="1418274" y="2995613"/>
            <a:ext cx="2750344" cy="603885"/>
          </a:xfrm>
          <a:prstGeom prst="roundRect">
            <a:avLst>
              <a:gd name="adj" fmla="val 9526"/>
            </a:avLst>
          </a:prstGeom>
          <a:solidFill>
            <a:srgbClr val="4887D3"/>
          </a:solidFill>
          <a:ln w="12700">
            <a:gradFill>
              <a:gsLst>
                <a:gs pos="0">
                  <a:schemeClr val="bg1">
                    <a:alpha val="0"/>
                  </a:schemeClr>
                </a:gs>
                <a:gs pos="100000">
                  <a:schemeClr val="bg1"/>
                </a:gs>
              </a:gsLst>
              <a:lin ang="5400000" scaled="1"/>
            </a:gradFill>
          </a:ln>
          <a:effectLst>
            <a:outerShdw blurRad="254000" dist="38100" dir="4200000" algn="tl" rotWithShape="0">
              <a:srgbClr val="5B9BD5">
                <a:alpha val="19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79" tIns="34289" rIns="68579" bIns="34289" rtlCol="0" anchor="ctr"/>
          <a:lstStyle/>
          <a:p>
            <a:pPr algn="ctr" defTabSz="685800"/>
            <a:endParaRPr lang="zh-CN" altLang="en-US" sz="1400">
              <a:solidFill>
                <a:srgbClr val="FFFFFF"/>
              </a:solidFill>
            </a:endParaRPr>
          </a:p>
        </p:txBody>
      </p:sp>
      <p:sp>
        <p:nvSpPr>
          <p:cNvPr id="78" name="文本框 77"/>
          <p:cNvSpPr txBox="1"/>
          <p:nvPr/>
        </p:nvSpPr>
        <p:spPr>
          <a:xfrm>
            <a:off x="1471598" y="3104199"/>
            <a:ext cx="541973" cy="345281"/>
          </a:xfrm>
          <a:prstGeom prst="rect">
            <a:avLst/>
          </a:prstGeom>
          <a:noFill/>
        </p:spPr>
        <p:txBody>
          <a:bodyPr wrap="square" lIns="68579" tIns="34289" rIns="68579" bIns="34289">
            <a:spAutoFit/>
          </a:bodyPr>
          <a:lstStyle/>
          <a:p>
            <a:pPr algn="ctr" defTabSz="685800">
              <a:defRPr/>
            </a:pPr>
            <a:r>
              <a:rPr lang="zh-CN" altLang="en-US" sz="900" b="1" kern="0" dirty="0">
                <a:solidFill>
                  <a:srgbClr val="FFFFFF"/>
                </a:solidFill>
                <a:latin typeface="微软雅黑" pitchFamily="34" charset="-122"/>
                <a:sym typeface="+mn-ea"/>
              </a:rPr>
              <a:t>数据集构建</a:t>
            </a:r>
          </a:p>
        </p:txBody>
      </p:sp>
      <p:sp>
        <p:nvSpPr>
          <p:cNvPr id="81" name="矩形: 圆角 74"/>
          <p:cNvSpPr/>
          <p:nvPr/>
        </p:nvSpPr>
        <p:spPr>
          <a:xfrm>
            <a:off x="1423037" y="4287680"/>
            <a:ext cx="5519261" cy="830104"/>
          </a:xfrm>
          <a:prstGeom prst="roundRect">
            <a:avLst>
              <a:gd name="adj" fmla="val 10414"/>
            </a:avLst>
          </a:prstGeom>
          <a:solidFill>
            <a:schemeClr val="bg1"/>
          </a:solidFill>
          <a:ln>
            <a:solidFill>
              <a:srgbClr val="B9C9E9"/>
            </a:solidFill>
          </a:ln>
          <a:effectLst>
            <a:outerShdw blurRad="177800" dist="38100" dir="2700000" algn="tl" rotWithShape="0">
              <a:srgbClr val="5B9BD5">
                <a:alpha val="4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68579" tIns="34289" rIns="68579" bIns="34289" numCol="1" spcCol="0" rtlCol="0" fromWordArt="0" anchor="ctr" anchorCtr="0" forceAA="0" compatLnSpc="1">
            <a:noAutofit/>
          </a:bodyPr>
          <a:lstStyle/>
          <a:p>
            <a:pPr defTabSz="685800"/>
            <a:r>
              <a:rPr lang="zh-CN" altLang="en-US" sz="900" b="1" dirty="0">
                <a:solidFill>
                  <a:srgbClr val="0070C0"/>
                </a:solidFill>
                <a:latin typeface="微软雅黑" pitchFamily="34" charset="-122"/>
                <a:sym typeface="+mn-ea"/>
              </a:rPr>
              <a:t>安全</a:t>
            </a:r>
          </a:p>
          <a:p>
            <a:pPr defTabSz="685800"/>
            <a:r>
              <a:rPr lang="zh-CN" altLang="en-US" sz="900" b="1" dirty="0">
                <a:solidFill>
                  <a:srgbClr val="0070C0"/>
                </a:solidFill>
                <a:latin typeface="微软雅黑" pitchFamily="34" charset="-122"/>
                <a:sym typeface="+mn-ea"/>
              </a:rPr>
              <a:t>保障</a:t>
            </a:r>
          </a:p>
        </p:txBody>
      </p:sp>
      <p:sp>
        <p:nvSpPr>
          <p:cNvPr id="98" name="矩形: 圆角 31"/>
          <p:cNvSpPr/>
          <p:nvPr/>
        </p:nvSpPr>
        <p:spPr>
          <a:xfrm>
            <a:off x="1959770" y="4334351"/>
            <a:ext cx="3413284" cy="678180"/>
          </a:xfrm>
          <a:prstGeom prst="roundRect">
            <a:avLst>
              <a:gd name="adj" fmla="val 9526"/>
            </a:avLst>
          </a:prstGeom>
          <a:solidFill>
            <a:schemeClr val="bg1"/>
          </a:solidFill>
          <a:ln w="12700">
            <a:gradFill>
              <a:gsLst>
                <a:gs pos="0">
                  <a:schemeClr val="bg1">
                    <a:alpha val="0"/>
                  </a:schemeClr>
                </a:gs>
                <a:gs pos="100000">
                  <a:schemeClr val="bg1"/>
                </a:gs>
              </a:gsLst>
              <a:lin ang="5400000" scaled="1"/>
            </a:gradFill>
          </a:ln>
          <a:effectLst>
            <a:outerShdw blurRad="254000" dist="38100" dir="4200000" algn="tl" rotWithShape="0">
              <a:srgbClr val="5B9BD5">
                <a:alpha val="19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79" tIns="34289" rIns="68579" bIns="34289" rtlCol="0" anchor="t" anchorCtr="0"/>
          <a:lstStyle/>
          <a:p>
            <a:pPr algn="ctr" defTabSz="685800"/>
            <a:r>
              <a:rPr lang="zh-CN" altLang="en-US" sz="800" b="1">
                <a:solidFill>
                  <a:srgbClr val="000000"/>
                </a:solidFill>
                <a:latin typeface="微软雅黑" pitchFamily="34" charset="-122"/>
              </a:rPr>
              <a:t>安全技术</a:t>
            </a:r>
          </a:p>
        </p:txBody>
      </p:sp>
      <p:sp>
        <p:nvSpPr>
          <p:cNvPr id="99" name="文本框 98"/>
          <p:cNvSpPr txBox="1"/>
          <p:nvPr/>
        </p:nvSpPr>
        <p:spPr>
          <a:xfrm>
            <a:off x="2828926" y="4515089"/>
            <a:ext cx="1105376" cy="459000"/>
          </a:xfrm>
          <a:prstGeom prst="rect">
            <a:avLst/>
          </a:prstGeom>
          <a:solidFill>
            <a:srgbClr val="4887D3"/>
          </a:solidFill>
          <a:ln>
            <a:noFill/>
            <a:prstDash val="dash"/>
          </a:ln>
        </p:spPr>
        <p:txBody>
          <a:bodyPr wrap="square" lIns="68579" tIns="34289" rIns="68579" bIns="34289" rtlCol="0" anchor="ctr" anchorCtr="0">
            <a:noAutofit/>
          </a:bodyPr>
          <a:lstStyle/>
          <a:p>
            <a:pPr algn="ctr" defTabSz="685800"/>
            <a:r>
              <a:rPr lang="zh-CN" altLang="en-US" sz="800" b="1">
                <a:solidFill>
                  <a:srgbClr val="FFFFFF"/>
                </a:solidFill>
                <a:latin typeface="微软雅黑" pitchFamily="34" charset="-122"/>
              </a:rPr>
              <a:t>数据安全</a:t>
            </a:r>
          </a:p>
          <a:p>
            <a:pPr algn="ctr" defTabSz="685800"/>
            <a:r>
              <a:rPr lang="zh-CN" altLang="en-US" sz="700">
                <a:solidFill>
                  <a:srgbClr val="FFFFFF"/>
                </a:solidFill>
                <a:latin typeface="微软雅黑" pitchFamily="34" charset="-122"/>
              </a:rPr>
              <a:t>核心价值观、数据隐私</a:t>
            </a:r>
          </a:p>
          <a:p>
            <a:pPr algn="ctr" defTabSz="685800"/>
            <a:r>
              <a:rPr lang="zh-CN" altLang="en-US" sz="700">
                <a:solidFill>
                  <a:srgbClr val="FFFFFF"/>
                </a:solidFill>
                <a:latin typeface="微软雅黑" pitchFamily="34" charset="-122"/>
              </a:rPr>
              <a:t>数据泄露、语料投毒</a:t>
            </a:r>
          </a:p>
        </p:txBody>
      </p:sp>
      <p:sp>
        <p:nvSpPr>
          <p:cNvPr id="100" name="文本框 99"/>
          <p:cNvSpPr txBox="1"/>
          <p:nvPr/>
        </p:nvSpPr>
        <p:spPr>
          <a:xfrm>
            <a:off x="4030029" y="4515089"/>
            <a:ext cx="593884" cy="459000"/>
          </a:xfrm>
          <a:prstGeom prst="rect">
            <a:avLst/>
          </a:prstGeom>
          <a:solidFill>
            <a:srgbClr val="4887D3"/>
          </a:solidFill>
          <a:ln>
            <a:noFill/>
            <a:prstDash val="dash"/>
          </a:ln>
        </p:spPr>
        <p:txBody>
          <a:bodyPr wrap="square" lIns="68579" tIns="34289" rIns="68579" bIns="34289" rtlCol="0" anchor="t" anchorCtr="0">
            <a:noAutofit/>
          </a:bodyPr>
          <a:lstStyle/>
          <a:p>
            <a:pPr algn="ctr" defTabSz="685800"/>
            <a:r>
              <a:rPr lang="zh-CN" altLang="en-US" sz="800" b="1">
                <a:solidFill>
                  <a:srgbClr val="FFFFFF"/>
                </a:solidFill>
                <a:latin typeface="微软雅黑" pitchFamily="34" charset="-122"/>
              </a:rPr>
              <a:t>算法安全</a:t>
            </a:r>
          </a:p>
          <a:p>
            <a:pPr algn="ctr" defTabSz="685800"/>
            <a:r>
              <a:rPr lang="en-US" altLang="zh-CN" sz="700">
                <a:solidFill>
                  <a:srgbClr val="FFFFFF"/>
                </a:solidFill>
                <a:latin typeface="微软雅黑" pitchFamily="34" charset="-122"/>
              </a:rPr>
              <a:t>AI</a:t>
            </a:r>
            <a:r>
              <a:rPr lang="zh-CN" altLang="en-US" sz="700">
                <a:solidFill>
                  <a:srgbClr val="FFFFFF"/>
                </a:solidFill>
                <a:latin typeface="微软雅黑" pitchFamily="34" charset="-122"/>
              </a:rPr>
              <a:t>幻觉</a:t>
            </a:r>
          </a:p>
          <a:p>
            <a:pPr algn="ctr" defTabSz="685800"/>
            <a:r>
              <a:rPr lang="zh-CN" altLang="en-US" sz="700">
                <a:solidFill>
                  <a:srgbClr val="FFFFFF"/>
                </a:solidFill>
                <a:latin typeface="微软雅黑" pitchFamily="34" charset="-122"/>
              </a:rPr>
              <a:t>可解释性差</a:t>
            </a:r>
          </a:p>
          <a:p>
            <a:pPr algn="ctr" defTabSz="685800"/>
            <a:r>
              <a:rPr lang="zh-CN" altLang="en-US" sz="700">
                <a:solidFill>
                  <a:srgbClr val="FFFFFF"/>
                </a:solidFill>
                <a:latin typeface="微软雅黑" pitchFamily="34" charset="-122"/>
              </a:rPr>
              <a:t>内容不可靠</a:t>
            </a:r>
          </a:p>
        </p:txBody>
      </p:sp>
      <p:sp>
        <p:nvSpPr>
          <p:cNvPr id="102" name="文本框 101"/>
          <p:cNvSpPr txBox="1"/>
          <p:nvPr/>
        </p:nvSpPr>
        <p:spPr>
          <a:xfrm>
            <a:off x="4693920" y="4515326"/>
            <a:ext cx="593884" cy="163830"/>
          </a:xfrm>
          <a:prstGeom prst="rect">
            <a:avLst/>
          </a:prstGeom>
          <a:solidFill>
            <a:srgbClr val="4887D3"/>
          </a:solidFill>
          <a:ln>
            <a:noFill/>
            <a:prstDash val="dash"/>
          </a:ln>
        </p:spPr>
        <p:txBody>
          <a:bodyPr wrap="square" lIns="68579" tIns="34289" rIns="68579" bIns="34289" rtlCol="0" anchor="t" anchorCtr="0">
            <a:noAutofit/>
          </a:bodyPr>
          <a:lstStyle/>
          <a:p>
            <a:pPr algn="ctr" defTabSz="685800"/>
            <a:r>
              <a:rPr lang="zh-CN" altLang="en-US" sz="800" b="1">
                <a:solidFill>
                  <a:srgbClr val="FFFFFF"/>
                </a:solidFill>
                <a:latin typeface="微软雅黑" pitchFamily="34" charset="-122"/>
              </a:rPr>
              <a:t>模型安全</a:t>
            </a:r>
          </a:p>
        </p:txBody>
      </p:sp>
      <p:sp>
        <p:nvSpPr>
          <p:cNvPr id="113" name="文本框 112"/>
          <p:cNvSpPr txBox="1"/>
          <p:nvPr/>
        </p:nvSpPr>
        <p:spPr>
          <a:xfrm>
            <a:off x="4693920" y="4708208"/>
            <a:ext cx="593884" cy="262890"/>
          </a:xfrm>
          <a:prstGeom prst="rect">
            <a:avLst/>
          </a:prstGeom>
          <a:solidFill>
            <a:srgbClr val="4887D3"/>
          </a:solidFill>
          <a:ln>
            <a:noFill/>
            <a:prstDash val="dash"/>
          </a:ln>
        </p:spPr>
        <p:txBody>
          <a:bodyPr wrap="square" lIns="68579" tIns="34289" rIns="68579" bIns="34289" rtlCol="0" anchor="ctr" anchorCtr="0">
            <a:noAutofit/>
          </a:bodyPr>
          <a:lstStyle/>
          <a:p>
            <a:pPr algn="ctr" defTabSz="685800"/>
            <a:r>
              <a:rPr lang="zh-CN" altLang="en-US" sz="800" b="1">
                <a:solidFill>
                  <a:srgbClr val="FFFFFF"/>
                </a:solidFill>
                <a:latin typeface="微软雅黑" pitchFamily="34" charset="-122"/>
              </a:rPr>
              <a:t>基础设施安全</a:t>
            </a:r>
          </a:p>
        </p:txBody>
      </p:sp>
      <p:sp>
        <p:nvSpPr>
          <p:cNvPr id="114" name="文本框 113"/>
          <p:cNvSpPr txBox="1"/>
          <p:nvPr/>
        </p:nvSpPr>
        <p:spPr>
          <a:xfrm>
            <a:off x="2139315" y="4515089"/>
            <a:ext cx="593884" cy="459000"/>
          </a:xfrm>
          <a:prstGeom prst="rect">
            <a:avLst/>
          </a:prstGeom>
          <a:solidFill>
            <a:srgbClr val="4887D3"/>
          </a:solidFill>
          <a:ln>
            <a:noFill/>
            <a:prstDash val="dash"/>
          </a:ln>
        </p:spPr>
        <p:txBody>
          <a:bodyPr wrap="square" lIns="68579" tIns="34289" rIns="68579" bIns="34289" rtlCol="0" anchor="ctr" anchorCtr="0">
            <a:noAutofit/>
          </a:bodyPr>
          <a:lstStyle/>
          <a:p>
            <a:pPr algn="ctr" defTabSz="685800"/>
            <a:r>
              <a:rPr lang="zh-CN" altLang="en-US" sz="800" b="1">
                <a:solidFill>
                  <a:srgbClr val="FFFFFF"/>
                </a:solidFill>
                <a:latin typeface="微软雅黑" pitchFamily="34" charset="-122"/>
              </a:rPr>
              <a:t>业务安全</a:t>
            </a:r>
          </a:p>
          <a:p>
            <a:pPr algn="ctr" defTabSz="685800"/>
            <a:r>
              <a:rPr lang="zh-CN" altLang="en-US" sz="700">
                <a:solidFill>
                  <a:srgbClr val="FFFFFF"/>
                </a:solidFill>
                <a:latin typeface="微软雅黑" pitchFamily="34" charset="-122"/>
              </a:rPr>
              <a:t>合规评估</a:t>
            </a:r>
          </a:p>
          <a:p>
            <a:pPr algn="ctr" defTabSz="685800"/>
            <a:r>
              <a:rPr lang="zh-CN" altLang="en-US" sz="700">
                <a:solidFill>
                  <a:srgbClr val="FFFFFF"/>
                </a:solidFill>
                <a:latin typeface="微软雅黑" pitchFamily="34" charset="-122"/>
              </a:rPr>
              <a:t>合规检查</a:t>
            </a:r>
          </a:p>
        </p:txBody>
      </p:sp>
      <p:sp>
        <p:nvSpPr>
          <p:cNvPr id="115" name="矩形: 圆角 31"/>
          <p:cNvSpPr/>
          <p:nvPr/>
        </p:nvSpPr>
        <p:spPr>
          <a:xfrm>
            <a:off x="5428774" y="4333876"/>
            <a:ext cx="1416368" cy="678656"/>
          </a:xfrm>
          <a:prstGeom prst="roundRect">
            <a:avLst>
              <a:gd name="adj" fmla="val 9526"/>
            </a:avLst>
          </a:prstGeom>
          <a:solidFill>
            <a:schemeClr val="bg1"/>
          </a:solidFill>
          <a:ln w="12700">
            <a:gradFill>
              <a:gsLst>
                <a:gs pos="0">
                  <a:schemeClr val="bg1">
                    <a:alpha val="0"/>
                  </a:schemeClr>
                </a:gs>
                <a:gs pos="100000">
                  <a:schemeClr val="bg1"/>
                </a:gs>
              </a:gsLst>
              <a:lin ang="5400000" scaled="1"/>
            </a:gradFill>
          </a:ln>
          <a:effectLst>
            <a:outerShdw blurRad="254000" dist="38100" dir="4200000" algn="tl" rotWithShape="0">
              <a:srgbClr val="5B9BD5">
                <a:alpha val="19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79" tIns="34289" rIns="68579" bIns="34289" rtlCol="0" anchor="t" anchorCtr="0"/>
          <a:lstStyle/>
          <a:p>
            <a:pPr algn="ctr" defTabSz="685800"/>
            <a:r>
              <a:rPr lang="zh-CN" altLang="en-US" sz="800" b="1">
                <a:solidFill>
                  <a:srgbClr val="000000"/>
                </a:solidFill>
                <a:latin typeface="微软雅黑" pitchFamily="34" charset="-122"/>
              </a:rPr>
              <a:t>安全管理</a:t>
            </a:r>
          </a:p>
        </p:txBody>
      </p:sp>
      <p:sp>
        <p:nvSpPr>
          <p:cNvPr id="116" name="文本框 115"/>
          <p:cNvSpPr txBox="1"/>
          <p:nvPr/>
        </p:nvSpPr>
        <p:spPr>
          <a:xfrm>
            <a:off x="6199822" y="4781551"/>
            <a:ext cx="540068" cy="200978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wrap="square" lIns="68579" tIns="34289" rIns="68579" bIns="34289" rtlCol="0" anchor="ctr" anchorCtr="0">
            <a:noAutofit/>
          </a:bodyPr>
          <a:lstStyle/>
          <a:p>
            <a:pPr algn="ctr" defTabSz="685800"/>
            <a:r>
              <a:rPr lang="zh-CN" altLang="en-US" sz="800">
                <a:solidFill>
                  <a:srgbClr val="FFFFFF"/>
                </a:solidFill>
                <a:latin typeface="微软雅黑" pitchFamily="34" charset="-122"/>
              </a:rPr>
              <a:t>模型</a:t>
            </a:r>
          </a:p>
          <a:p>
            <a:pPr algn="ctr" defTabSz="685800"/>
            <a:r>
              <a:rPr lang="zh-CN" altLang="en-US" sz="800">
                <a:solidFill>
                  <a:srgbClr val="FFFFFF"/>
                </a:solidFill>
                <a:latin typeface="微软雅黑" pitchFamily="34" charset="-122"/>
              </a:rPr>
              <a:t>伦理准则</a:t>
            </a:r>
          </a:p>
        </p:txBody>
      </p:sp>
      <p:sp>
        <p:nvSpPr>
          <p:cNvPr id="117" name="文本框 116"/>
          <p:cNvSpPr txBox="1"/>
          <p:nvPr/>
        </p:nvSpPr>
        <p:spPr>
          <a:xfrm>
            <a:off x="5514022" y="4576763"/>
            <a:ext cx="608648" cy="161925"/>
          </a:xfrm>
          <a:prstGeom prst="rect">
            <a:avLst/>
          </a:prstGeom>
          <a:solidFill>
            <a:srgbClr val="4887D3"/>
          </a:solidFill>
          <a:ln>
            <a:noFill/>
            <a:prstDash val="dash"/>
          </a:ln>
        </p:spPr>
        <p:txBody>
          <a:bodyPr wrap="square" lIns="68579" tIns="34289" rIns="68579" bIns="34289" rtlCol="0" anchor="ctr" anchorCtr="0">
            <a:noAutofit/>
          </a:bodyPr>
          <a:lstStyle/>
          <a:p>
            <a:pPr algn="ctr" defTabSz="685800"/>
            <a:r>
              <a:rPr lang="zh-CN" altLang="en-US" sz="800">
                <a:solidFill>
                  <a:srgbClr val="FFFFFF"/>
                </a:solidFill>
                <a:latin typeface="微软雅黑" pitchFamily="34" charset="-122"/>
              </a:rPr>
              <a:t>管理规范</a:t>
            </a:r>
          </a:p>
        </p:txBody>
      </p:sp>
      <p:sp>
        <p:nvSpPr>
          <p:cNvPr id="118" name="文本框 117"/>
          <p:cNvSpPr txBox="1"/>
          <p:nvPr/>
        </p:nvSpPr>
        <p:spPr>
          <a:xfrm>
            <a:off x="4297953" y="3225072"/>
            <a:ext cx="421774" cy="323164"/>
          </a:xfrm>
          <a:prstGeom prst="rect">
            <a:avLst/>
          </a:prstGeom>
          <a:noFill/>
        </p:spPr>
        <p:txBody>
          <a:bodyPr wrap="square" lIns="68579" tIns="34289" rIns="68579" bIns="34289">
            <a:spAutoFit/>
          </a:bodyPr>
          <a:lstStyle/>
          <a:p>
            <a:pPr algn="ctr" defTabSz="685800">
              <a:defRPr/>
            </a:pPr>
            <a:r>
              <a:rPr lang="zh-CN" altLang="en-US" sz="800" b="1" kern="0" dirty="0">
                <a:solidFill>
                  <a:srgbClr val="273677">
                    <a:lumMod val="75000"/>
                  </a:srgbClr>
                </a:solidFill>
                <a:latin typeface="微软雅黑" pitchFamily="34" charset="-122"/>
              </a:rPr>
              <a:t>数据管理</a:t>
            </a:r>
          </a:p>
        </p:txBody>
      </p:sp>
      <p:sp>
        <p:nvSpPr>
          <p:cNvPr id="119" name="矩形 118"/>
          <p:cNvSpPr/>
          <p:nvPr/>
        </p:nvSpPr>
        <p:spPr>
          <a:xfrm>
            <a:off x="2020730" y="3021808"/>
            <a:ext cx="634841" cy="547211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lIns="68579" tIns="34289" rIns="68579" bIns="34289" rtlCol="0" anchor="t" anchorCtr="0">
            <a:noAutofit/>
          </a:bodyPr>
          <a:lstStyle/>
          <a:p>
            <a:pPr algn="ctr" defTabSz="685800">
              <a:defRPr/>
            </a:pPr>
            <a:r>
              <a:rPr lang="zh-CN" altLang="en-US" sz="900" b="1" kern="0" dirty="0">
                <a:solidFill>
                  <a:srgbClr val="6C99DA">
                    <a:lumMod val="75000"/>
                  </a:srgbClr>
                </a:solidFill>
                <a:latin typeface="微软雅黑" pitchFamily="34" charset="-122"/>
                <a:sym typeface="+mn-ea"/>
              </a:rPr>
              <a:t>智库领域</a:t>
            </a:r>
          </a:p>
        </p:txBody>
      </p:sp>
      <p:sp>
        <p:nvSpPr>
          <p:cNvPr id="120" name="矩形 119"/>
          <p:cNvSpPr/>
          <p:nvPr/>
        </p:nvSpPr>
        <p:spPr>
          <a:xfrm>
            <a:off x="2754632" y="3021808"/>
            <a:ext cx="634841" cy="547211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lIns="68579" tIns="34289" rIns="68579" bIns="34289" rtlCol="0" anchor="t" anchorCtr="0">
            <a:noAutofit/>
          </a:bodyPr>
          <a:lstStyle/>
          <a:p>
            <a:pPr algn="ctr" defTabSz="685800">
              <a:defRPr/>
            </a:pPr>
            <a:r>
              <a:rPr lang="zh-CN" altLang="en-US" sz="900" b="1" kern="0" dirty="0">
                <a:solidFill>
                  <a:srgbClr val="6C99DA">
                    <a:lumMod val="75000"/>
                  </a:srgbClr>
                </a:solidFill>
                <a:latin typeface="微软雅黑" pitchFamily="34" charset="-122"/>
                <a:sym typeface="+mn-ea"/>
              </a:rPr>
              <a:t>成果转化</a:t>
            </a:r>
          </a:p>
        </p:txBody>
      </p:sp>
      <p:sp>
        <p:nvSpPr>
          <p:cNvPr id="121" name="矩形 120"/>
          <p:cNvSpPr/>
          <p:nvPr/>
        </p:nvSpPr>
        <p:spPr>
          <a:xfrm>
            <a:off x="3487580" y="3014664"/>
            <a:ext cx="634841" cy="547211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lIns="68579" tIns="34289" rIns="68579" bIns="34289" rtlCol="0" anchor="t" anchorCtr="0">
            <a:noAutofit/>
          </a:bodyPr>
          <a:lstStyle/>
          <a:p>
            <a:pPr algn="ctr" defTabSz="685800">
              <a:defRPr/>
            </a:pPr>
            <a:r>
              <a:rPr lang="zh-CN" altLang="en-US" sz="900" b="1" kern="0" dirty="0">
                <a:solidFill>
                  <a:srgbClr val="6C99DA">
                    <a:lumMod val="75000"/>
                  </a:srgbClr>
                </a:solidFill>
                <a:latin typeface="微软雅黑" pitchFamily="34" charset="-122"/>
                <a:sym typeface="+mn-ea"/>
              </a:rPr>
              <a:t>产业领域</a:t>
            </a:r>
          </a:p>
        </p:txBody>
      </p:sp>
      <p:cxnSp>
        <p:nvCxnSpPr>
          <p:cNvPr id="122" name="直接连接符 121"/>
          <p:cNvCxnSpPr/>
          <p:nvPr/>
        </p:nvCxnSpPr>
        <p:spPr>
          <a:xfrm>
            <a:off x="4763320" y="3219749"/>
            <a:ext cx="0" cy="431959"/>
          </a:xfrm>
          <a:prstGeom prst="line">
            <a:avLst/>
          </a:prstGeom>
          <a:ln w="1905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" name="矩形 122"/>
          <p:cNvSpPr/>
          <p:nvPr>
            <p:custDataLst>
              <p:tags r:id="rId14"/>
            </p:custDataLst>
          </p:nvPr>
        </p:nvSpPr>
        <p:spPr>
          <a:xfrm>
            <a:off x="4851083" y="3335278"/>
            <a:ext cx="889635" cy="233839"/>
          </a:xfrm>
          <a:prstGeom prst="rect">
            <a:avLst/>
          </a:prstGeom>
          <a:noFill/>
          <a:ln w="6350" cap="flat" cmpd="sng">
            <a:solidFill>
              <a:schemeClr val="accent5">
                <a:lumMod val="75000"/>
              </a:schemeClr>
            </a:solidFill>
            <a:prstDash val="dash"/>
            <a:miter/>
          </a:ln>
        </p:spPr>
        <p:txBody>
          <a:bodyPr lIns="68579" tIns="34289" rIns="68579" bIns="34289" anchor="ctr"/>
          <a:lstStyle/>
          <a:p>
            <a:pPr algn="ctr" defTabSz="685800">
              <a:defRPr/>
            </a:pPr>
            <a:r>
              <a:rPr lang="zh-CN" altLang="en-US" sz="800" b="1" kern="0" dirty="0">
                <a:solidFill>
                  <a:srgbClr val="000000"/>
                </a:solidFill>
                <a:latin typeface="微软雅黑" pitchFamily="34" charset="-122"/>
              </a:rPr>
              <a:t>数据标注全流程</a:t>
            </a:r>
          </a:p>
        </p:txBody>
      </p:sp>
      <p:sp>
        <p:nvSpPr>
          <p:cNvPr id="124" name="矩形 123"/>
          <p:cNvSpPr/>
          <p:nvPr>
            <p:custDataLst>
              <p:tags r:id="rId15"/>
            </p:custDataLst>
          </p:nvPr>
        </p:nvSpPr>
        <p:spPr>
          <a:xfrm>
            <a:off x="5855971" y="3335278"/>
            <a:ext cx="568643" cy="233839"/>
          </a:xfrm>
          <a:prstGeom prst="rect">
            <a:avLst/>
          </a:prstGeom>
          <a:noFill/>
          <a:ln w="6350" cap="flat" cmpd="sng">
            <a:solidFill>
              <a:schemeClr val="accent5">
                <a:lumMod val="75000"/>
              </a:schemeClr>
            </a:solidFill>
            <a:prstDash val="dash"/>
            <a:miter/>
          </a:ln>
        </p:spPr>
        <p:txBody>
          <a:bodyPr lIns="68579" tIns="34289" rIns="68579" bIns="34289" anchor="ctr"/>
          <a:lstStyle/>
          <a:p>
            <a:pPr algn="ctr" defTabSz="685800">
              <a:defRPr/>
            </a:pPr>
            <a:r>
              <a:rPr lang="zh-CN" altLang="en-US" sz="800" b="1" kern="0" dirty="0">
                <a:solidFill>
                  <a:srgbClr val="000000"/>
                </a:solidFill>
                <a:latin typeface="微软雅黑" pitchFamily="34" charset="-122"/>
              </a:rPr>
              <a:t>数据存储</a:t>
            </a:r>
          </a:p>
        </p:txBody>
      </p:sp>
      <p:sp>
        <p:nvSpPr>
          <p:cNvPr id="163" name="矩形 162"/>
          <p:cNvSpPr/>
          <p:nvPr/>
        </p:nvSpPr>
        <p:spPr>
          <a:xfrm>
            <a:off x="2033111" y="2542222"/>
            <a:ext cx="483870" cy="345758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lIns="0" tIns="34289" rIns="0" bIns="34289" rtlCol="0" anchor="ctr">
            <a:noAutofit/>
          </a:bodyPr>
          <a:lstStyle/>
          <a:p>
            <a:pPr algn="ctr" defTabSz="685800">
              <a:defRPr/>
            </a:pPr>
            <a:r>
              <a:rPr lang="zh-CN" altLang="en-US" sz="800" b="1" kern="0" dirty="0">
                <a:solidFill>
                  <a:srgbClr val="6C99DA">
                    <a:lumMod val="75000"/>
                  </a:srgbClr>
                </a:solidFill>
                <a:latin typeface="微软雅黑" pitchFamily="34" charset="-122"/>
                <a:sym typeface="+mn-ea"/>
              </a:rPr>
              <a:t>人工智能</a:t>
            </a:r>
            <a:r>
              <a:rPr lang="en-US" altLang="zh-CN" sz="800" b="1" kern="0" dirty="0">
                <a:solidFill>
                  <a:srgbClr val="6C99DA">
                    <a:lumMod val="75000"/>
                  </a:srgbClr>
                </a:solidFill>
                <a:latin typeface="微软雅黑" pitchFamily="34" charset="-122"/>
                <a:sym typeface="+mn-ea"/>
              </a:rPr>
              <a:t>+</a:t>
            </a:r>
            <a:r>
              <a:rPr lang="zh-CN" altLang="en-US" sz="800" b="1" kern="0" dirty="0">
                <a:solidFill>
                  <a:srgbClr val="6C99DA">
                    <a:lumMod val="75000"/>
                  </a:srgbClr>
                </a:solidFill>
                <a:latin typeface="微软雅黑" pitchFamily="34" charset="-122"/>
                <a:sym typeface="+mn-ea"/>
              </a:rPr>
              <a:t>智库服务</a:t>
            </a:r>
          </a:p>
        </p:txBody>
      </p:sp>
      <p:sp>
        <p:nvSpPr>
          <p:cNvPr id="167" name="矩形: 圆角 74"/>
          <p:cNvSpPr/>
          <p:nvPr/>
        </p:nvSpPr>
        <p:spPr>
          <a:xfrm>
            <a:off x="7072790" y="1716883"/>
            <a:ext cx="817245" cy="3400901"/>
          </a:xfrm>
          <a:prstGeom prst="roundRect">
            <a:avLst>
              <a:gd name="adj" fmla="val 10414"/>
            </a:avLst>
          </a:prstGeom>
          <a:solidFill>
            <a:schemeClr val="bg1"/>
          </a:solidFill>
          <a:ln>
            <a:solidFill>
              <a:srgbClr val="B9C9E9"/>
            </a:solidFill>
          </a:ln>
          <a:effectLst>
            <a:outerShdw blurRad="177800" dist="38100" dir="2700000" algn="tl" rotWithShape="0">
              <a:srgbClr val="5B9BD5">
                <a:alpha val="4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68579" tIns="34289" rIns="68579" bIns="34289" rtlCol="0" anchor="t" anchorCtr="0"/>
          <a:lstStyle/>
          <a:p>
            <a:pPr algn="ctr" defTabSz="685800"/>
            <a:r>
              <a:rPr lang="zh-CN" altLang="en-US" sz="900" b="1" dirty="0">
                <a:solidFill>
                  <a:srgbClr val="0070C0"/>
                </a:solidFill>
                <a:latin typeface="微软雅黑" pitchFamily="34" charset="-122"/>
              </a:rPr>
              <a:t>运营体系</a:t>
            </a:r>
          </a:p>
        </p:txBody>
      </p:sp>
      <p:sp>
        <p:nvSpPr>
          <p:cNvPr id="168" name="矩形 167"/>
          <p:cNvSpPr/>
          <p:nvPr/>
        </p:nvSpPr>
        <p:spPr>
          <a:xfrm>
            <a:off x="1973581" y="3735229"/>
            <a:ext cx="650558" cy="448628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lIns="68579" tIns="34289" rIns="68579" bIns="34289" rtlCol="0" anchor="t" anchorCtr="0">
            <a:noAutofit/>
          </a:bodyPr>
          <a:lstStyle/>
          <a:p>
            <a:pPr algn="ctr" defTabSz="685800">
              <a:defRPr/>
            </a:pPr>
            <a:r>
              <a:rPr lang="zh-CN" altLang="en-US" sz="900" b="1" kern="0" dirty="0">
                <a:solidFill>
                  <a:srgbClr val="6C99DA">
                    <a:lumMod val="75000"/>
                  </a:srgbClr>
                </a:solidFill>
                <a:latin typeface="微软雅黑" pitchFamily="34" charset="-122"/>
                <a:sym typeface="+mn-ea"/>
              </a:rPr>
              <a:t>计算资源</a:t>
            </a:r>
          </a:p>
        </p:txBody>
      </p:sp>
      <p:sp>
        <p:nvSpPr>
          <p:cNvPr id="169" name="矩形 168"/>
          <p:cNvSpPr/>
          <p:nvPr/>
        </p:nvSpPr>
        <p:spPr>
          <a:xfrm>
            <a:off x="2702718" y="3734752"/>
            <a:ext cx="650558" cy="448628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lIns="68579" tIns="34289" rIns="68579" bIns="34289" rtlCol="0" anchor="t" anchorCtr="0">
            <a:noAutofit/>
          </a:bodyPr>
          <a:lstStyle/>
          <a:p>
            <a:pPr algn="ctr" defTabSz="685800">
              <a:defRPr/>
            </a:pPr>
            <a:r>
              <a:rPr lang="zh-CN" altLang="en-US" sz="900" b="1" kern="0" dirty="0">
                <a:solidFill>
                  <a:srgbClr val="6C99DA">
                    <a:lumMod val="75000"/>
                  </a:srgbClr>
                </a:solidFill>
                <a:latin typeface="微软雅黑" pitchFamily="34" charset="-122"/>
                <a:sym typeface="+mn-ea"/>
              </a:rPr>
              <a:t>存储资源</a:t>
            </a:r>
          </a:p>
        </p:txBody>
      </p:sp>
      <p:sp>
        <p:nvSpPr>
          <p:cNvPr id="170" name="矩形 169"/>
          <p:cNvSpPr/>
          <p:nvPr/>
        </p:nvSpPr>
        <p:spPr>
          <a:xfrm>
            <a:off x="3431857" y="3734752"/>
            <a:ext cx="650558" cy="448628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lIns="68579" tIns="34289" rIns="68579" bIns="34289" rtlCol="0" anchor="t" anchorCtr="0">
            <a:noAutofit/>
          </a:bodyPr>
          <a:lstStyle/>
          <a:p>
            <a:pPr algn="ctr" defTabSz="685800">
              <a:defRPr/>
            </a:pPr>
            <a:r>
              <a:rPr lang="zh-CN" altLang="en-US" sz="900" b="1" kern="0" dirty="0">
                <a:solidFill>
                  <a:srgbClr val="6C99DA">
                    <a:lumMod val="75000"/>
                  </a:srgbClr>
                </a:solidFill>
                <a:latin typeface="微软雅黑" pitchFamily="34" charset="-122"/>
                <a:sym typeface="+mn-ea"/>
              </a:rPr>
              <a:t>网络资源</a:t>
            </a:r>
          </a:p>
        </p:txBody>
      </p:sp>
      <p:sp>
        <p:nvSpPr>
          <p:cNvPr id="171" name="矩形: 圆角 31"/>
          <p:cNvSpPr/>
          <p:nvPr/>
        </p:nvSpPr>
        <p:spPr>
          <a:xfrm>
            <a:off x="7152800" y="3810001"/>
            <a:ext cx="657225" cy="1237298"/>
          </a:xfrm>
          <a:prstGeom prst="roundRect">
            <a:avLst>
              <a:gd name="adj" fmla="val 9526"/>
            </a:avLst>
          </a:prstGeom>
          <a:solidFill>
            <a:srgbClr val="C00000"/>
          </a:solidFill>
          <a:ln w="12700">
            <a:gradFill>
              <a:gsLst>
                <a:gs pos="0">
                  <a:schemeClr val="bg1">
                    <a:alpha val="0"/>
                  </a:schemeClr>
                </a:gs>
                <a:gs pos="100000">
                  <a:schemeClr val="bg1"/>
                </a:gs>
              </a:gsLst>
              <a:lin ang="5400000" scaled="1"/>
            </a:gradFill>
          </a:ln>
          <a:effectLst>
            <a:outerShdw blurRad="254000" dist="38100" dir="4200000" algn="tl" rotWithShape="0">
              <a:srgbClr val="5B9BD5">
                <a:alpha val="19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79" tIns="34289" rIns="68579" bIns="34289" rtlCol="0" anchor="t" anchorCtr="0"/>
          <a:lstStyle/>
          <a:p>
            <a:pPr algn="ctr" defTabSz="685800"/>
            <a:r>
              <a:rPr lang="zh-CN" altLang="en-US" sz="800" b="1">
                <a:solidFill>
                  <a:srgbClr val="FFFFFF"/>
                </a:solidFill>
                <a:latin typeface="微软雅黑" pitchFamily="34" charset="-122"/>
              </a:rPr>
              <a:t>运营产品</a:t>
            </a:r>
            <a:r>
              <a:rPr lang="en-US" altLang="zh-CN" sz="800" b="1">
                <a:solidFill>
                  <a:srgbClr val="FFFFFF"/>
                </a:solidFill>
                <a:latin typeface="微软雅黑" pitchFamily="34" charset="-122"/>
              </a:rPr>
              <a:t>/</a:t>
            </a:r>
            <a:r>
              <a:rPr lang="zh-CN" altLang="en-US" sz="800" b="1">
                <a:solidFill>
                  <a:srgbClr val="FFFFFF"/>
                </a:solidFill>
                <a:latin typeface="微软雅黑" pitchFamily="34" charset="-122"/>
              </a:rPr>
              <a:t>服务</a:t>
            </a:r>
          </a:p>
        </p:txBody>
      </p:sp>
      <p:sp>
        <p:nvSpPr>
          <p:cNvPr id="172" name="矩形: 圆角 31"/>
          <p:cNvSpPr/>
          <p:nvPr/>
        </p:nvSpPr>
        <p:spPr>
          <a:xfrm>
            <a:off x="7122320" y="1943577"/>
            <a:ext cx="736759" cy="943928"/>
          </a:xfrm>
          <a:prstGeom prst="roundRect">
            <a:avLst>
              <a:gd name="adj" fmla="val 9526"/>
            </a:avLst>
          </a:prstGeom>
          <a:solidFill>
            <a:srgbClr val="70AD47"/>
          </a:solidFill>
          <a:ln w="12700">
            <a:gradFill>
              <a:gsLst>
                <a:gs pos="0">
                  <a:schemeClr val="bg1">
                    <a:alpha val="0"/>
                  </a:schemeClr>
                </a:gs>
                <a:gs pos="100000">
                  <a:schemeClr val="bg1"/>
                </a:gs>
              </a:gsLst>
              <a:lin ang="5400000" scaled="1"/>
            </a:gradFill>
          </a:ln>
          <a:effectLst>
            <a:outerShdw blurRad="254000" dist="38100" dir="4200000" algn="tl" rotWithShape="0">
              <a:srgbClr val="5B9BD5">
                <a:alpha val="19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4289" rIns="0" bIns="34289" rtlCol="0" anchor="t" anchorCtr="0"/>
          <a:lstStyle/>
          <a:p>
            <a:pPr algn="ctr" defTabSz="685800"/>
            <a:r>
              <a:rPr lang="zh-CN" altLang="en-US" sz="700" b="1">
                <a:solidFill>
                  <a:srgbClr val="FFFFFF"/>
                </a:solidFill>
                <a:latin typeface="微软雅黑" pitchFamily="34" charset="-122"/>
              </a:rPr>
              <a:t>创新中心</a:t>
            </a:r>
          </a:p>
        </p:txBody>
      </p:sp>
      <p:sp>
        <p:nvSpPr>
          <p:cNvPr id="173" name="矩形: 圆角 130"/>
          <p:cNvSpPr txBox="1"/>
          <p:nvPr/>
        </p:nvSpPr>
        <p:spPr>
          <a:xfrm>
            <a:off x="7213402" y="4872589"/>
            <a:ext cx="567000" cy="135000"/>
          </a:xfrm>
          <a:prstGeom prst="rect">
            <a:avLst/>
          </a:prstGeom>
          <a:solidFill>
            <a:schemeClr val="bg1"/>
          </a:solidFill>
          <a:ln>
            <a:noFill/>
            <a:prstDash val="dash"/>
          </a:ln>
        </p:spPr>
        <p:txBody>
          <a:bodyPr wrap="square" lIns="68579" tIns="34289" rIns="68579" bIns="34289" rtlCol="0" anchor="ctr" anchorCtr="0">
            <a:noAutofit/>
          </a:bodyPr>
          <a:lstStyle/>
          <a:p>
            <a:pPr algn="ctr" defTabSz="685800"/>
            <a:r>
              <a:rPr lang="en-US" altLang="zh-CN" sz="800">
                <a:solidFill>
                  <a:srgbClr val="000000"/>
                </a:solidFill>
                <a:latin typeface="微软雅黑" pitchFamily="34" charset="-122"/>
                <a:sym typeface="+mn-ea"/>
              </a:rPr>
              <a:t>... ...</a:t>
            </a:r>
          </a:p>
        </p:txBody>
      </p:sp>
      <p:sp>
        <p:nvSpPr>
          <p:cNvPr id="174" name="矩形: 圆角 131"/>
          <p:cNvSpPr txBox="1"/>
          <p:nvPr/>
        </p:nvSpPr>
        <p:spPr>
          <a:xfrm>
            <a:off x="7213402" y="4116229"/>
            <a:ext cx="567000" cy="135000"/>
          </a:xfrm>
          <a:prstGeom prst="rect">
            <a:avLst/>
          </a:prstGeom>
          <a:solidFill>
            <a:schemeClr val="bg1"/>
          </a:solidFill>
          <a:ln>
            <a:noFill/>
            <a:prstDash val="dash"/>
          </a:ln>
        </p:spPr>
        <p:txBody>
          <a:bodyPr wrap="square" lIns="0" tIns="34289" rIns="0" bIns="34289" rtlCol="0" anchor="ctr" anchorCtr="0">
            <a:noAutofit/>
          </a:bodyPr>
          <a:lstStyle/>
          <a:p>
            <a:pPr algn="ctr" defTabSz="685800"/>
            <a:r>
              <a:rPr lang="zh-CN" altLang="en-US" sz="800">
                <a:solidFill>
                  <a:srgbClr val="000000"/>
                </a:solidFill>
                <a:latin typeface="微软雅黑" pitchFamily="34" charset="-122"/>
                <a:sym typeface="+mn-ea"/>
              </a:rPr>
              <a:t>数据集服务</a:t>
            </a:r>
          </a:p>
        </p:txBody>
      </p:sp>
      <p:sp>
        <p:nvSpPr>
          <p:cNvPr id="175" name="矩形: 圆角 132"/>
          <p:cNvSpPr txBox="1"/>
          <p:nvPr/>
        </p:nvSpPr>
        <p:spPr>
          <a:xfrm>
            <a:off x="7213402" y="4305375"/>
            <a:ext cx="567000" cy="135000"/>
          </a:xfrm>
          <a:prstGeom prst="rect">
            <a:avLst/>
          </a:prstGeom>
          <a:solidFill>
            <a:schemeClr val="bg1"/>
          </a:solidFill>
          <a:ln>
            <a:noFill/>
            <a:prstDash val="dash"/>
          </a:ln>
        </p:spPr>
        <p:txBody>
          <a:bodyPr wrap="square" lIns="68579" tIns="34289" rIns="68579" bIns="34289" rtlCol="0" anchor="ctr" anchorCtr="0">
            <a:noAutofit/>
          </a:bodyPr>
          <a:lstStyle/>
          <a:p>
            <a:pPr algn="ctr" defTabSz="685800"/>
            <a:r>
              <a:rPr lang="zh-CN" altLang="en-US" sz="800">
                <a:solidFill>
                  <a:srgbClr val="000000"/>
                </a:solidFill>
                <a:latin typeface="微软雅黑" pitchFamily="34" charset="-122"/>
                <a:sym typeface="+mn-ea"/>
              </a:rPr>
              <a:t>模型服务</a:t>
            </a:r>
          </a:p>
        </p:txBody>
      </p:sp>
      <p:sp>
        <p:nvSpPr>
          <p:cNvPr id="176" name="矩形: 圆角 133"/>
          <p:cNvSpPr txBox="1"/>
          <p:nvPr/>
        </p:nvSpPr>
        <p:spPr>
          <a:xfrm>
            <a:off x="7213402" y="4494446"/>
            <a:ext cx="567000" cy="135000"/>
          </a:xfrm>
          <a:prstGeom prst="rect">
            <a:avLst/>
          </a:prstGeom>
          <a:solidFill>
            <a:schemeClr val="bg1"/>
          </a:solidFill>
          <a:ln>
            <a:noFill/>
            <a:prstDash val="dash"/>
          </a:ln>
        </p:spPr>
        <p:txBody>
          <a:bodyPr wrap="square" lIns="0" tIns="34289" rIns="0" bIns="34289" rtlCol="0" anchor="ctr" anchorCtr="0">
            <a:noAutofit/>
          </a:bodyPr>
          <a:lstStyle/>
          <a:p>
            <a:pPr algn="ctr" defTabSz="685800"/>
            <a:r>
              <a:rPr lang="zh-CN" altLang="en-US" sz="800">
                <a:solidFill>
                  <a:srgbClr val="000000"/>
                </a:solidFill>
                <a:latin typeface="微软雅黑" pitchFamily="34" charset="-122"/>
                <a:sym typeface="+mn-ea"/>
              </a:rPr>
              <a:t>智能体服务</a:t>
            </a:r>
          </a:p>
        </p:txBody>
      </p:sp>
      <p:sp>
        <p:nvSpPr>
          <p:cNvPr id="177" name="矩形: 圆角 31"/>
          <p:cNvSpPr/>
          <p:nvPr/>
        </p:nvSpPr>
        <p:spPr>
          <a:xfrm>
            <a:off x="7152800" y="2907030"/>
            <a:ext cx="657225" cy="868680"/>
          </a:xfrm>
          <a:prstGeom prst="roundRect">
            <a:avLst>
              <a:gd name="adj" fmla="val 9526"/>
            </a:avLst>
          </a:prstGeom>
          <a:solidFill>
            <a:srgbClr val="70AD47"/>
          </a:solidFill>
          <a:ln w="12700">
            <a:gradFill>
              <a:gsLst>
                <a:gs pos="0">
                  <a:schemeClr val="bg1">
                    <a:alpha val="0"/>
                  </a:schemeClr>
                </a:gs>
                <a:gs pos="100000">
                  <a:schemeClr val="bg1"/>
                </a:gs>
              </a:gsLst>
              <a:lin ang="5400000" scaled="1"/>
            </a:gradFill>
          </a:ln>
          <a:effectLst>
            <a:outerShdw blurRad="254000" dist="38100" dir="4200000" algn="tl" rotWithShape="0">
              <a:srgbClr val="5B9BD5">
                <a:alpha val="19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79" tIns="34289" rIns="68579" bIns="34289" rtlCol="0" anchor="t" anchorCtr="0"/>
          <a:lstStyle/>
          <a:p>
            <a:pPr algn="ctr" defTabSz="685800"/>
            <a:r>
              <a:rPr lang="zh-CN" altLang="en-US" sz="800" b="1">
                <a:solidFill>
                  <a:srgbClr val="FFFFFF"/>
                </a:solidFill>
                <a:latin typeface="微软雅黑" pitchFamily="34" charset="-122"/>
              </a:rPr>
              <a:t>运营机制</a:t>
            </a:r>
          </a:p>
        </p:txBody>
      </p:sp>
      <p:sp>
        <p:nvSpPr>
          <p:cNvPr id="178" name="文本框 177"/>
          <p:cNvSpPr txBox="1"/>
          <p:nvPr>
            <p:custDataLst>
              <p:tags r:id="rId16"/>
            </p:custDataLst>
          </p:nvPr>
        </p:nvSpPr>
        <p:spPr>
          <a:xfrm>
            <a:off x="4259105" y="1871663"/>
            <a:ext cx="713423" cy="188595"/>
          </a:xfrm>
          <a:prstGeom prst="rect">
            <a:avLst/>
          </a:prstGeom>
          <a:solidFill>
            <a:srgbClr val="4887D3"/>
          </a:solidFill>
          <a:ln>
            <a:solidFill>
              <a:srgbClr val="FFFFFF">
                <a:lumMod val="85000"/>
              </a:srgbClr>
            </a:solidFill>
          </a:ln>
        </p:spPr>
        <p:txBody>
          <a:bodyPr wrap="square" lIns="0" tIns="34289" rIns="0" bIns="34289" rtlCol="0" anchor="ctr" anchorCtr="0">
            <a:noAutofit/>
          </a:bodyPr>
          <a:lstStyle/>
          <a:p>
            <a:pPr algn="ctr" defTabSz="685800"/>
            <a:r>
              <a:rPr lang="en-US" altLang="zh-CN" sz="800" kern="0" dirty="0">
                <a:solidFill>
                  <a:srgbClr val="FFFFFF"/>
                </a:solidFill>
                <a:latin typeface="微软雅黑" pitchFamily="34" charset="-122"/>
                <a:sym typeface="+mn-ea"/>
              </a:rPr>
              <a:t>AI</a:t>
            </a:r>
            <a:r>
              <a:rPr lang="zh-CN" altLang="en-US" sz="800" kern="0" dirty="0">
                <a:solidFill>
                  <a:srgbClr val="FFFFFF"/>
                </a:solidFill>
                <a:latin typeface="微软雅黑" pitchFamily="34" charset="-122"/>
                <a:sym typeface="+mn-ea"/>
              </a:rPr>
              <a:t>项目审核</a:t>
            </a:r>
          </a:p>
        </p:txBody>
      </p:sp>
      <p:sp>
        <p:nvSpPr>
          <p:cNvPr id="179" name="文本框 178"/>
          <p:cNvSpPr txBox="1"/>
          <p:nvPr>
            <p:custDataLst>
              <p:tags r:id="rId17"/>
            </p:custDataLst>
          </p:nvPr>
        </p:nvSpPr>
        <p:spPr>
          <a:xfrm>
            <a:off x="4259581" y="2074070"/>
            <a:ext cx="713423" cy="188595"/>
          </a:xfrm>
          <a:prstGeom prst="rect">
            <a:avLst/>
          </a:prstGeom>
          <a:solidFill>
            <a:srgbClr val="4887D3"/>
          </a:solidFill>
          <a:ln>
            <a:solidFill>
              <a:srgbClr val="0053BF"/>
            </a:solidFill>
          </a:ln>
        </p:spPr>
        <p:txBody>
          <a:bodyPr wrap="square" lIns="0" tIns="34289" rIns="0" bIns="34289" rtlCol="0" anchor="ctr" anchorCtr="0">
            <a:noAutofit/>
          </a:bodyPr>
          <a:lstStyle/>
          <a:p>
            <a:pPr algn="ctr" defTabSz="685800"/>
            <a:r>
              <a:rPr lang="en-US" altLang="zh-CN" sz="800" kern="0" dirty="0">
                <a:solidFill>
                  <a:srgbClr val="FFFFFF"/>
                </a:solidFill>
                <a:latin typeface="微软雅黑" pitchFamily="34" charset="-122"/>
                <a:sym typeface="+mn-ea"/>
              </a:rPr>
              <a:t>AI</a:t>
            </a:r>
            <a:r>
              <a:rPr lang="zh-CN" altLang="en-US" sz="800" kern="0" dirty="0">
                <a:solidFill>
                  <a:srgbClr val="FFFFFF"/>
                </a:solidFill>
                <a:latin typeface="微软雅黑" pitchFamily="34" charset="-122"/>
                <a:sym typeface="+mn-ea"/>
              </a:rPr>
              <a:t>前沿预测</a:t>
            </a:r>
          </a:p>
        </p:txBody>
      </p:sp>
      <p:sp>
        <p:nvSpPr>
          <p:cNvPr id="180" name="文本框 179"/>
          <p:cNvSpPr txBox="1"/>
          <p:nvPr/>
        </p:nvSpPr>
        <p:spPr>
          <a:xfrm>
            <a:off x="2161223" y="1871627"/>
            <a:ext cx="671513" cy="189000"/>
          </a:xfrm>
          <a:prstGeom prst="rect">
            <a:avLst/>
          </a:prstGeom>
          <a:solidFill>
            <a:srgbClr val="4887D3"/>
          </a:solidFill>
          <a:ln>
            <a:solidFill>
              <a:srgbClr val="FFFFFF">
                <a:lumMod val="85000"/>
              </a:srgbClr>
            </a:solidFill>
          </a:ln>
        </p:spPr>
        <p:txBody>
          <a:bodyPr wrap="square" lIns="0" tIns="34289" rIns="0" bIns="34289" rtlCol="0" anchor="ctr" anchorCtr="0">
            <a:noAutofit/>
          </a:bodyPr>
          <a:lstStyle/>
          <a:p>
            <a:pPr algn="ctr" defTabSz="685800">
              <a:defRPr/>
            </a:pPr>
            <a:r>
              <a:rPr lang="en-US" altLang="zh-CN" sz="800" kern="0" dirty="0">
                <a:solidFill>
                  <a:srgbClr val="FFFFFF"/>
                </a:solidFill>
                <a:latin typeface="微软雅黑" pitchFamily="34" charset="-122"/>
                <a:sym typeface="+mn-ea"/>
              </a:rPr>
              <a:t>AI</a:t>
            </a:r>
            <a:r>
              <a:rPr lang="zh-CN" altLang="en-US" sz="800" kern="0" dirty="0">
                <a:solidFill>
                  <a:srgbClr val="FFFFFF"/>
                </a:solidFill>
                <a:latin typeface="微软雅黑" pitchFamily="34" charset="-122"/>
                <a:sym typeface="+mn-ea"/>
              </a:rPr>
              <a:t>政策研究</a:t>
            </a:r>
          </a:p>
        </p:txBody>
      </p:sp>
      <p:sp>
        <p:nvSpPr>
          <p:cNvPr id="181" name="文本框 180"/>
          <p:cNvSpPr txBox="1"/>
          <p:nvPr/>
        </p:nvSpPr>
        <p:spPr>
          <a:xfrm>
            <a:off x="2922986" y="1871664"/>
            <a:ext cx="561023" cy="189071"/>
          </a:xfrm>
          <a:prstGeom prst="rect">
            <a:avLst/>
          </a:prstGeom>
          <a:solidFill>
            <a:srgbClr val="4887D3"/>
          </a:solidFill>
          <a:ln>
            <a:solidFill>
              <a:srgbClr val="FFFFFF">
                <a:lumMod val="85000"/>
              </a:srgbClr>
            </a:solidFill>
          </a:ln>
        </p:spPr>
        <p:txBody>
          <a:bodyPr wrap="square" lIns="0" tIns="34289" rIns="0" bIns="34289" rtlCol="0" anchor="ctr" anchorCtr="0">
            <a:noAutofit/>
          </a:bodyPr>
          <a:lstStyle/>
          <a:p>
            <a:pPr algn="ctr" defTabSz="685800">
              <a:defRPr/>
            </a:pPr>
            <a:r>
              <a:rPr lang="en-US" altLang="zh-CN" sz="800" kern="0" dirty="0">
                <a:solidFill>
                  <a:srgbClr val="FFFFFF"/>
                </a:solidFill>
                <a:latin typeface="微软雅黑" pitchFamily="34" charset="-122"/>
                <a:sym typeface="+mn-ea"/>
              </a:rPr>
              <a:t>AI</a:t>
            </a:r>
            <a:r>
              <a:rPr lang="zh-CN" altLang="en-US" sz="800" kern="0" dirty="0">
                <a:solidFill>
                  <a:srgbClr val="FFFFFF"/>
                </a:solidFill>
                <a:latin typeface="微软雅黑" pitchFamily="34" charset="-122"/>
                <a:sym typeface="+mn-ea"/>
              </a:rPr>
              <a:t>产业研究</a:t>
            </a:r>
          </a:p>
        </p:txBody>
      </p:sp>
      <p:sp>
        <p:nvSpPr>
          <p:cNvPr id="182" name="文本框 181"/>
          <p:cNvSpPr txBox="1"/>
          <p:nvPr/>
        </p:nvSpPr>
        <p:spPr>
          <a:xfrm>
            <a:off x="2922986" y="2074070"/>
            <a:ext cx="561023" cy="188595"/>
          </a:xfrm>
          <a:prstGeom prst="rect">
            <a:avLst/>
          </a:prstGeom>
          <a:solidFill>
            <a:srgbClr val="4887D3"/>
          </a:solidFill>
          <a:ln>
            <a:solidFill>
              <a:srgbClr val="FFFFFF">
                <a:lumMod val="85000"/>
              </a:srgbClr>
            </a:solidFill>
          </a:ln>
        </p:spPr>
        <p:txBody>
          <a:bodyPr wrap="square" lIns="0" tIns="34289" rIns="0" bIns="34289" rtlCol="0" anchor="ctr" anchorCtr="0">
            <a:noAutofit/>
          </a:bodyPr>
          <a:lstStyle/>
          <a:p>
            <a:pPr algn="ctr" defTabSz="685800">
              <a:defRPr/>
            </a:pPr>
            <a:r>
              <a:rPr lang="en-US" altLang="zh-CN" sz="800" kern="0" dirty="0">
                <a:solidFill>
                  <a:srgbClr val="FFFFFF"/>
                </a:solidFill>
                <a:latin typeface="微软雅黑" pitchFamily="34" charset="-122"/>
                <a:sym typeface="+mn-ea"/>
              </a:rPr>
              <a:t>AI</a:t>
            </a:r>
            <a:r>
              <a:rPr lang="zh-CN" altLang="en-US" sz="800" kern="0" dirty="0">
                <a:solidFill>
                  <a:srgbClr val="FFFFFF"/>
                </a:solidFill>
                <a:latin typeface="微软雅黑" pitchFamily="34" charset="-122"/>
                <a:sym typeface="+mn-ea"/>
              </a:rPr>
              <a:t>双向匹配</a:t>
            </a:r>
          </a:p>
        </p:txBody>
      </p:sp>
      <p:sp>
        <p:nvSpPr>
          <p:cNvPr id="183" name="文本框 182"/>
          <p:cNvSpPr txBox="1"/>
          <p:nvPr>
            <p:custDataLst>
              <p:tags r:id="rId18"/>
            </p:custDataLst>
          </p:nvPr>
        </p:nvSpPr>
        <p:spPr>
          <a:xfrm>
            <a:off x="3547112" y="2073594"/>
            <a:ext cx="688181" cy="189071"/>
          </a:xfrm>
          <a:prstGeom prst="rect">
            <a:avLst/>
          </a:prstGeom>
          <a:solidFill>
            <a:srgbClr val="4887D3"/>
          </a:solidFill>
          <a:ln>
            <a:solidFill>
              <a:srgbClr val="FFFFFF">
                <a:lumMod val="85000"/>
              </a:srgbClr>
            </a:solidFill>
          </a:ln>
        </p:spPr>
        <p:txBody>
          <a:bodyPr wrap="square" lIns="0" tIns="34289" rIns="0" bIns="34289" rtlCol="0" anchor="ctr" anchorCtr="0">
            <a:noAutofit/>
          </a:bodyPr>
          <a:lstStyle/>
          <a:p>
            <a:pPr algn="ctr" defTabSz="685800"/>
            <a:r>
              <a:rPr lang="en-US" altLang="zh-CN" sz="800" kern="0" dirty="0">
                <a:solidFill>
                  <a:srgbClr val="FFFFFF"/>
                </a:solidFill>
                <a:latin typeface="微软雅黑" pitchFamily="34" charset="-122"/>
                <a:sym typeface="+mn-ea"/>
              </a:rPr>
              <a:t>AI</a:t>
            </a:r>
            <a:r>
              <a:rPr lang="zh-CN" altLang="en-US" sz="800" kern="0" dirty="0">
                <a:solidFill>
                  <a:srgbClr val="FFFFFF"/>
                </a:solidFill>
                <a:latin typeface="微软雅黑" pitchFamily="34" charset="-122"/>
                <a:sym typeface="+mn-ea"/>
              </a:rPr>
              <a:t>成果评价</a:t>
            </a:r>
          </a:p>
        </p:txBody>
      </p:sp>
      <p:sp>
        <p:nvSpPr>
          <p:cNvPr id="187" name="文本框 186"/>
          <p:cNvSpPr txBox="1"/>
          <p:nvPr/>
        </p:nvSpPr>
        <p:spPr>
          <a:xfrm>
            <a:off x="5514022" y="4781550"/>
            <a:ext cx="608648" cy="197644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wrap="square" lIns="68579" tIns="34289" rIns="68579" bIns="34289" rtlCol="0" anchor="ctr" anchorCtr="0">
            <a:noAutofit/>
          </a:bodyPr>
          <a:lstStyle/>
          <a:p>
            <a:pPr algn="ctr" defTabSz="685800"/>
            <a:r>
              <a:rPr lang="zh-CN" altLang="en-US" sz="800">
                <a:solidFill>
                  <a:srgbClr val="FFFFFF"/>
                </a:solidFill>
                <a:latin typeface="微软雅黑" pitchFamily="34" charset="-122"/>
                <a:sym typeface="+mn-ea"/>
              </a:rPr>
              <a:t>安全指南</a:t>
            </a:r>
          </a:p>
        </p:txBody>
      </p:sp>
      <p:sp>
        <p:nvSpPr>
          <p:cNvPr id="188" name="矩形: 圆角 130"/>
          <p:cNvSpPr txBox="1"/>
          <p:nvPr/>
        </p:nvSpPr>
        <p:spPr>
          <a:xfrm>
            <a:off x="7217093" y="2279555"/>
            <a:ext cx="540000" cy="134779"/>
          </a:xfrm>
          <a:prstGeom prst="rect">
            <a:avLst/>
          </a:prstGeom>
          <a:solidFill>
            <a:schemeClr val="bg1"/>
          </a:solidFill>
          <a:ln>
            <a:noFill/>
            <a:prstDash val="dash"/>
          </a:ln>
        </p:spPr>
        <p:txBody>
          <a:bodyPr wrap="square" lIns="0" tIns="34289" rIns="0" bIns="34289" rtlCol="0" anchor="ctr" anchorCtr="0">
            <a:noAutofit/>
          </a:bodyPr>
          <a:lstStyle/>
          <a:p>
            <a:pPr algn="ctr" defTabSz="685800"/>
            <a:r>
              <a:rPr lang="zh-CN" altLang="en-US" sz="700">
                <a:solidFill>
                  <a:srgbClr val="000000"/>
                </a:solidFill>
                <a:latin typeface="微软雅黑" pitchFamily="34" charset="-122"/>
                <a:sym typeface="+mn-ea"/>
              </a:rPr>
              <a:t>高校及院所</a:t>
            </a:r>
          </a:p>
        </p:txBody>
      </p:sp>
      <p:sp>
        <p:nvSpPr>
          <p:cNvPr id="189" name="矩形: 圆角 130"/>
          <p:cNvSpPr txBox="1"/>
          <p:nvPr/>
        </p:nvSpPr>
        <p:spPr>
          <a:xfrm>
            <a:off x="7217093" y="2431003"/>
            <a:ext cx="540000" cy="134779"/>
          </a:xfrm>
          <a:prstGeom prst="rect">
            <a:avLst/>
          </a:prstGeom>
          <a:solidFill>
            <a:schemeClr val="bg1"/>
          </a:solidFill>
          <a:ln>
            <a:noFill/>
            <a:prstDash val="dash"/>
          </a:ln>
        </p:spPr>
        <p:txBody>
          <a:bodyPr wrap="square" lIns="0" tIns="34289" rIns="0" bIns="34289" rtlCol="0" anchor="ctr" anchorCtr="0">
            <a:noAutofit/>
          </a:bodyPr>
          <a:lstStyle/>
          <a:p>
            <a:pPr algn="ctr" defTabSz="685800"/>
            <a:r>
              <a:rPr lang="zh-CN" altLang="en-US" sz="700">
                <a:solidFill>
                  <a:srgbClr val="000000"/>
                </a:solidFill>
                <a:latin typeface="微软雅黑" pitchFamily="34" charset="-122"/>
                <a:sym typeface="+mn-ea"/>
              </a:rPr>
              <a:t>运营商</a:t>
            </a:r>
          </a:p>
        </p:txBody>
      </p:sp>
      <p:sp>
        <p:nvSpPr>
          <p:cNvPr id="190" name="矩形: 圆角 130"/>
          <p:cNvSpPr txBox="1"/>
          <p:nvPr/>
        </p:nvSpPr>
        <p:spPr>
          <a:xfrm>
            <a:off x="7217093" y="2582450"/>
            <a:ext cx="540000" cy="134779"/>
          </a:xfrm>
          <a:prstGeom prst="rect">
            <a:avLst/>
          </a:prstGeom>
          <a:solidFill>
            <a:schemeClr val="bg1"/>
          </a:solidFill>
          <a:ln>
            <a:noFill/>
            <a:prstDash val="dash"/>
          </a:ln>
        </p:spPr>
        <p:txBody>
          <a:bodyPr wrap="square" lIns="0" tIns="34289" rIns="0" bIns="34289" rtlCol="0" anchor="ctr" anchorCtr="0">
            <a:noAutofit/>
          </a:bodyPr>
          <a:lstStyle/>
          <a:p>
            <a:pPr algn="ctr" defTabSz="685800"/>
            <a:r>
              <a:rPr lang="zh-CN" altLang="en-US" sz="700">
                <a:solidFill>
                  <a:srgbClr val="000000"/>
                </a:solidFill>
                <a:latin typeface="微软雅黑" pitchFamily="34" charset="-122"/>
                <a:sym typeface="+mn-ea"/>
              </a:rPr>
              <a:t>运营企业</a:t>
            </a:r>
          </a:p>
        </p:txBody>
      </p:sp>
      <p:sp>
        <p:nvSpPr>
          <p:cNvPr id="191" name="矩形: 圆角 130"/>
          <p:cNvSpPr txBox="1"/>
          <p:nvPr/>
        </p:nvSpPr>
        <p:spPr>
          <a:xfrm>
            <a:off x="7212620" y="3105626"/>
            <a:ext cx="540000" cy="135000"/>
          </a:xfrm>
          <a:prstGeom prst="rect">
            <a:avLst/>
          </a:prstGeom>
          <a:solidFill>
            <a:schemeClr val="bg1"/>
          </a:solidFill>
          <a:ln>
            <a:noFill/>
            <a:prstDash val="dash"/>
          </a:ln>
        </p:spPr>
        <p:txBody>
          <a:bodyPr wrap="square" lIns="0" tIns="34289" rIns="0" bIns="34289" rtlCol="0" anchor="ctr" anchorCtr="0">
            <a:noAutofit/>
          </a:bodyPr>
          <a:lstStyle/>
          <a:p>
            <a:pPr algn="ctr" defTabSz="685800"/>
            <a:r>
              <a:rPr lang="zh-CN" altLang="en-US" sz="700">
                <a:solidFill>
                  <a:srgbClr val="000000"/>
                </a:solidFill>
                <a:latin typeface="微软雅黑" pitchFamily="34" charset="-122"/>
                <a:sym typeface="+mn-ea"/>
              </a:rPr>
              <a:t>激励机制</a:t>
            </a:r>
          </a:p>
        </p:txBody>
      </p:sp>
      <p:sp>
        <p:nvSpPr>
          <p:cNvPr id="192" name="矩形: 圆角 130"/>
          <p:cNvSpPr txBox="1"/>
          <p:nvPr/>
        </p:nvSpPr>
        <p:spPr>
          <a:xfrm>
            <a:off x="7212620" y="3276600"/>
            <a:ext cx="540000" cy="135000"/>
          </a:xfrm>
          <a:prstGeom prst="rect">
            <a:avLst/>
          </a:prstGeom>
          <a:solidFill>
            <a:schemeClr val="bg1"/>
          </a:solidFill>
          <a:ln>
            <a:noFill/>
            <a:prstDash val="dash"/>
          </a:ln>
        </p:spPr>
        <p:txBody>
          <a:bodyPr wrap="square" lIns="0" tIns="34289" rIns="0" bIns="34289" rtlCol="0" anchor="ctr" anchorCtr="0">
            <a:noAutofit/>
          </a:bodyPr>
          <a:lstStyle/>
          <a:p>
            <a:pPr algn="ctr" defTabSz="685800"/>
            <a:r>
              <a:rPr lang="zh-CN" altLang="en-US" sz="700">
                <a:solidFill>
                  <a:srgbClr val="000000"/>
                </a:solidFill>
                <a:latin typeface="微软雅黑" pitchFamily="34" charset="-122"/>
                <a:sym typeface="+mn-ea"/>
              </a:rPr>
              <a:t>分润机制</a:t>
            </a:r>
          </a:p>
        </p:txBody>
      </p:sp>
      <p:sp>
        <p:nvSpPr>
          <p:cNvPr id="193" name="矩形: 圆角 130"/>
          <p:cNvSpPr txBox="1"/>
          <p:nvPr/>
        </p:nvSpPr>
        <p:spPr>
          <a:xfrm>
            <a:off x="7212620" y="3618548"/>
            <a:ext cx="540000" cy="135000"/>
          </a:xfrm>
          <a:prstGeom prst="rect">
            <a:avLst/>
          </a:prstGeom>
          <a:solidFill>
            <a:schemeClr val="bg1"/>
          </a:solidFill>
          <a:ln>
            <a:noFill/>
            <a:prstDash val="dash"/>
          </a:ln>
        </p:spPr>
        <p:txBody>
          <a:bodyPr wrap="square" lIns="0" tIns="34289" rIns="0" bIns="34289" rtlCol="0" anchor="ctr" anchorCtr="0">
            <a:noAutofit/>
          </a:bodyPr>
          <a:lstStyle/>
          <a:p>
            <a:pPr algn="ctr" defTabSz="685800"/>
            <a:r>
              <a:rPr lang="zh-CN" altLang="en-US" sz="700">
                <a:solidFill>
                  <a:srgbClr val="000000"/>
                </a:solidFill>
                <a:latin typeface="微软雅黑" pitchFamily="34" charset="-122"/>
                <a:sym typeface="+mn-ea"/>
              </a:rPr>
              <a:t>需求揭榜机制</a:t>
            </a:r>
          </a:p>
        </p:txBody>
      </p:sp>
      <p:sp>
        <p:nvSpPr>
          <p:cNvPr id="194" name="矩形: 圆角 130"/>
          <p:cNvSpPr txBox="1"/>
          <p:nvPr/>
        </p:nvSpPr>
        <p:spPr>
          <a:xfrm>
            <a:off x="7217093" y="2128108"/>
            <a:ext cx="540000" cy="134779"/>
          </a:xfrm>
          <a:prstGeom prst="rect">
            <a:avLst/>
          </a:prstGeom>
          <a:solidFill>
            <a:schemeClr val="bg1"/>
          </a:solidFill>
          <a:ln>
            <a:noFill/>
            <a:prstDash val="dash"/>
          </a:ln>
        </p:spPr>
        <p:txBody>
          <a:bodyPr wrap="square" lIns="0" tIns="34289" rIns="0" bIns="34289" rtlCol="0" anchor="ctr" anchorCtr="0">
            <a:noAutofit/>
          </a:bodyPr>
          <a:lstStyle/>
          <a:p>
            <a:pPr algn="ctr" defTabSz="685800"/>
            <a:r>
              <a:rPr lang="zh-CN" altLang="en-US" sz="700">
                <a:solidFill>
                  <a:srgbClr val="000000"/>
                </a:solidFill>
                <a:latin typeface="微软雅黑" pitchFamily="34" charset="-122"/>
                <a:sym typeface="+mn-ea"/>
              </a:rPr>
              <a:t>省创发院</a:t>
            </a:r>
          </a:p>
        </p:txBody>
      </p:sp>
      <p:sp>
        <p:nvSpPr>
          <p:cNvPr id="195" name="矩形: 圆角 130"/>
          <p:cNvSpPr txBox="1"/>
          <p:nvPr/>
        </p:nvSpPr>
        <p:spPr>
          <a:xfrm>
            <a:off x="7212620" y="3447574"/>
            <a:ext cx="540000" cy="135000"/>
          </a:xfrm>
          <a:prstGeom prst="rect">
            <a:avLst/>
          </a:prstGeom>
          <a:solidFill>
            <a:schemeClr val="bg1"/>
          </a:solidFill>
          <a:ln>
            <a:noFill/>
            <a:prstDash val="dash"/>
          </a:ln>
        </p:spPr>
        <p:txBody>
          <a:bodyPr wrap="square" lIns="0" tIns="34289" rIns="0" bIns="34289" rtlCol="0" anchor="ctr" anchorCtr="0">
            <a:noAutofit/>
          </a:bodyPr>
          <a:lstStyle/>
          <a:p>
            <a:pPr algn="ctr" defTabSz="685800"/>
            <a:r>
              <a:rPr lang="zh-CN" altLang="en-US" sz="700">
                <a:solidFill>
                  <a:srgbClr val="000000"/>
                </a:solidFill>
                <a:latin typeface="微软雅黑" pitchFamily="34" charset="-122"/>
                <a:sym typeface="+mn-ea"/>
              </a:rPr>
              <a:t>先投后股机制</a:t>
            </a:r>
          </a:p>
        </p:txBody>
      </p:sp>
      <p:sp>
        <p:nvSpPr>
          <p:cNvPr id="196" name="矩形: 圆角 31"/>
          <p:cNvSpPr/>
          <p:nvPr/>
        </p:nvSpPr>
        <p:spPr>
          <a:xfrm>
            <a:off x="724853" y="1929766"/>
            <a:ext cx="538163" cy="229553"/>
          </a:xfrm>
          <a:prstGeom prst="roundRect">
            <a:avLst>
              <a:gd name="adj" fmla="val 9526"/>
            </a:avLst>
          </a:prstGeom>
          <a:solidFill>
            <a:schemeClr val="bg1"/>
          </a:solidFill>
          <a:ln w="12700">
            <a:gradFill>
              <a:gsLst>
                <a:gs pos="0">
                  <a:schemeClr val="bg1">
                    <a:alpha val="0"/>
                  </a:schemeClr>
                </a:gs>
                <a:gs pos="100000">
                  <a:schemeClr val="bg1"/>
                </a:gs>
              </a:gsLst>
              <a:lin ang="5400000" scaled="1"/>
            </a:gradFill>
          </a:ln>
          <a:effectLst>
            <a:outerShdw blurRad="254000" dist="38100" dir="4200000" algn="tl" rotWithShape="0">
              <a:srgbClr val="5B9BD5">
                <a:alpha val="19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79" tIns="34289" rIns="68579" bIns="34289" rtlCol="0" anchor="t" anchorCtr="0"/>
          <a:lstStyle/>
          <a:p>
            <a:pPr algn="ctr" defTabSz="685800"/>
            <a:r>
              <a:rPr lang="zh-CN" altLang="en-US" sz="800" b="1">
                <a:solidFill>
                  <a:srgbClr val="000000"/>
                </a:solidFill>
                <a:latin typeface="微软雅黑" pitchFamily="34" charset="-122"/>
              </a:rPr>
              <a:t>项目管理</a:t>
            </a:r>
          </a:p>
        </p:txBody>
      </p:sp>
      <p:sp>
        <p:nvSpPr>
          <p:cNvPr id="197" name="文本框 196"/>
          <p:cNvSpPr txBox="1"/>
          <p:nvPr/>
        </p:nvSpPr>
        <p:spPr>
          <a:xfrm>
            <a:off x="6214587" y="4576763"/>
            <a:ext cx="540068" cy="16200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wrap="square" lIns="68579" tIns="34289" rIns="68579" bIns="34289" rtlCol="0" anchor="ctr" anchorCtr="0">
            <a:noAutofit/>
          </a:bodyPr>
          <a:lstStyle/>
          <a:p>
            <a:pPr algn="ctr" defTabSz="685800"/>
            <a:r>
              <a:rPr lang="zh-CN" altLang="en-US" sz="800">
                <a:solidFill>
                  <a:srgbClr val="FFFFFF"/>
                </a:solidFill>
                <a:latin typeface="微软雅黑" pitchFamily="34" charset="-122"/>
              </a:rPr>
              <a:t>安全监管</a:t>
            </a:r>
          </a:p>
        </p:txBody>
      </p:sp>
      <p:sp>
        <p:nvSpPr>
          <p:cNvPr id="198" name="矩形: 圆角 31"/>
          <p:cNvSpPr/>
          <p:nvPr/>
        </p:nvSpPr>
        <p:spPr>
          <a:xfrm>
            <a:off x="724853" y="2136458"/>
            <a:ext cx="538163" cy="229553"/>
          </a:xfrm>
          <a:prstGeom prst="roundRect">
            <a:avLst>
              <a:gd name="adj" fmla="val 9526"/>
            </a:avLst>
          </a:prstGeom>
          <a:solidFill>
            <a:schemeClr val="bg1"/>
          </a:solidFill>
          <a:ln w="12700">
            <a:gradFill>
              <a:gsLst>
                <a:gs pos="0">
                  <a:schemeClr val="bg1">
                    <a:alpha val="0"/>
                  </a:schemeClr>
                </a:gs>
                <a:gs pos="100000">
                  <a:schemeClr val="bg1"/>
                </a:gs>
              </a:gsLst>
              <a:lin ang="5400000" scaled="1"/>
            </a:gradFill>
          </a:ln>
          <a:effectLst>
            <a:outerShdw blurRad="254000" dist="38100" dir="4200000" algn="tl" rotWithShape="0">
              <a:srgbClr val="5B9BD5">
                <a:alpha val="19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79" tIns="34289" rIns="68579" bIns="34289" rtlCol="0" anchor="t" anchorCtr="0"/>
          <a:lstStyle/>
          <a:p>
            <a:pPr algn="ctr" defTabSz="685800"/>
            <a:r>
              <a:rPr lang="zh-CN" altLang="en-US" sz="800" b="1">
                <a:solidFill>
                  <a:srgbClr val="000000"/>
                </a:solidFill>
                <a:latin typeface="微软雅黑" pitchFamily="34" charset="-122"/>
              </a:rPr>
              <a:t>人员管理</a:t>
            </a:r>
          </a:p>
        </p:txBody>
      </p:sp>
      <p:sp>
        <p:nvSpPr>
          <p:cNvPr id="199" name="矩形: 圆角 31"/>
          <p:cNvSpPr/>
          <p:nvPr/>
        </p:nvSpPr>
        <p:spPr>
          <a:xfrm>
            <a:off x="724853" y="2343151"/>
            <a:ext cx="538163" cy="229553"/>
          </a:xfrm>
          <a:prstGeom prst="roundRect">
            <a:avLst>
              <a:gd name="adj" fmla="val 9526"/>
            </a:avLst>
          </a:prstGeom>
          <a:solidFill>
            <a:schemeClr val="bg1"/>
          </a:solidFill>
          <a:ln w="12700">
            <a:gradFill>
              <a:gsLst>
                <a:gs pos="0">
                  <a:schemeClr val="bg1">
                    <a:alpha val="0"/>
                  </a:schemeClr>
                </a:gs>
                <a:gs pos="100000">
                  <a:schemeClr val="bg1"/>
                </a:gs>
              </a:gsLst>
              <a:lin ang="5400000" scaled="1"/>
            </a:gradFill>
          </a:ln>
          <a:effectLst>
            <a:outerShdw blurRad="254000" dist="38100" dir="4200000" algn="tl" rotWithShape="0">
              <a:srgbClr val="5B9BD5">
                <a:alpha val="19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79" tIns="34289" rIns="68579" bIns="34289" rtlCol="0" anchor="t" anchorCtr="0"/>
          <a:lstStyle/>
          <a:p>
            <a:pPr algn="ctr" defTabSz="685800"/>
            <a:r>
              <a:rPr lang="zh-CN" altLang="en-US" sz="800" b="1">
                <a:solidFill>
                  <a:srgbClr val="000000"/>
                </a:solidFill>
                <a:latin typeface="微软雅黑" pitchFamily="34" charset="-122"/>
              </a:rPr>
              <a:t>资产管理</a:t>
            </a:r>
          </a:p>
        </p:txBody>
      </p:sp>
      <p:sp>
        <p:nvSpPr>
          <p:cNvPr id="200" name="矩形: 圆角 31"/>
          <p:cNvSpPr/>
          <p:nvPr/>
        </p:nvSpPr>
        <p:spPr>
          <a:xfrm>
            <a:off x="724853" y="2549843"/>
            <a:ext cx="538163" cy="229553"/>
          </a:xfrm>
          <a:prstGeom prst="roundRect">
            <a:avLst>
              <a:gd name="adj" fmla="val 9526"/>
            </a:avLst>
          </a:prstGeom>
          <a:solidFill>
            <a:schemeClr val="bg1"/>
          </a:solidFill>
          <a:ln w="12700">
            <a:gradFill>
              <a:gsLst>
                <a:gs pos="0">
                  <a:schemeClr val="bg1">
                    <a:alpha val="0"/>
                  </a:schemeClr>
                </a:gs>
                <a:gs pos="100000">
                  <a:schemeClr val="bg1"/>
                </a:gs>
              </a:gsLst>
              <a:lin ang="5400000" scaled="1"/>
            </a:gradFill>
          </a:ln>
          <a:effectLst>
            <a:outerShdw blurRad="254000" dist="38100" dir="4200000" algn="tl" rotWithShape="0">
              <a:srgbClr val="5B9BD5">
                <a:alpha val="19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79" tIns="34289" rIns="68579" bIns="34289" rtlCol="0" anchor="t" anchorCtr="0"/>
          <a:lstStyle/>
          <a:p>
            <a:pPr algn="ctr" defTabSz="685800"/>
            <a:r>
              <a:rPr lang="zh-CN" altLang="en-US" sz="800" b="1">
                <a:solidFill>
                  <a:srgbClr val="000000"/>
                </a:solidFill>
                <a:latin typeface="微软雅黑" pitchFamily="34" charset="-122"/>
              </a:rPr>
              <a:t>经费管理</a:t>
            </a:r>
          </a:p>
        </p:txBody>
      </p:sp>
      <p:sp>
        <p:nvSpPr>
          <p:cNvPr id="201" name="矩形: 圆角 31"/>
          <p:cNvSpPr/>
          <p:nvPr/>
        </p:nvSpPr>
        <p:spPr>
          <a:xfrm>
            <a:off x="724853" y="2756535"/>
            <a:ext cx="538163" cy="229553"/>
          </a:xfrm>
          <a:prstGeom prst="roundRect">
            <a:avLst>
              <a:gd name="adj" fmla="val 9526"/>
            </a:avLst>
          </a:prstGeom>
          <a:solidFill>
            <a:schemeClr val="bg1"/>
          </a:solidFill>
          <a:ln w="12700">
            <a:gradFill>
              <a:gsLst>
                <a:gs pos="0">
                  <a:schemeClr val="bg1">
                    <a:alpha val="0"/>
                  </a:schemeClr>
                </a:gs>
                <a:gs pos="100000">
                  <a:schemeClr val="bg1"/>
                </a:gs>
              </a:gsLst>
              <a:lin ang="5400000" scaled="1"/>
            </a:gradFill>
          </a:ln>
          <a:effectLst>
            <a:outerShdw blurRad="254000" dist="38100" dir="4200000" algn="tl" rotWithShape="0">
              <a:srgbClr val="5B9BD5">
                <a:alpha val="19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79" tIns="34289" rIns="68579" bIns="34289" rtlCol="0" anchor="t" anchorCtr="0"/>
          <a:lstStyle/>
          <a:p>
            <a:pPr algn="ctr" defTabSz="685800"/>
            <a:r>
              <a:rPr lang="en-US" altLang="zh-CN" sz="800" b="1">
                <a:solidFill>
                  <a:srgbClr val="000000"/>
                </a:solidFill>
                <a:latin typeface="微软雅黑" pitchFamily="34" charset="-122"/>
              </a:rPr>
              <a:t>... ...</a:t>
            </a:r>
          </a:p>
        </p:txBody>
      </p:sp>
      <p:sp>
        <p:nvSpPr>
          <p:cNvPr id="202" name="矩形: 圆角 31"/>
          <p:cNvSpPr/>
          <p:nvPr/>
        </p:nvSpPr>
        <p:spPr>
          <a:xfrm>
            <a:off x="683434" y="3364231"/>
            <a:ext cx="621000" cy="287655"/>
          </a:xfrm>
          <a:prstGeom prst="roundRect">
            <a:avLst>
              <a:gd name="adj" fmla="val 9526"/>
            </a:avLst>
          </a:prstGeom>
          <a:solidFill>
            <a:srgbClr val="4887D3"/>
          </a:solidFill>
          <a:ln w="12700">
            <a:gradFill>
              <a:gsLst>
                <a:gs pos="0">
                  <a:schemeClr val="bg1">
                    <a:alpha val="0"/>
                  </a:schemeClr>
                </a:gs>
                <a:gs pos="100000">
                  <a:schemeClr val="bg1"/>
                </a:gs>
              </a:gsLst>
              <a:lin ang="5400000" scaled="1"/>
            </a:gradFill>
          </a:ln>
          <a:effectLst>
            <a:outerShdw blurRad="254000" dist="38100" dir="4200000" algn="tl" rotWithShape="0">
              <a:srgbClr val="5B9BD5">
                <a:alpha val="19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79" tIns="34289" rIns="68579" bIns="34289" rtlCol="0" anchor="t" anchorCtr="0"/>
          <a:lstStyle/>
          <a:p>
            <a:pPr algn="ctr" defTabSz="685800"/>
            <a:r>
              <a:rPr lang="zh-CN" altLang="en-US" sz="800" b="1">
                <a:solidFill>
                  <a:srgbClr val="FFFFFF"/>
                </a:solidFill>
                <a:latin typeface="微软雅黑" pitchFamily="34" charset="-122"/>
              </a:rPr>
              <a:t>训练数据集规范</a:t>
            </a:r>
          </a:p>
        </p:txBody>
      </p:sp>
      <p:sp>
        <p:nvSpPr>
          <p:cNvPr id="203" name="矩形: 圆角 31"/>
          <p:cNvSpPr/>
          <p:nvPr/>
        </p:nvSpPr>
        <p:spPr>
          <a:xfrm>
            <a:off x="683419" y="3734754"/>
            <a:ext cx="621030" cy="281464"/>
          </a:xfrm>
          <a:prstGeom prst="roundRect">
            <a:avLst>
              <a:gd name="adj" fmla="val 9526"/>
            </a:avLst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lIns="68579" tIns="34289" rIns="68579" bIns="34289" rtlCol="0" anchor="t" anchorCtr="0"/>
          <a:lstStyle/>
          <a:p>
            <a:pPr algn="ctr" defTabSz="685800"/>
            <a:r>
              <a:rPr lang="zh-CN" altLang="en-US" sz="800" b="1">
                <a:solidFill>
                  <a:srgbClr val="FFFFFF"/>
                </a:solidFill>
                <a:latin typeface="微软雅黑" pitchFamily="34" charset="-122"/>
              </a:rPr>
              <a:t>平台服务规范</a:t>
            </a:r>
          </a:p>
        </p:txBody>
      </p:sp>
      <p:sp>
        <p:nvSpPr>
          <p:cNvPr id="204" name="矩形: 圆角 31"/>
          <p:cNvSpPr/>
          <p:nvPr/>
        </p:nvSpPr>
        <p:spPr>
          <a:xfrm>
            <a:off x="683419" y="4099084"/>
            <a:ext cx="621030" cy="297656"/>
          </a:xfrm>
          <a:prstGeom prst="roundRect">
            <a:avLst>
              <a:gd name="adj" fmla="val 9526"/>
            </a:avLst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lIns="68579" tIns="34289" rIns="68579" bIns="34289" rtlCol="0" anchor="t" anchorCtr="0"/>
          <a:lstStyle/>
          <a:p>
            <a:pPr algn="ctr" defTabSz="685800"/>
            <a:r>
              <a:rPr lang="zh-CN" altLang="en-US" sz="800" b="1">
                <a:solidFill>
                  <a:srgbClr val="FFFFFF"/>
                </a:solidFill>
                <a:latin typeface="微软雅黑" pitchFamily="34" charset="-122"/>
              </a:rPr>
              <a:t>模型建立指南</a:t>
            </a:r>
          </a:p>
        </p:txBody>
      </p:sp>
      <p:sp>
        <p:nvSpPr>
          <p:cNvPr id="205" name="矩形: 圆角 31"/>
          <p:cNvSpPr/>
          <p:nvPr/>
        </p:nvSpPr>
        <p:spPr>
          <a:xfrm>
            <a:off x="683419" y="4453890"/>
            <a:ext cx="621030" cy="532924"/>
          </a:xfrm>
          <a:prstGeom prst="roundRect">
            <a:avLst>
              <a:gd name="adj" fmla="val 9526"/>
            </a:avLst>
          </a:prstGeom>
          <a:solidFill>
            <a:srgbClr val="4887D3"/>
          </a:solidFill>
          <a:ln w="12700">
            <a:gradFill>
              <a:gsLst>
                <a:gs pos="0">
                  <a:schemeClr val="bg1">
                    <a:alpha val="0"/>
                  </a:schemeClr>
                </a:gs>
                <a:gs pos="100000">
                  <a:schemeClr val="bg1"/>
                </a:gs>
              </a:gsLst>
              <a:lin ang="5400000" scaled="1"/>
            </a:gradFill>
          </a:ln>
          <a:effectLst>
            <a:outerShdw blurRad="254000" dist="38100" dir="4200000" algn="tl" rotWithShape="0">
              <a:srgbClr val="5B9BD5">
                <a:alpha val="19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79" tIns="34289" rIns="68579" bIns="34289" rtlCol="0" anchor="t" anchorCtr="0"/>
          <a:lstStyle/>
          <a:p>
            <a:pPr algn="ctr" defTabSz="685800"/>
            <a:r>
              <a:rPr lang="zh-CN" altLang="en-US" sz="800" b="1">
                <a:solidFill>
                  <a:srgbClr val="FFFFFF"/>
                </a:solidFill>
                <a:latin typeface="微软雅黑" pitchFamily="34" charset="-122"/>
              </a:rPr>
              <a:t>数据服务标准（标注、治理、质量）</a:t>
            </a:r>
          </a:p>
        </p:txBody>
      </p:sp>
      <p:sp>
        <p:nvSpPr>
          <p:cNvPr id="206" name="矩形: 圆角 130"/>
          <p:cNvSpPr txBox="1"/>
          <p:nvPr/>
        </p:nvSpPr>
        <p:spPr>
          <a:xfrm>
            <a:off x="2053590" y="3219927"/>
            <a:ext cx="521970" cy="338614"/>
          </a:xfrm>
          <a:prstGeom prst="rect">
            <a:avLst/>
          </a:prstGeom>
          <a:noFill/>
          <a:ln>
            <a:solidFill>
              <a:srgbClr val="0070C0"/>
            </a:solidFill>
            <a:prstDash val="dash"/>
          </a:ln>
        </p:spPr>
        <p:txBody>
          <a:bodyPr wrap="square" lIns="68579" tIns="34289" rIns="68579" bIns="34289" rtlCol="0" anchor="ctr" anchorCtr="0">
            <a:noAutofit/>
          </a:bodyPr>
          <a:lstStyle/>
          <a:p>
            <a:pPr algn="ctr" defTabSz="685800"/>
            <a:r>
              <a:rPr lang="zh-CN" altLang="en-US" sz="700" b="1">
                <a:solidFill>
                  <a:srgbClr val="000000"/>
                </a:solidFill>
                <a:latin typeface="微软雅黑" pitchFamily="34" charset="-122"/>
                <a:sym typeface="+mn-ea"/>
              </a:rPr>
              <a:t>科技政策产业报告</a:t>
            </a:r>
            <a:endParaRPr lang="en-US" altLang="zh-CN" sz="700" b="1">
              <a:solidFill>
                <a:srgbClr val="000000"/>
              </a:solidFill>
              <a:latin typeface="微软雅黑" pitchFamily="34" charset="-122"/>
              <a:sym typeface="+mn-ea"/>
            </a:endParaRPr>
          </a:p>
          <a:p>
            <a:pPr algn="ctr" defTabSz="685800"/>
            <a:r>
              <a:rPr lang="en-US" altLang="zh-CN" sz="700" b="1">
                <a:solidFill>
                  <a:srgbClr val="000000"/>
                </a:solidFill>
                <a:latin typeface="微软雅黑" pitchFamily="34" charset="-122"/>
                <a:sym typeface="+mn-ea"/>
              </a:rPr>
              <a:t>....</a:t>
            </a:r>
          </a:p>
        </p:txBody>
      </p:sp>
      <p:sp>
        <p:nvSpPr>
          <p:cNvPr id="207" name="矩形: 圆角 130"/>
          <p:cNvSpPr txBox="1"/>
          <p:nvPr/>
        </p:nvSpPr>
        <p:spPr>
          <a:xfrm>
            <a:off x="2781776" y="3219927"/>
            <a:ext cx="540000" cy="338614"/>
          </a:xfrm>
          <a:prstGeom prst="rect">
            <a:avLst/>
          </a:prstGeom>
          <a:noFill/>
          <a:ln>
            <a:solidFill>
              <a:srgbClr val="0070C0"/>
            </a:solidFill>
            <a:prstDash val="dash"/>
          </a:ln>
        </p:spPr>
        <p:txBody>
          <a:bodyPr wrap="square" lIns="68579" tIns="34289" rIns="68579" bIns="34289" rtlCol="0" anchor="ctr" anchorCtr="0">
            <a:noAutofit/>
          </a:bodyPr>
          <a:lstStyle/>
          <a:p>
            <a:pPr algn="ctr" defTabSz="685800"/>
            <a:r>
              <a:rPr lang="zh-CN" altLang="en-US" sz="700" b="1">
                <a:solidFill>
                  <a:srgbClr val="000000"/>
                </a:solidFill>
                <a:latin typeface="微软雅黑" pitchFamily="34" charset="-122"/>
                <a:sym typeface="+mn-ea"/>
              </a:rPr>
              <a:t>科技成果</a:t>
            </a:r>
          </a:p>
          <a:p>
            <a:pPr algn="ctr" defTabSz="685800"/>
            <a:r>
              <a:rPr lang="zh-CN" altLang="en-US" sz="700" b="1">
                <a:solidFill>
                  <a:srgbClr val="000000"/>
                </a:solidFill>
                <a:latin typeface="微软雅黑" pitchFamily="34" charset="-122"/>
                <a:sym typeface="+mn-ea"/>
              </a:rPr>
              <a:t>科技需求</a:t>
            </a:r>
            <a:endParaRPr lang="en-US" altLang="zh-CN" sz="700" b="1">
              <a:solidFill>
                <a:srgbClr val="000000"/>
              </a:solidFill>
              <a:latin typeface="微软雅黑" pitchFamily="34" charset="-122"/>
              <a:sym typeface="+mn-ea"/>
            </a:endParaRPr>
          </a:p>
          <a:p>
            <a:pPr algn="ctr" defTabSz="685800"/>
            <a:r>
              <a:rPr lang="en-US" altLang="zh-CN" sz="700" b="1">
                <a:solidFill>
                  <a:srgbClr val="000000"/>
                </a:solidFill>
                <a:latin typeface="微软雅黑" pitchFamily="34" charset="-122"/>
                <a:sym typeface="+mn-ea"/>
              </a:rPr>
              <a:t>....</a:t>
            </a:r>
          </a:p>
        </p:txBody>
      </p:sp>
      <p:sp>
        <p:nvSpPr>
          <p:cNvPr id="208" name="矩形: 圆角 130"/>
          <p:cNvSpPr txBox="1"/>
          <p:nvPr/>
        </p:nvSpPr>
        <p:spPr>
          <a:xfrm>
            <a:off x="3511393" y="3219927"/>
            <a:ext cx="518636" cy="338614"/>
          </a:xfrm>
          <a:prstGeom prst="rect">
            <a:avLst/>
          </a:prstGeom>
          <a:noFill/>
          <a:ln>
            <a:solidFill>
              <a:srgbClr val="0070C0"/>
            </a:solidFill>
            <a:prstDash val="dash"/>
          </a:ln>
        </p:spPr>
        <p:txBody>
          <a:bodyPr wrap="square" lIns="68579" tIns="34289" rIns="68579" bIns="34289" rtlCol="0" anchor="ctr" anchorCtr="0">
            <a:noAutofit/>
          </a:bodyPr>
          <a:lstStyle/>
          <a:p>
            <a:pPr algn="ctr" defTabSz="685800"/>
            <a:r>
              <a:rPr lang="zh-CN" altLang="en-US" sz="700" b="1">
                <a:solidFill>
                  <a:srgbClr val="000000"/>
                </a:solidFill>
                <a:latin typeface="微软雅黑" pitchFamily="34" charset="-122"/>
                <a:sym typeface="+mn-ea"/>
              </a:rPr>
              <a:t>产业参数</a:t>
            </a:r>
          </a:p>
          <a:p>
            <a:pPr algn="ctr" defTabSz="685800"/>
            <a:r>
              <a:rPr lang="zh-CN" altLang="en-US" sz="700" b="1">
                <a:solidFill>
                  <a:srgbClr val="000000"/>
                </a:solidFill>
                <a:latin typeface="微软雅黑" pitchFamily="34" charset="-122"/>
                <a:sym typeface="+mn-ea"/>
              </a:rPr>
              <a:t>产业产品</a:t>
            </a:r>
          </a:p>
          <a:p>
            <a:pPr algn="ctr" defTabSz="685800"/>
            <a:r>
              <a:rPr lang="en-US" altLang="zh-CN" sz="700" b="1">
                <a:solidFill>
                  <a:srgbClr val="000000"/>
                </a:solidFill>
                <a:latin typeface="微软雅黑" pitchFamily="34" charset="-122"/>
                <a:sym typeface="+mn-ea"/>
              </a:rPr>
              <a:t>……..</a:t>
            </a:r>
          </a:p>
        </p:txBody>
      </p:sp>
      <p:sp>
        <p:nvSpPr>
          <p:cNvPr id="209" name="矩形: 圆角 130"/>
          <p:cNvSpPr txBox="1"/>
          <p:nvPr/>
        </p:nvSpPr>
        <p:spPr>
          <a:xfrm>
            <a:off x="2020729" y="3932398"/>
            <a:ext cx="594360" cy="230029"/>
          </a:xfrm>
          <a:prstGeom prst="rect">
            <a:avLst/>
          </a:prstGeom>
          <a:noFill/>
          <a:ln>
            <a:solidFill>
              <a:srgbClr val="0070C0"/>
            </a:solidFill>
            <a:prstDash val="dash"/>
          </a:ln>
        </p:spPr>
        <p:txBody>
          <a:bodyPr wrap="square" lIns="68579" tIns="34289" rIns="68579" bIns="34289" rtlCol="0" anchor="ctr" anchorCtr="0">
            <a:noAutofit/>
          </a:bodyPr>
          <a:lstStyle/>
          <a:p>
            <a:pPr algn="ctr" defTabSz="685800"/>
            <a:r>
              <a:rPr lang="en-US" sz="800">
                <a:solidFill>
                  <a:srgbClr val="000000"/>
                </a:solidFill>
                <a:latin typeface="微软雅黑" pitchFamily="34" charset="-122"/>
                <a:sym typeface="+mn-ea"/>
              </a:rPr>
              <a:t>CPU/GPU/TPU</a:t>
            </a:r>
          </a:p>
        </p:txBody>
      </p:sp>
      <p:sp>
        <p:nvSpPr>
          <p:cNvPr id="210" name="矩形: 圆角 130"/>
          <p:cNvSpPr txBox="1"/>
          <p:nvPr/>
        </p:nvSpPr>
        <p:spPr>
          <a:xfrm>
            <a:off x="2809399" y="3932398"/>
            <a:ext cx="483870" cy="230029"/>
          </a:xfrm>
          <a:prstGeom prst="rect">
            <a:avLst/>
          </a:prstGeom>
          <a:noFill/>
          <a:ln>
            <a:solidFill>
              <a:srgbClr val="0070C0"/>
            </a:solidFill>
            <a:prstDash val="dash"/>
          </a:ln>
        </p:spPr>
        <p:txBody>
          <a:bodyPr wrap="square" lIns="68579" tIns="34289" rIns="68579" bIns="34289" rtlCol="0" anchor="ctr" anchorCtr="0">
            <a:noAutofit/>
          </a:bodyPr>
          <a:lstStyle/>
          <a:p>
            <a:pPr algn="ctr" defTabSz="685800"/>
            <a:r>
              <a:rPr lang="zh-CN" altLang="en-US" sz="800">
                <a:solidFill>
                  <a:srgbClr val="000000"/>
                </a:solidFill>
                <a:latin typeface="微软雅黑" pitchFamily="34" charset="-122"/>
                <a:sym typeface="+mn-ea"/>
              </a:rPr>
              <a:t>内存</a:t>
            </a:r>
          </a:p>
          <a:p>
            <a:pPr algn="ctr" defTabSz="685800"/>
            <a:r>
              <a:rPr lang="zh-CN" altLang="en-US" sz="800">
                <a:solidFill>
                  <a:srgbClr val="000000"/>
                </a:solidFill>
                <a:latin typeface="微软雅黑" pitchFamily="34" charset="-122"/>
                <a:sym typeface="+mn-ea"/>
              </a:rPr>
              <a:t>硬盘</a:t>
            </a:r>
          </a:p>
        </p:txBody>
      </p:sp>
      <p:sp>
        <p:nvSpPr>
          <p:cNvPr id="211" name="矩形: 圆角 130"/>
          <p:cNvSpPr txBox="1"/>
          <p:nvPr/>
        </p:nvSpPr>
        <p:spPr>
          <a:xfrm>
            <a:off x="3431858" y="3932398"/>
            <a:ext cx="649605" cy="230029"/>
          </a:xfrm>
          <a:prstGeom prst="rect">
            <a:avLst/>
          </a:prstGeom>
          <a:noFill/>
          <a:ln>
            <a:solidFill>
              <a:srgbClr val="0070C0"/>
            </a:solidFill>
            <a:prstDash val="dash"/>
          </a:ln>
        </p:spPr>
        <p:txBody>
          <a:bodyPr wrap="square" lIns="68579" tIns="34289" rIns="68579" bIns="34289" rtlCol="0" anchor="ctr" anchorCtr="0">
            <a:noAutofit/>
          </a:bodyPr>
          <a:lstStyle/>
          <a:p>
            <a:pPr algn="ctr" defTabSz="685800"/>
            <a:r>
              <a:rPr lang="zh-CN" altLang="en-US" sz="800">
                <a:solidFill>
                  <a:srgbClr val="000000"/>
                </a:solidFill>
                <a:latin typeface="微软雅黑" pitchFamily="34" charset="-122"/>
                <a:sym typeface="+mn-ea"/>
              </a:rPr>
              <a:t>服务器网卡交换机</a:t>
            </a:r>
          </a:p>
        </p:txBody>
      </p:sp>
      <p:sp>
        <p:nvSpPr>
          <p:cNvPr id="3" name="矩形 2"/>
          <p:cNvSpPr/>
          <p:nvPr/>
        </p:nvSpPr>
        <p:spPr>
          <a:xfrm>
            <a:off x="2640807" y="2549842"/>
            <a:ext cx="475774" cy="345758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lIns="0" tIns="34289" rIns="0" bIns="34289" rtlCol="0" anchor="ctr">
            <a:noAutofit/>
          </a:bodyPr>
          <a:lstStyle/>
          <a:p>
            <a:pPr algn="ctr" defTabSz="685800">
              <a:defRPr/>
            </a:pPr>
            <a:r>
              <a:rPr lang="zh-CN" altLang="en-US" sz="800" b="1" kern="0" dirty="0">
                <a:solidFill>
                  <a:srgbClr val="6C99DA">
                    <a:lumMod val="75000"/>
                  </a:srgbClr>
                </a:solidFill>
                <a:latin typeface="微软雅黑" pitchFamily="34" charset="-122"/>
                <a:sym typeface="+mn-ea"/>
              </a:rPr>
              <a:t>人工智能</a:t>
            </a:r>
            <a:r>
              <a:rPr lang="en-US" altLang="zh-CN" sz="800" b="1" kern="0" dirty="0">
                <a:solidFill>
                  <a:srgbClr val="6C99DA">
                    <a:lumMod val="75000"/>
                  </a:srgbClr>
                </a:solidFill>
                <a:latin typeface="微软雅黑" pitchFamily="34" charset="-122"/>
                <a:sym typeface="+mn-ea"/>
              </a:rPr>
              <a:t>+</a:t>
            </a:r>
            <a:r>
              <a:rPr lang="zh-CN" altLang="en-US" sz="800" b="1" kern="0" dirty="0">
                <a:solidFill>
                  <a:srgbClr val="6C99DA">
                    <a:lumMod val="75000"/>
                  </a:srgbClr>
                </a:solidFill>
                <a:latin typeface="微软雅黑" pitchFamily="34" charset="-122"/>
                <a:sym typeface="+mn-ea"/>
              </a:rPr>
              <a:t>成果转化</a:t>
            </a:r>
          </a:p>
        </p:txBody>
      </p:sp>
      <p:sp>
        <p:nvSpPr>
          <p:cNvPr id="4" name="矩形: 圆角 133"/>
          <p:cNvSpPr txBox="1"/>
          <p:nvPr/>
        </p:nvSpPr>
        <p:spPr>
          <a:xfrm>
            <a:off x="7213402" y="4683518"/>
            <a:ext cx="567000" cy="135000"/>
          </a:xfrm>
          <a:prstGeom prst="rect">
            <a:avLst/>
          </a:prstGeom>
          <a:solidFill>
            <a:schemeClr val="bg1"/>
          </a:solidFill>
          <a:ln>
            <a:noFill/>
            <a:prstDash val="dash"/>
          </a:ln>
        </p:spPr>
        <p:txBody>
          <a:bodyPr wrap="square" lIns="0" tIns="34289" rIns="0" bIns="34289" rtlCol="0" anchor="ctr" anchorCtr="0">
            <a:noAutofit/>
          </a:bodyPr>
          <a:lstStyle/>
          <a:p>
            <a:pPr algn="ctr" defTabSz="685800"/>
            <a:r>
              <a:rPr lang="zh-CN" altLang="en-US" sz="700">
                <a:solidFill>
                  <a:srgbClr val="000000"/>
                </a:solidFill>
                <a:latin typeface="微软雅黑" pitchFamily="34" charset="-122"/>
                <a:sym typeface="+mn-ea"/>
              </a:rPr>
              <a:t>科技金融服务</a:t>
            </a:r>
          </a:p>
        </p:txBody>
      </p:sp>
      <p:sp>
        <p:nvSpPr>
          <p:cNvPr id="7" name="矩形: 圆角 130"/>
          <p:cNvSpPr txBox="1"/>
          <p:nvPr/>
        </p:nvSpPr>
        <p:spPr>
          <a:xfrm>
            <a:off x="7217093" y="2733897"/>
            <a:ext cx="540000" cy="107633"/>
          </a:xfrm>
          <a:prstGeom prst="rect">
            <a:avLst/>
          </a:prstGeom>
          <a:solidFill>
            <a:schemeClr val="bg1"/>
          </a:solidFill>
          <a:ln>
            <a:noFill/>
            <a:prstDash val="dash"/>
          </a:ln>
        </p:spPr>
        <p:txBody>
          <a:bodyPr wrap="square" lIns="0" tIns="34289" rIns="0" bIns="34289" rtlCol="0" anchor="ctr" anchorCtr="0">
            <a:noAutofit/>
          </a:bodyPr>
          <a:lstStyle/>
          <a:p>
            <a:pPr algn="ctr" defTabSz="685800"/>
            <a:r>
              <a:rPr lang="zh-CN" altLang="en-US" sz="700">
                <a:solidFill>
                  <a:srgbClr val="000000"/>
                </a:solidFill>
                <a:latin typeface="微软雅黑" pitchFamily="34" charset="-122"/>
                <a:sym typeface="+mn-ea"/>
              </a:rPr>
              <a:t>生态伙伴</a:t>
            </a:r>
          </a:p>
        </p:txBody>
      </p:sp>
      <p:sp>
        <p:nvSpPr>
          <p:cNvPr id="33" name="文本框 32"/>
          <p:cNvSpPr txBox="1"/>
          <p:nvPr/>
        </p:nvSpPr>
        <p:spPr>
          <a:xfrm>
            <a:off x="60961" y="4241006"/>
            <a:ext cx="523399" cy="287655"/>
          </a:xfrm>
          <a:prstGeom prst="rect">
            <a:avLst/>
          </a:prstGeom>
          <a:solidFill>
            <a:srgbClr val="C00000"/>
          </a:solidFill>
          <a:ln>
            <a:solidFill>
              <a:srgbClr val="FFFFFF">
                <a:lumMod val="85000"/>
              </a:srgbClr>
            </a:solidFill>
          </a:ln>
        </p:spPr>
        <p:txBody>
          <a:bodyPr wrap="square" lIns="0" tIns="34289" rIns="0" bIns="34289" rtlCol="0">
            <a:noAutofit/>
          </a:bodyPr>
          <a:lstStyle/>
          <a:p>
            <a:pPr algn="ctr" defTabSz="685800">
              <a:defRPr/>
            </a:pPr>
            <a:r>
              <a:rPr lang="en-US" altLang="zh-CN" sz="800" b="1" kern="0" dirty="0">
                <a:solidFill>
                  <a:srgbClr val="FFFFFF"/>
                </a:solidFill>
                <a:latin typeface="微软雅黑" pitchFamily="34" charset="-122"/>
                <a:sym typeface="+mn-ea"/>
              </a:rPr>
              <a:t>2028</a:t>
            </a:r>
            <a:r>
              <a:rPr lang="zh-CN" altLang="en-US" sz="800" b="1" kern="0" dirty="0">
                <a:solidFill>
                  <a:srgbClr val="FFFFFF"/>
                </a:solidFill>
                <a:latin typeface="微软雅黑" pitchFamily="34" charset="-122"/>
                <a:sym typeface="+mn-ea"/>
              </a:rPr>
              <a:t>年</a:t>
            </a:r>
            <a:r>
              <a:rPr lang="en-US" altLang="zh-CN" sz="800" b="1" kern="0" dirty="0">
                <a:solidFill>
                  <a:srgbClr val="FFFFFF"/>
                </a:solidFill>
                <a:latin typeface="微软雅黑" pitchFamily="34" charset="-122"/>
                <a:sym typeface="+mn-ea"/>
              </a:rPr>
              <a:t>-2030</a:t>
            </a:r>
            <a:r>
              <a:rPr lang="zh-CN" altLang="en-US" sz="800" b="1" kern="0" dirty="0">
                <a:solidFill>
                  <a:srgbClr val="FFFFFF"/>
                </a:solidFill>
                <a:latin typeface="微软雅黑" pitchFamily="34" charset="-122"/>
                <a:sym typeface="+mn-ea"/>
              </a:rPr>
              <a:t>年</a:t>
            </a:r>
          </a:p>
        </p:txBody>
      </p:sp>
      <p:sp>
        <p:nvSpPr>
          <p:cNvPr id="45" name="矩形 44"/>
          <p:cNvSpPr/>
          <p:nvPr/>
        </p:nvSpPr>
        <p:spPr>
          <a:xfrm>
            <a:off x="3240406" y="2549842"/>
            <a:ext cx="518636" cy="345758"/>
          </a:xfrm>
          <a:prstGeom prst="rect">
            <a:avLst/>
          </a:prstGeom>
          <a:solidFill>
            <a:srgbClr val="70AD47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lIns="0" tIns="34289" rIns="0" bIns="34289" rtlCol="0" anchor="ctr">
            <a:noAutofit/>
          </a:bodyPr>
          <a:lstStyle/>
          <a:p>
            <a:pPr algn="ctr" defTabSz="685800">
              <a:defRPr/>
            </a:pPr>
            <a:r>
              <a:rPr lang="zh-CN" altLang="en-US" sz="800" b="1" kern="0" dirty="0">
                <a:solidFill>
                  <a:srgbClr val="FFFFFF"/>
                </a:solidFill>
                <a:latin typeface="微软雅黑" pitchFamily="34" charset="-122"/>
                <a:sym typeface="+mn-ea"/>
              </a:rPr>
              <a:t>人工智能</a:t>
            </a:r>
            <a:r>
              <a:rPr lang="en-US" altLang="zh-CN" sz="800" b="1" kern="0" dirty="0">
                <a:solidFill>
                  <a:srgbClr val="FFFFFF"/>
                </a:solidFill>
                <a:latin typeface="微软雅黑" pitchFamily="34" charset="-122"/>
                <a:sym typeface="+mn-ea"/>
              </a:rPr>
              <a:t>+</a:t>
            </a:r>
            <a:r>
              <a:rPr lang="zh-CN" altLang="en-US" sz="800" b="1" kern="0" dirty="0">
                <a:solidFill>
                  <a:srgbClr val="FFFFFF"/>
                </a:solidFill>
                <a:latin typeface="微软雅黑" pitchFamily="34" charset="-122"/>
                <a:sym typeface="+mn-ea"/>
              </a:rPr>
              <a:t>产业</a:t>
            </a:r>
          </a:p>
        </p:txBody>
      </p:sp>
      <p:sp>
        <p:nvSpPr>
          <p:cNvPr id="54" name="文本框 53"/>
          <p:cNvSpPr txBox="1"/>
          <p:nvPr>
            <p:custDataLst>
              <p:tags r:id="rId19"/>
            </p:custDataLst>
          </p:nvPr>
        </p:nvSpPr>
        <p:spPr>
          <a:xfrm>
            <a:off x="5901215" y="1906906"/>
            <a:ext cx="817721" cy="328613"/>
          </a:xfrm>
          <a:prstGeom prst="rect">
            <a:avLst/>
          </a:prstGeom>
          <a:solidFill>
            <a:srgbClr val="C00000"/>
          </a:solidFill>
          <a:ln>
            <a:solidFill>
              <a:srgbClr val="FFFFFF">
                <a:lumMod val="85000"/>
              </a:srgbClr>
            </a:solidFill>
          </a:ln>
        </p:spPr>
        <p:txBody>
          <a:bodyPr wrap="square" lIns="0" tIns="34289" rIns="0" bIns="34289" rtlCol="0" anchor="t" anchorCtr="0">
            <a:noAutofit/>
          </a:bodyPr>
          <a:lstStyle/>
          <a:p>
            <a:pPr algn="ctr" defTabSz="685800">
              <a:defRPr/>
            </a:pPr>
            <a:r>
              <a:rPr lang="en-US" altLang="zh-CN" sz="800" b="1" kern="0">
                <a:solidFill>
                  <a:srgbClr val="FFFFFF"/>
                </a:solidFill>
                <a:latin typeface="微软雅黑" pitchFamily="34" charset="-122"/>
                <a:sym typeface="+mn-ea"/>
              </a:rPr>
              <a:t>.....</a:t>
            </a:r>
          </a:p>
        </p:txBody>
      </p:sp>
      <p:sp>
        <p:nvSpPr>
          <p:cNvPr id="31" name="文本框 30"/>
          <p:cNvSpPr txBox="1"/>
          <p:nvPr/>
        </p:nvSpPr>
        <p:spPr>
          <a:xfrm>
            <a:off x="4727734" y="1263968"/>
            <a:ext cx="822960" cy="206693"/>
          </a:xfrm>
          <a:prstGeom prst="rect">
            <a:avLst/>
          </a:prstGeom>
          <a:noFill/>
        </p:spPr>
        <p:txBody>
          <a:bodyPr wrap="square" lIns="68579" tIns="34289" rIns="68579" bIns="34289">
            <a:spAutoFit/>
          </a:bodyPr>
          <a:lstStyle/>
          <a:p>
            <a:pPr algn="ctr" defTabSz="685800">
              <a:defRPr/>
            </a:pPr>
            <a:r>
              <a:rPr lang="zh-CN" altLang="en-US" sz="900" b="1" kern="0" spc="113" dirty="0">
                <a:solidFill>
                  <a:srgbClr val="C00000"/>
                </a:solidFill>
                <a:latin typeface="微软雅黑" pitchFamily="34" charset="-122"/>
                <a:sym typeface="+mn-ea"/>
              </a:rPr>
              <a:t>省科技企业</a:t>
            </a:r>
          </a:p>
        </p:txBody>
      </p:sp>
      <p:sp>
        <p:nvSpPr>
          <p:cNvPr id="34" name="文本框 33"/>
          <p:cNvSpPr txBox="1"/>
          <p:nvPr>
            <p:custDataLst>
              <p:tags r:id="rId20"/>
            </p:custDataLst>
          </p:nvPr>
        </p:nvSpPr>
        <p:spPr>
          <a:xfrm>
            <a:off x="5041583" y="1871663"/>
            <a:ext cx="713423" cy="188595"/>
          </a:xfrm>
          <a:prstGeom prst="rect">
            <a:avLst/>
          </a:prstGeom>
          <a:solidFill>
            <a:srgbClr val="4887D3"/>
          </a:solidFill>
          <a:ln>
            <a:solidFill>
              <a:srgbClr val="FFFFFF">
                <a:lumMod val="85000"/>
              </a:srgbClr>
            </a:solidFill>
          </a:ln>
        </p:spPr>
        <p:txBody>
          <a:bodyPr wrap="square" lIns="0" tIns="34289" rIns="0" bIns="34289" rtlCol="0" anchor="ctr" anchorCtr="0">
            <a:noAutofit/>
          </a:bodyPr>
          <a:lstStyle/>
          <a:p>
            <a:pPr algn="ctr" defTabSz="685800"/>
            <a:r>
              <a:rPr lang="en-US" altLang="zh-CN" sz="800" kern="0" dirty="0">
                <a:solidFill>
                  <a:srgbClr val="FFFFFF"/>
                </a:solidFill>
                <a:latin typeface="微软雅黑" pitchFamily="34" charset="-122"/>
                <a:sym typeface="+mn-ea"/>
              </a:rPr>
              <a:t>AI</a:t>
            </a:r>
            <a:r>
              <a:rPr lang="zh-CN" altLang="en-US" sz="800" kern="0" dirty="0">
                <a:solidFill>
                  <a:srgbClr val="FFFFFF"/>
                </a:solidFill>
                <a:latin typeface="微软雅黑" pitchFamily="34" charset="-122"/>
                <a:sym typeface="+mn-ea"/>
              </a:rPr>
              <a:t>知需</a:t>
            </a:r>
          </a:p>
        </p:txBody>
      </p:sp>
      <p:sp>
        <p:nvSpPr>
          <p:cNvPr id="36" name="文本框 35"/>
          <p:cNvSpPr txBox="1"/>
          <p:nvPr>
            <p:custDataLst>
              <p:tags r:id="rId21"/>
            </p:custDataLst>
          </p:nvPr>
        </p:nvSpPr>
        <p:spPr>
          <a:xfrm>
            <a:off x="5037297" y="2082166"/>
            <a:ext cx="713423" cy="188595"/>
          </a:xfrm>
          <a:prstGeom prst="rect">
            <a:avLst/>
          </a:prstGeom>
          <a:solidFill>
            <a:srgbClr val="70AD47"/>
          </a:solidFill>
          <a:ln>
            <a:solidFill>
              <a:srgbClr val="FFFFFF">
                <a:lumMod val="85000"/>
              </a:srgbClr>
            </a:solidFill>
          </a:ln>
        </p:spPr>
        <p:txBody>
          <a:bodyPr wrap="square" lIns="0" tIns="34289" rIns="0" bIns="34289" rtlCol="0" anchor="ctr" anchorCtr="0">
            <a:noAutofit/>
          </a:bodyPr>
          <a:lstStyle/>
          <a:p>
            <a:pPr algn="ctr" defTabSz="685800"/>
            <a:r>
              <a:rPr lang="en-US" altLang="zh-CN" sz="800" kern="0" dirty="0">
                <a:solidFill>
                  <a:srgbClr val="FFFFFF"/>
                </a:solidFill>
                <a:latin typeface="微软雅黑" pitchFamily="34" charset="-122"/>
                <a:sym typeface="+mn-ea"/>
              </a:rPr>
              <a:t>AI</a:t>
            </a:r>
            <a:r>
              <a:rPr lang="zh-CN" altLang="en-US" sz="800" kern="0" dirty="0">
                <a:solidFill>
                  <a:srgbClr val="FFFFFF"/>
                </a:solidFill>
                <a:latin typeface="微软雅黑" pitchFamily="34" charset="-122"/>
                <a:sym typeface="+mn-ea"/>
              </a:rPr>
              <a:t>产业</a:t>
            </a:r>
            <a:r>
              <a:rPr lang="en-US" altLang="zh-CN" sz="800" kern="0" dirty="0">
                <a:solidFill>
                  <a:srgbClr val="FFFFFF"/>
                </a:solidFill>
                <a:latin typeface="微软雅黑" pitchFamily="34" charset="-122"/>
                <a:sym typeface="+mn-ea"/>
              </a:rPr>
              <a:t>..</a:t>
            </a:r>
          </a:p>
        </p:txBody>
      </p:sp>
      <p:sp>
        <p:nvSpPr>
          <p:cNvPr id="63" name="矩形 62"/>
          <p:cNvSpPr/>
          <p:nvPr/>
        </p:nvSpPr>
        <p:spPr>
          <a:xfrm>
            <a:off x="1122045" y="1543051"/>
            <a:ext cx="1253490" cy="206216"/>
          </a:xfrm>
          <a:prstGeom prst="rect">
            <a:avLst/>
          </a:prstGeom>
          <a:noFill/>
          <a:ln w="12700" cap="flat" cmpd="sng" algn="ctr">
            <a:noFill/>
            <a:prstDash val="lgDash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>
                    <a:lumMod val="65000"/>
                    <a:alpha val="48000"/>
                  </a:schemeClr>
                </a:solidFill>
              </a14:hiddenFill>
            </a:ext>
          </a:extLst>
        </p:spPr>
        <p:txBody>
          <a:bodyPr vertOverflow="overflow" horzOverflow="overflow" vert="horz" wrap="square" lIns="68579" tIns="34289" rIns="68579" bIns="34289" numCol="1" spcCol="0" rtlCol="0" fromWordArt="0" anchor="ctr" anchorCtr="0" forceAA="0" compatLnSpc="1">
            <a:noAutofit/>
          </a:bodyPr>
          <a:lstStyle/>
          <a:p>
            <a:pPr algn="ctr" defTabSz="685800">
              <a:defRPr/>
            </a:pPr>
            <a:r>
              <a:rPr lang="zh-CN" altLang="en-US" sz="900" b="1" kern="0" dirty="0">
                <a:solidFill>
                  <a:srgbClr val="000000"/>
                </a:solidFill>
                <a:latin typeface="微软雅黑" pitchFamily="34" charset="-122"/>
                <a:sym typeface="+mn-ea"/>
              </a:rPr>
              <a:t>应用入口</a:t>
            </a:r>
          </a:p>
        </p:txBody>
      </p:sp>
      <p:sp>
        <p:nvSpPr>
          <p:cNvPr id="64" name="矩形 63"/>
          <p:cNvSpPr/>
          <p:nvPr/>
        </p:nvSpPr>
        <p:spPr bwMode="gray">
          <a:xfrm>
            <a:off x="2075498" y="1543050"/>
            <a:ext cx="1954530" cy="197168"/>
          </a:xfrm>
          <a:prstGeom prst="rect">
            <a:avLst/>
          </a:prstGeom>
          <a:noFill/>
          <a:ln w="9525" algn="ctr">
            <a:solidFill>
              <a:schemeClr val="accent5">
                <a:lumMod val="75000"/>
              </a:schemeClr>
            </a:solidFill>
            <a:prstDash val="dash"/>
            <a:round/>
          </a:ln>
        </p:spPr>
        <p:txBody>
          <a:bodyPr lIns="0" tIns="0" rIns="0" bIns="0" rtlCol="0" anchor="ctr"/>
          <a:lstStyle/>
          <a:p>
            <a:pPr algn="ctr" defTabSz="685800"/>
            <a:r>
              <a:rPr lang="zh-CN" altLang="en-US" sz="900" b="1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/>
                <a:sym typeface="+mn-ea"/>
              </a:rPr>
              <a:t>对内：支撑创新发展科技服务平台</a:t>
            </a:r>
          </a:p>
        </p:txBody>
      </p:sp>
      <p:sp>
        <p:nvSpPr>
          <p:cNvPr id="67" name="矩形 66"/>
          <p:cNvSpPr/>
          <p:nvPr/>
        </p:nvSpPr>
        <p:spPr bwMode="gray">
          <a:xfrm>
            <a:off x="4118135" y="1542098"/>
            <a:ext cx="2115979" cy="199073"/>
          </a:xfrm>
          <a:prstGeom prst="rect">
            <a:avLst/>
          </a:prstGeom>
          <a:noFill/>
          <a:ln w="9525" algn="ctr">
            <a:solidFill>
              <a:schemeClr val="accent5">
                <a:lumMod val="75000"/>
              </a:schemeClr>
            </a:solidFill>
            <a:prstDash val="dash"/>
            <a:round/>
          </a:ln>
        </p:spPr>
        <p:txBody>
          <a:bodyPr lIns="0" tIns="0" rIns="0" bIns="0" rtlCol="0" anchor="ctr"/>
          <a:lstStyle/>
          <a:p>
            <a:pPr algn="ctr" defTabSz="685800"/>
            <a:r>
              <a:rPr lang="zh-CN" altLang="en-US" sz="900" b="1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/>
                <a:sym typeface="+mn-ea"/>
              </a:rPr>
              <a:t>对外：山东省科技成果转化线上平台</a:t>
            </a:r>
          </a:p>
        </p:txBody>
      </p:sp>
      <p:sp>
        <p:nvSpPr>
          <p:cNvPr id="15" name="矩形: 圆角 31"/>
          <p:cNvSpPr/>
          <p:nvPr/>
        </p:nvSpPr>
        <p:spPr>
          <a:xfrm>
            <a:off x="8288180" y="1396841"/>
            <a:ext cx="309563" cy="3615690"/>
          </a:xfrm>
          <a:prstGeom prst="roundRect">
            <a:avLst>
              <a:gd name="adj" fmla="val 9526"/>
            </a:avLst>
          </a:prstGeom>
          <a:solidFill>
            <a:schemeClr val="accent3"/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68579" tIns="34289" rIns="68579" bIns="34289" rtlCol="0" anchor="ctr"/>
          <a:lstStyle/>
          <a:p>
            <a:pPr algn="ctr" defTabSz="685800"/>
            <a:r>
              <a:rPr lang="zh-CN" altLang="en-US" sz="1100">
                <a:solidFill>
                  <a:srgbClr val="FFFFFF"/>
                </a:solidFill>
                <a:latin typeface="微软雅黑" charset="0"/>
                <a:cs typeface="微软雅黑" charset="0"/>
              </a:rPr>
              <a:t>提升我省智库及成果转化服务水平</a:t>
            </a:r>
          </a:p>
        </p:txBody>
      </p:sp>
      <p:sp>
        <p:nvSpPr>
          <p:cNvPr id="32" name="矩形: 圆角 31"/>
          <p:cNvSpPr/>
          <p:nvPr/>
        </p:nvSpPr>
        <p:spPr>
          <a:xfrm>
            <a:off x="8670132" y="1392079"/>
            <a:ext cx="309563" cy="3615690"/>
          </a:xfrm>
          <a:prstGeom prst="roundRect">
            <a:avLst>
              <a:gd name="adj" fmla="val 9526"/>
            </a:avLst>
          </a:prstGeom>
          <a:solidFill>
            <a:schemeClr val="accent3"/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68579" tIns="34289" rIns="68579" bIns="34289" rtlCol="0" anchor="ctr"/>
          <a:lstStyle/>
          <a:p>
            <a:pPr algn="ctr" defTabSz="685800"/>
            <a:r>
              <a:rPr lang="zh-CN" altLang="en-US" sz="1100">
                <a:solidFill>
                  <a:srgbClr val="FFFFFF"/>
                </a:solidFill>
                <a:latin typeface="微软雅黑" charset="0"/>
                <a:cs typeface="微软雅黑" charset="0"/>
              </a:rPr>
              <a:t>推动我省科技创新和产业创新深度融合</a:t>
            </a:r>
          </a:p>
        </p:txBody>
      </p:sp>
      <p:sp>
        <p:nvSpPr>
          <p:cNvPr id="44" name="文本框 43"/>
          <p:cNvSpPr txBox="1"/>
          <p:nvPr/>
        </p:nvSpPr>
        <p:spPr>
          <a:xfrm>
            <a:off x="7177088" y="1234917"/>
            <a:ext cx="1041083" cy="206693"/>
          </a:xfrm>
          <a:prstGeom prst="rect">
            <a:avLst/>
          </a:prstGeom>
          <a:noFill/>
        </p:spPr>
        <p:txBody>
          <a:bodyPr wrap="square" lIns="68579" tIns="34289" rIns="68579" bIns="34289">
            <a:spAutoFit/>
          </a:bodyPr>
          <a:lstStyle/>
          <a:p>
            <a:pPr algn="ctr" defTabSz="685800">
              <a:defRPr/>
            </a:pPr>
            <a:r>
              <a:rPr lang="en-US" altLang="zh-CN" sz="900" b="1" kern="0" spc="113" dirty="0">
                <a:solidFill>
                  <a:srgbClr val="C00000"/>
                </a:solidFill>
                <a:latin typeface="微软雅黑" pitchFamily="34" charset="-122"/>
                <a:sym typeface="+mn-ea"/>
              </a:rPr>
              <a:t>......</a:t>
            </a:r>
          </a:p>
        </p:txBody>
      </p:sp>
      <p:sp>
        <p:nvSpPr>
          <p:cNvPr id="5" name="任意多边形 4"/>
          <p:cNvSpPr/>
          <p:nvPr/>
        </p:nvSpPr>
        <p:spPr>
          <a:xfrm>
            <a:off x="7907655" y="2439354"/>
            <a:ext cx="387668" cy="288539"/>
          </a:xfrm>
          <a:custGeom>
            <a:avLst/>
            <a:gdLst>
              <a:gd name="connsiteX0" fmla="*/ 0 w 814"/>
              <a:gd name="connsiteY0" fmla="*/ 0 h 3549"/>
              <a:gd name="connsiteX1" fmla="*/ 509 w 814"/>
              <a:gd name="connsiteY1" fmla="*/ 1566 h 3549"/>
              <a:gd name="connsiteX2" fmla="*/ 451 w 814"/>
              <a:gd name="connsiteY2" fmla="*/ 830 h 3549"/>
              <a:gd name="connsiteX3" fmla="*/ 814 w 814"/>
              <a:gd name="connsiteY3" fmla="*/ 1900 h 3549"/>
              <a:gd name="connsiteX4" fmla="*/ 431 w 814"/>
              <a:gd name="connsiteY4" fmla="*/ 3079 h 3549"/>
              <a:gd name="connsiteX5" fmla="*/ 470 w 814"/>
              <a:gd name="connsiteY5" fmla="*/ 2361 h 3549"/>
              <a:gd name="connsiteX6" fmla="*/ 0 w 814"/>
              <a:gd name="connsiteY6" fmla="*/ 3549 h 3549"/>
              <a:gd name="connsiteX7" fmla="*/ 0 w 814"/>
              <a:gd name="connsiteY7" fmla="*/ 0 h 35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14" h="3549">
                <a:moveTo>
                  <a:pt x="0" y="0"/>
                </a:moveTo>
                <a:lnTo>
                  <a:pt x="509" y="1566"/>
                </a:lnTo>
                <a:lnTo>
                  <a:pt x="451" y="830"/>
                </a:lnTo>
                <a:lnTo>
                  <a:pt x="814" y="1900"/>
                </a:lnTo>
                <a:lnTo>
                  <a:pt x="431" y="3079"/>
                </a:lnTo>
                <a:lnTo>
                  <a:pt x="470" y="2361"/>
                </a:lnTo>
                <a:lnTo>
                  <a:pt x="0" y="354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77000"/>
            </a:schemeClr>
          </a:solidFill>
          <a:ln>
            <a:noFill/>
            <a:prstDash val="dash"/>
          </a:ln>
        </p:spPr>
        <p:txBody>
          <a:bodyPr wrap="square" lIns="68579" tIns="34289" rIns="68579" bIns="34289">
            <a:spAutoFit/>
          </a:bodyPr>
          <a:lstStyle/>
          <a:p>
            <a:pPr defTabSz="685800"/>
            <a:endParaRPr lang="zh-CN" altLang="en-US" sz="1400" dirty="0">
              <a:solidFill>
                <a:srgbClr val="000000"/>
              </a:solidFill>
            </a:endParaRPr>
          </a:p>
        </p:txBody>
      </p:sp>
      <p:sp>
        <p:nvSpPr>
          <p:cNvPr id="128" name="标题 8"/>
          <p:cNvSpPr>
            <a:spLocks noGrp="1"/>
          </p:cNvSpPr>
          <p:nvPr/>
        </p:nvSpPr>
        <p:spPr>
          <a:xfrm>
            <a:off x="272891" y="190025"/>
            <a:ext cx="5718810" cy="322421"/>
          </a:xfrm>
          <a:prstGeom prst="rect">
            <a:avLst/>
          </a:prstGeom>
        </p:spPr>
        <p:txBody>
          <a:bodyPr lIns="68579" tIns="34289" rIns="68579" bIns="34289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1B1B1B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200" b="1" spc="225" dirty="0" smtClean="0">
                <a:solidFill>
                  <a:srgbClr val="066FBB"/>
                </a:solidFill>
                <a:latin typeface="微软雅黑" pitchFamily="34" charset="-122"/>
                <a:ea typeface="微软雅黑" pitchFamily="34" charset="-122"/>
                <a:cs typeface="+mj-ea"/>
                <a:sym typeface="+mn-ea"/>
              </a:rPr>
              <a:t>    </a:t>
            </a:r>
            <a:r>
              <a:rPr lang="zh-CN" altLang="en-US" sz="2200" b="1" spc="225" dirty="0" smtClean="0">
                <a:solidFill>
                  <a:srgbClr val="066FBB"/>
                </a:solidFill>
                <a:latin typeface="微软雅黑" pitchFamily="34" charset="-122"/>
                <a:ea typeface="微软雅黑" pitchFamily="34" charset="-122"/>
                <a:cs typeface="+mj-ea"/>
                <a:sym typeface="+mn-ea"/>
              </a:rPr>
              <a:t>人工智能创新中心整体建设蓝图</a:t>
            </a:r>
            <a:endParaRPr lang="zh-CN" altLang="en-US" sz="2200" b="1" spc="225" dirty="0">
              <a:solidFill>
                <a:srgbClr val="066FBB"/>
              </a:solidFill>
              <a:latin typeface="微软雅黑" pitchFamily="34" charset="-122"/>
              <a:ea typeface="微软雅黑" pitchFamily="34" charset="-122"/>
              <a:cs typeface="+mj-ea"/>
              <a:sym typeface="+mn-ea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标题 8"/>
          <p:cNvSpPr>
            <a:spLocks noGrp="1"/>
          </p:cNvSpPr>
          <p:nvPr/>
        </p:nvSpPr>
        <p:spPr>
          <a:xfrm>
            <a:off x="272891" y="190025"/>
            <a:ext cx="5718810" cy="322421"/>
          </a:xfrm>
          <a:prstGeom prst="rect">
            <a:avLst/>
          </a:prstGeom>
        </p:spPr>
        <p:txBody>
          <a:bodyPr lIns="68579" tIns="34289" rIns="68579" bIns="34289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1B1B1B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200" b="1" spc="225" dirty="0" smtClean="0">
                <a:solidFill>
                  <a:srgbClr val="066FBB"/>
                </a:solidFill>
                <a:latin typeface="微软雅黑" pitchFamily="34" charset="-122"/>
                <a:ea typeface="微软雅黑" pitchFamily="34" charset="-122"/>
                <a:cs typeface="+mj-ea"/>
                <a:sym typeface="+mn-ea"/>
              </a:rPr>
              <a:t>    </a:t>
            </a:r>
            <a:r>
              <a:rPr lang="zh-CN" altLang="en-US" sz="2200" b="1" spc="225" dirty="0" smtClean="0">
                <a:solidFill>
                  <a:srgbClr val="066FBB"/>
                </a:solidFill>
                <a:latin typeface="微软雅黑" pitchFamily="34" charset="-122"/>
                <a:ea typeface="微软雅黑" pitchFamily="34" charset="-122"/>
                <a:cs typeface="+mj-ea"/>
                <a:sym typeface="+mn-ea"/>
              </a:rPr>
              <a:t>数据应用全景</a:t>
            </a:r>
            <a:endParaRPr lang="zh-CN" altLang="en-US" sz="2200" b="1" spc="225" dirty="0">
              <a:solidFill>
                <a:srgbClr val="066FBB"/>
              </a:solidFill>
              <a:latin typeface="微软雅黑" pitchFamily="34" charset="-122"/>
              <a:ea typeface="微软雅黑" pitchFamily="34" charset="-122"/>
              <a:cs typeface="+mj-ea"/>
              <a:sym typeface="+mn-ea"/>
            </a:endParaRPr>
          </a:p>
        </p:txBody>
      </p:sp>
      <p:sp>
        <p:nvSpPr>
          <p:cNvPr id="68" name="椭圆 67"/>
          <p:cNvSpPr/>
          <p:nvPr/>
        </p:nvSpPr>
        <p:spPr>
          <a:xfrm>
            <a:off x="4090670" y="1715230"/>
            <a:ext cx="1149350" cy="1155700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69" name="矩形 68"/>
          <p:cNvSpPr/>
          <p:nvPr>
            <p:custDataLst>
              <p:tags r:id="rId2"/>
            </p:custDataLst>
          </p:nvPr>
        </p:nvSpPr>
        <p:spPr>
          <a:xfrm>
            <a:off x="975360" y="687061"/>
            <a:ext cx="7379970" cy="306070"/>
          </a:xfrm>
          <a:prstGeom prst="rect">
            <a:avLst/>
          </a:prstGeom>
          <a:solidFill>
            <a:srgbClr val="006EFF"/>
          </a:solidFill>
          <a:ln>
            <a:noFill/>
          </a:ln>
        </p:spPr>
        <p:style>
          <a:lnRef idx="2">
            <a:srgbClr val="006EFF">
              <a:shade val="50000"/>
            </a:srgbClr>
          </a:lnRef>
          <a:fillRef idx="1">
            <a:srgbClr val="006EFF"/>
          </a:fillRef>
          <a:effectRef idx="0">
            <a:srgbClr val="006EFF"/>
          </a:effectRef>
          <a:fontRef idx="minor">
            <a:srgbClr val="FFFFFF"/>
          </a:fontRef>
        </p:style>
        <p:txBody>
          <a:bodyPr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200" b="1" kern="0" dirty="0">
                <a:solidFill>
                  <a:prstClr val="white"/>
                </a:solidFill>
                <a:latin typeface="微软雅黑" charset="0"/>
                <a:ea typeface="微软雅黑" charset="0"/>
                <a:sym typeface="+mn-ea"/>
              </a:rPr>
              <a:t>全面构建智库核心竞争力，提升服务全省科技创新工作能力</a:t>
            </a:r>
          </a:p>
        </p:txBody>
      </p:sp>
      <p:sp>
        <p:nvSpPr>
          <p:cNvPr id="70" name="矩形 69"/>
          <p:cNvSpPr/>
          <p:nvPr/>
        </p:nvSpPr>
        <p:spPr>
          <a:xfrm>
            <a:off x="981710" y="3544030"/>
            <a:ext cx="7409180" cy="1548000"/>
          </a:xfrm>
          <a:prstGeom prst="rect">
            <a:avLst/>
          </a:prstGeom>
          <a:noFill/>
          <a:ln w="6350">
            <a:solidFill>
              <a:srgbClr val="0070C0"/>
            </a:solidFill>
            <a:prstDash val="sysDash"/>
          </a:ln>
        </p:spPr>
        <p:style>
          <a:lnRef idx="2">
            <a:srgbClr val="006EFF">
              <a:shade val="50000"/>
            </a:srgbClr>
          </a:lnRef>
          <a:fillRef idx="1">
            <a:srgbClr val="006EFF"/>
          </a:fillRef>
          <a:effectRef idx="0">
            <a:srgbClr val="006EFF"/>
          </a:effectRef>
          <a:fontRef idx="minor">
            <a:srgbClr val="FFFFFF"/>
          </a:fontRef>
        </p:style>
        <p:txBody>
          <a:bodyPr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lnSpc>
                <a:spcPct val="150000"/>
              </a:lnSpc>
              <a:defRPr/>
            </a:pPr>
            <a:endParaRPr lang="zh-CN" altLang="en-US" sz="1200" b="1" kern="0" dirty="0">
              <a:solidFill>
                <a:prstClr val="white"/>
              </a:solidFill>
              <a:latin typeface="微软雅黑" charset="0"/>
              <a:ea typeface="微软雅黑" charset="0"/>
              <a:sym typeface="+mn-ea"/>
            </a:endParaRPr>
          </a:p>
        </p:txBody>
      </p:sp>
      <p:grpSp>
        <p:nvGrpSpPr>
          <p:cNvPr id="71" name="组合 70"/>
          <p:cNvGrpSpPr/>
          <p:nvPr/>
        </p:nvGrpSpPr>
        <p:grpSpPr>
          <a:xfrm>
            <a:off x="1649095" y="3657060"/>
            <a:ext cx="3253105" cy="1037590"/>
            <a:chOff x="1078116" y="1128745"/>
            <a:chExt cx="4338464" cy="894865"/>
          </a:xfrm>
        </p:grpSpPr>
        <p:sp>
          <p:nvSpPr>
            <p:cNvPr id="75" name="矩形: 圆角 12"/>
            <p:cNvSpPr/>
            <p:nvPr>
              <p:custDataLst>
                <p:tags r:id="rId17"/>
              </p:custDataLst>
            </p:nvPr>
          </p:nvSpPr>
          <p:spPr>
            <a:xfrm>
              <a:off x="1078116" y="1843935"/>
              <a:ext cx="1044000" cy="179675"/>
            </a:xfrm>
            <a:prstGeom prst="roundRect">
              <a:avLst/>
            </a:prstGeom>
            <a:gradFill>
              <a:gsLst>
                <a:gs pos="51300">
                  <a:srgbClr val="4888CF"/>
                </a:gs>
                <a:gs pos="0">
                  <a:srgbClr val="95D2FF"/>
                </a:gs>
                <a:gs pos="95000">
                  <a:srgbClr val="3965A3"/>
                </a:gs>
              </a:gsLst>
              <a:lin ang="5400000" scaled="1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>
              <a:noAutofit/>
            </a:bodyPr>
            <a:lstStyle/>
            <a:p>
              <a:pPr algn="ctr">
                <a:defRPr/>
              </a:pPr>
              <a:r>
                <a:rPr lang="zh-CN" altLang="en-US" sz="800" b="1" dirty="0">
                  <a:solidFill>
                    <a:prstClr val="white"/>
                  </a:solidFill>
                  <a:latin typeface="微软雅黑" charset="0"/>
                  <a:ea typeface="微软雅黑" charset="0"/>
                  <a:sym typeface="+mn-ea"/>
                </a:rPr>
                <a:t>标准规范库</a:t>
              </a:r>
            </a:p>
          </p:txBody>
        </p:sp>
        <p:sp>
          <p:nvSpPr>
            <p:cNvPr id="76" name="矩形: 圆角 12"/>
            <p:cNvSpPr/>
            <p:nvPr>
              <p:custDataLst>
                <p:tags r:id="rId18"/>
              </p:custDataLst>
            </p:nvPr>
          </p:nvSpPr>
          <p:spPr>
            <a:xfrm>
              <a:off x="4373192" y="1128800"/>
              <a:ext cx="1043388" cy="180000"/>
            </a:xfrm>
            <a:prstGeom prst="roundRect">
              <a:avLst/>
            </a:prstGeom>
            <a:gradFill>
              <a:gsLst>
                <a:gs pos="51300">
                  <a:srgbClr val="4888CF"/>
                </a:gs>
                <a:gs pos="0">
                  <a:srgbClr val="95D2FF"/>
                </a:gs>
                <a:gs pos="95000">
                  <a:srgbClr val="3965A3"/>
                </a:gs>
              </a:gsLst>
              <a:lin ang="5400000" scaled="1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>
              <a:noAutofit/>
            </a:bodyPr>
            <a:lstStyle/>
            <a:p>
              <a:pPr algn="ctr">
                <a:defRPr/>
              </a:pPr>
              <a:r>
                <a:rPr lang="zh-CN" altLang="en-US" sz="800" b="1" dirty="0">
                  <a:solidFill>
                    <a:prstClr val="white"/>
                  </a:solidFill>
                  <a:latin typeface="微软雅黑" charset="0"/>
                  <a:ea typeface="微软雅黑" charset="0"/>
                  <a:sym typeface="+mn-ea"/>
                </a:rPr>
                <a:t>专利库</a:t>
              </a:r>
            </a:p>
          </p:txBody>
        </p:sp>
        <p:sp>
          <p:nvSpPr>
            <p:cNvPr id="83" name="矩形: 圆角 12"/>
            <p:cNvSpPr/>
            <p:nvPr>
              <p:custDataLst>
                <p:tags r:id="rId19"/>
              </p:custDataLst>
            </p:nvPr>
          </p:nvSpPr>
          <p:spPr>
            <a:xfrm>
              <a:off x="4361335" y="1366866"/>
              <a:ext cx="1043388" cy="179675"/>
            </a:xfrm>
            <a:prstGeom prst="roundRect">
              <a:avLst/>
            </a:prstGeom>
            <a:gradFill>
              <a:gsLst>
                <a:gs pos="51300">
                  <a:srgbClr val="4888CF"/>
                </a:gs>
                <a:gs pos="0">
                  <a:srgbClr val="95D2FF"/>
                </a:gs>
                <a:gs pos="95000">
                  <a:srgbClr val="3965A3"/>
                </a:gs>
              </a:gsLst>
              <a:lin ang="5400000" scaled="1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>
              <a:noAutofit/>
            </a:bodyPr>
            <a:lstStyle/>
            <a:p>
              <a:pPr algn="ctr">
                <a:defRPr/>
              </a:pPr>
              <a:r>
                <a:rPr lang="zh-CN" altLang="en-US" sz="800" b="1" dirty="0">
                  <a:solidFill>
                    <a:prstClr val="white"/>
                  </a:solidFill>
                  <a:latin typeface="微软雅黑" charset="0"/>
                  <a:ea typeface="微软雅黑" charset="0"/>
                  <a:sym typeface="+mn-ea"/>
                </a:rPr>
                <a:t>指标库</a:t>
              </a:r>
            </a:p>
          </p:txBody>
        </p:sp>
        <p:sp>
          <p:nvSpPr>
            <p:cNvPr id="84" name="矩形: 圆角 12"/>
            <p:cNvSpPr/>
            <p:nvPr>
              <p:custDataLst>
                <p:tags r:id="rId20"/>
              </p:custDataLst>
            </p:nvPr>
          </p:nvSpPr>
          <p:spPr>
            <a:xfrm>
              <a:off x="1080422" y="1128745"/>
              <a:ext cx="1043388" cy="180000"/>
            </a:xfrm>
            <a:prstGeom prst="roundRect">
              <a:avLst/>
            </a:prstGeom>
            <a:gradFill>
              <a:gsLst>
                <a:gs pos="51300">
                  <a:srgbClr val="4888CF"/>
                </a:gs>
                <a:gs pos="0">
                  <a:srgbClr val="95D2FF"/>
                </a:gs>
                <a:gs pos="95000">
                  <a:srgbClr val="3965A3"/>
                </a:gs>
              </a:gsLst>
              <a:lin ang="5400000" scaled="1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r>
                <a:rPr lang="zh-CN" altLang="en-US" sz="800" b="1" kern="0" dirty="0">
                  <a:solidFill>
                    <a:prstClr val="white"/>
                  </a:solidFill>
                  <a:latin typeface="微软雅黑" charset="0"/>
                  <a:ea typeface="微软雅黑" charset="0"/>
                </a:rPr>
                <a:t>机构库</a:t>
              </a:r>
            </a:p>
          </p:txBody>
        </p:sp>
        <p:sp>
          <p:nvSpPr>
            <p:cNvPr id="86" name="矩形: 圆角 12"/>
            <p:cNvSpPr/>
            <p:nvPr>
              <p:custDataLst>
                <p:tags r:id="rId21"/>
              </p:custDataLst>
            </p:nvPr>
          </p:nvSpPr>
          <p:spPr>
            <a:xfrm>
              <a:off x="2178012" y="1133651"/>
              <a:ext cx="1043388" cy="180000"/>
            </a:xfrm>
            <a:prstGeom prst="roundRect">
              <a:avLst/>
            </a:prstGeom>
            <a:gradFill>
              <a:gsLst>
                <a:gs pos="51300">
                  <a:srgbClr val="4888CF"/>
                </a:gs>
                <a:gs pos="0">
                  <a:srgbClr val="95D2FF"/>
                </a:gs>
                <a:gs pos="95000">
                  <a:srgbClr val="3965A3"/>
                </a:gs>
              </a:gsLst>
              <a:lin ang="5400000" scaled="1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>
              <a:noAutofit/>
            </a:bodyPr>
            <a:lstStyle/>
            <a:p>
              <a:pPr algn="ctr">
                <a:defRPr/>
              </a:pPr>
              <a:r>
                <a:rPr lang="zh-CN" altLang="en-US" sz="800" b="1" dirty="0">
                  <a:solidFill>
                    <a:prstClr val="white"/>
                  </a:solidFill>
                  <a:latin typeface="微软雅黑" charset="0"/>
                  <a:ea typeface="微软雅黑" charset="0"/>
                  <a:sym typeface="+mn-ea"/>
                </a:rPr>
                <a:t>科技成果库</a:t>
              </a:r>
            </a:p>
          </p:txBody>
        </p:sp>
        <p:sp>
          <p:nvSpPr>
            <p:cNvPr id="88" name="矩形: 圆角 12"/>
            <p:cNvSpPr/>
            <p:nvPr>
              <p:custDataLst>
                <p:tags r:id="rId22"/>
              </p:custDataLst>
            </p:nvPr>
          </p:nvSpPr>
          <p:spPr>
            <a:xfrm>
              <a:off x="1083809" y="1367358"/>
              <a:ext cx="1043388" cy="179675"/>
            </a:xfrm>
            <a:prstGeom prst="roundRect">
              <a:avLst/>
            </a:prstGeom>
            <a:gradFill>
              <a:gsLst>
                <a:gs pos="51300">
                  <a:srgbClr val="4888CF"/>
                </a:gs>
                <a:gs pos="0">
                  <a:srgbClr val="95D2FF"/>
                </a:gs>
                <a:gs pos="95000">
                  <a:srgbClr val="3965A3"/>
                </a:gs>
              </a:gsLst>
              <a:lin ang="5400000" scaled="1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>
              <a:noAutofit/>
            </a:bodyPr>
            <a:lstStyle/>
            <a:p>
              <a:pPr algn="ctr">
                <a:defRPr/>
              </a:pPr>
              <a:r>
                <a:rPr lang="zh-CN" altLang="en-US" sz="800" b="1" dirty="0">
                  <a:solidFill>
                    <a:prstClr val="white"/>
                  </a:solidFill>
                  <a:latin typeface="微软雅黑" charset="0"/>
                  <a:ea typeface="微软雅黑" charset="0"/>
                  <a:sym typeface="+mn-ea"/>
                </a:rPr>
                <a:t>创新载体库</a:t>
              </a:r>
            </a:p>
          </p:txBody>
        </p:sp>
        <p:sp>
          <p:nvSpPr>
            <p:cNvPr id="89" name="矩形: 圆角 12"/>
            <p:cNvSpPr/>
            <p:nvPr>
              <p:custDataLst>
                <p:tags r:id="rId23"/>
              </p:custDataLst>
            </p:nvPr>
          </p:nvSpPr>
          <p:spPr>
            <a:xfrm>
              <a:off x="3268826" y="1369525"/>
              <a:ext cx="1043388" cy="179675"/>
            </a:xfrm>
            <a:prstGeom prst="roundRect">
              <a:avLst/>
            </a:prstGeom>
            <a:gradFill>
              <a:gsLst>
                <a:gs pos="51300">
                  <a:srgbClr val="4888CF"/>
                </a:gs>
                <a:gs pos="0">
                  <a:srgbClr val="95D2FF"/>
                </a:gs>
                <a:gs pos="95000">
                  <a:srgbClr val="3965A3"/>
                </a:gs>
              </a:gsLst>
              <a:lin ang="5400000" scaled="1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>
              <a:noAutofit/>
            </a:bodyPr>
            <a:lstStyle/>
            <a:p>
              <a:pPr algn="ctr">
                <a:defRPr/>
              </a:pPr>
              <a:r>
                <a:rPr lang="zh-CN" altLang="en-US" sz="800" b="1" dirty="0">
                  <a:solidFill>
                    <a:prstClr val="white"/>
                  </a:solidFill>
                  <a:latin typeface="微软雅黑" charset="0"/>
                  <a:ea typeface="微软雅黑" charset="0"/>
                  <a:sym typeface="+mn-ea"/>
                </a:rPr>
                <a:t>奖励库</a:t>
              </a:r>
            </a:p>
          </p:txBody>
        </p:sp>
        <p:sp>
          <p:nvSpPr>
            <p:cNvPr id="90" name="矩形: 圆角 12"/>
            <p:cNvSpPr/>
            <p:nvPr>
              <p:custDataLst>
                <p:tags r:id="rId24"/>
              </p:custDataLst>
            </p:nvPr>
          </p:nvSpPr>
          <p:spPr>
            <a:xfrm>
              <a:off x="2155880" y="1607266"/>
              <a:ext cx="1044000" cy="179675"/>
            </a:xfrm>
            <a:prstGeom prst="roundRect">
              <a:avLst/>
            </a:prstGeom>
            <a:gradFill>
              <a:gsLst>
                <a:gs pos="51300">
                  <a:srgbClr val="4888CF"/>
                </a:gs>
                <a:gs pos="0">
                  <a:srgbClr val="95D2FF"/>
                </a:gs>
                <a:gs pos="95000">
                  <a:srgbClr val="3965A3"/>
                </a:gs>
              </a:gsLst>
              <a:lin ang="5400000" scaled="1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>
              <a:noAutofit/>
            </a:bodyPr>
            <a:lstStyle/>
            <a:p>
              <a:pPr algn="ctr">
                <a:defRPr/>
              </a:pPr>
              <a:r>
                <a:rPr lang="zh-CN" altLang="en-US" sz="800" b="1" dirty="0">
                  <a:solidFill>
                    <a:prstClr val="white"/>
                  </a:solidFill>
                  <a:latin typeface="微软雅黑" charset="0"/>
                  <a:ea typeface="微软雅黑" charset="0"/>
                  <a:sym typeface="+mn-ea"/>
                </a:rPr>
                <a:t>产品库</a:t>
              </a:r>
            </a:p>
          </p:txBody>
        </p:sp>
        <p:sp>
          <p:nvSpPr>
            <p:cNvPr id="91" name="矩形: 圆角 12"/>
            <p:cNvSpPr/>
            <p:nvPr>
              <p:custDataLst>
                <p:tags r:id="rId25"/>
              </p:custDataLst>
            </p:nvPr>
          </p:nvSpPr>
          <p:spPr>
            <a:xfrm>
              <a:off x="3258317" y="1605075"/>
              <a:ext cx="1043388" cy="179675"/>
            </a:xfrm>
            <a:prstGeom prst="roundRect">
              <a:avLst/>
            </a:prstGeom>
            <a:gradFill>
              <a:gsLst>
                <a:gs pos="51300">
                  <a:srgbClr val="4888CF"/>
                </a:gs>
                <a:gs pos="0">
                  <a:srgbClr val="95D2FF"/>
                </a:gs>
                <a:gs pos="95000">
                  <a:srgbClr val="3965A3"/>
                </a:gs>
              </a:gsLst>
              <a:lin ang="5400000" scaled="1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>
              <a:noAutofit/>
            </a:bodyPr>
            <a:lstStyle/>
            <a:p>
              <a:pPr algn="ctr">
                <a:defRPr/>
              </a:pPr>
              <a:r>
                <a:rPr lang="zh-CN" altLang="en-US" sz="800" b="1" dirty="0">
                  <a:solidFill>
                    <a:prstClr val="white"/>
                  </a:solidFill>
                  <a:latin typeface="微软雅黑" charset="0"/>
                  <a:ea typeface="微软雅黑" charset="0"/>
                  <a:sym typeface="+mn-ea"/>
                </a:rPr>
                <a:t>资本库</a:t>
              </a:r>
            </a:p>
          </p:txBody>
        </p:sp>
        <p:sp>
          <p:nvSpPr>
            <p:cNvPr id="92" name="矩形: 圆角 12"/>
            <p:cNvSpPr/>
            <p:nvPr>
              <p:custDataLst>
                <p:tags r:id="rId26"/>
              </p:custDataLst>
            </p:nvPr>
          </p:nvSpPr>
          <p:spPr>
            <a:xfrm>
              <a:off x="3275602" y="1133651"/>
              <a:ext cx="1043388" cy="180000"/>
            </a:xfrm>
            <a:prstGeom prst="roundRect">
              <a:avLst/>
            </a:prstGeom>
            <a:gradFill>
              <a:gsLst>
                <a:gs pos="51300">
                  <a:srgbClr val="4888CF"/>
                </a:gs>
                <a:gs pos="0">
                  <a:srgbClr val="95D2FF"/>
                </a:gs>
                <a:gs pos="95000">
                  <a:srgbClr val="3965A3"/>
                </a:gs>
              </a:gsLst>
              <a:lin ang="5400000" scaled="1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>
              <a:noAutofit/>
            </a:bodyPr>
            <a:lstStyle/>
            <a:p>
              <a:pPr algn="ctr">
                <a:defRPr/>
              </a:pPr>
              <a:r>
                <a:rPr lang="zh-CN" altLang="en-US" sz="800" b="1" dirty="0">
                  <a:solidFill>
                    <a:prstClr val="white"/>
                  </a:solidFill>
                  <a:latin typeface="微软雅黑" charset="0"/>
                  <a:ea typeface="微软雅黑" charset="0"/>
                  <a:sym typeface="+mn-ea"/>
                </a:rPr>
                <a:t>人才库</a:t>
              </a:r>
            </a:p>
          </p:txBody>
        </p:sp>
        <p:sp>
          <p:nvSpPr>
            <p:cNvPr id="93" name="矩形: 圆角 12"/>
            <p:cNvSpPr/>
            <p:nvPr>
              <p:custDataLst>
                <p:tags r:id="rId27"/>
              </p:custDataLst>
            </p:nvPr>
          </p:nvSpPr>
          <p:spPr>
            <a:xfrm>
              <a:off x="2176318" y="1370621"/>
              <a:ext cx="1043388" cy="179675"/>
            </a:xfrm>
            <a:prstGeom prst="roundRect">
              <a:avLst/>
            </a:prstGeom>
            <a:gradFill>
              <a:gsLst>
                <a:gs pos="51300">
                  <a:srgbClr val="4888CF"/>
                </a:gs>
                <a:gs pos="0">
                  <a:srgbClr val="95D2FF"/>
                </a:gs>
                <a:gs pos="95000">
                  <a:srgbClr val="3965A3"/>
                </a:gs>
              </a:gsLst>
              <a:lin ang="5400000" scaled="1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>
              <a:noAutofit/>
            </a:bodyPr>
            <a:lstStyle/>
            <a:p>
              <a:pPr algn="ctr">
                <a:defRPr/>
              </a:pPr>
              <a:r>
                <a:rPr lang="zh-CN" altLang="en-US" sz="800" b="1" dirty="0">
                  <a:solidFill>
                    <a:prstClr val="white"/>
                  </a:solidFill>
                  <a:latin typeface="微软雅黑" charset="0"/>
                  <a:ea typeface="微软雅黑" charset="0"/>
                  <a:sym typeface="+mn-ea"/>
                </a:rPr>
                <a:t>著作权库</a:t>
              </a:r>
            </a:p>
          </p:txBody>
        </p:sp>
        <p:sp>
          <p:nvSpPr>
            <p:cNvPr id="94" name="矩形: 圆角 12"/>
            <p:cNvSpPr/>
            <p:nvPr>
              <p:custDataLst>
                <p:tags r:id="rId28"/>
              </p:custDataLst>
            </p:nvPr>
          </p:nvSpPr>
          <p:spPr>
            <a:xfrm>
              <a:off x="4360141" y="1604606"/>
              <a:ext cx="1043388" cy="179675"/>
            </a:xfrm>
            <a:prstGeom prst="roundRect">
              <a:avLst/>
            </a:prstGeom>
            <a:gradFill>
              <a:gsLst>
                <a:gs pos="51300">
                  <a:srgbClr val="4888CF"/>
                </a:gs>
                <a:gs pos="0">
                  <a:srgbClr val="95D2FF"/>
                </a:gs>
                <a:gs pos="95000">
                  <a:srgbClr val="3965A3"/>
                </a:gs>
              </a:gsLst>
              <a:lin ang="5400000" scaled="1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>
              <a:noAutofit/>
            </a:bodyPr>
            <a:lstStyle/>
            <a:p>
              <a:pPr algn="ctr">
                <a:defRPr/>
              </a:pPr>
              <a:r>
                <a:rPr lang="zh-CN" altLang="en-US" sz="800" b="1" dirty="0">
                  <a:solidFill>
                    <a:prstClr val="white"/>
                  </a:solidFill>
                  <a:latin typeface="微软雅黑" charset="0"/>
                  <a:ea typeface="微软雅黑" charset="0"/>
                  <a:sym typeface="+mn-ea"/>
                </a:rPr>
                <a:t>政策库</a:t>
              </a:r>
            </a:p>
          </p:txBody>
        </p:sp>
        <p:sp>
          <p:nvSpPr>
            <p:cNvPr id="95" name="矩形: 圆角 12"/>
            <p:cNvSpPr/>
            <p:nvPr>
              <p:custDataLst>
                <p:tags r:id="rId29"/>
              </p:custDataLst>
            </p:nvPr>
          </p:nvSpPr>
          <p:spPr>
            <a:xfrm>
              <a:off x="1082116" y="1605647"/>
              <a:ext cx="1043388" cy="179675"/>
            </a:xfrm>
            <a:prstGeom prst="roundRect">
              <a:avLst/>
            </a:prstGeom>
            <a:gradFill>
              <a:gsLst>
                <a:gs pos="51300">
                  <a:srgbClr val="4888CF"/>
                </a:gs>
                <a:gs pos="0">
                  <a:srgbClr val="95D2FF"/>
                </a:gs>
                <a:gs pos="95000">
                  <a:srgbClr val="3965A3"/>
                </a:gs>
              </a:gsLst>
              <a:lin ang="5400000" scaled="1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>
              <a:noAutofit/>
            </a:bodyPr>
            <a:lstStyle/>
            <a:p>
              <a:pPr algn="ctr">
                <a:defRPr/>
              </a:pPr>
              <a:r>
                <a:rPr lang="zh-CN" altLang="en-US" sz="800" b="1" dirty="0">
                  <a:solidFill>
                    <a:prstClr val="white"/>
                  </a:solidFill>
                  <a:latin typeface="微软雅黑" charset="0"/>
                  <a:ea typeface="微软雅黑" charset="0"/>
                  <a:sym typeface="+mn-ea"/>
                </a:rPr>
                <a:t>材料库</a:t>
              </a:r>
            </a:p>
          </p:txBody>
        </p:sp>
        <p:sp>
          <p:nvSpPr>
            <p:cNvPr id="96" name="矩形: 圆角 12"/>
            <p:cNvSpPr/>
            <p:nvPr>
              <p:custDataLst>
                <p:tags r:id="rId30"/>
              </p:custDataLst>
            </p:nvPr>
          </p:nvSpPr>
          <p:spPr>
            <a:xfrm>
              <a:off x="2168084" y="1843911"/>
              <a:ext cx="1044235" cy="179675"/>
            </a:xfrm>
            <a:prstGeom prst="roundRect">
              <a:avLst/>
            </a:prstGeom>
            <a:gradFill>
              <a:gsLst>
                <a:gs pos="51300">
                  <a:srgbClr val="4888CF"/>
                </a:gs>
                <a:gs pos="0">
                  <a:srgbClr val="95D2FF"/>
                </a:gs>
                <a:gs pos="95000">
                  <a:srgbClr val="3965A3"/>
                </a:gs>
              </a:gsLst>
              <a:lin ang="5400000" scaled="1"/>
            </a:gradFill>
            <a:ln w="12700" cap="flat" cmpd="sng" algn="ctr">
              <a:solidFill>
                <a:srgbClr val="0070C0"/>
              </a:solidFill>
              <a:prstDash val="solid"/>
              <a:miter lim="800000"/>
            </a:ln>
            <a:effectLst/>
          </p:spPr>
          <p:txBody>
            <a:bodyPr rtlCol="0" anchor="ctr">
              <a:noAutofit/>
            </a:bodyPr>
            <a:lstStyle/>
            <a:p>
              <a:pPr algn="ctr">
                <a:defRPr/>
              </a:pPr>
              <a:r>
                <a:rPr lang="en-US" altLang="zh-CN" sz="800" b="1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charset="0"/>
                  <a:sym typeface="+mn-ea"/>
                </a:rPr>
                <a:t>……</a:t>
              </a:r>
            </a:p>
          </p:txBody>
        </p:sp>
      </p:grpSp>
      <p:sp>
        <p:nvSpPr>
          <p:cNvPr id="97" name="矩形: 圆角 12"/>
          <p:cNvSpPr/>
          <p:nvPr>
            <p:custDataLst>
              <p:tags r:id="rId3"/>
            </p:custDataLst>
          </p:nvPr>
        </p:nvSpPr>
        <p:spPr>
          <a:xfrm>
            <a:off x="5467350" y="3657695"/>
            <a:ext cx="871855" cy="208915"/>
          </a:xfrm>
          <a:prstGeom prst="roundRect">
            <a:avLst/>
          </a:prstGeom>
          <a:gradFill>
            <a:gsLst>
              <a:gs pos="51300">
                <a:srgbClr val="4888CF"/>
              </a:gs>
              <a:gs pos="0">
                <a:srgbClr val="95D2FF"/>
              </a:gs>
              <a:gs pos="95000">
                <a:srgbClr val="3965A3"/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algn="ctr">
              <a:defRPr/>
            </a:pPr>
            <a:r>
              <a:rPr lang="zh-CN" altLang="en-US" sz="800" b="1" dirty="0">
                <a:solidFill>
                  <a:srgbClr val="FFFFFF"/>
                </a:solidFill>
                <a:latin typeface="微软雅黑" charset="0"/>
                <a:ea typeface="微软雅黑" charset="0"/>
                <a:sym typeface="+mn-ea"/>
              </a:rPr>
              <a:t>行业发展报告</a:t>
            </a:r>
          </a:p>
        </p:txBody>
      </p:sp>
      <p:sp>
        <p:nvSpPr>
          <p:cNvPr id="98" name="矩形: 圆角 12"/>
          <p:cNvSpPr/>
          <p:nvPr>
            <p:custDataLst>
              <p:tags r:id="rId4"/>
            </p:custDataLst>
          </p:nvPr>
        </p:nvSpPr>
        <p:spPr>
          <a:xfrm>
            <a:off x="5467350" y="4089495"/>
            <a:ext cx="866775" cy="208915"/>
          </a:xfrm>
          <a:prstGeom prst="roundRect">
            <a:avLst/>
          </a:prstGeom>
          <a:gradFill>
            <a:gsLst>
              <a:gs pos="51300">
                <a:srgbClr val="4888CF"/>
              </a:gs>
              <a:gs pos="0">
                <a:srgbClr val="95D2FF"/>
              </a:gs>
              <a:gs pos="95000">
                <a:srgbClr val="3965A3"/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algn="ctr">
              <a:defRPr/>
            </a:pPr>
            <a:r>
              <a:rPr lang="zh-CN" altLang="en-US" sz="800" b="1" dirty="0">
                <a:solidFill>
                  <a:srgbClr val="FFFFFF"/>
                </a:solidFill>
                <a:latin typeface="微软雅黑" charset="0"/>
                <a:ea typeface="微软雅黑" charset="0"/>
                <a:sym typeface="+mn-ea"/>
              </a:rPr>
              <a:t>技术分析报告</a:t>
            </a:r>
          </a:p>
        </p:txBody>
      </p:sp>
      <p:sp>
        <p:nvSpPr>
          <p:cNvPr id="99" name="矩形: 圆角 12"/>
          <p:cNvSpPr/>
          <p:nvPr>
            <p:custDataLst>
              <p:tags r:id="rId5"/>
            </p:custDataLst>
          </p:nvPr>
        </p:nvSpPr>
        <p:spPr>
          <a:xfrm>
            <a:off x="5467350" y="3873595"/>
            <a:ext cx="871855" cy="208915"/>
          </a:xfrm>
          <a:prstGeom prst="roundRect">
            <a:avLst/>
          </a:prstGeom>
          <a:gradFill>
            <a:gsLst>
              <a:gs pos="51300">
                <a:srgbClr val="4888CF"/>
              </a:gs>
              <a:gs pos="0">
                <a:srgbClr val="95D2FF"/>
              </a:gs>
              <a:gs pos="95000">
                <a:srgbClr val="3965A3"/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algn="ctr">
              <a:defRPr/>
            </a:pPr>
            <a:r>
              <a:rPr lang="zh-CN" altLang="en-US" sz="800" b="1" dirty="0">
                <a:solidFill>
                  <a:srgbClr val="FFFFFF"/>
                </a:solidFill>
                <a:latin typeface="微软雅黑" charset="0"/>
                <a:ea typeface="微软雅黑" charset="0"/>
                <a:sym typeface="+mn-ea"/>
              </a:rPr>
              <a:t>产业研究报告</a:t>
            </a:r>
          </a:p>
        </p:txBody>
      </p:sp>
      <p:sp>
        <p:nvSpPr>
          <p:cNvPr id="100" name="矩形: 圆角 12"/>
          <p:cNvSpPr/>
          <p:nvPr>
            <p:custDataLst>
              <p:tags r:id="rId6"/>
            </p:custDataLst>
          </p:nvPr>
        </p:nvSpPr>
        <p:spPr>
          <a:xfrm>
            <a:off x="5467350" y="4317460"/>
            <a:ext cx="866775" cy="168910"/>
          </a:xfrm>
          <a:prstGeom prst="roundRect">
            <a:avLst/>
          </a:prstGeom>
          <a:gradFill>
            <a:gsLst>
              <a:gs pos="51300">
                <a:srgbClr val="4888CF"/>
              </a:gs>
              <a:gs pos="0">
                <a:srgbClr val="95D2FF"/>
              </a:gs>
              <a:gs pos="95000">
                <a:srgbClr val="3965A3"/>
              </a:gs>
            </a:gsLst>
            <a:lin ang="5400000" scaled="1"/>
          </a:gradFill>
          <a:ln w="12700" cap="flat" cmpd="sng" algn="ctr">
            <a:solidFill>
              <a:srgbClr val="0070C0"/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algn="ctr">
              <a:defRPr/>
            </a:pPr>
            <a:r>
              <a:rPr lang="en-US" altLang="zh-CN" sz="8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charset="0"/>
                <a:sym typeface="+mn-ea"/>
              </a:rPr>
              <a:t>……</a:t>
            </a:r>
          </a:p>
        </p:txBody>
      </p:sp>
      <p:sp>
        <p:nvSpPr>
          <p:cNvPr id="101" name="矩形: 圆角 12"/>
          <p:cNvSpPr/>
          <p:nvPr>
            <p:custDataLst>
              <p:tags r:id="rId7"/>
            </p:custDataLst>
          </p:nvPr>
        </p:nvSpPr>
        <p:spPr>
          <a:xfrm>
            <a:off x="6907530" y="3662775"/>
            <a:ext cx="871855" cy="208915"/>
          </a:xfrm>
          <a:prstGeom prst="roundRect">
            <a:avLst/>
          </a:prstGeom>
          <a:gradFill>
            <a:gsLst>
              <a:gs pos="51300">
                <a:srgbClr val="4888CF"/>
              </a:gs>
              <a:gs pos="0">
                <a:srgbClr val="95D2FF"/>
              </a:gs>
              <a:gs pos="95000">
                <a:srgbClr val="3965A3"/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algn="ctr">
              <a:defRPr/>
            </a:pPr>
            <a:r>
              <a:rPr lang="zh-CN" altLang="en-US" sz="800" b="1" dirty="0">
                <a:solidFill>
                  <a:srgbClr val="FFFFFF"/>
                </a:solidFill>
                <a:latin typeface="微软雅黑" charset="0"/>
                <a:ea typeface="微软雅黑" charset="0"/>
                <a:sym typeface="+mn-ea"/>
              </a:rPr>
              <a:t>产业图谱</a:t>
            </a:r>
          </a:p>
        </p:txBody>
      </p:sp>
      <p:sp>
        <p:nvSpPr>
          <p:cNvPr id="102" name="矩形: 圆角 12"/>
          <p:cNvSpPr/>
          <p:nvPr>
            <p:custDataLst>
              <p:tags r:id="rId8"/>
            </p:custDataLst>
          </p:nvPr>
        </p:nvSpPr>
        <p:spPr>
          <a:xfrm>
            <a:off x="6907530" y="4094575"/>
            <a:ext cx="866775" cy="208915"/>
          </a:xfrm>
          <a:prstGeom prst="roundRect">
            <a:avLst/>
          </a:prstGeom>
          <a:gradFill>
            <a:gsLst>
              <a:gs pos="51300">
                <a:srgbClr val="4888CF"/>
              </a:gs>
              <a:gs pos="0">
                <a:srgbClr val="95D2FF"/>
              </a:gs>
              <a:gs pos="95000">
                <a:srgbClr val="3965A3"/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algn="ctr">
              <a:defRPr/>
            </a:pPr>
            <a:r>
              <a:rPr lang="zh-CN" altLang="en-US" sz="800" b="1" dirty="0">
                <a:solidFill>
                  <a:srgbClr val="FFFFFF"/>
                </a:solidFill>
                <a:latin typeface="微软雅黑" charset="0"/>
                <a:ea typeface="微软雅黑" charset="0"/>
                <a:sym typeface="+mn-ea"/>
              </a:rPr>
              <a:t>人才图谱</a:t>
            </a:r>
          </a:p>
        </p:txBody>
      </p:sp>
      <p:sp>
        <p:nvSpPr>
          <p:cNvPr id="103" name="矩形: 圆角 12"/>
          <p:cNvSpPr/>
          <p:nvPr>
            <p:custDataLst>
              <p:tags r:id="rId9"/>
            </p:custDataLst>
          </p:nvPr>
        </p:nvSpPr>
        <p:spPr>
          <a:xfrm>
            <a:off x="6907530" y="3878675"/>
            <a:ext cx="871855" cy="208915"/>
          </a:xfrm>
          <a:prstGeom prst="roundRect">
            <a:avLst/>
          </a:prstGeom>
          <a:gradFill>
            <a:gsLst>
              <a:gs pos="51300">
                <a:srgbClr val="4888CF"/>
              </a:gs>
              <a:gs pos="0">
                <a:srgbClr val="95D2FF"/>
              </a:gs>
              <a:gs pos="95000">
                <a:srgbClr val="3965A3"/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algn="ctr">
              <a:defRPr/>
            </a:pPr>
            <a:r>
              <a:rPr lang="zh-CN" altLang="en-US" sz="800" b="1" dirty="0">
                <a:solidFill>
                  <a:srgbClr val="FFFFFF"/>
                </a:solidFill>
                <a:latin typeface="微软雅黑" charset="0"/>
                <a:ea typeface="微软雅黑" charset="0"/>
                <a:sym typeface="+mn-ea"/>
              </a:rPr>
              <a:t>企业图谱</a:t>
            </a:r>
          </a:p>
        </p:txBody>
      </p:sp>
      <p:sp>
        <p:nvSpPr>
          <p:cNvPr id="104" name="矩形: 圆角 12"/>
          <p:cNvSpPr/>
          <p:nvPr>
            <p:custDataLst>
              <p:tags r:id="rId10"/>
            </p:custDataLst>
          </p:nvPr>
        </p:nvSpPr>
        <p:spPr>
          <a:xfrm>
            <a:off x="6907530" y="4317460"/>
            <a:ext cx="866775" cy="168910"/>
          </a:xfrm>
          <a:prstGeom prst="roundRect">
            <a:avLst/>
          </a:prstGeom>
          <a:gradFill>
            <a:gsLst>
              <a:gs pos="51300">
                <a:srgbClr val="4888CF"/>
              </a:gs>
              <a:gs pos="0">
                <a:srgbClr val="95D2FF"/>
              </a:gs>
              <a:gs pos="95000">
                <a:srgbClr val="3965A3"/>
              </a:gs>
            </a:gsLst>
            <a:lin ang="5400000" scaled="1"/>
          </a:gradFill>
          <a:ln w="12700" cap="flat" cmpd="sng" algn="ctr">
            <a:solidFill>
              <a:srgbClr val="0070C0"/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algn="ctr">
              <a:defRPr/>
            </a:pPr>
            <a:r>
              <a:rPr lang="en-US" altLang="zh-CN" sz="8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charset="0"/>
                <a:sym typeface="+mn-ea"/>
              </a:rPr>
              <a:t>……</a:t>
            </a:r>
          </a:p>
        </p:txBody>
      </p:sp>
      <p:sp>
        <p:nvSpPr>
          <p:cNvPr id="106" name="Text 11"/>
          <p:cNvSpPr/>
          <p:nvPr/>
        </p:nvSpPr>
        <p:spPr>
          <a:xfrm>
            <a:off x="3296920" y="4450175"/>
            <a:ext cx="1183005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>
              <a:lnSpc>
                <a:spcPts val="2100"/>
              </a:lnSpc>
            </a:pPr>
            <a:r>
              <a:rPr lang="en-US" sz="1000" i="1" u="sng" dirty="0">
                <a:solidFill>
                  <a:srgbClr val="EA580C"/>
                </a:solidFill>
                <a:latin typeface="微软雅黑" charset="0"/>
                <a:ea typeface="微软雅黑" charset="0"/>
                <a:cs typeface="微软雅黑" charset="0"/>
              </a:rPr>
              <a:t>基础数据 95%</a:t>
            </a:r>
          </a:p>
        </p:txBody>
      </p:sp>
      <p:sp>
        <p:nvSpPr>
          <p:cNvPr id="107" name="Text 16"/>
          <p:cNvSpPr/>
          <p:nvPr/>
        </p:nvSpPr>
        <p:spPr>
          <a:xfrm>
            <a:off x="5422265" y="4486370"/>
            <a:ext cx="1437640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>
              <a:lnSpc>
                <a:spcPts val="2100"/>
              </a:lnSpc>
            </a:pPr>
            <a:r>
              <a:rPr lang="en-US" sz="1000" i="1" u="sng" dirty="0">
                <a:solidFill>
                  <a:srgbClr val="2563EB"/>
                </a:solidFill>
                <a:latin typeface="微软雅黑" charset="0"/>
                <a:ea typeface="微软雅黑" charset="0"/>
                <a:cs typeface="微软雅黑" charset="0"/>
              </a:rPr>
              <a:t>非结构化数据 5%</a:t>
            </a:r>
          </a:p>
        </p:txBody>
      </p:sp>
      <p:sp>
        <p:nvSpPr>
          <p:cNvPr id="108" name="Text 21"/>
          <p:cNvSpPr/>
          <p:nvPr/>
        </p:nvSpPr>
        <p:spPr>
          <a:xfrm>
            <a:off x="6749415" y="4486370"/>
            <a:ext cx="1183005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algn="ctr">
              <a:lnSpc>
                <a:spcPts val="2100"/>
              </a:lnSpc>
            </a:pPr>
            <a:r>
              <a:rPr lang="en-US" sz="1000" i="1" u="sng" dirty="0">
                <a:solidFill>
                  <a:srgbClr val="9333EA"/>
                </a:solidFill>
                <a:latin typeface="微软雅黑" charset="0"/>
                <a:ea typeface="微软雅黑" charset="0"/>
                <a:cs typeface="微软雅黑" charset="0"/>
              </a:rPr>
              <a:t>图谱数据 </a:t>
            </a:r>
          </a:p>
        </p:txBody>
      </p:sp>
      <p:sp>
        <p:nvSpPr>
          <p:cNvPr id="109" name="Text 11"/>
          <p:cNvSpPr/>
          <p:nvPr/>
        </p:nvSpPr>
        <p:spPr>
          <a:xfrm>
            <a:off x="1595755" y="4824190"/>
            <a:ext cx="6965950" cy="208915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>
              <a:lnSpc>
                <a:spcPts val="2100"/>
              </a:lnSpc>
            </a:pPr>
            <a:r>
              <a:rPr lang="zh-CN" altLang="en-US" sz="1100" i="1" u="sng" dirty="0">
                <a:solidFill>
                  <a:srgbClr val="F79646">
                    <a:lumMod val="75000"/>
                  </a:srgbClr>
                </a:solidFill>
                <a:latin typeface="微软雅黑" charset="0"/>
                <a:ea typeface="微软雅黑" charset="0"/>
                <a:cs typeface="微软雅黑" charset="0"/>
              </a:rPr>
              <a:t>聚焦工业母机、生物医药、生物育种、新能源、低空经济、盐碱地综合利用、新材料、现代海洋领域</a:t>
            </a:r>
          </a:p>
        </p:txBody>
      </p:sp>
      <p:pic>
        <p:nvPicPr>
          <p:cNvPr id="110" name="picture 56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5349875" y="1715230"/>
            <a:ext cx="372745" cy="1229995"/>
          </a:xfrm>
          <a:prstGeom prst="rect">
            <a:avLst/>
          </a:prstGeom>
        </p:spPr>
      </p:pic>
      <p:pic>
        <p:nvPicPr>
          <p:cNvPr id="111" name="picture 56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 rot="16200000">
            <a:off x="4526915" y="2587085"/>
            <a:ext cx="305435" cy="1162685"/>
          </a:xfrm>
          <a:prstGeom prst="rect">
            <a:avLst/>
          </a:prstGeom>
        </p:spPr>
      </p:pic>
      <p:pic>
        <p:nvPicPr>
          <p:cNvPr id="112" name="picture 56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 rot="10800000">
            <a:off x="3658870" y="1663160"/>
            <a:ext cx="372745" cy="1229995"/>
          </a:xfrm>
          <a:prstGeom prst="rect">
            <a:avLst/>
          </a:prstGeom>
        </p:spPr>
      </p:pic>
      <p:pic>
        <p:nvPicPr>
          <p:cNvPr id="113" name="picture 56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 rot="16200000">
            <a:off x="2232025" y="649700"/>
            <a:ext cx="141605" cy="539115"/>
          </a:xfrm>
          <a:prstGeom prst="rect">
            <a:avLst/>
          </a:prstGeom>
        </p:spPr>
      </p:pic>
      <p:pic>
        <p:nvPicPr>
          <p:cNvPr id="114" name="picture 56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 rot="16200000">
            <a:off x="6917055" y="659225"/>
            <a:ext cx="141605" cy="539115"/>
          </a:xfrm>
          <a:prstGeom prst="rect">
            <a:avLst/>
          </a:prstGeom>
        </p:spPr>
      </p:pic>
      <p:grpSp>
        <p:nvGrpSpPr>
          <p:cNvPr id="115" name="组合 114"/>
          <p:cNvGrpSpPr/>
          <p:nvPr/>
        </p:nvGrpSpPr>
        <p:grpSpPr>
          <a:xfrm>
            <a:off x="981710" y="1908905"/>
            <a:ext cx="2567940" cy="744220"/>
            <a:chOff x="1546" y="4217"/>
            <a:chExt cx="4044" cy="1172"/>
          </a:xfrm>
        </p:grpSpPr>
        <p:sp>
          <p:nvSpPr>
            <p:cNvPr id="116" name="矩形: 圆角 60"/>
            <p:cNvSpPr/>
            <p:nvPr>
              <p:custDataLst>
                <p:tags r:id="rId15"/>
              </p:custDataLst>
            </p:nvPr>
          </p:nvSpPr>
          <p:spPr>
            <a:xfrm>
              <a:off x="3117" y="5018"/>
              <a:ext cx="1020" cy="255"/>
            </a:xfrm>
            <a:prstGeom prst="roundRect">
              <a:avLst/>
            </a:prstGeom>
            <a:gradFill>
              <a:gsLst>
                <a:gs pos="50000">
                  <a:schemeClr val="accent3"/>
                </a:gs>
                <a:gs pos="0">
                  <a:schemeClr val="accent3">
                    <a:lumMod val="25000"/>
                    <a:lumOff val="75000"/>
                  </a:schemeClr>
                </a:gs>
                <a:gs pos="100000">
                  <a:schemeClr val="accent3">
                    <a:lumMod val="85000"/>
                  </a:schemeClr>
                </a:gs>
              </a:gsLst>
              <a:lin ang="5400000" scaled="1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vert="horz" wrap="square" numCol="1" spcCol="0" rtlCol="0" fromWordArt="0" anchor="ctr" anchorCtr="0" forceAA="0" compatLnSpc="0">
              <a:noAutofit/>
            </a:bodyPr>
            <a:lstStyle/>
            <a:p>
              <a:pPr algn="ctr"/>
              <a:r>
                <a:rPr lang="zh-CN" altLang="en-US" sz="800" b="1" kern="0" dirty="0">
                  <a:solidFill>
                    <a:prstClr val="white"/>
                  </a:solidFill>
                  <a:latin typeface="微软雅黑" charset="0"/>
                  <a:ea typeface="微软雅黑" charset="0"/>
                  <a:sym typeface="+mn-ea"/>
                </a:rPr>
                <a:t>科技人才</a:t>
              </a:r>
            </a:p>
          </p:txBody>
        </p:sp>
        <p:sp>
          <p:nvSpPr>
            <p:cNvPr id="117" name="文本框 51"/>
            <p:cNvSpPr txBox="1"/>
            <p:nvPr/>
          </p:nvSpPr>
          <p:spPr>
            <a:xfrm>
              <a:off x="2018" y="4264"/>
              <a:ext cx="2960" cy="397"/>
            </a:xfrm>
            <a:prstGeom prst="rect">
              <a:avLst/>
            </a:prstGeom>
            <a:noFill/>
          </p:spPr>
          <p:txBody>
            <a:bodyPr wrap="square">
              <a:noAutofit/>
            </a:bodyPr>
            <a:lstStyle/>
            <a:p>
              <a:pPr algn="ctr"/>
              <a:r>
                <a:rPr lang="zh-CN" altLang="en-US" sz="1100" b="1" dirty="0">
                  <a:solidFill>
                    <a:prstClr val="black"/>
                  </a:solidFill>
                  <a:latin typeface="微软雅黑" charset="0"/>
                  <a:ea typeface="微软雅黑" charset="0"/>
                  <a:sym typeface="+mn-lt"/>
                </a:rPr>
                <a:t>支撑科技成果转化线上平台</a:t>
              </a:r>
            </a:p>
          </p:txBody>
        </p:sp>
        <p:sp>
          <p:nvSpPr>
            <p:cNvPr id="118" name="矩形 117"/>
            <p:cNvSpPr/>
            <p:nvPr/>
          </p:nvSpPr>
          <p:spPr>
            <a:xfrm>
              <a:off x="1546" y="4217"/>
              <a:ext cx="4045" cy="1173"/>
            </a:xfrm>
            <a:prstGeom prst="rect">
              <a:avLst/>
            </a:prstGeom>
            <a:noFill/>
            <a:ln w="6350">
              <a:solidFill>
                <a:srgbClr val="0070C0"/>
              </a:solidFill>
              <a:prstDash val="sysDash"/>
            </a:ln>
          </p:spPr>
          <p:style>
            <a:lnRef idx="2">
              <a:srgbClr val="006EFF">
                <a:shade val="50000"/>
              </a:srgbClr>
            </a:lnRef>
            <a:fillRef idx="1">
              <a:srgbClr val="006EFF"/>
            </a:fillRef>
            <a:effectRef idx="0">
              <a:srgbClr val="006EFF"/>
            </a:effectRef>
            <a:fontRef idx="minor">
              <a:srgbClr val="FFFFFF"/>
            </a:fontRef>
          </p:style>
          <p:txBody>
            <a:bodyPr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b="1">
                <a:latin typeface="微软雅黑" charset="0"/>
                <a:ea typeface="微软雅黑" charset="0"/>
                <a:sym typeface="+mn-lt"/>
              </a:endParaRPr>
            </a:p>
          </p:txBody>
        </p:sp>
        <p:sp>
          <p:nvSpPr>
            <p:cNvPr id="119" name="Text 5"/>
            <p:cNvSpPr/>
            <p:nvPr/>
          </p:nvSpPr>
          <p:spPr>
            <a:xfrm>
              <a:off x="2098" y="4643"/>
              <a:ext cx="2959" cy="254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/>
            <a:lstStyle/>
            <a:p>
              <a:pPr>
                <a:lnSpc>
                  <a:spcPts val="1500"/>
                </a:lnSpc>
              </a:pPr>
              <a:r>
                <a:rPr lang="zh-CN" altLang="en-US" sz="1050" dirty="0">
                  <a:solidFill>
                    <a:srgbClr val="4B5563"/>
                  </a:solidFill>
                  <a:latin typeface="微软雅黑" charset="0"/>
                  <a:ea typeface="微软雅黑" charset="0"/>
                  <a:cs typeface="Microsoft Sans Serif" panose="020B0604020202020204" charset="0"/>
                </a:rPr>
                <a:t>提供数据资源，支撑数据应用</a:t>
              </a:r>
            </a:p>
          </p:txBody>
        </p:sp>
        <p:sp>
          <p:nvSpPr>
            <p:cNvPr id="120" name="矩形: 圆角 60"/>
            <p:cNvSpPr/>
            <p:nvPr>
              <p:custDataLst>
                <p:tags r:id="rId16"/>
              </p:custDataLst>
            </p:nvPr>
          </p:nvSpPr>
          <p:spPr>
            <a:xfrm>
              <a:off x="1871" y="5018"/>
              <a:ext cx="1020" cy="255"/>
            </a:xfrm>
            <a:prstGeom prst="roundRect">
              <a:avLst/>
            </a:prstGeom>
            <a:gradFill>
              <a:gsLst>
                <a:gs pos="50000">
                  <a:schemeClr val="accent3"/>
                </a:gs>
                <a:gs pos="0">
                  <a:schemeClr val="accent3">
                    <a:lumMod val="25000"/>
                    <a:lumOff val="75000"/>
                  </a:schemeClr>
                </a:gs>
                <a:gs pos="100000">
                  <a:schemeClr val="accent3">
                    <a:lumMod val="85000"/>
                  </a:schemeClr>
                </a:gs>
              </a:gsLst>
              <a:lin ang="5400000" scaled="1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vert="horz" wrap="square" numCol="1" spcCol="0" rtlCol="0" fromWordArt="0" anchor="ctr" anchorCtr="0" forceAA="0" compatLnSpc="0">
              <a:noAutofit/>
            </a:bodyPr>
            <a:lstStyle/>
            <a:p>
              <a:pPr algn="ctr"/>
              <a:r>
                <a:rPr lang="zh-CN" altLang="en-US" sz="800" b="1" kern="0" dirty="0">
                  <a:solidFill>
                    <a:prstClr val="white"/>
                  </a:solidFill>
                  <a:latin typeface="微软雅黑" charset="0"/>
                  <a:ea typeface="微软雅黑" charset="0"/>
                  <a:sym typeface="+mn-ea"/>
                </a:rPr>
                <a:t>科技成果</a:t>
              </a:r>
            </a:p>
          </p:txBody>
        </p:sp>
        <p:sp>
          <p:nvSpPr>
            <p:cNvPr id="121" name="矩形: 圆角 60"/>
            <p:cNvSpPr/>
            <p:nvPr/>
          </p:nvSpPr>
          <p:spPr>
            <a:xfrm>
              <a:off x="4377" y="5018"/>
              <a:ext cx="1020" cy="255"/>
            </a:xfrm>
            <a:prstGeom prst="roundRect">
              <a:avLst/>
            </a:prstGeom>
            <a:gradFill>
              <a:gsLst>
                <a:gs pos="50000">
                  <a:schemeClr val="accent3"/>
                </a:gs>
                <a:gs pos="0">
                  <a:schemeClr val="accent3">
                    <a:lumMod val="25000"/>
                    <a:lumOff val="75000"/>
                  </a:schemeClr>
                </a:gs>
                <a:gs pos="100000">
                  <a:schemeClr val="accent3">
                    <a:lumMod val="85000"/>
                  </a:schemeClr>
                </a:gs>
              </a:gsLst>
              <a:lin ang="5400000" scaled="1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vert="horz" wrap="square" numCol="1" spcCol="0" rtlCol="0" fromWordArt="0" anchor="ctr" anchorCtr="0" forceAA="0" compatLnSpc="0">
              <a:noAutofit/>
            </a:bodyPr>
            <a:lstStyle/>
            <a:p>
              <a:pPr algn="ctr"/>
              <a:r>
                <a:rPr lang="zh-CN" altLang="en-US" sz="800" b="1" kern="0" dirty="0">
                  <a:solidFill>
                    <a:prstClr val="white"/>
                  </a:solidFill>
                  <a:latin typeface="微软雅黑" charset="0"/>
                  <a:ea typeface="微软雅黑" charset="0"/>
                  <a:sym typeface="+mn-ea"/>
                </a:rPr>
                <a:t>科技政策</a:t>
              </a:r>
            </a:p>
          </p:txBody>
        </p:sp>
      </p:grpSp>
      <p:grpSp>
        <p:nvGrpSpPr>
          <p:cNvPr id="122" name="组合 121"/>
          <p:cNvGrpSpPr/>
          <p:nvPr/>
        </p:nvGrpSpPr>
        <p:grpSpPr>
          <a:xfrm>
            <a:off x="981710" y="2696305"/>
            <a:ext cx="2562860" cy="803910"/>
            <a:chOff x="1554" y="2884"/>
            <a:chExt cx="4036" cy="1266"/>
          </a:xfrm>
        </p:grpSpPr>
        <p:sp>
          <p:nvSpPr>
            <p:cNvPr id="123" name="文本框 51"/>
            <p:cNvSpPr txBox="1"/>
            <p:nvPr/>
          </p:nvSpPr>
          <p:spPr>
            <a:xfrm>
              <a:off x="2054" y="2971"/>
              <a:ext cx="3213" cy="397"/>
            </a:xfrm>
            <a:prstGeom prst="rect">
              <a:avLst/>
            </a:prstGeom>
            <a:noFill/>
          </p:spPr>
          <p:txBody>
            <a:bodyPr wrap="square">
              <a:noAutofit/>
            </a:bodyPr>
            <a:lstStyle/>
            <a:p>
              <a:pPr algn="ctr"/>
              <a:r>
                <a:rPr lang="zh-CN" altLang="en-US" sz="1100" b="1" dirty="0">
                  <a:solidFill>
                    <a:prstClr val="black"/>
                  </a:solidFill>
                  <a:latin typeface="微软雅黑" charset="0"/>
                  <a:ea typeface="微软雅黑" charset="0"/>
                  <a:sym typeface="+mn-lt"/>
                </a:rPr>
                <a:t>支撑创新发展科技服务平台</a:t>
              </a:r>
            </a:p>
          </p:txBody>
        </p:sp>
        <p:sp>
          <p:nvSpPr>
            <p:cNvPr id="124" name="Text 3"/>
            <p:cNvSpPr/>
            <p:nvPr/>
          </p:nvSpPr>
          <p:spPr>
            <a:xfrm>
              <a:off x="2212" y="3326"/>
              <a:ext cx="3379" cy="283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/>
            <a:lstStyle/>
            <a:p>
              <a:pPr>
                <a:lnSpc>
                  <a:spcPts val="1500"/>
                </a:lnSpc>
              </a:pPr>
              <a:r>
                <a:rPr lang="en-US" sz="1050" dirty="0">
                  <a:solidFill>
                    <a:prstClr val="black"/>
                  </a:solidFill>
                  <a:latin typeface="微软雅黑" charset="0"/>
                  <a:ea typeface="微软雅黑" charset="0"/>
                  <a:cs typeface="Microsoft Sans Serif" panose="020B0604020202020204" charset="0"/>
                </a:rPr>
                <a:t>提供数据资源，</a:t>
              </a:r>
              <a:r>
                <a:rPr lang="zh-CN" altLang="en-US" sz="1050" dirty="0">
                  <a:solidFill>
                    <a:prstClr val="black"/>
                  </a:solidFill>
                  <a:latin typeface="微软雅黑" charset="0"/>
                  <a:ea typeface="微软雅黑" charset="0"/>
                  <a:cs typeface="Microsoft Sans Serif" panose="020B0604020202020204" charset="0"/>
                </a:rPr>
                <a:t>支撑功能应用</a:t>
              </a:r>
            </a:p>
          </p:txBody>
        </p:sp>
        <p:sp>
          <p:nvSpPr>
            <p:cNvPr id="125" name="矩形 124"/>
            <p:cNvSpPr/>
            <p:nvPr/>
          </p:nvSpPr>
          <p:spPr>
            <a:xfrm>
              <a:off x="1554" y="2884"/>
              <a:ext cx="4037" cy="1266"/>
            </a:xfrm>
            <a:prstGeom prst="rect">
              <a:avLst/>
            </a:prstGeom>
            <a:noFill/>
            <a:ln w="6350">
              <a:solidFill>
                <a:srgbClr val="0070C0"/>
              </a:solidFill>
              <a:prstDash val="sysDash"/>
            </a:ln>
          </p:spPr>
          <p:style>
            <a:lnRef idx="2">
              <a:srgbClr val="006EFF">
                <a:shade val="50000"/>
              </a:srgbClr>
            </a:lnRef>
            <a:fillRef idx="1">
              <a:srgbClr val="006EFF"/>
            </a:fillRef>
            <a:effectRef idx="0">
              <a:srgbClr val="006EFF"/>
            </a:effectRef>
            <a:fontRef idx="minor">
              <a:srgbClr val="FFFFFF"/>
            </a:fontRef>
          </p:style>
          <p:txBody>
            <a:bodyPr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b="1">
                <a:latin typeface="微软雅黑" charset="0"/>
                <a:ea typeface="微软雅黑" charset="0"/>
                <a:sym typeface="+mn-lt"/>
              </a:endParaRPr>
            </a:p>
          </p:txBody>
        </p:sp>
        <p:sp>
          <p:nvSpPr>
            <p:cNvPr id="126" name="矩形: 圆角 60"/>
            <p:cNvSpPr/>
            <p:nvPr>
              <p:custDataLst>
                <p:tags r:id="rId13"/>
              </p:custDataLst>
            </p:nvPr>
          </p:nvSpPr>
          <p:spPr>
            <a:xfrm>
              <a:off x="2061" y="3717"/>
              <a:ext cx="1496" cy="266"/>
            </a:xfrm>
            <a:prstGeom prst="roundRect">
              <a:avLst/>
            </a:prstGeom>
            <a:gradFill>
              <a:gsLst>
                <a:gs pos="50000">
                  <a:schemeClr val="accent3"/>
                </a:gs>
                <a:gs pos="0">
                  <a:schemeClr val="accent3">
                    <a:lumMod val="25000"/>
                    <a:lumOff val="75000"/>
                  </a:schemeClr>
                </a:gs>
                <a:gs pos="100000">
                  <a:schemeClr val="accent3">
                    <a:lumMod val="85000"/>
                  </a:schemeClr>
                </a:gs>
              </a:gsLst>
              <a:lin ang="5400000" scaled="1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vert="horz" wrap="square" numCol="1" spcCol="0" rtlCol="0" fromWordArt="0" anchor="ctr" anchorCtr="0" forceAA="0" compatLnSpc="0">
              <a:noAutofit/>
            </a:bodyPr>
            <a:lstStyle/>
            <a:p>
              <a:pPr algn="ctr"/>
              <a:r>
                <a:rPr lang="zh-CN" altLang="en-US" sz="800" b="1" kern="0" dirty="0">
                  <a:solidFill>
                    <a:prstClr val="white"/>
                  </a:solidFill>
                  <a:latin typeface="微软雅黑" charset="0"/>
                  <a:ea typeface="微软雅黑" charset="0"/>
                  <a:sym typeface="+mn-ea"/>
                </a:rPr>
                <a:t>产业监测分析</a:t>
              </a:r>
            </a:p>
          </p:txBody>
        </p:sp>
        <p:sp>
          <p:nvSpPr>
            <p:cNvPr id="127" name="矩形: 圆角 60"/>
            <p:cNvSpPr/>
            <p:nvPr>
              <p:custDataLst>
                <p:tags r:id="rId14"/>
              </p:custDataLst>
            </p:nvPr>
          </p:nvSpPr>
          <p:spPr>
            <a:xfrm>
              <a:off x="3738" y="3708"/>
              <a:ext cx="1496" cy="266"/>
            </a:xfrm>
            <a:prstGeom prst="roundRect">
              <a:avLst/>
            </a:prstGeom>
            <a:gradFill>
              <a:gsLst>
                <a:gs pos="50000">
                  <a:schemeClr val="accent3"/>
                </a:gs>
                <a:gs pos="0">
                  <a:schemeClr val="accent3">
                    <a:lumMod val="25000"/>
                    <a:lumOff val="75000"/>
                  </a:schemeClr>
                </a:gs>
                <a:gs pos="100000">
                  <a:schemeClr val="accent3">
                    <a:lumMod val="85000"/>
                  </a:schemeClr>
                </a:gs>
              </a:gsLst>
              <a:lin ang="5400000" scaled="1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vert="horz" wrap="square" numCol="1" spcCol="0" rtlCol="0" fromWordArt="0" anchor="ctr" anchorCtr="0" forceAA="0" compatLnSpc="0">
              <a:noAutofit/>
            </a:bodyPr>
            <a:lstStyle/>
            <a:p>
              <a:pPr algn="ctr"/>
              <a:r>
                <a:rPr lang="zh-CN" altLang="en-US" sz="800" b="1" kern="0" dirty="0">
                  <a:solidFill>
                    <a:prstClr val="white"/>
                  </a:solidFill>
                  <a:latin typeface="微软雅黑" charset="0"/>
                  <a:ea typeface="微软雅黑" charset="0"/>
                  <a:sym typeface="+mn-ea"/>
                </a:rPr>
                <a:t>科技创新图谱</a:t>
              </a:r>
            </a:p>
          </p:txBody>
        </p:sp>
      </p:grpSp>
      <p:sp>
        <p:nvSpPr>
          <p:cNvPr id="128" name="文本框 51"/>
          <p:cNvSpPr txBox="1"/>
          <p:nvPr/>
        </p:nvSpPr>
        <p:spPr>
          <a:xfrm>
            <a:off x="1214755" y="1092295"/>
            <a:ext cx="2040255" cy="25209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lang="zh-CN" altLang="en-US" sz="1100" b="1" dirty="0">
                <a:solidFill>
                  <a:prstClr val="black"/>
                </a:solidFill>
                <a:latin typeface="微软雅黑" charset="0"/>
                <a:ea typeface="微软雅黑" charset="0"/>
                <a:sym typeface="+mn-lt"/>
              </a:rPr>
              <a:t>支撑人工智能创新中心</a:t>
            </a:r>
          </a:p>
        </p:txBody>
      </p:sp>
      <p:sp>
        <p:nvSpPr>
          <p:cNvPr id="129" name="Text 3"/>
          <p:cNvSpPr/>
          <p:nvPr/>
        </p:nvSpPr>
        <p:spPr>
          <a:xfrm>
            <a:off x="1332230" y="1344390"/>
            <a:ext cx="2145665" cy="179705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>
              <a:lnSpc>
                <a:spcPts val="1500"/>
              </a:lnSpc>
            </a:pPr>
            <a:r>
              <a:rPr lang="en-US" sz="1050" dirty="0">
                <a:solidFill>
                  <a:prstClr val="black"/>
                </a:solidFill>
                <a:latin typeface="微软雅黑" charset="0"/>
                <a:ea typeface="微软雅黑" charset="0"/>
                <a:cs typeface="Microsoft Sans Serif" panose="020B0604020202020204" charset="0"/>
              </a:rPr>
              <a:t>提供数据</a:t>
            </a:r>
            <a:r>
              <a:rPr lang="zh-CN" altLang="en-US" sz="1050" dirty="0">
                <a:solidFill>
                  <a:prstClr val="black"/>
                </a:solidFill>
                <a:latin typeface="微软雅黑" charset="0"/>
                <a:ea typeface="微软雅黑" charset="0"/>
                <a:cs typeface="Microsoft Sans Serif" panose="020B0604020202020204" charset="0"/>
              </a:rPr>
              <a:t>资源，支撑模型训练</a:t>
            </a:r>
          </a:p>
        </p:txBody>
      </p:sp>
      <p:sp>
        <p:nvSpPr>
          <p:cNvPr id="130" name="矩形 129"/>
          <p:cNvSpPr/>
          <p:nvPr/>
        </p:nvSpPr>
        <p:spPr>
          <a:xfrm>
            <a:off x="989965" y="1048480"/>
            <a:ext cx="2563495" cy="803275"/>
          </a:xfrm>
          <a:prstGeom prst="rect">
            <a:avLst/>
          </a:prstGeom>
          <a:noFill/>
          <a:ln w="6350">
            <a:solidFill>
              <a:srgbClr val="0070C0"/>
            </a:solidFill>
            <a:prstDash val="sysDash"/>
          </a:ln>
        </p:spPr>
        <p:style>
          <a:lnRef idx="2">
            <a:srgbClr val="006EFF">
              <a:shade val="50000"/>
            </a:srgbClr>
          </a:lnRef>
          <a:fillRef idx="1">
            <a:srgbClr val="006EFF"/>
          </a:fillRef>
          <a:effectRef idx="0">
            <a:srgbClr val="006EFF"/>
          </a:effectRef>
          <a:fontRef idx="minor">
            <a:srgbClr val="FFFFFF"/>
          </a:fontRef>
        </p:style>
        <p:txBody>
          <a:bodyPr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b="1">
              <a:latin typeface="微软雅黑" charset="0"/>
              <a:ea typeface="微软雅黑" charset="0"/>
              <a:sym typeface="+mn-lt"/>
            </a:endParaRPr>
          </a:p>
        </p:txBody>
      </p:sp>
      <p:sp>
        <p:nvSpPr>
          <p:cNvPr id="132" name="矩形: 圆角 60"/>
          <p:cNvSpPr/>
          <p:nvPr>
            <p:custDataLst>
              <p:tags r:id="rId11"/>
            </p:custDataLst>
          </p:nvPr>
        </p:nvSpPr>
        <p:spPr>
          <a:xfrm>
            <a:off x="1115060" y="1576800"/>
            <a:ext cx="1075055" cy="171450"/>
          </a:xfrm>
          <a:prstGeom prst="roundRect">
            <a:avLst/>
          </a:prstGeom>
          <a:gradFill>
            <a:gsLst>
              <a:gs pos="50000">
                <a:schemeClr val="accent3"/>
              </a:gs>
              <a:gs pos="0">
                <a:schemeClr val="accent3">
                  <a:lumMod val="25000"/>
                  <a:lumOff val="75000"/>
                </a:schemeClr>
              </a:gs>
              <a:gs pos="100000">
                <a:schemeClr val="accent3">
                  <a:lumMod val="85000"/>
                </a:schemeClr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vert="horz" wrap="square" numCol="1" spcCol="0" rtlCol="0" fromWordArt="0" anchor="ctr" anchorCtr="0" forceAA="0" compatLnSpc="0">
            <a:noAutofit/>
          </a:bodyPr>
          <a:lstStyle/>
          <a:p>
            <a:pPr algn="ctr"/>
            <a:r>
              <a:rPr lang="zh-CN" altLang="en-US" sz="800" b="1" kern="0" dirty="0">
                <a:solidFill>
                  <a:prstClr val="white"/>
                </a:solidFill>
                <a:latin typeface="微软雅黑" charset="0"/>
                <a:ea typeface="微软雅黑" charset="0"/>
                <a:sym typeface="+mn-ea"/>
              </a:rPr>
              <a:t>智库服务垂类模型</a:t>
            </a:r>
          </a:p>
        </p:txBody>
      </p:sp>
      <p:sp>
        <p:nvSpPr>
          <p:cNvPr id="133" name="矩形: 圆角 60"/>
          <p:cNvSpPr/>
          <p:nvPr>
            <p:custDataLst>
              <p:tags r:id="rId12"/>
            </p:custDataLst>
          </p:nvPr>
        </p:nvSpPr>
        <p:spPr>
          <a:xfrm>
            <a:off x="2338705" y="1573625"/>
            <a:ext cx="1075055" cy="171450"/>
          </a:xfrm>
          <a:prstGeom prst="roundRect">
            <a:avLst/>
          </a:prstGeom>
          <a:gradFill>
            <a:gsLst>
              <a:gs pos="50000">
                <a:schemeClr val="accent3"/>
              </a:gs>
              <a:gs pos="0">
                <a:schemeClr val="accent3">
                  <a:lumMod val="25000"/>
                  <a:lumOff val="75000"/>
                </a:schemeClr>
              </a:gs>
              <a:gs pos="100000">
                <a:schemeClr val="accent3">
                  <a:lumMod val="85000"/>
                </a:schemeClr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vert="horz" wrap="square" numCol="1" spcCol="0" rtlCol="0" fromWordArt="0" anchor="ctr" anchorCtr="0" forceAA="0" compatLnSpc="0">
            <a:noAutofit/>
          </a:bodyPr>
          <a:lstStyle/>
          <a:p>
            <a:pPr algn="ctr"/>
            <a:r>
              <a:rPr lang="zh-CN" altLang="en-US" sz="800" b="1" kern="0" dirty="0">
                <a:solidFill>
                  <a:prstClr val="white"/>
                </a:solidFill>
                <a:latin typeface="微软雅黑" charset="0"/>
                <a:ea typeface="微软雅黑" charset="0"/>
                <a:sym typeface="+mn-ea"/>
              </a:rPr>
              <a:t>成果转化垂类模型</a:t>
            </a:r>
          </a:p>
        </p:txBody>
      </p:sp>
      <p:sp>
        <p:nvSpPr>
          <p:cNvPr id="134" name="文本框 51"/>
          <p:cNvSpPr txBox="1"/>
          <p:nvPr/>
        </p:nvSpPr>
        <p:spPr>
          <a:xfrm>
            <a:off x="5892165" y="1938750"/>
            <a:ext cx="2392680" cy="25209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lang="zh-CN" altLang="en-US" sz="1100" b="1" dirty="0">
                <a:solidFill>
                  <a:prstClr val="black"/>
                </a:solidFill>
                <a:latin typeface="微软雅黑" charset="0"/>
                <a:ea typeface="微软雅黑" charset="0"/>
                <a:sym typeface="+mn-lt"/>
              </a:rPr>
              <a:t>支撑省科技厅政策制定、产业布局</a:t>
            </a:r>
          </a:p>
        </p:txBody>
      </p:sp>
      <p:sp>
        <p:nvSpPr>
          <p:cNvPr id="135" name="文本框 51"/>
          <p:cNvSpPr txBox="1"/>
          <p:nvPr/>
        </p:nvSpPr>
        <p:spPr>
          <a:xfrm>
            <a:off x="6098540" y="2785205"/>
            <a:ext cx="1879600" cy="25209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lang="zh-CN" altLang="en-US" sz="1100" b="1" dirty="0">
                <a:solidFill>
                  <a:prstClr val="black"/>
                </a:solidFill>
                <a:latin typeface="微软雅黑" charset="0"/>
                <a:ea typeface="微软雅黑" charset="0"/>
                <a:sym typeface="+mn-lt"/>
              </a:rPr>
              <a:t>支撑省委省政府战略决策</a:t>
            </a:r>
          </a:p>
        </p:txBody>
      </p:sp>
      <p:sp>
        <p:nvSpPr>
          <p:cNvPr id="136" name="Text 3"/>
          <p:cNvSpPr/>
          <p:nvPr/>
        </p:nvSpPr>
        <p:spPr>
          <a:xfrm>
            <a:off x="5882640" y="2216880"/>
            <a:ext cx="2429510" cy="593725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>
              <a:lnSpc>
                <a:spcPts val="1500"/>
              </a:lnSpc>
            </a:pPr>
            <a:r>
              <a:rPr lang="zh-CN" altLang="en-US" sz="1050" dirty="0">
                <a:solidFill>
                  <a:prstClr val="black"/>
                </a:solidFill>
                <a:latin typeface="微软雅黑" charset="0"/>
                <a:ea typeface="微软雅黑" charset="0"/>
                <a:sym typeface="+mn-ea"/>
              </a:rPr>
              <a:t>支撑省科技厅产业政策科学制定、产业发展提前布局、计划指南有效拟定</a:t>
            </a:r>
            <a:endParaRPr lang="zh-CN" altLang="en-US" sz="1050" dirty="0">
              <a:solidFill>
                <a:prstClr val="black"/>
              </a:solidFill>
              <a:latin typeface="微软雅黑" charset="0"/>
              <a:ea typeface="微软雅黑" charset="0"/>
            </a:endParaRPr>
          </a:p>
          <a:p>
            <a:pPr>
              <a:lnSpc>
                <a:spcPts val="1500"/>
              </a:lnSpc>
            </a:pPr>
            <a:endParaRPr lang="zh-CN" altLang="en-US" sz="1050" dirty="0">
              <a:solidFill>
                <a:prstClr val="black"/>
              </a:solidFill>
              <a:latin typeface="微软雅黑" charset="0"/>
              <a:ea typeface="微软雅黑" charset="0"/>
              <a:cs typeface="Microsoft Sans Serif" panose="020B0604020202020204" charset="0"/>
            </a:endParaRPr>
          </a:p>
        </p:txBody>
      </p:sp>
      <p:sp>
        <p:nvSpPr>
          <p:cNvPr id="138" name="矩形 137"/>
          <p:cNvSpPr/>
          <p:nvPr/>
        </p:nvSpPr>
        <p:spPr>
          <a:xfrm>
            <a:off x="5803900" y="1908905"/>
            <a:ext cx="2563495" cy="803910"/>
          </a:xfrm>
          <a:prstGeom prst="rect">
            <a:avLst/>
          </a:prstGeom>
          <a:noFill/>
          <a:ln w="6350">
            <a:solidFill>
              <a:srgbClr val="0070C0"/>
            </a:solidFill>
            <a:prstDash val="sysDash"/>
          </a:ln>
        </p:spPr>
        <p:style>
          <a:lnRef idx="2">
            <a:srgbClr val="006EFF">
              <a:shade val="50000"/>
            </a:srgbClr>
          </a:lnRef>
          <a:fillRef idx="1">
            <a:srgbClr val="006EFF"/>
          </a:fillRef>
          <a:effectRef idx="0">
            <a:srgbClr val="006EFF"/>
          </a:effectRef>
          <a:fontRef idx="minor">
            <a:srgbClr val="FFFFFF"/>
          </a:fontRef>
        </p:style>
        <p:txBody>
          <a:bodyPr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b="1">
              <a:latin typeface="微软雅黑" charset="0"/>
              <a:ea typeface="微软雅黑" charset="0"/>
              <a:sym typeface="+mn-lt"/>
            </a:endParaRPr>
          </a:p>
        </p:txBody>
      </p:sp>
      <p:sp>
        <p:nvSpPr>
          <p:cNvPr id="140" name="矩形 139"/>
          <p:cNvSpPr/>
          <p:nvPr/>
        </p:nvSpPr>
        <p:spPr>
          <a:xfrm>
            <a:off x="5798820" y="2755360"/>
            <a:ext cx="2568575" cy="744855"/>
          </a:xfrm>
          <a:prstGeom prst="rect">
            <a:avLst/>
          </a:prstGeom>
          <a:noFill/>
          <a:ln w="6350">
            <a:solidFill>
              <a:srgbClr val="0070C0"/>
            </a:solidFill>
            <a:prstDash val="sysDash"/>
          </a:ln>
        </p:spPr>
        <p:style>
          <a:lnRef idx="2">
            <a:srgbClr val="006EFF">
              <a:shade val="50000"/>
            </a:srgbClr>
          </a:lnRef>
          <a:fillRef idx="1">
            <a:srgbClr val="006EFF"/>
          </a:fillRef>
          <a:effectRef idx="0">
            <a:srgbClr val="006EFF"/>
          </a:effectRef>
          <a:fontRef idx="minor">
            <a:srgbClr val="FFFFFF"/>
          </a:fontRef>
        </p:style>
        <p:txBody>
          <a:bodyPr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b="1">
              <a:latin typeface="微软雅黑" charset="0"/>
              <a:ea typeface="微软雅黑" charset="0"/>
              <a:sym typeface="+mn-lt"/>
            </a:endParaRPr>
          </a:p>
        </p:txBody>
      </p:sp>
      <p:sp>
        <p:nvSpPr>
          <p:cNvPr id="141" name="文本框 51"/>
          <p:cNvSpPr txBox="1"/>
          <p:nvPr/>
        </p:nvSpPr>
        <p:spPr>
          <a:xfrm>
            <a:off x="6031865" y="1092295"/>
            <a:ext cx="2040255" cy="25209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lang="zh-CN" altLang="en-US" sz="1100" b="1" dirty="0">
                <a:solidFill>
                  <a:prstClr val="black"/>
                </a:solidFill>
                <a:latin typeface="微软雅黑" charset="0"/>
                <a:ea typeface="微软雅黑" charset="0"/>
                <a:sym typeface="+mn-lt"/>
              </a:rPr>
              <a:t>支撑区域创新布局</a:t>
            </a:r>
          </a:p>
        </p:txBody>
      </p:sp>
      <p:sp>
        <p:nvSpPr>
          <p:cNvPr id="142" name="Text 3"/>
          <p:cNvSpPr/>
          <p:nvPr/>
        </p:nvSpPr>
        <p:spPr>
          <a:xfrm>
            <a:off x="5868670" y="1393285"/>
            <a:ext cx="2445385" cy="354965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>
              <a:lnSpc>
                <a:spcPts val="1500"/>
              </a:lnSpc>
            </a:pPr>
            <a:r>
              <a:rPr lang="zh-CN" altLang="en-US" sz="1050" dirty="0">
                <a:solidFill>
                  <a:prstClr val="black"/>
                </a:solidFill>
                <a:latin typeface="微软雅黑" charset="0"/>
                <a:ea typeface="微软雅黑" charset="0"/>
                <a:sym typeface="+mn-ea"/>
              </a:rPr>
              <a:t>支撑地市产业图谱与技术路线图，形成数据资源省市联动，</a:t>
            </a:r>
            <a:r>
              <a:rPr lang="en-US" sz="1050" dirty="0">
                <a:solidFill>
                  <a:srgbClr val="4B5563"/>
                </a:solidFill>
                <a:latin typeface="微软雅黑" charset="0"/>
                <a:ea typeface="微软雅黑" charset="0"/>
                <a:cs typeface="Microsoft Sans Serif" panose="020B0604020202020204" charset="0"/>
                <a:sym typeface="+mn-ea"/>
              </a:rPr>
              <a:t>促进区域协同创新</a:t>
            </a:r>
            <a:endParaRPr lang="en-US" sz="1050" dirty="0">
              <a:solidFill>
                <a:prstClr val="black"/>
              </a:solidFill>
              <a:latin typeface="微软雅黑" charset="0"/>
              <a:ea typeface="微软雅黑" charset="0"/>
            </a:endParaRPr>
          </a:p>
          <a:p>
            <a:pPr>
              <a:lnSpc>
                <a:spcPts val="1500"/>
              </a:lnSpc>
            </a:pPr>
            <a:endParaRPr lang="zh-CN" altLang="en-US" sz="1050" dirty="0">
              <a:solidFill>
                <a:prstClr val="black"/>
              </a:solidFill>
              <a:latin typeface="微软雅黑" charset="0"/>
              <a:ea typeface="微软雅黑" charset="0"/>
            </a:endParaRPr>
          </a:p>
          <a:p>
            <a:pPr>
              <a:lnSpc>
                <a:spcPts val="1500"/>
              </a:lnSpc>
            </a:pPr>
            <a:endParaRPr lang="zh-CN" altLang="en-US" sz="1050" dirty="0">
              <a:solidFill>
                <a:prstClr val="black"/>
              </a:solidFill>
              <a:latin typeface="微软雅黑" charset="0"/>
              <a:ea typeface="微软雅黑" charset="0"/>
              <a:cs typeface="Microsoft Sans Serif" panose="020B0604020202020204" charset="0"/>
            </a:endParaRPr>
          </a:p>
        </p:txBody>
      </p:sp>
      <p:sp>
        <p:nvSpPr>
          <p:cNvPr id="143" name="矩形 142"/>
          <p:cNvSpPr/>
          <p:nvPr/>
        </p:nvSpPr>
        <p:spPr>
          <a:xfrm>
            <a:off x="5807075" y="1048480"/>
            <a:ext cx="2563495" cy="803275"/>
          </a:xfrm>
          <a:prstGeom prst="rect">
            <a:avLst/>
          </a:prstGeom>
          <a:noFill/>
          <a:ln w="6350">
            <a:solidFill>
              <a:srgbClr val="0070C0"/>
            </a:solidFill>
            <a:prstDash val="sysDash"/>
          </a:ln>
        </p:spPr>
        <p:style>
          <a:lnRef idx="2">
            <a:srgbClr val="006EFF">
              <a:shade val="50000"/>
            </a:srgbClr>
          </a:lnRef>
          <a:fillRef idx="1">
            <a:srgbClr val="006EFF"/>
          </a:fillRef>
          <a:effectRef idx="0">
            <a:srgbClr val="006EFF"/>
          </a:effectRef>
          <a:fontRef idx="minor">
            <a:srgbClr val="FFFFFF"/>
          </a:fontRef>
        </p:style>
        <p:txBody>
          <a:bodyPr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b="1">
              <a:latin typeface="微软雅黑" charset="0"/>
              <a:ea typeface="微软雅黑" charset="0"/>
              <a:sym typeface="+mn-lt"/>
            </a:endParaRPr>
          </a:p>
        </p:txBody>
      </p:sp>
      <p:sp>
        <p:nvSpPr>
          <p:cNvPr id="144" name="Text 3"/>
          <p:cNvSpPr/>
          <p:nvPr/>
        </p:nvSpPr>
        <p:spPr>
          <a:xfrm>
            <a:off x="5892165" y="3037300"/>
            <a:ext cx="2429510" cy="38481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>
              <a:lnSpc>
                <a:spcPts val="1500"/>
              </a:lnSpc>
            </a:pPr>
            <a:r>
              <a:rPr lang="zh-CN" altLang="en-US" sz="1050" dirty="0">
                <a:solidFill>
                  <a:prstClr val="black"/>
                </a:solidFill>
                <a:latin typeface="微软雅黑" charset="0"/>
                <a:ea typeface="微软雅黑" charset="0"/>
                <a:sym typeface="+mn-ea"/>
              </a:rPr>
              <a:t>支撑省委省政府创新战略精准谋划，形成更有针对性的战略布局</a:t>
            </a:r>
            <a:endParaRPr lang="zh-CN" altLang="en-US" sz="1050" dirty="0">
              <a:solidFill>
                <a:prstClr val="black"/>
              </a:solidFill>
              <a:latin typeface="微软雅黑" charset="0"/>
              <a:ea typeface="微软雅黑" charset="0"/>
            </a:endParaRPr>
          </a:p>
          <a:p>
            <a:pPr>
              <a:lnSpc>
                <a:spcPts val="1500"/>
              </a:lnSpc>
            </a:pPr>
            <a:endParaRPr lang="zh-CN" altLang="en-US" sz="1050" dirty="0">
              <a:solidFill>
                <a:prstClr val="black"/>
              </a:solidFill>
              <a:latin typeface="微软雅黑" charset="0"/>
              <a:ea typeface="微软雅黑" charset="0"/>
              <a:cs typeface="Microsoft Sans Serif" panose="020B0604020202020204" charset="0"/>
            </a:endParaRPr>
          </a:p>
        </p:txBody>
      </p:sp>
      <p:pic>
        <p:nvPicPr>
          <p:cNvPr id="145" name="picture 56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 rot="16200000">
            <a:off x="4526915" y="868775"/>
            <a:ext cx="305435" cy="1162685"/>
          </a:xfrm>
          <a:prstGeom prst="rect">
            <a:avLst/>
          </a:prstGeom>
        </p:spPr>
      </p:pic>
      <p:sp>
        <p:nvSpPr>
          <p:cNvPr id="146" name="Text 1"/>
          <p:cNvSpPr/>
          <p:nvPr/>
        </p:nvSpPr>
        <p:spPr>
          <a:xfrm>
            <a:off x="4119880" y="1929860"/>
            <a:ext cx="1120140" cy="803275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algn="ctr">
              <a:lnSpc>
                <a:spcPts val="2700"/>
              </a:lnSpc>
            </a:pPr>
            <a:r>
              <a:rPr lang="en-US" sz="1200" b="1" dirty="0">
                <a:solidFill>
                  <a:srgbClr val="FFFFFF"/>
                </a:solidFill>
                <a:latin typeface="微软雅黑" charset="0"/>
                <a:ea typeface="微软雅黑" charset="0"/>
                <a:cs typeface="微软雅黑" charset="0"/>
              </a:rPr>
              <a:t>1亿+</a:t>
            </a:r>
          </a:p>
          <a:p>
            <a:pPr algn="ctr">
              <a:lnSpc>
                <a:spcPts val="2700"/>
              </a:lnSpc>
            </a:pPr>
            <a:r>
              <a:rPr lang="zh-CN" altLang="en-US" sz="1200" b="1" dirty="0">
                <a:solidFill>
                  <a:srgbClr val="FFFFFF"/>
                </a:solidFill>
                <a:latin typeface="微软雅黑" charset="0"/>
                <a:ea typeface="微软雅黑" charset="0"/>
                <a:cs typeface="微软雅黑" charset="0"/>
              </a:rPr>
              <a:t>高质量数据资产</a:t>
            </a:r>
          </a:p>
        </p:txBody>
      </p:sp>
    </p:spTree>
    <p:custDataLst>
      <p:tags r:id="rId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箭头: 上 10"/>
          <p:cNvSpPr/>
          <p:nvPr/>
        </p:nvSpPr>
        <p:spPr>
          <a:xfrm flipV="1">
            <a:off x="4148614" y="2658904"/>
            <a:ext cx="385286" cy="585788"/>
          </a:xfrm>
          <a:prstGeom prst="upArrow">
            <a:avLst/>
          </a:prstGeom>
          <a:gradFill flip="none" rotWithShape="1">
            <a:gsLst>
              <a:gs pos="86000">
                <a:schemeClr val="accent2">
                  <a:lumMod val="75000"/>
                </a:schemeClr>
              </a:gs>
              <a:gs pos="0">
                <a:schemeClr val="accent3">
                  <a:lumMod val="25000"/>
                  <a:lumOff val="75000"/>
                </a:schemeClr>
              </a:gs>
              <a:gs pos="100000">
                <a:schemeClr val="accent3">
                  <a:lumMod val="85000"/>
                </a:schemeClr>
              </a:gs>
            </a:gsLst>
            <a:lin ang="5400000" scaled="0"/>
          </a:gradFill>
          <a:ln w="63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05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</a:endParaRPr>
          </a:p>
        </p:txBody>
      </p:sp>
      <p:sp>
        <p:nvSpPr>
          <p:cNvPr id="12" name="弧形 11"/>
          <p:cNvSpPr/>
          <p:nvPr/>
        </p:nvSpPr>
        <p:spPr>
          <a:xfrm flipV="1">
            <a:off x="2825591" y="2865120"/>
            <a:ext cx="2983230" cy="504349"/>
          </a:xfrm>
          <a:prstGeom prst="arc">
            <a:avLst>
              <a:gd name="adj1" fmla="val 11084864"/>
              <a:gd name="adj2" fmla="val 21272395"/>
            </a:avLst>
          </a:prstGeom>
          <a:noFill/>
          <a:ln w="38100" cap="flat" cmpd="sng" algn="ctr">
            <a:solidFill>
              <a:srgbClr val="7C819B"/>
            </a:solidFill>
            <a:prstDash val="dash"/>
            <a:miter lim="800000"/>
            <a:headEnd type="triangle"/>
            <a:tailEnd type="triangle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9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</a:endParaRPr>
          </a:p>
        </p:txBody>
      </p:sp>
      <p:sp>
        <p:nvSpPr>
          <p:cNvPr id="13" name="弧形 12"/>
          <p:cNvSpPr/>
          <p:nvPr/>
        </p:nvSpPr>
        <p:spPr>
          <a:xfrm>
            <a:off x="2851785" y="1147763"/>
            <a:ext cx="2983230" cy="504349"/>
          </a:xfrm>
          <a:prstGeom prst="arc">
            <a:avLst>
              <a:gd name="adj1" fmla="val 11084864"/>
              <a:gd name="adj2" fmla="val 21272395"/>
            </a:avLst>
          </a:prstGeom>
          <a:noFill/>
          <a:ln w="38100" cap="flat" cmpd="sng" algn="ctr">
            <a:solidFill>
              <a:srgbClr val="7C819B"/>
            </a:solidFill>
            <a:prstDash val="dash"/>
            <a:miter lim="800000"/>
            <a:headEnd type="triangle"/>
            <a:tailEnd type="triangle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9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</a:endParaRPr>
          </a:p>
        </p:txBody>
      </p:sp>
      <p:sp>
        <p:nvSpPr>
          <p:cNvPr id="30" name="MH_Other_1"/>
          <p:cNvSpPr/>
          <p:nvPr>
            <p:custDataLst>
              <p:tags r:id="rId2"/>
            </p:custDataLst>
          </p:nvPr>
        </p:nvSpPr>
        <p:spPr>
          <a:xfrm>
            <a:off x="1372076" y="1339691"/>
            <a:ext cx="2018824" cy="1881664"/>
          </a:xfrm>
          <a:prstGeom prst="ellipse">
            <a:avLst/>
          </a:prstGeom>
          <a:noFill/>
          <a:ln w="76200" cap="flat" cmpd="sng" algn="ctr">
            <a:solidFill>
              <a:srgbClr val="AAB7DF"/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9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</a:endParaRPr>
          </a:p>
        </p:txBody>
      </p:sp>
      <p:sp>
        <p:nvSpPr>
          <p:cNvPr id="35" name="MH_Other_2"/>
          <p:cNvSpPr/>
          <p:nvPr>
            <p:custDataLst>
              <p:tags r:id="rId3"/>
            </p:custDataLst>
          </p:nvPr>
        </p:nvSpPr>
        <p:spPr>
          <a:xfrm flipH="1">
            <a:off x="5317331" y="1339691"/>
            <a:ext cx="2019776" cy="1881664"/>
          </a:xfrm>
          <a:prstGeom prst="ellipse">
            <a:avLst/>
          </a:prstGeom>
          <a:noFill/>
          <a:ln w="76200" cap="flat" cmpd="sng" algn="ctr">
            <a:solidFill>
              <a:schemeClr val="bg2">
                <a:lumMod val="50000"/>
              </a:schemeClr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9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</a:endParaRPr>
          </a:p>
        </p:txBody>
      </p:sp>
      <p:sp>
        <p:nvSpPr>
          <p:cNvPr id="36" name="MH_Title_2"/>
          <p:cNvSpPr/>
          <p:nvPr>
            <p:custDataLst>
              <p:tags r:id="rId4"/>
            </p:custDataLst>
          </p:nvPr>
        </p:nvSpPr>
        <p:spPr>
          <a:xfrm flipH="1">
            <a:off x="3028474" y="1982629"/>
            <a:ext cx="680561" cy="60579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 w="38100" cap="flat" cmpd="sng" algn="ctr">
            <a:noFill/>
            <a:prstDash val="solid"/>
          </a:ln>
          <a:effectLst/>
        </p:spPr>
        <p:txBody>
          <a:bodyPr lIns="0" tIns="0" rIns="0" bIns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供给导向</a:t>
            </a:r>
          </a:p>
        </p:txBody>
      </p:sp>
      <p:sp>
        <p:nvSpPr>
          <p:cNvPr id="40" name="MH_Text_1"/>
          <p:cNvSpPr txBox="1"/>
          <p:nvPr>
            <p:custDataLst>
              <p:tags r:id="rId5"/>
            </p:custDataLst>
          </p:nvPr>
        </p:nvSpPr>
        <p:spPr>
          <a:xfrm>
            <a:off x="5846445" y="1966913"/>
            <a:ext cx="1079659" cy="540544"/>
          </a:xfrm>
          <a:prstGeom prst="rect">
            <a:avLst/>
          </a:prstGeom>
          <a:noFill/>
        </p:spPr>
        <p:txBody>
          <a:bodyPr lIns="0" tIns="0" rIns="0" bIns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500" b="1" i="0" u="none" strike="noStrike" kern="0" cap="none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Arial" panose="020B0604020202020204" pitchFamily="34" charset="0"/>
              </a:rPr>
              <a:t>产</a:t>
            </a:r>
            <a:r>
              <a:rPr kumimoji="0" lang="en-US" altLang="zh-CN" sz="1500" b="1" i="0" u="none" strike="noStrike" kern="0" cap="none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Arial" panose="020B0604020202020204" pitchFamily="34" charset="0"/>
              </a:rPr>
              <a:t>-</a:t>
            </a:r>
            <a:r>
              <a:rPr kumimoji="0" lang="zh-CN" altLang="en-US" sz="1500" b="1" i="0" u="none" strike="noStrike" kern="0" cap="none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Arial" panose="020B0604020202020204" pitchFamily="34" charset="0"/>
              </a:rPr>
              <a:t>用</a:t>
            </a:r>
          </a:p>
        </p:txBody>
      </p:sp>
      <p:sp>
        <p:nvSpPr>
          <p:cNvPr id="41" name="MH_Other_4"/>
          <p:cNvSpPr/>
          <p:nvPr>
            <p:custDataLst>
              <p:tags r:id="rId6"/>
            </p:custDataLst>
          </p:nvPr>
        </p:nvSpPr>
        <p:spPr>
          <a:xfrm rot="18955331" flipH="1" flipV="1">
            <a:off x="3381375" y="1397318"/>
            <a:ext cx="1859280" cy="1730693"/>
          </a:xfrm>
          <a:prstGeom prst="arc">
            <a:avLst>
              <a:gd name="adj1" fmla="val 15934395"/>
              <a:gd name="adj2" fmla="val 297123"/>
            </a:avLst>
          </a:prstGeom>
          <a:noFill/>
          <a:ln w="38100" cap="flat" cmpd="sng" algn="ctr">
            <a:solidFill>
              <a:schemeClr val="accent3">
                <a:lumMod val="60000"/>
                <a:lumOff val="40000"/>
              </a:schemeClr>
            </a:solidFill>
            <a:prstDash val="solid"/>
            <a:headEnd type="oval" w="med" len="med"/>
            <a:tailEnd type="triangle" w="med" len="med"/>
          </a:ln>
          <a:effectLst/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9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</a:endParaRPr>
          </a:p>
        </p:txBody>
      </p:sp>
      <p:sp>
        <p:nvSpPr>
          <p:cNvPr id="42" name="MH_Text_1"/>
          <p:cNvSpPr txBox="1"/>
          <p:nvPr>
            <p:custDataLst>
              <p:tags r:id="rId7"/>
            </p:custDataLst>
          </p:nvPr>
        </p:nvSpPr>
        <p:spPr>
          <a:xfrm>
            <a:off x="1804511" y="1995011"/>
            <a:ext cx="1079659" cy="540544"/>
          </a:xfrm>
          <a:prstGeom prst="rect">
            <a:avLst/>
          </a:prstGeom>
          <a:noFill/>
        </p:spPr>
        <p:txBody>
          <a:bodyPr lIns="0" tIns="0" rIns="0" bIns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500" b="1" i="0" u="none" strike="noStrike" kern="0" cap="none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Arial" panose="020B0604020202020204" pitchFamily="34" charset="0"/>
              </a:rPr>
              <a:t>学</a:t>
            </a:r>
            <a:r>
              <a:rPr kumimoji="0" lang="en-US" altLang="zh-CN" sz="1500" b="1" i="0" u="none" strike="noStrike" kern="0" cap="none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Arial" panose="020B0604020202020204" pitchFamily="34" charset="0"/>
              </a:rPr>
              <a:t>-</a:t>
            </a:r>
            <a:r>
              <a:rPr kumimoji="0" lang="zh-CN" altLang="en-US" sz="1500" b="1" i="0" u="none" strike="noStrike" kern="0" cap="none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Arial" panose="020B0604020202020204" pitchFamily="34" charset="0"/>
              </a:rPr>
              <a:t>研</a:t>
            </a:r>
          </a:p>
        </p:txBody>
      </p:sp>
      <p:sp>
        <p:nvSpPr>
          <p:cNvPr id="43" name="MH_Other_3"/>
          <p:cNvSpPr/>
          <p:nvPr>
            <p:custDataLst>
              <p:tags r:id="rId8"/>
            </p:custDataLst>
          </p:nvPr>
        </p:nvSpPr>
        <p:spPr>
          <a:xfrm rot="18955331">
            <a:off x="3382328" y="1621155"/>
            <a:ext cx="1857851" cy="1730693"/>
          </a:xfrm>
          <a:prstGeom prst="arc">
            <a:avLst/>
          </a:prstGeom>
          <a:noFill/>
          <a:ln w="38100" cap="flat" cmpd="sng" algn="ctr">
            <a:solidFill>
              <a:schemeClr val="accent3">
                <a:lumMod val="60000"/>
                <a:lumOff val="40000"/>
              </a:schemeClr>
            </a:solidFill>
            <a:prstDash val="solid"/>
            <a:headEnd type="oval" w="med" len="med"/>
            <a:tailEnd type="triangle" w="med" len="med"/>
          </a:ln>
          <a:effectLst/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9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</a:endParaRPr>
          </a:p>
        </p:txBody>
      </p:sp>
      <p:sp>
        <p:nvSpPr>
          <p:cNvPr id="16" name="MH_Title_1"/>
          <p:cNvSpPr/>
          <p:nvPr>
            <p:custDataLst>
              <p:tags r:id="rId9"/>
            </p:custDataLst>
          </p:nvPr>
        </p:nvSpPr>
        <p:spPr>
          <a:xfrm>
            <a:off x="3884295" y="3217069"/>
            <a:ext cx="918210" cy="413385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  <p:txBody>
          <a:bodyPr lIns="0" tIns="0" rIns="0" bIns="0" anchor="ctr"/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服</a:t>
            </a:r>
          </a:p>
        </p:txBody>
      </p:sp>
      <p:sp>
        <p:nvSpPr>
          <p:cNvPr id="17" name="MH_Title_1"/>
          <p:cNvSpPr/>
          <p:nvPr>
            <p:custDataLst>
              <p:tags r:id="rId10"/>
            </p:custDataLst>
          </p:nvPr>
        </p:nvSpPr>
        <p:spPr>
          <a:xfrm>
            <a:off x="3887629" y="967740"/>
            <a:ext cx="918210" cy="413385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  <p:txBody>
          <a:bodyPr lIns="0" tIns="0" rIns="0" bIns="0" anchor="ctr"/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金</a:t>
            </a:r>
          </a:p>
        </p:txBody>
      </p:sp>
      <p:sp>
        <p:nvSpPr>
          <p:cNvPr id="47" name="任意多边形 46"/>
          <p:cNvSpPr/>
          <p:nvPr/>
        </p:nvSpPr>
        <p:spPr>
          <a:xfrm rot="7140000" flipV="1">
            <a:off x="2890607" y="1436351"/>
            <a:ext cx="216000" cy="299085"/>
          </a:xfrm>
          <a:custGeom>
            <a:avLst/>
            <a:gdLst>
              <a:gd name="connsiteX0" fmla="*/ 0 w 635"/>
              <a:gd name="connsiteY0" fmla="*/ 401 h 414"/>
              <a:gd name="connsiteX1" fmla="*/ 306 w 635"/>
              <a:gd name="connsiteY1" fmla="*/ 0 h 414"/>
              <a:gd name="connsiteX2" fmla="*/ 635 w 635"/>
              <a:gd name="connsiteY2" fmla="*/ 414 h 414"/>
              <a:gd name="connsiteX3" fmla="*/ 0 w 635"/>
              <a:gd name="connsiteY3" fmla="*/ 401 h 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35" h="414">
                <a:moveTo>
                  <a:pt x="0" y="401"/>
                </a:moveTo>
                <a:lnTo>
                  <a:pt x="306" y="0"/>
                </a:lnTo>
                <a:lnTo>
                  <a:pt x="635" y="414"/>
                </a:lnTo>
                <a:lnTo>
                  <a:pt x="0" y="401"/>
                </a:lnTo>
                <a:close/>
              </a:path>
            </a:pathLst>
          </a:custGeom>
          <a:solidFill>
            <a:srgbClr val="AAB7DF"/>
          </a:solidFill>
          <a:ln>
            <a:noFill/>
            <a:prstDash val="dash"/>
          </a:ln>
        </p:spPr>
        <p:txBody>
          <a:bodyPr wrap="square">
            <a:spAutoFit/>
          </a:bodyPr>
          <a:lstStyle/>
          <a:p>
            <a:endParaRPr lang="zh-CN" altLang="en-US" sz="1350" dirty="0" smtClean="0"/>
          </a:p>
        </p:txBody>
      </p:sp>
      <p:sp>
        <p:nvSpPr>
          <p:cNvPr id="48" name="任意多边形 47"/>
          <p:cNvSpPr/>
          <p:nvPr/>
        </p:nvSpPr>
        <p:spPr>
          <a:xfrm rot="2520000" flipV="1">
            <a:off x="1514244" y="1553509"/>
            <a:ext cx="216000" cy="299085"/>
          </a:xfrm>
          <a:custGeom>
            <a:avLst/>
            <a:gdLst>
              <a:gd name="connsiteX0" fmla="*/ 0 w 635"/>
              <a:gd name="connsiteY0" fmla="*/ 401 h 414"/>
              <a:gd name="connsiteX1" fmla="*/ 306 w 635"/>
              <a:gd name="connsiteY1" fmla="*/ 0 h 414"/>
              <a:gd name="connsiteX2" fmla="*/ 635 w 635"/>
              <a:gd name="connsiteY2" fmla="*/ 414 h 414"/>
              <a:gd name="connsiteX3" fmla="*/ 0 w 635"/>
              <a:gd name="connsiteY3" fmla="*/ 401 h 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35" h="414">
                <a:moveTo>
                  <a:pt x="0" y="401"/>
                </a:moveTo>
                <a:lnTo>
                  <a:pt x="306" y="0"/>
                </a:lnTo>
                <a:lnTo>
                  <a:pt x="635" y="414"/>
                </a:lnTo>
                <a:lnTo>
                  <a:pt x="0" y="401"/>
                </a:lnTo>
                <a:close/>
              </a:path>
            </a:pathLst>
          </a:custGeom>
          <a:solidFill>
            <a:srgbClr val="AAB7DF"/>
          </a:solidFill>
          <a:ln>
            <a:noFill/>
            <a:prstDash val="dash"/>
          </a:ln>
        </p:spPr>
        <p:txBody>
          <a:bodyPr wrap="square">
            <a:spAutoFit/>
          </a:bodyPr>
          <a:lstStyle/>
          <a:p>
            <a:endParaRPr lang="zh-CN" altLang="en-US" sz="1350" dirty="0" smtClean="0"/>
          </a:p>
        </p:txBody>
      </p:sp>
      <p:sp>
        <p:nvSpPr>
          <p:cNvPr id="49" name="任意多边形 48"/>
          <p:cNvSpPr/>
          <p:nvPr/>
        </p:nvSpPr>
        <p:spPr>
          <a:xfrm rot="18780000" flipV="1">
            <a:off x="1554249" y="2834621"/>
            <a:ext cx="216000" cy="299085"/>
          </a:xfrm>
          <a:custGeom>
            <a:avLst/>
            <a:gdLst>
              <a:gd name="connsiteX0" fmla="*/ 0 w 635"/>
              <a:gd name="connsiteY0" fmla="*/ 401 h 414"/>
              <a:gd name="connsiteX1" fmla="*/ 306 w 635"/>
              <a:gd name="connsiteY1" fmla="*/ 0 h 414"/>
              <a:gd name="connsiteX2" fmla="*/ 635 w 635"/>
              <a:gd name="connsiteY2" fmla="*/ 414 h 414"/>
              <a:gd name="connsiteX3" fmla="*/ 0 w 635"/>
              <a:gd name="connsiteY3" fmla="*/ 401 h 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35" h="414">
                <a:moveTo>
                  <a:pt x="0" y="401"/>
                </a:moveTo>
                <a:lnTo>
                  <a:pt x="306" y="0"/>
                </a:lnTo>
                <a:lnTo>
                  <a:pt x="635" y="414"/>
                </a:lnTo>
                <a:lnTo>
                  <a:pt x="0" y="401"/>
                </a:lnTo>
                <a:close/>
              </a:path>
            </a:pathLst>
          </a:custGeom>
          <a:solidFill>
            <a:srgbClr val="AAB7DF"/>
          </a:solidFill>
          <a:ln>
            <a:noFill/>
            <a:prstDash val="dash"/>
          </a:ln>
        </p:spPr>
        <p:txBody>
          <a:bodyPr wrap="square">
            <a:spAutoFit/>
          </a:bodyPr>
          <a:lstStyle/>
          <a:p>
            <a:endParaRPr lang="zh-CN" altLang="en-US" sz="1350" dirty="0" smtClean="0"/>
          </a:p>
        </p:txBody>
      </p:sp>
      <p:sp>
        <p:nvSpPr>
          <p:cNvPr id="50" name="任意多边形 49"/>
          <p:cNvSpPr/>
          <p:nvPr/>
        </p:nvSpPr>
        <p:spPr>
          <a:xfrm rot="13380000" flipV="1">
            <a:off x="2978237" y="2839860"/>
            <a:ext cx="216000" cy="299085"/>
          </a:xfrm>
          <a:custGeom>
            <a:avLst/>
            <a:gdLst>
              <a:gd name="connsiteX0" fmla="*/ 0 w 635"/>
              <a:gd name="connsiteY0" fmla="*/ 401 h 414"/>
              <a:gd name="connsiteX1" fmla="*/ 306 w 635"/>
              <a:gd name="connsiteY1" fmla="*/ 0 h 414"/>
              <a:gd name="connsiteX2" fmla="*/ 635 w 635"/>
              <a:gd name="connsiteY2" fmla="*/ 414 h 414"/>
              <a:gd name="connsiteX3" fmla="*/ 0 w 635"/>
              <a:gd name="connsiteY3" fmla="*/ 401 h 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35" h="414">
                <a:moveTo>
                  <a:pt x="0" y="401"/>
                </a:moveTo>
                <a:lnTo>
                  <a:pt x="306" y="0"/>
                </a:lnTo>
                <a:lnTo>
                  <a:pt x="635" y="414"/>
                </a:lnTo>
                <a:lnTo>
                  <a:pt x="0" y="401"/>
                </a:lnTo>
                <a:close/>
              </a:path>
            </a:pathLst>
          </a:custGeom>
          <a:solidFill>
            <a:srgbClr val="AAB7DF"/>
          </a:solidFill>
          <a:ln>
            <a:noFill/>
            <a:prstDash val="dash"/>
          </a:ln>
        </p:spPr>
        <p:txBody>
          <a:bodyPr wrap="square">
            <a:spAutoFit/>
          </a:bodyPr>
          <a:lstStyle/>
          <a:p>
            <a:endParaRPr lang="zh-CN" altLang="en-US" sz="1350" dirty="0" smtClean="0"/>
          </a:p>
        </p:txBody>
      </p:sp>
      <p:sp>
        <p:nvSpPr>
          <p:cNvPr id="51" name="任意多边形 50"/>
          <p:cNvSpPr/>
          <p:nvPr/>
        </p:nvSpPr>
        <p:spPr>
          <a:xfrm rot="18720000" flipV="1">
            <a:off x="6864437" y="1425874"/>
            <a:ext cx="216000" cy="299085"/>
          </a:xfrm>
          <a:custGeom>
            <a:avLst/>
            <a:gdLst>
              <a:gd name="connsiteX0" fmla="*/ 0 w 635"/>
              <a:gd name="connsiteY0" fmla="*/ 401 h 414"/>
              <a:gd name="connsiteX1" fmla="*/ 306 w 635"/>
              <a:gd name="connsiteY1" fmla="*/ 0 h 414"/>
              <a:gd name="connsiteX2" fmla="*/ 635 w 635"/>
              <a:gd name="connsiteY2" fmla="*/ 414 h 414"/>
              <a:gd name="connsiteX3" fmla="*/ 0 w 635"/>
              <a:gd name="connsiteY3" fmla="*/ 401 h 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35" h="414">
                <a:moveTo>
                  <a:pt x="0" y="401"/>
                </a:moveTo>
                <a:lnTo>
                  <a:pt x="306" y="0"/>
                </a:lnTo>
                <a:lnTo>
                  <a:pt x="635" y="414"/>
                </a:lnTo>
                <a:lnTo>
                  <a:pt x="0" y="401"/>
                </a:ln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  <a:ln>
            <a:noFill/>
            <a:prstDash val="dash"/>
          </a:ln>
        </p:spPr>
        <p:txBody>
          <a:bodyPr wrap="square">
            <a:spAutoFit/>
          </a:bodyPr>
          <a:lstStyle/>
          <a:p>
            <a:endParaRPr lang="zh-CN" altLang="en-US" sz="1350" dirty="0" smtClean="0"/>
          </a:p>
        </p:txBody>
      </p:sp>
      <p:sp>
        <p:nvSpPr>
          <p:cNvPr id="52" name="任意多边形 51"/>
          <p:cNvSpPr/>
          <p:nvPr/>
        </p:nvSpPr>
        <p:spPr>
          <a:xfrm rot="13500000" flipV="1">
            <a:off x="5488074" y="1543031"/>
            <a:ext cx="216000" cy="299085"/>
          </a:xfrm>
          <a:custGeom>
            <a:avLst/>
            <a:gdLst>
              <a:gd name="connsiteX0" fmla="*/ 0 w 635"/>
              <a:gd name="connsiteY0" fmla="*/ 401 h 414"/>
              <a:gd name="connsiteX1" fmla="*/ 306 w 635"/>
              <a:gd name="connsiteY1" fmla="*/ 0 h 414"/>
              <a:gd name="connsiteX2" fmla="*/ 635 w 635"/>
              <a:gd name="connsiteY2" fmla="*/ 414 h 414"/>
              <a:gd name="connsiteX3" fmla="*/ 0 w 635"/>
              <a:gd name="connsiteY3" fmla="*/ 401 h 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35" h="414">
                <a:moveTo>
                  <a:pt x="0" y="401"/>
                </a:moveTo>
                <a:lnTo>
                  <a:pt x="306" y="0"/>
                </a:lnTo>
                <a:lnTo>
                  <a:pt x="635" y="414"/>
                </a:lnTo>
                <a:lnTo>
                  <a:pt x="0" y="401"/>
                </a:ln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  <a:ln>
            <a:noFill/>
            <a:prstDash val="dash"/>
          </a:ln>
        </p:spPr>
        <p:txBody>
          <a:bodyPr wrap="square">
            <a:spAutoFit/>
          </a:bodyPr>
          <a:lstStyle/>
          <a:p>
            <a:endParaRPr lang="zh-CN" altLang="en-US" sz="1350" dirty="0" smtClean="0"/>
          </a:p>
        </p:txBody>
      </p:sp>
      <p:sp>
        <p:nvSpPr>
          <p:cNvPr id="53" name="任意多边形 52"/>
          <p:cNvSpPr/>
          <p:nvPr/>
        </p:nvSpPr>
        <p:spPr>
          <a:xfrm rot="8100000" flipV="1">
            <a:off x="5519030" y="2824144"/>
            <a:ext cx="216000" cy="299085"/>
          </a:xfrm>
          <a:custGeom>
            <a:avLst/>
            <a:gdLst>
              <a:gd name="connsiteX0" fmla="*/ 0 w 635"/>
              <a:gd name="connsiteY0" fmla="*/ 401 h 414"/>
              <a:gd name="connsiteX1" fmla="*/ 306 w 635"/>
              <a:gd name="connsiteY1" fmla="*/ 0 h 414"/>
              <a:gd name="connsiteX2" fmla="*/ 635 w 635"/>
              <a:gd name="connsiteY2" fmla="*/ 414 h 414"/>
              <a:gd name="connsiteX3" fmla="*/ 0 w 635"/>
              <a:gd name="connsiteY3" fmla="*/ 401 h 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35" h="414">
                <a:moveTo>
                  <a:pt x="0" y="401"/>
                </a:moveTo>
                <a:lnTo>
                  <a:pt x="306" y="0"/>
                </a:lnTo>
                <a:lnTo>
                  <a:pt x="635" y="414"/>
                </a:lnTo>
                <a:lnTo>
                  <a:pt x="0" y="401"/>
                </a:ln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  <a:ln>
            <a:noFill/>
            <a:prstDash val="dash"/>
          </a:ln>
        </p:spPr>
        <p:txBody>
          <a:bodyPr wrap="square">
            <a:spAutoFit/>
          </a:bodyPr>
          <a:lstStyle/>
          <a:p>
            <a:endParaRPr lang="zh-CN" altLang="en-US" sz="1350" dirty="0" smtClean="0"/>
          </a:p>
        </p:txBody>
      </p:sp>
      <p:sp>
        <p:nvSpPr>
          <p:cNvPr id="54" name="任意多边形 53"/>
          <p:cNvSpPr/>
          <p:nvPr/>
        </p:nvSpPr>
        <p:spPr>
          <a:xfrm rot="2760000" flipV="1">
            <a:off x="6952067" y="2829383"/>
            <a:ext cx="216000" cy="299085"/>
          </a:xfrm>
          <a:custGeom>
            <a:avLst/>
            <a:gdLst>
              <a:gd name="connsiteX0" fmla="*/ 0 w 635"/>
              <a:gd name="connsiteY0" fmla="*/ 401 h 414"/>
              <a:gd name="connsiteX1" fmla="*/ 306 w 635"/>
              <a:gd name="connsiteY1" fmla="*/ 0 h 414"/>
              <a:gd name="connsiteX2" fmla="*/ 635 w 635"/>
              <a:gd name="connsiteY2" fmla="*/ 414 h 414"/>
              <a:gd name="connsiteX3" fmla="*/ 0 w 635"/>
              <a:gd name="connsiteY3" fmla="*/ 401 h 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35" h="414">
                <a:moveTo>
                  <a:pt x="0" y="401"/>
                </a:moveTo>
                <a:lnTo>
                  <a:pt x="306" y="0"/>
                </a:lnTo>
                <a:lnTo>
                  <a:pt x="635" y="414"/>
                </a:lnTo>
                <a:lnTo>
                  <a:pt x="0" y="401"/>
                </a:ln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  <a:ln>
            <a:noFill/>
            <a:prstDash val="dash"/>
          </a:ln>
        </p:spPr>
        <p:txBody>
          <a:bodyPr wrap="square">
            <a:spAutoFit/>
          </a:bodyPr>
          <a:lstStyle/>
          <a:p>
            <a:endParaRPr lang="zh-CN" altLang="en-US" sz="1350" dirty="0" smtClean="0"/>
          </a:p>
        </p:txBody>
      </p:sp>
      <p:sp>
        <p:nvSpPr>
          <p:cNvPr id="19" name="箭头: 上 18"/>
          <p:cNvSpPr/>
          <p:nvPr/>
        </p:nvSpPr>
        <p:spPr>
          <a:xfrm>
            <a:off x="4147185" y="1395889"/>
            <a:ext cx="385286" cy="585788"/>
          </a:xfrm>
          <a:prstGeom prst="upArrow">
            <a:avLst/>
          </a:prstGeom>
          <a:gradFill flip="none" rotWithShape="1">
            <a:gsLst>
              <a:gs pos="86000">
                <a:schemeClr val="accent2">
                  <a:lumMod val="75000"/>
                </a:schemeClr>
              </a:gs>
              <a:gs pos="0">
                <a:schemeClr val="accent3">
                  <a:lumMod val="25000"/>
                  <a:lumOff val="75000"/>
                </a:schemeClr>
              </a:gs>
              <a:gs pos="100000">
                <a:schemeClr val="accent3">
                  <a:lumMod val="85000"/>
                </a:schemeClr>
              </a:gs>
            </a:gsLst>
            <a:lin ang="5400000" scaled="0"/>
          </a:gradFill>
          <a:ln w="63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05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</a:endParaRPr>
          </a:p>
        </p:txBody>
      </p:sp>
      <p:sp>
        <p:nvSpPr>
          <p:cNvPr id="14" name="MH_Title_1"/>
          <p:cNvSpPr/>
          <p:nvPr>
            <p:custDataLst>
              <p:tags r:id="rId11"/>
            </p:custDataLst>
          </p:nvPr>
        </p:nvSpPr>
        <p:spPr>
          <a:xfrm>
            <a:off x="3709035" y="1934051"/>
            <a:ext cx="1323499" cy="792004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5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山东科技大市场</a:t>
            </a:r>
          </a:p>
        </p:txBody>
      </p:sp>
      <p:sp>
        <p:nvSpPr>
          <p:cNvPr id="55" name="文本框 54"/>
          <p:cNvSpPr txBox="1"/>
          <p:nvPr/>
        </p:nvSpPr>
        <p:spPr>
          <a:xfrm>
            <a:off x="3572815" y="571901"/>
            <a:ext cx="1644039" cy="275590"/>
          </a:xfrm>
          <a:prstGeom prst="rect">
            <a:avLst/>
          </a:prstGeom>
          <a:ln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1050" b="1"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zh-CN" altLang="en-US" sz="1200" dirty="0">
                <a:solidFill>
                  <a:srgbClr val="ED7D31"/>
                </a:solidFill>
              </a:rPr>
              <a:t>政</a:t>
            </a:r>
            <a:r>
              <a:rPr lang="zh-CN" altLang="en-US" sz="1200" dirty="0"/>
              <a:t>（政策引导撬动）</a:t>
            </a:r>
          </a:p>
        </p:txBody>
      </p:sp>
      <p:sp>
        <p:nvSpPr>
          <p:cNvPr id="65" name="弧形 64"/>
          <p:cNvSpPr/>
          <p:nvPr/>
        </p:nvSpPr>
        <p:spPr>
          <a:xfrm rot="5126042" flipH="1">
            <a:off x="2477493" y="-582221"/>
            <a:ext cx="905957" cy="3486550"/>
          </a:xfrm>
          <a:prstGeom prst="arc">
            <a:avLst>
              <a:gd name="adj1" fmla="val 18574882"/>
              <a:gd name="adj2" fmla="val 4893996"/>
            </a:avLst>
          </a:prstGeom>
          <a:ln w="38100">
            <a:solidFill>
              <a:schemeClr val="accent5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015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66" name="弧形 65"/>
          <p:cNvSpPr/>
          <p:nvPr/>
        </p:nvSpPr>
        <p:spPr>
          <a:xfrm rot="16473958">
            <a:off x="5388246" y="-577523"/>
            <a:ext cx="905957" cy="3486550"/>
          </a:xfrm>
          <a:prstGeom prst="arc">
            <a:avLst>
              <a:gd name="adj1" fmla="val 18574882"/>
              <a:gd name="adj2" fmla="val 4893996"/>
            </a:avLst>
          </a:prstGeom>
          <a:ln w="38100">
            <a:solidFill>
              <a:schemeClr val="accent5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015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68" name="矩形 67"/>
          <p:cNvSpPr/>
          <p:nvPr/>
        </p:nvSpPr>
        <p:spPr>
          <a:xfrm flipH="1">
            <a:off x="8278178" y="1115854"/>
            <a:ext cx="293846" cy="2009299"/>
          </a:xfrm>
          <a:prstGeom prst="rect">
            <a:avLst/>
          </a:prstGeom>
          <a:noFill/>
          <a:ln w="7300" cap="flat">
            <a:noFill/>
            <a:miter/>
          </a:ln>
        </p:spPr>
        <p:txBody>
          <a:bodyPr wrap="square" lIns="21430" tIns="21430" rIns="21430" bIns="21430" rtlCol="0" anchor="ctr">
            <a:noAutofit/>
            <a:scene3d>
              <a:camera prst="orthographicFront"/>
              <a:lightRig rig="threePt" dir="t"/>
            </a:scene3d>
          </a:bodyPr>
          <a:lstStyle/>
          <a:p>
            <a:pPr indent="0" defTabSz="685800">
              <a:lnSpc>
                <a:spcPct val="120000"/>
              </a:lnSpc>
              <a:buClr>
                <a:srgbClr val="454545"/>
              </a:buClr>
              <a:buFont typeface="Wingdings" panose="05000000000000000000" pitchFamily="2" charset="2"/>
              <a:buNone/>
            </a:pPr>
            <a:r>
              <a:rPr lang="zh-CN" altLang="en-US" sz="105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  <a:alpha val="40000"/>
                    </a:schemeClr>
                  </a:outerShdw>
                </a:effectLst>
                <a:latin typeface="微软雅黑" charset="0"/>
                <a:ea typeface="微软雅黑" charset="0"/>
                <a:cs typeface="微软雅黑" charset="0"/>
                <a:sym typeface="+mn-ea"/>
              </a:rPr>
              <a:t>全链条</a:t>
            </a:r>
          </a:p>
          <a:p>
            <a:pPr indent="0" defTabSz="685800">
              <a:lnSpc>
                <a:spcPct val="120000"/>
              </a:lnSpc>
              <a:buClr>
                <a:srgbClr val="454545"/>
              </a:buClr>
              <a:buFont typeface="Wingdings" panose="05000000000000000000" pitchFamily="2" charset="2"/>
              <a:buNone/>
            </a:pPr>
            <a:r>
              <a:rPr lang="zh-CN" altLang="en-US" sz="105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  <a:alpha val="40000"/>
                    </a:schemeClr>
                  </a:outerShdw>
                </a:effectLst>
                <a:latin typeface="微软雅黑" charset="0"/>
                <a:ea typeface="微软雅黑" charset="0"/>
                <a:cs typeface="微软雅黑" charset="0"/>
                <a:sym typeface="+mn-ea"/>
              </a:rPr>
              <a:t>多主体</a:t>
            </a:r>
          </a:p>
          <a:p>
            <a:pPr indent="0" defTabSz="685800">
              <a:lnSpc>
                <a:spcPct val="120000"/>
              </a:lnSpc>
              <a:buClr>
                <a:srgbClr val="454545"/>
              </a:buClr>
              <a:buFont typeface="Wingdings" panose="05000000000000000000" pitchFamily="2" charset="2"/>
              <a:buNone/>
            </a:pPr>
            <a:r>
              <a:rPr lang="zh-CN" altLang="en-US" sz="105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  <a:alpha val="40000"/>
                    </a:schemeClr>
                  </a:outerShdw>
                </a:effectLst>
                <a:latin typeface="微软雅黑" charset="0"/>
                <a:ea typeface="微软雅黑" charset="0"/>
                <a:cs typeface="微软雅黑" charset="0"/>
                <a:sym typeface="+mn-ea"/>
              </a:rPr>
              <a:t>多要素</a:t>
            </a:r>
          </a:p>
          <a:p>
            <a:pPr indent="0" defTabSz="685800">
              <a:lnSpc>
                <a:spcPct val="120000"/>
              </a:lnSpc>
              <a:buClr>
                <a:srgbClr val="454545"/>
              </a:buClr>
              <a:buFont typeface="Wingdings" panose="05000000000000000000" pitchFamily="2" charset="2"/>
              <a:buNone/>
            </a:pPr>
            <a:r>
              <a:rPr lang="zh-CN" altLang="en-US" sz="105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  <a:alpha val="40000"/>
                    </a:schemeClr>
                  </a:outerShdw>
                </a:effectLst>
                <a:latin typeface="微软雅黑" charset="0"/>
                <a:ea typeface="微软雅黑" charset="0"/>
                <a:cs typeface="微软雅黑" charset="0"/>
                <a:sym typeface="+mn-ea"/>
              </a:rPr>
              <a:t>的成果转化体系</a:t>
            </a:r>
          </a:p>
        </p:txBody>
      </p:sp>
      <p:pic>
        <p:nvPicPr>
          <p:cNvPr id="69" name="picture 56"/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7722394" y="1581150"/>
            <a:ext cx="448151" cy="1398746"/>
          </a:xfrm>
          <a:prstGeom prst="rect">
            <a:avLst/>
          </a:prstGeom>
        </p:spPr>
      </p:pic>
      <p:sp>
        <p:nvSpPr>
          <p:cNvPr id="78" name="MH_Text_2"/>
          <p:cNvSpPr txBox="1"/>
          <p:nvPr>
            <p:custDataLst>
              <p:tags r:id="rId12"/>
            </p:custDataLst>
          </p:nvPr>
        </p:nvSpPr>
        <p:spPr>
          <a:xfrm>
            <a:off x="3437080" y="1622449"/>
            <a:ext cx="1848064" cy="243178"/>
          </a:xfrm>
          <a:prstGeom prst="rect">
            <a:avLst/>
          </a:prstGeom>
          <a:noFill/>
        </p:spPr>
        <p:txBody>
          <a:bodyPr lIns="0" tIns="0" rIns="0" bIns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75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Arial" panose="020B0604020202020204" pitchFamily="34" charset="0"/>
              </a:rPr>
              <a:t>AI+</a:t>
            </a:r>
            <a:r>
              <a:rPr kumimoji="0" lang="zh-CN" altLang="en-US" sz="75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Arial" panose="020B0604020202020204" pitchFamily="34" charset="0"/>
              </a:rPr>
              <a:t>成果转化，加速要素流通</a:t>
            </a:r>
          </a:p>
        </p:txBody>
      </p:sp>
      <p:sp>
        <p:nvSpPr>
          <p:cNvPr id="79" name="MH_Text_2"/>
          <p:cNvSpPr txBox="1"/>
          <p:nvPr>
            <p:custDataLst>
              <p:tags r:id="rId13"/>
            </p:custDataLst>
          </p:nvPr>
        </p:nvSpPr>
        <p:spPr>
          <a:xfrm>
            <a:off x="3427555" y="2723063"/>
            <a:ext cx="1848064" cy="243178"/>
          </a:xfrm>
          <a:prstGeom prst="rect">
            <a:avLst/>
          </a:prstGeom>
          <a:noFill/>
        </p:spPr>
        <p:txBody>
          <a:bodyPr lIns="0" tIns="0" rIns="0" bIns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75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Arial" panose="020B0604020202020204" pitchFamily="34" charset="0"/>
              </a:rPr>
              <a:t>AI+</a:t>
            </a:r>
            <a:r>
              <a:rPr kumimoji="0" lang="zh-CN" altLang="en-US" sz="75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Arial" panose="020B0604020202020204" pitchFamily="34" charset="0"/>
              </a:rPr>
              <a:t>成果转化，加速要素流通</a:t>
            </a:r>
          </a:p>
        </p:txBody>
      </p:sp>
      <p:sp>
        <p:nvSpPr>
          <p:cNvPr id="81" name="MH_Text_2"/>
          <p:cNvSpPr txBox="1"/>
          <p:nvPr>
            <p:custDataLst>
              <p:tags r:id="rId14"/>
            </p:custDataLst>
          </p:nvPr>
        </p:nvSpPr>
        <p:spPr>
          <a:xfrm rot="660000">
            <a:off x="2615072" y="3054533"/>
            <a:ext cx="1848064" cy="243178"/>
          </a:xfrm>
          <a:prstGeom prst="rect">
            <a:avLst/>
          </a:prstGeom>
          <a:noFill/>
        </p:spPr>
        <p:txBody>
          <a:bodyPr lIns="0" tIns="0" rIns="0" bIns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75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Arial" panose="020B0604020202020204" pitchFamily="34" charset="0"/>
              </a:rPr>
              <a:t>专业技术经纪人</a:t>
            </a:r>
          </a:p>
        </p:txBody>
      </p:sp>
      <p:sp>
        <p:nvSpPr>
          <p:cNvPr id="82" name="MH_Text_2"/>
          <p:cNvSpPr txBox="1"/>
          <p:nvPr>
            <p:custDataLst>
              <p:tags r:id="rId15"/>
            </p:custDataLst>
          </p:nvPr>
        </p:nvSpPr>
        <p:spPr>
          <a:xfrm rot="21360000">
            <a:off x="4283852" y="3041674"/>
            <a:ext cx="1848064" cy="243178"/>
          </a:xfrm>
          <a:prstGeom prst="rect">
            <a:avLst/>
          </a:prstGeom>
          <a:noFill/>
        </p:spPr>
        <p:txBody>
          <a:bodyPr lIns="0" tIns="0" rIns="0" bIns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75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Arial" panose="020B0604020202020204" pitchFamily="34" charset="0"/>
              </a:rPr>
              <a:t>专业科技服务机构</a:t>
            </a:r>
          </a:p>
        </p:txBody>
      </p:sp>
      <p:sp>
        <p:nvSpPr>
          <p:cNvPr id="83" name="MH_Text_2"/>
          <p:cNvSpPr txBox="1"/>
          <p:nvPr>
            <p:custDataLst>
              <p:tags r:id="rId16"/>
            </p:custDataLst>
          </p:nvPr>
        </p:nvSpPr>
        <p:spPr>
          <a:xfrm rot="21000000">
            <a:off x="2580306" y="1278596"/>
            <a:ext cx="1848064" cy="243178"/>
          </a:xfrm>
          <a:prstGeom prst="rect">
            <a:avLst/>
          </a:prstGeom>
          <a:noFill/>
        </p:spPr>
        <p:txBody>
          <a:bodyPr lIns="0" tIns="0" rIns="0" bIns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75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Arial" panose="020B0604020202020204" pitchFamily="34" charset="0"/>
              </a:rPr>
              <a:t>概念验证基金</a:t>
            </a:r>
          </a:p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75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Arial" panose="020B0604020202020204" pitchFamily="34" charset="0"/>
              </a:rPr>
              <a:t>成果转化基金</a:t>
            </a:r>
          </a:p>
        </p:txBody>
      </p:sp>
      <p:sp>
        <p:nvSpPr>
          <p:cNvPr id="84" name="MH_Text_2"/>
          <p:cNvSpPr txBox="1"/>
          <p:nvPr>
            <p:custDataLst>
              <p:tags r:id="rId17"/>
            </p:custDataLst>
          </p:nvPr>
        </p:nvSpPr>
        <p:spPr>
          <a:xfrm rot="480000">
            <a:off x="4595813" y="1274445"/>
            <a:ext cx="1203008" cy="205264"/>
          </a:xfrm>
          <a:prstGeom prst="rect">
            <a:avLst/>
          </a:prstGeom>
          <a:noFill/>
        </p:spPr>
        <p:txBody>
          <a:bodyPr lIns="0" tIns="0" rIns="0" bIns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75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Arial" panose="020B0604020202020204" pitchFamily="34" charset="0"/>
              </a:rPr>
              <a:t>产业基金</a:t>
            </a:r>
          </a:p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75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Arial" panose="020B0604020202020204" pitchFamily="34" charset="0"/>
              </a:rPr>
              <a:t>社会资本</a:t>
            </a:r>
          </a:p>
        </p:txBody>
      </p:sp>
      <p:grpSp>
        <p:nvGrpSpPr>
          <p:cNvPr id="93" name="组合 92"/>
          <p:cNvGrpSpPr/>
          <p:nvPr/>
        </p:nvGrpSpPr>
        <p:grpSpPr>
          <a:xfrm>
            <a:off x="811054" y="1147763"/>
            <a:ext cx="2158365" cy="2326481"/>
            <a:chOff x="-1155" y="5658"/>
            <a:chExt cx="4532" cy="4885"/>
          </a:xfrm>
        </p:grpSpPr>
        <p:sp>
          <p:nvSpPr>
            <p:cNvPr id="37" name="MH_SubTitle_4"/>
            <p:cNvSpPr/>
            <p:nvPr>
              <p:custDataLst>
                <p:tags r:id="rId32"/>
              </p:custDataLst>
            </p:nvPr>
          </p:nvSpPr>
          <p:spPr>
            <a:xfrm flipH="1">
              <a:off x="-655" y="7455"/>
              <a:ext cx="1184" cy="1105"/>
            </a:xfrm>
            <a:prstGeom prst="ellipse">
              <a:avLst/>
            </a:prstGeom>
            <a:solidFill>
              <a:schemeClr val="accent4">
                <a:lumMod val="40000"/>
                <a:lumOff val="60000"/>
              </a:schemeClr>
            </a:solidFill>
            <a:ln w="254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lIns="0" tIns="0" rIns="0" bIns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9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  <a:cs typeface="+mn-cs"/>
                </a:rPr>
                <a:t>小试中试</a:t>
              </a:r>
            </a:p>
          </p:txBody>
        </p:sp>
        <p:sp>
          <p:nvSpPr>
            <p:cNvPr id="38" name="MH_SubTitle_2"/>
            <p:cNvSpPr/>
            <p:nvPr>
              <p:custDataLst>
                <p:tags r:id="rId33"/>
              </p:custDataLst>
            </p:nvPr>
          </p:nvSpPr>
          <p:spPr>
            <a:xfrm flipH="1">
              <a:off x="1413" y="5658"/>
              <a:ext cx="1249" cy="1105"/>
            </a:xfrm>
            <a:prstGeom prst="ellipse">
              <a:avLst/>
            </a:prstGeom>
            <a:solidFill>
              <a:schemeClr val="accent4">
                <a:lumMod val="40000"/>
                <a:lumOff val="60000"/>
              </a:schemeClr>
            </a:solidFill>
            <a:ln w="254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lIns="0" tIns="0" rIns="0" bIns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9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  <a:cs typeface="+mn-cs"/>
                </a:rPr>
                <a:t>概念验证</a:t>
              </a:r>
            </a:p>
          </p:txBody>
        </p:sp>
        <p:sp>
          <p:nvSpPr>
            <p:cNvPr id="39" name="MH_SubTitle_6"/>
            <p:cNvSpPr/>
            <p:nvPr>
              <p:custDataLst>
                <p:tags r:id="rId34"/>
              </p:custDataLst>
            </p:nvPr>
          </p:nvSpPr>
          <p:spPr>
            <a:xfrm flipH="1">
              <a:off x="1597" y="9438"/>
              <a:ext cx="1184" cy="1105"/>
            </a:xfrm>
            <a:prstGeom prst="ellipse">
              <a:avLst/>
            </a:prstGeom>
            <a:solidFill>
              <a:schemeClr val="accent4">
                <a:lumMod val="40000"/>
                <a:lumOff val="60000"/>
              </a:schemeClr>
            </a:solidFill>
            <a:ln w="254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lIns="0" tIns="0" rIns="0" bIns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9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  <a:cs typeface="+mn-cs"/>
                </a:rPr>
                <a:t>转化孵化</a:t>
              </a:r>
            </a:p>
          </p:txBody>
        </p:sp>
        <p:sp>
          <p:nvSpPr>
            <p:cNvPr id="85" name="MH_Text_2"/>
            <p:cNvSpPr txBox="1"/>
            <p:nvPr>
              <p:custDataLst>
                <p:tags r:id="rId35"/>
              </p:custDataLst>
            </p:nvPr>
          </p:nvSpPr>
          <p:spPr>
            <a:xfrm>
              <a:off x="953" y="6632"/>
              <a:ext cx="2266" cy="571"/>
            </a:xfrm>
            <a:prstGeom prst="rect">
              <a:avLst/>
            </a:prstGeom>
            <a:noFill/>
          </p:spPr>
          <p:txBody>
            <a:bodyPr lIns="0" tIns="0" rIns="0" bIns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75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  <a:cs typeface="Arial" panose="020B0604020202020204" pitchFamily="34" charset="0"/>
                </a:rPr>
                <a:t>概念验证基地</a:t>
              </a:r>
            </a:p>
          </p:txBody>
        </p:sp>
        <p:sp>
          <p:nvSpPr>
            <p:cNvPr id="86" name="MH_Text_2"/>
            <p:cNvSpPr txBox="1"/>
            <p:nvPr>
              <p:custDataLst>
                <p:tags r:id="rId36"/>
              </p:custDataLst>
            </p:nvPr>
          </p:nvSpPr>
          <p:spPr>
            <a:xfrm>
              <a:off x="-1155" y="8335"/>
              <a:ext cx="2266" cy="571"/>
            </a:xfrm>
            <a:prstGeom prst="rect">
              <a:avLst/>
            </a:prstGeom>
            <a:noFill/>
          </p:spPr>
          <p:txBody>
            <a:bodyPr lIns="0" tIns="0" rIns="0" bIns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75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  <a:cs typeface="Arial" panose="020B0604020202020204" pitchFamily="34" charset="0"/>
                </a:rPr>
                <a:t>小试中试基地</a:t>
              </a:r>
            </a:p>
          </p:txBody>
        </p:sp>
        <p:sp>
          <p:nvSpPr>
            <p:cNvPr id="87" name="MH_Text_2"/>
            <p:cNvSpPr txBox="1"/>
            <p:nvPr>
              <p:custDataLst>
                <p:tags r:id="rId37"/>
              </p:custDataLst>
            </p:nvPr>
          </p:nvSpPr>
          <p:spPr>
            <a:xfrm>
              <a:off x="1111" y="8984"/>
              <a:ext cx="2266" cy="571"/>
            </a:xfrm>
            <a:prstGeom prst="rect">
              <a:avLst/>
            </a:prstGeom>
            <a:noFill/>
          </p:spPr>
          <p:txBody>
            <a:bodyPr lIns="0" tIns="0" rIns="0" bIns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750" kern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  <a:cs typeface="Arial" panose="020B0604020202020204" pitchFamily="34" charset="0"/>
                  <a:sym typeface="+mn-ea"/>
                </a:rPr>
                <a:t>双创孵化载体</a:t>
              </a:r>
              <a:endParaRPr kumimoji="0" lang="zh-CN" altLang="en-US" sz="75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Arial" panose="020B0604020202020204" pitchFamily="34" charset="0"/>
              </a:endParaRPr>
            </a:p>
          </p:txBody>
        </p:sp>
      </p:grpSp>
      <p:sp>
        <p:nvSpPr>
          <p:cNvPr id="90" name="MH_Text_2"/>
          <p:cNvSpPr txBox="1"/>
          <p:nvPr>
            <p:custDataLst>
              <p:tags r:id="rId18"/>
            </p:custDataLst>
          </p:nvPr>
        </p:nvSpPr>
        <p:spPr>
          <a:xfrm>
            <a:off x="2770823" y="2496979"/>
            <a:ext cx="402908" cy="271939"/>
          </a:xfrm>
          <a:prstGeom prst="rect">
            <a:avLst/>
          </a:prstGeom>
          <a:noFill/>
        </p:spPr>
        <p:txBody>
          <a:bodyPr lIns="0" tIns="0" rIns="0" bIns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75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Arial" panose="020B0604020202020204" pitchFamily="34" charset="0"/>
              </a:rPr>
              <a:t>高校及科研院所</a:t>
            </a:r>
          </a:p>
        </p:txBody>
      </p:sp>
      <p:sp>
        <p:nvSpPr>
          <p:cNvPr id="91" name="MH_Text_2"/>
          <p:cNvSpPr txBox="1"/>
          <p:nvPr>
            <p:custDataLst>
              <p:tags r:id="rId19"/>
            </p:custDataLst>
          </p:nvPr>
        </p:nvSpPr>
        <p:spPr>
          <a:xfrm>
            <a:off x="5528310" y="2454116"/>
            <a:ext cx="402908" cy="271939"/>
          </a:xfrm>
          <a:prstGeom prst="rect">
            <a:avLst/>
          </a:prstGeom>
          <a:noFill/>
        </p:spPr>
        <p:txBody>
          <a:bodyPr lIns="0" tIns="0" rIns="0" bIns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75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Arial" panose="020B0604020202020204" pitchFamily="34" charset="0"/>
              </a:rPr>
              <a:t>企业</a:t>
            </a:r>
          </a:p>
        </p:txBody>
      </p:sp>
      <p:sp>
        <p:nvSpPr>
          <p:cNvPr id="92" name="MH_Text_2"/>
          <p:cNvSpPr txBox="1"/>
          <p:nvPr>
            <p:custDataLst>
              <p:tags r:id="rId20"/>
            </p:custDataLst>
          </p:nvPr>
        </p:nvSpPr>
        <p:spPr>
          <a:xfrm>
            <a:off x="1584008" y="2109788"/>
            <a:ext cx="402908" cy="271939"/>
          </a:xfrm>
          <a:prstGeom prst="rect">
            <a:avLst/>
          </a:prstGeom>
          <a:noFill/>
        </p:spPr>
        <p:txBody>
          <a:bodyPr lIns="0" tIns="0" rIns="0" bIns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75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Arial" panose="020B0604020202020204" pitchFamily="34" charset="0"/>
            </a:endParaRPr>
          </a:p>
        </p:txBody>
      </p:sp>
      <p:sp>
        <p:nvSpPr>
          <p:cNvPr id="31" name="MH_Title_1"/>
          <p:cNvSpPr/>
          <p:nvPr>
            <p:custDataLst>
              <p:tags r:id="rId21"/>
            </p:custDataLst>
          </p:nvPr>
        </p:nvSpPr>
        <p:spPr>
          <a:xfrm>
            <a:off x="5032534" y="1999774"/>
            <a:ext cx="680561" cy="605790"/>
          </a:xfrm>
          <a:prstGeom prst="ellipse">
            <a:avLst/>
          </a:prstGeom>
          <a:solidFill>
            <a:srgbClr val="0070C0"/>
          </a:solidFill>
          <a:ln w="38100" cap="flat" cmpd="sng" algn="ctr">
            <a:noFill/>
            <a:prstDash val="solid"/>
          </a:ln>
          <a:effectLst/>
        </p:spPr>
        <p:txBody>
          <a:bodyPr lIns="0" tIns="0" rIns="0" bIns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需求导向</a:t>
            </a:r>
          </a:p>
        </p:txBody>
      </p:sp>
      <p:sp>
        <p:nvSpPr>
          <p:cNvPr id="33" name="MH_SubTitle_1"/>
          <p:cNvSpPr/>
          <p:nvPr>
            <p:custDataLst>
              <p:tags r:id="rId22"/>
            </p:custDataLst>
          </p:nvPr>
        </p:nvSpPr>
        <p:spPr>
          <a:xfrm>
            <a:off x="6128861" y="1115854"/>
            <a:ext cx="563880" cy="526256"/>
          </a:xfrm>
          <a:prstGeom prst="ellipse">
            <a:avLst/>
          </a:prstGeom>
          <a:solidFill>
            <a:srgbClr val="0070C0"/>
          </a:solidFill>
          <a:ln w="25400" cap="flat" cmpd="sng" algn="ctr">
            <a:solidFill>
              <a:srgbClr val="FFFFFF"/>
            </a:solidFill>
            <a:prstDash val="solid"/>
          </a:ln>
          <a:effectLst/>
        </p:spPr>
        <p:txBody>
          <a:bodyPr lIns="0" tIns="0" rIns="0" bIns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需求场景挖掘</a:t>
            </a:r>
          </a:p>
        </p:txBody>
      </p:sp>
      <p:sp>
        <p:nvSpPr>
          <p:cNvPr id="34" name="MH_SubTitle_5"/>
          <p:cNvSpPr/>
          <p:nvPr>
            <p:custDataLst>
              <p:tags r:id="rId23"/>
            </p:custDataLst>
          </p:nvPr>
        </p:nvSpPr>
        <p:spPr>
          <a:xfrm>
            <a:off x="6041231" y="2916079"/>
            <a:ext cx="565309" cy="526256"/>
          </a:xfrm>
          <a:prstGeom prst="ellipse">
            <a:avLst/>
          </a:prstGeom>
          <a:solidFill>
            <a:srgbClr val="0070C0"/>
          </a:solidFill>
          <a:ln w="25400" cap="flat" cmpd="sng" algn="ctr">
            <a:solidFill>
              <a:srgbClr val="FFFFFF"/>
            </a:solidFill>
            <a:prstDash val="solid"/>
          </a:ln>
          <a:effectLst/>
        </p:spPr>
        <p:txBody>
          <a:bodyPr lIns="0" tIns="0" rIns="0" bIns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产业化应用</a:t>
            </a:r>
          </a:p>
        </p:txBody>
      </p:sp>
      <p:sp>
        <p:nvSpPr>
          <p:cNvPr id="88" name="MH_Text_2"/>
          <p:cNvSpPr txBox="1"/>
          <p:nvPr>
            <p:custDataLst>
              <p:tags r:id="rId24"/>
            </p:custDataLst>
          </p:nvPr>
        </p:nvSpPr>
        <p:spPr>
          <a:xfrm>
            <a:off x="5902643" y="1572578"/>
            <a:ext cx="1079183" cy="271939"/>
          </a:xfrm>
          <a:prstGeom prst="rect">
            <a:avLst/>
          </a:prstGeom>
          <a:noFill/>
        </p:spPr>
        <p:txBody>
          <a:bodyPr lIns="0" tIns="0" rIns="0" bIns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75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Arial" panose="020B0604020202020204" pitchFamily="34" charset="0"/>
              </a:rPr>
              <a:t>产业摸底／需求挖掘</a:t>
            </a:r>
          </a:p>
        </p:txBody>
      </p:sp>
      <p:sp>
        <p:nvSpPr>
          <p:cNvPr id="89" name="MH_Text_2"/>
          <p:cNvSpPr txBox="1"/>
          <p:nvPr>
            <p:custDataLst>
              <p:tags r:id="rId25"/>
            </p:custDataLst>
          </p:nvPr>
        </p:nvSpPr>
        <p:spPr>
          <a:xfrm>
            <a:off x="5787390" y="2690336"/>
            <a:ext cx="1079183" cy="271939"/>
          </a:xfrm>
          <a:prstGeom prst="rect">
            <a:avLst/>
          </a:prstGeom>
          <a:noFill/>
        </p:spPr>
        <p:txBody>
          <a:bodyPr lIns="0" tIns="0" rIns="0" bIns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75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Arial" panose="020B0604020202020204" pitchFamily="34" charset="0"/>
              </a:rPr>
              <a:t>园区载体</a:t>
            </a:r>
          </a:p>
        </p:txBody>
      </p:sp>
      <p:sp>
        <p:nvSpPr>
          <p:cNvPr id="32" name="MH_SubTitle_3"/>
          <p:cNvSpPr/>
          <p:nvPr>
            <p:custDataLst>
              <p:tags r:id="rId26"/>
            </p:custDataLst>
          </p:nvPr>
        </p:nvSpPr>
        <p:spPr>
          <a:xfrm>
            <a:off x="7049929" y="1989773"/>
            <a:ext cx="565309" cy="526256"/>
          </a:xfrm>
          <a:prstGeom prst="ellipse">
            <a:avLst/>
          </a:prstGeom>
          <a:solidFill>
            <a:srgbClr val="0070C0"/>
          </a:solidFill>
          <a:ln w="25400" cap="flat" cmpd="sng" algn="ctr">
            <a:solidFill>
              <a:srgbClr val="FFFFFF"/>
            </a:solidFill>
            <a:prstDash val="solid"/>
          </a:ln>
          <a:effectLst/>
        </p:spPr>
        <p:txBody>
          <a:bodyPr lIns="0" tIns="0" rIns="0" bIns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供需匹配</a:t>
            </a:r>
          </a:p>
        </p:txBody>
      </p:sp>
      <p:sp>
        <p:nvSpPr>
          <p:cNvPr id="94" name="矩形: 圆角 60"/>
          <p:cNvSpPr/>
          <p:nvPr>
            <p:custDataLst>
              <p:tags r:id="rId27"/>
            </p:custDataLst>
          </p:nvPr>
        </p:nvSpPr>
        <p:spPr>
          <a:xfrm>
            <a:off x="553879" y="4184809"/>
            <a:ext cx="1847850" cy="293846"/>
          </a:xfrm>
          <a:prstGeom prst="roundRect">
            <a:avLst/>
          </a:prstGeom>
          <a:gradFill>
            <a:gsLst>
              <a:gs pos="50000">
                <a:schemeClr val="accent3"/>
              </a:gs>
              <a:gs pos="0">
                <a:schemeClr val="accent3">
                  <a:lumMod val="25000"/>
                  <a:lumOff val="75000"/>
                </a:schemeClr>
              </a:gs>
              <a:gs pos="100000">
                <a:schemeClr val="accent3">
                  <a:lumMod val="85000"/>
                </a:schemeClr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vert="horz" wrap="square" numCol="1" spcCol="0" rtlCol="0" fromWordArt="0" anchor="ctr" anchorCtr="0" forceAA="0" compatLnSpc="0">
            <a:noAutofit/>
          </a:bodyPr>
          <a:lstStyle/>
          <a:p>
            <a:pPr algn="ctr"/>
            <a:r>
              <a:rPr lang="zh-CN" altLang="en-US" sz="1200" b="1" kern="0" dirty="0">
                <a:solidFill>
                  <a:prstClr val="white"/>
                </a:solidFill>
                <a:latin typeface="微软雅黑" charset="0"/>
                <a:ea typeface="微软雅黑" charset="0"/>
                <a:sym typeface="+mn-ea"/>
              </a:rPr>
              <a:t>搭平台</a:t>
            </a:r>
          </a:p>
        </p:txBody>
      </p:sp>
      <p:sp>
        <p:nvSpPr>
          <p:cNvPr id="95" name="矩形: 圆角 60"/>
          <p:cNvSpPr/>
          <p:nvPr>
            <p:custDataLst>
              <p:tags r:id="rId28"/>
            </p:custDataLst>
          </p:nvPr>
        </p:nvSpPr>
        <p:spPr>
          <a:xfrm>
            <a:off x="2567940" y="4184809"/>
            <a:ext cx="1847850" cy="293846"/>
          </a:xfrm>
          <a:prstGeom prst="roundRect">
            <a:avLst/>
          </a:prstGeom>
          <a:gradFill>
            <a:gsLst>
              <a:gs pos="50000">
                <a:schemeClr val="accent3"/>
              </a:gs>
              <a:gs pos="0">
                <a:schemeClr val="accent3">
                  <a:lumMod val="25000"/>
                  <a:lumOff val="75000"/>
                </a:schemeClr>
              </a:gs>
              <a:gs pos="100000">
                <a:schemeClr val="accent3">
                  <a:lumMod val="85000"/>
                </a:schemeClr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vert="horz" wrap="square" numCol="1" spcCol="0" rtlCol="0" fromWordArt="0" anchor="ctr" anchorCtr="0" forceAA="0" compatLnSpc="0">
            <a:noAutofit/>
          </a:bodyPr>
          <a:lstStyle/>
          <a:p>
            <a:pPr algn="ctr"/>
            <a:r>
              <a:rPr lang="zh-CN" altLang="en-US" sz="1200" b="1" kern="0" dirty="0">
                <a:solidFill>
                  <a:prstClr val="white"/>
                </a:solidFill>
                <a:latin typeface="微软雅黑" charset="0"/>
                <a:ea typeface="微软雅黑" charset="0"/>
                <a:sym typeface="+mn-ea"/>
              </a:rPr>
              <a:t>聚资源</a:t>
            </a:r>
          </a:p>
        </p:txBody>
      </p:sp>
      <p:sp>
        <p:nvSpPr>
          <p:cNvPr id="96" name="矩形: 圆角 60"/>
          <p:cNvSpPr/>
          <p:nvPr>
            <p:custDataLst>
              <p:tags r:id="rId29"/>
            </p:custDataLst>
          </p:nvPr>
        </p:nvSpPr>
        <p:spPr>
          <a:xfrm>
            <a:off x="4587240" y="4184809"/>
            <a:ext cx="1847850" cy="293846"/>
          </a:xfrm>
          <a:prstGeom prst="roundRect">
            <a:avLst/>
          </a:prstGeom>
          <a:gradFill>
            <a:gsLst>
              <a:gs pos="50000">
                <a:schemeClr val="accent3"/>
              </a:gs>
              <a:gs pos="0">
                <a:schemeClr val="accent3">
                  <a:lumMod val="25000"/>
                  <a:lumOff val="75000"/>
                </a:schemeClr>
              </a:gs>
              <a:gs pos="100000">
                <a:schemeClr val="accent3">
                  <a:lumMod val="85000"/>
                </a:schemeClr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vert="horz" wrap="square" numCol="1" spcCol="0" rtlCol="0" fromWordArt="0" anchor="ctr" anchorCtr="0" forceAA="0" compatLnSpc="0">
            <a:noAutofit/>
          </a:bodyPr>
          <a:lstStyle/>
          <a:p>
            <a:pPr algn="ctr"/>
            <a:r>
              <a:rPr lang="zh-CN" altLang="en-US" sz="1200" b="1" kern="0" dirty="0">
                <a:solidFill>
                  <a:prstClr val="white"/>
                </a:solidFill>
                <a:latin typeface="微软雅黑" charset="0"/>
                <a:ea typeface="微软雅黑" charset="0"/>
                <a:sym typeface="+mn-ea"/>
              </a:rPr>
              <a:t>做活动</a:t>
            </a:r>
          </a:p>
        </p:txBody>
      </p:sp>
      <p:sp>
        <p:nvSpPr>
          <p:cNvPr id="97" name="矩形: 圆角 60"/>
          <p:cNvSpPr/>
          <p:nvPr>
            <p:custDataLst>
              <p:tags r:id="rId30"/>
            </p:custDataLst>
          </p:nvPr>
        </p:nvSpPr>
        <p:spPr>
          <a:xfrm>
            <a:off x="6552724" y="4184809"/>
            <a:ext cx="1725454" cy="293846"/>
          </a:xfrm>
          <a:prstGeom prst="roundRect">
            <a:avLst/>
          </a:prstGeom>
          <a:gradFill>
            <a:gsLst>
              <a:gs pos="50000">
                <a:schemeClr val="accent3"/>
              </a:gs>
              <a:gs pos="0">
                <a:schemeClr val="accent3">
                  <a:lumMod val="25000"/>
                  <a:lumOff val="75000"/>
                </a:schemeClr>
              </a:gs>
              <a:gs pos="100000">
                <a:schemeClr val="accent3">
                  <a:lumMod val="85000"/>
                </a:schemeClr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vert="horz" wrap="square" numCol="1" spcCol="0" rtlCol="0" fromWordArt="0" anchor="ctr" anchorCtr="0" forceAA="0" compatLnSpc="0">
            <a:noAutofit/>
          </a:bodyPr>
          <a:lstStyle/>
          <a:p>
            <a:pPr algn="ctr"/>
            <a:r>
              <a:rPr lang="zh-CN" altLang="en-US" sz="1200" b="1" kern="0" dirty="0">
                <a:solidFill>
                  <a:prstClr val="white"/>
                </a:solidFill>
                <a:latin typeface="微软雅黑" charset="0"/>
                <a:ea typeface="微软雅黑" charset="0"/>
                <a:sym typeface="+mn-ea"/>
              </a:rPr>
              <a:t>优服务</a:t>
            </a:r>
          </a:p>
        </p:txBody>
      </p:sp>
      <p:sp>
        <p:nvSpPr>
          <p:cNvPr id="98" name="圆角矩形 97"/>
          <p:cNvSpPr/>
          <p:nvPr/>
        </p:nvSpPr>
        <p:spPr>
          <a:xfrm>
            <a:off x="554355" y="3722846"/>
            <a:ext cx="7723823" cy="328972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endParaRPr lang="zh-CN" altLang="en-US" sz="1350" dirty="0" smtClean="0"/>
          </a:p>
        </p:txBody>
      </p:sp>
      <p:sp>
        <p:nvSpPr>
          <p:cNvPr id="99" name="MH_Text_2"/>
          <p:cNvSpPr txBox="1"/>
          <p:nvPr>
            <p:custDataLst>
              <p:tags r:id="rId31"/>
            </p:custDataLst>
          </p:nvPr>
        </p:nvSpPr>
        <p:spPr>
          <a:xfrm>
            <a:off x="628650" y="3729514"/>
            <a:ext cx="680561" cy="271939"/>
          </a:xfrm>
          <a:prstGeom prst="rect">
            <a:avLst/>
          </a:prstGeom>
          <a:noFill/>
        </p:spPr>
        <p:txBody>
          <a:bodyPr lIns="0" tIns="0" rIns="0" bIns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9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Arial" panose="020B0604020202020204" pitchFamily="34" charset="0"/>
              </a:rPr>
              <a:t>运营组织</a:t>
            </a:r>
          </a:p>
        </p:txBody>
      </p:sp>
      <p:pic>
        <p:nvPicPr>
          <p:cNvPr id="100" name="picture 56"/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 rot="16200000">
            <a:off x="2258736" y="2927510"/>
            <a:ext cx="191810" cy="1398746"/>
          </a:xfrm>
          <a:prstGeom prst="rect">
            <a:avLst/>
          </a:prstGeom>
        </p:spPr>
      </p:pic>
      <p:pic>
        <p:nvPicPr>
          <p:cNvPr id="101" name="picture 56"/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 rot="16200000">
            <a:off x="6292097" y="2927510"/>
            <a:ext cx="191810" cy="1398746"/>
          </a:xfrm>
          <a:prstGeom prst="rect">
            <a:avLst/>
          </a:prstGeom>
        </p:spPr>
      </p:pic>
      <p:pic>
        <p:nvPicPr>
          <p:cNvPr id="102" name="picture 56"/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 rot="5400000">
            <a:off x="4312444" y="3875246"/>
            <a:ext cx="191929" cy="1398746"/>
          </a:xfrm>
          <a:prstGeom prst="rect">
            <a:avLst/>
          </a:prstGeom>
        </p:spPr>
      </p:pic>
      <p:sp>
        <p:nvSpPr>
          <p:cNvPr id="103" name="圆角矩形 102"/>
          <p:cNvSpPr/>
          <p:nvPr/>
        </p:nvSpPr>
        <p:spPr>
          <a:xfrm>
            <a:off x="1570196" y="3754279"/>
            <a:ext cx="1608773" cy="252234"/>
          </a:xfrm>
          <a:prstGeom prst="roundRect">
            <a:avLst/>
          </a:prstGeom>
          <a:gradFill>
            <a:gsLst>
              <a:gs pos="27000">
                <a:schemeClr val="accent1">
                  <a:lumMod val="20000"/>
                  <a:lumOff val="80000"/>
                </a:schemeClr>
              </a:gs>
              <a:gs pos="0">
                <a:schemeClr val="accent3">
                  <a:lumMod val="25000"/>
                  <a:lumOff val="75000"/>
                </a:schemeClr>
              </a:gs>
              <a:gs pos="100000">
                <a:schemeClr val="accent3">
                  <a:lumMod val="85000"/>
                </a:schemeClr>
              </a:gs>
            </a:gsLst>
            <a:lin ang="5400000" scaled="0"/>
          </a:gradFill>
          <a:ln w="12700" cmpd="sng">
            <a:noFill/>
            <a:prstDash val="solid"/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900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山东省工业技术研究院牵头</a:t>
            </a:r>
          </a:p>
        </p:txBody>
      </p:sp>
      <p:sp>
        <p:nvSpPr>
          <p:cNvPr id="104" name="圆角矩形 103"/>
          <p:cNvSpPr/>
          <p:nvPr/>
        </p:nvSpPr>
        <p:spPr>
          <a:xfrm>
            <a:off x="3336925" y="3754120"/>
            <a:ext cx="1064895" cy="254738"/>
          </a:xfrm>
          <a:prstGeom prst="roundRect">
            <a:avLst/>
          </a:prstGeom>
          <a:gradFill>
            <a:gsLst>
              <a:gs pos="27000">
                <a:schemeClr val="accent1">
                  <a:lumMod val="20000"/>
                  <a:lumOff val="80000"/>
                </a:schemeClr>
              </a:gs>
              <a:gs pos="0">
                <a:schemeClr val="accent3">
                  <a:lumMod val="25000"/>
                  <a:lumOff val="75000"/>
                </a:schemeClr>
              </a:gs>
              <a:gs pos="100000">
                <a:schemeClr val="accent3">
                  <a:lumMod val="85000"/>
                </a:schemeClr>
              </a:gs>
            </a:gsLst>
            <a:lin ang="5400000" scaled="0"/>
          </a:gradFill>
          <a:ln w="12700" cmpd="sng">
            <a:noFill/>
            <a:prstDash val="solid"/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900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国嬴产权公司</a:t>
            </a:r>
          </a:p>
        </p:txBody>
      </p:sp>
      <p:sp>
        <p:nvSpPr>
          <p:cNvPr id="108" name="圆角矩形 107"/>
          <p:cNvSpPr/>
          <p:nvPr/>
        </p:nvSpPr>
        <p:spPr>
          <a:xfrm>
            <a:off x="4578985" y="3759994"/>
            <a:ext cx="917734" cy="252233"/>
          </a:xfrm>
          <a:prstGeom prst="roundRect">
            <a:avLst/>
          </a:prstGeom>
          <a:gradFill>
            <a:gsLst>
              <a:gs pos="27000">
                <a:schemeClr val="accent1">
                  <a:lumMod val="20000"/>
                  <a:lumOff val="80000"/>
                </a:schemeClr>
              </a:gs>
              <a:gs pos="0">
                <a:schemeClr val="accent3">
                  <a:lumMod val="25000"/>
                  <a:lumOff val="75000"/>
                </a:schemeClr>
              </a:gs>
              <a:gs pos="100000">
                <a:schemeClr val="accent3">
                  <a:lumMod val="85000"/>
                </a:schemeClr>
              </a:gs>
            </a:gsLst>
            <a:lin ang="5400000" scaled="0"/>
          </a:gradFill>
          <a:ln w="12700" cmpd="sng">
            <a:noFill/>
            <a:prstDash val="solid"/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900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檬豆科技</a:t>
            </a:r>
          </a:p>
        </p:txBody>
      </p:sp>
      <p:sp>
        <p:nvSpPr>
          <p:cNvPr id="109" name="圆角矩形 108"/>
          <p:cNvSpPr/>
          <p:nvPr/>
        </p:nvSpPr>
        <p:spPr>
          <a:xfrm>
            <a:off x="5668645" y="3754279"/>
            <a:ext cx="917734" cy="252234"/>
          </a:xfrm>
          <a:prstGeom prst="roundRect">
            <a:avLst/>
          </a:prstGeom>
          <a:gradFill>
            <a:gsLst>
              <a:gs pos="27000">
                <a:schemeClr val="accent1">
                  <a:lumMod val="20000"/>
                  <a:lumOff val="80000"/>
                </a:schemeClr>
              </a:gs>
              <a:gs pos="0">
                <a:schemeClr val="accent3">
                  <a:lumMod val="25000"/>
                  <a:lumOff val="75000"/>
                </a:schemeClr>
              </a:gs>
              <a:gs pos="100000">
                <a:schemeClr val="accent3">
                  <a:lumMod val="85000"/>
                </a:schemeClr>
              </a:gs>
            </a:gsLst>
            <a:lin ang="5400000" scaled="0"/>
          </a:gradFill>
          <a:ln w="12700" cmpd="sng">
            <a:noFill/>
            <a:prstDash val="solid"/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900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博士科技</a:t>
            </a:r>
          </a:p>
        </p:txBody>
      </p:sp>
      <p:sp>
        <p:nvSpPr>
          <p:cNvPr id="110" name="圆角矩形 109"/>
          <p:cNvSpPr/>
          <p:nvPr/>
        </p:nvSpPr>
        <p:spPr>
          <a:xfrm>
            <a:off x="6767354" y="3759994"/>
            <a:ext cx="917734" cy="252233"/>
          </a:xfrm>
          <a:prstGeom prst="roundRect">
            <a:avLst/>
          </a:prstGeom>
          <a:gradFill>
            <a:gsLst>
              <a:gs pos="27000">
                <a:schemeClr val="accent1">
                  <a:lumMod val="20000"/>
                  <a:lumOff val="80000"/>
                </a:schemeClr>
              </a:gs>
              <a:gs pos="0">
                <a:schemeClr val="accent3">
                  <a:lumMod val="25000"/>
                  <a:lumOff val="75000"/>
                </a:schemeClr>
              </a:gs>
              <a:gs pos="100000">
                <a:schemeClr val="accent3">
                  <a:lumMod val="85000"/>
                </a:schemeClr>
              </a:gs>
            </a:gsLst>
            <a:lin ang="5400000" scaled="0"/>
          </a:gradFill>
          <a:ln w="12700" cmpd="sng">
            <a:noFill/>
            <a:prstDash val="solid"/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900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科融信平台</a:t>
            </a:r>
          </a:p>
        </p:txBody>
      </p:sp>
      <p:sp>
        <p:nvSpPr>
          <p:cNvPr id="111" name="文本框 110"/>
          <p:cNvSpPr txBox="1"/>
          <p:nvPr/>
        </p:nvSpPr>
        <p:spPr>
          <a:xfrm>
            <a:off x="494824" y="4476750"/>
            <a:ext cx="2116455" cy="58293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42862" tIns="42862" rIns="42862" bIns="42862" numCol="1" spcCol="1270" anchor="t" anchorCtr="0" forceAA="0">
            <a:spAutoFit/>
          </a:bodyPr>
          <a:lstStyle/>
          <a:p>
            <a:pPr marL="171450" indent="-171450" defTabSz="685800">
              <a:lnSpc>
                <a:spcPct val="120000"/>
              </a:lnSpc>
              <a:buClr>
                <a:srgbClr val="454545"/>
              </a:buClr>
              <a:buFont typeface="Wingdings" panose="05000000000000000000" charset="0"/>
              <a:buChar char=""/>
            </a:pPr>
            <a:r>
              <a:rPr lang="zh-CN" altLang="en-US" sz="90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国创中心，布局颠覆性技术</a:t>
            </a:r>
          </a:p>
          <a:p>
            <a:pPr marL="171450" indent="-171450" defTabSz="685800">
              <a:lnSpc>
                <a:spcPct val="120000"/>
              </a:lnSpc>
              <a:buClr>
                <a:srgbClr val="454545"/>
              </a:buClr>
              <a:buFont typeface="Wingdings" panose="05000000000000000000" charset="0"/>
              <a:buChar char=""/>
            </a:pPr>
            <a:r>
              <a:rPr lang="zh-CN" altLang="en-US" sz="90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概念验证中心，赋能早期成果</a:t>
            </a:r>
          </a:p>
          <a:p>
            <a:pPr marL="171450" indent="-171450" defTabSz="685800">
              <a:lnSpc>
                <a:spcPct val="120000"/>
              </a:lnSpc>
              <a:buClr>
                <a:srgbClr val="454545"/>
              </a:buClr>
              <a:buFont typeface="Wingdings" panose="05000000000000000000" charset="0"/>
              <a:buChar char=""/>
            </a:pPr>
            <a:r>
              <a:rPr lang="zh-CN" altLang="en-US" sz="90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科教融通中心，链接高校资源</a:t>
            </a:r>
            <a:endParaRPr lang="zh-CN" altLang="en-US" sz="900" dirty="0" smtClean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  <a:sym typeface="+mn-ea"/>
            </a:endParaRPr>
          </a:p>
        </p:txBody>
      </p:sp>
      <p:sp>
        <p:nvSpPr>
          <p:cNvPr id="113" name="文本框 112"/>
          <p:cNvSpPr txBox="1"/>
          <p:nvPr/>
        </p:nvSpPr>
        <p:spPr>
          <a:xfrm>
            <a:off x="2462530" y="4476909"/>
            <a:ext cx="2116455" cy="7493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42862" tIns="42862" rIns="42862" bIns="42862" numCol="1" spcCol="1270" anchor="t" anchorCtr="0" forceAA="0">
            <a:spAutoFit/>
          </a:bodyPr>
          <a:lstStyle/>
          <a:p>
            <a:pPr marL="171450" indent="-171450" defTabSz="685800">
              <a:lnSpc>
                <a:spcPct val="120000"/>
              </a:lnSpc>
              <a:buClr>
                <a:srgbClr val="454545"/>
              </a:buClr>
              <a:buFont typeface="Wingdings" panose="05000000000000000000" charset="0"/>
              <a:buChar char=""/>
            </a:pPr>
            <a:r>
              <a:rPr lang="zh-CN" altLang="en-US" sz="90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依托线上平台推进省市联动</a:t>
            </a:r>
          </a:p>
          <a:p>
            <a:pPr marL="171450" indent="-171450" defTabSz="685800">
              <a:lnSpc>
                <a:spcPct val="120000"/>
              </a:lnSpc>
              <a:buClr>
                <a:srgbClr val="454545"/>
              </a:buClr>
              <a:buFont typeface="Wingdings" panose="05000000000000000000" charset="0"/>
              <a:buChar char=""/>
            </a:pPr>
            <a:r>
              <a:rPr lang="zh-CN" altLang="en-US" sz="900" dirty="0">
                <a:solidFill>
                  <a:srgbClr val="000000"/>
                </a:solidFill>
                <a:latin typeface="微软雅黑" charset="0"/>
                <a:cs typeface="微软雅黑" pitchFamily="34" charset="-122"/>
                <a:sym typeface="+mn-ea"/>
              </a:rPr>
              <a:t>建立多元营销与内容传播，扩大影响</a:t>
            </a:r>
            <a:endParaRPr lang="zh-CN" altLang="en-US" sz="90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  <a:sym typeface="+mn-ea"/>
            </a:endParaRPr>
          </a:p>
          <a:p>
            <a:pPr marL="171450" indent="-171450" defTabSz="685800">
              <a:lnSpc>
                <a:spcPct val="120000"/>
              </a:lnSpc>
              <a:buClr>
                <a:srgbClr val="454545"/>
              </a:buClr>
              <a:buFont typeface="Wingdings" panose="05000000000000000000" charset="0"/>
              <a:buChar char=""/>
            </a:pPr>
            <a:r>
              <a:rPr lang="zh-CN" altLang="en-US" sz="900" dirty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开展专业分市场建设，拓宽资源渠道</a:t>
            </a:r>
          </a:p>
          <a:p>
            <a:pPr marL="171450" indent="-171450" defTabSz="685800">
              <a:lnSpc>
                <a:spcPct val="120000"/>
              </a:lnSpc>
              <a:buClr>
                <a:srgbClr val="454545"/>
              </a:buClr>
              <a:buFont typeface="Wingdings" panose="05000000000000000000" charset="0"/>
              <a:buChar char=""/>
            </a:pPr>
            <a:endParaRPr lang="zh-CN" altLang="en-US" sz="900" dirty="0" smtClean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  <a:sym typeface="+mn-ea"/>
            </a:endParaRPr>
          </a:p>
        </p:txBody>
      </p:sp>
      <p:sp>
        <p:nvSpPr>
          <p:cNvPr id="114" name="文本框 113"/>
          <p:cNvSpPr txBox="1"/>
          <p:nvPr/>
        </p:nvSpPr>
        <p:spPr>
          <a:xfrm>
            <a:off x="4566285" y="4493419"/>
            <a:ext cx="2116455" cy="7493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42862" tIns="42862" rIns="42862" bIns="42862" numCol="1" spcCol="1270" anchor="t" anchorCtr="0" forceAA="0">
            <a:spAutoFit/>
          </a:bodyPr>
          <a:lstStyle/>
          <a:p>
            <a:pPr marL="171450" indent="-171450" algn="l" defTabSz="685800">
              <a:lnSpc>
                <a:spcPct val="120000"/>
              </a:lnSpc>
              <a:buClr>
                <a:srgbClr val="454545"/>
              </a:buClr>
              <a:buSzTx/>
              <a:buFont typeface="Wingdings" panose="05000000000000000000" charset="0"/>
              <a:buChar char=""/>
            </a:pPr>
            <a:r>
              <a:rPr lang="zh-CN" altLang="en-US" sz="900" dirty="0">
                <a:solidFill>
                  <a:srgbClr val="000000"/>
                </a:solidFill>
                <a:latin typeface="微软雅黑" charset="0"/>
                <a:cs typeface="微软雅黑" pitchFamily="34" charset="-122"/>
                <a:sym typeface="+mn-ea"/>
              </a:rPr>
              <a:t>省内活动常态化、线上线下一体化</a:t>
            </a:r>
            <a:endParaRPr lang="zh-CN" altLang="en-US" sz="900" dirty="0">
              <a:solidFill>
                <a:srgbClr val="000000"/>
              </a:solidFill>
              <a:latin typeface="微软雅黑" charset="0"/>
              <a:cs typeface="微软雅黑" pitchFamily="34" charset="-122"/>
            </a:endParaRPr>
          </a:p>
          <a:p>
            <a:pPr marL="171450" indent="-171450" algn="l" defTabSz="685800">
              <a:lnSpc>
                <a:spcPct val="120000"/>
              </a:lnSpc>
              <a:buClr>
                <a:srgbClr val="454545"/>
              </a:buClr>
              <a:buSzTx/>
              <a:buFont typeface="Wingdings" panose="05000000000000000000" charset="0"/>
              <a:buChar char=""/>
            </a:pPr>
            <a:r>
              <a:rPr lang="zh-CN" altLang="en-US" sz="900" dirty="0">
                <a:solidFill>
                  <a:srgbClr val="000000"/>
                </a:solidFill>
                <a:latin typeface="微软雅黑" charset="0"/>
                <a:cs typeface="微软雅黑" pitchFamily="34" charset="-122"/>
                <a:sym typeface="+mn-ea"/>
              </a:rPr>
              <a:t>省外活动精准化、多元化引智</a:t>
            </a:r>
            <a:endParaRPr lang="zh-CN" altLang="en-US" sz="900" dirty="0">
              <a:solidFill>
                <a:srgbClr val="000000"/>
              </a:solidFill>
              <a:latin typeface="微软雅黑" charset="0"/>
              <a:cs typeface="微软雅黑" pitchFamily="34" charset="-122"/>
            </a:endParaRPr>
          </a:p>
          <a:p>
            <a:pPr marL="171450" indent="-171450" algn="l" defTabSz="685800">
              <a:lnSpc>
                <a:spcPct val="120000"/>
              </a:lnSpc>
              <a:buClr>
                <a:srgbClr val="454545"/>
              </a:buClr>
              <a:buSzTx/>
              <a:buFont typeface="Wingdings" panose="05000000000000000000" charset="0"/>
              <a:buChar char=""/>
            </a:pPr>
            <a:r>
              <a:rPr lang="zh-CN" altLang="en-US" sz="900" dirty="0">
                <a:solidFill>
                  <a:srgbClr val="000000"/>
                </a:solidFill>
                <a:latin typeface="微软雅黑" charset="0"/>
                <a:cs typeface="微软雅黑" pitchFamily="34" charset="-122"/>
              </a:rPr>
              <a:t>品牌活动高端化、搞大会树影响</a:t>
            </a:r>
          </a:p>
          <a:p>
            <a:pPr marL="171450" indent="-171450" defTabSz="685800">
              <a:lnSpc>
                <a:spcPct val="120000"/>
              </a:lnSpc>
              <a:buClr>
                <a:srgbClr val="454545"/>
              </a:buClr>
              <a:buFont typeface="Wingdings" panose="05000000000000000000" charset="0"/>
              <a:buChar char=""/>
            </a:pPr>
            <a:endParaRPr lang="zh-CN" altLang="en-US" sz="900" dirty="0" smtClean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  <a:sym typeface="+mn-ea"/>
            </a:endParaRPr>
          </a:p>
        </p:txBody>
      </p:sp>
      <p:sp>
        <p:nvSpPr>
          <p:cNvPr id="115" name="文本框 114"/>
          <p:cNvSpPr txBox="1"/>
          <p:nvPr/>
        </p:nvSpPr>
        <p:spPr>
          <a:xfrm>
            <a:off x="6531769" y="4426744"/>
            <a:ext cx="2116455" cy="7493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42862" tIns="42862" rIns="42862" bIns="42862" numCol="1" spcCol="1270" anchor="t" anchorCtr="0" forceAA="0">
            <a:spAutoFit/>
          </a:bodyPr>
          <a:lstStyle/>
          <a:p>
            <a:pPr marL="171450" indent="-171450" defTabSz="685800">
              <a:lnSpc>
                <a:spcPct val="120000"/>
              </a:lnSpc>
              <a:buClr>
                <a:srgbClr val="454545"/>
              </a:buClr>
              <a:buFont typeface="Wingdings" panose="05000000000000000000" charset="0"/>
              <a:buChar char=""/>
            </a:pPr>
            <a:r>
              <a:rPr lang="zh-CN" altLang="en-US" sz="900" dirty="0">
                <a:solidFill>
                  <a:srgbClr val="000000"/>
                </a:solidFill>
                <a:latin typeface="微软雅黑" charset="0"/>
                <a:cs typeface="微软雅黑" pitchFamily="34" charset="-122"/>
                <a:sym typeface="+mn-ea"/>
              </a:rPr>
              <a:t>深入挖掘重大需求场景</a:t>
            </a:r>
          </a:p>
          <a:p>
            <a:pPr marL="171450" indent="-171450" defTabSz="685800">
              <a:lnSpc>
                <a:spcPct val="120000"/>
              </a:lnSpc>
              <a:buClr>
                <a:srgbClr val="454545"/>
              </a:buClr>
              <a:buFont typeface="Wingdings" panose="05000000000000000000" charset="0"/>
              <a:buChar char=""/>
            </a:pPr>
            <a:r>
              <a:rPr lang="zh-CN" altLang="en-US" sz="900" dirty="0">
                <a:solidFill>
                  <a:srgbClr val="000000"/>
                </a:solidFill>
                <a:latin typeface="微软雅黑" charset="0"/>
                <a:cs typeface="微软雅黑" pitchFamily="34" charset="-122"/>
                <a:sym typeface="+mn-ea"/>
              </a:rPr>
              <a:t>全流程需求及项目跟踪</a:t>
            </a:r>
            <a:endParaRPr lang="zh-CN" altLang="en-US" sz="90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  <a:sym typeface="+mn-ea"/>
            </a:endParaRPr>
          </a:p>
          <a:p>
            <a:pPr marL="171450" indent="-171450" defTabSz="685800">
              <a:lnSpc>
                <a:spcPct val="120000"/>
              </a:lnSpc>
              <a:buClr>
                <a:srgbClr val="454545"/>
              </a:buClr>
              <a:buFont typeface="Wingdings" panose="05000000000000000000" charset="0"/>
              <a:buChar char=""/>
            </a:pPr>
            <a:r>
              <a:rPr lang="zh-CN" altLang="en-US" sz="900" kern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Arial" panose="020B0604020202020204" pitchFamily="34" charset="0"/>
                <a:sym typeface="+mn-ea"/>
              </a:rPr>
              <a:t>推动服务联盟与服务众包</a:t>
            </a:r>
            <a:endParaRPr lang="zh-CN" altLang="en-US" sz="900" dirty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  <a:sym typeface="+mn-ea"/>
            </a:endParaRPr>
          </a:p>
          <a:p>
            <a:pPr marL="171450" indent="-171450" defTabSz="685800">
              <a:lnSpc>
                <a:spcPct val="120000"/>
              </a:lnSpc>
              <a:buClr>
                <a:srgbClr val="454545"/>
              </a:buClr>
              <a:buFont typeface="Wingdings" panose="05000000000000000000" charset="0"/>
              <a:buChar char=""/>
            </a:pPr>
            <a:r>
              <a:rPr lang="zh-CN" altLang="en-US" sz="900" dirty="0">
                <a:solidFill>
                  <a:srgbClr val="000000"/>
                </a:solidFill>
                <a:latin typeface="微软雅黑" charset="0"/>
                <a:cs typeface="微软雅黑" pitchFamily="34" charset="-122"/>
                <a:sym typeface="+mn-ea"/>
              </a:rPr>
              <a:t>深化技术经纪人引育，建网</a:t>
            </a:r>
            <a:r>
              <a:rPr lang="en-US" altLang="zh-CN" sz="900" dirty="0">
                <a:solidFill>
                  <a:srgbClr val="000000"/>
                </a:solidFill>
                <a:latin typeface="微软雅黑" charset="0"/>
                <a:cs typeface="微软雅黑" pitchFamily="34" charset="-122"/>
                <a:sym typeface="+mn-ea"/>
              </a:rPr>
              <a:t>+</a:t>
            </a:r>
            <a:r>
              <a:rPr lang="zh-CN" altLang="en-US" sz="900" dirty="0">
                <a:solidFill>
                  <a:srgbClr val="000000"/>
                </a:solidFill>
                <a:latin typeface="微软雅黑" charset="0"/>
                <a:cs typeface="微软雅黑" pitchFamily="34" charset="-122"/>
                <a:sym typeface="+mn-ea"/>
              </a:rPr>
              <a:t>实训</a:t>
            </a:r>
          </a:p>
        </p:txBody>
      </p:sp>
      <p:cxnSp>
        <p:nvCxnSpPr>
          <p:cNvPr id="2" name="直接连接符 1"/>
          <p:cNvCxnSpPr>
            <a:stCxn id="103" idx="3"/>
            <a:endCxn id="104" idx="1"/>
          </p:cNvCxnSpPr>
          <p:nvPr/>
        </p:nvCxnSpPr>
        <p:spPr>
          <a:xfrm>
            <a:off x="3179445" y="3880485"/>
            <a:ext cx="157480" cy="127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标题 8"/>
          <p:cNvSpPr>
            <a:spLocks noGrp="1"/>
          </p:cNvSpPr>
          <p:nvPr/>
        </p:nvSpPr>
        <p:spPr>
          <a:xfrm>
            <a:off x="272891" y="190025"/>
            <a:ext cx="5718810" cy="322421"/>
          </a:xfrm>
          <a:prstGeom prst="rect">
            <a:avLst/>
          </a:prstGeom>
        </p:spPr>
        <p:txBody>
          <a:bodyPr lIns="68579" tIns="34289" rIns="68579" bIns="34289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1B1B1B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200" b="1" spc="225" dirty="0" smtClean="0">
                <a:solidFill>
                  <a:srgbClr val="066FBB"/>
                </a:solidFill>
                <a:latin typeface="微软雅黑" pitchFamily="34" charset="-122"/>
                <a:ea typeface="微软雅黑" pitchFamily="34" charset="-122"/>
                <a:cs typeface="+mj-ea"/>
                <a:sym typeface="+mn-ea"/>
              </a:rPr>
              <a:t>    </a:t>
            </a:r>
            <a:r>
              <a:rPr lang="zh-CN" altLang="en-US" sz="2200" b="1" spc="225" dirty="0" smtClean="0">
                <a:solidFill>
                  <a:srgbClr val="066FBB"/>
                </a:solidFill>
                <a:latin typeface="微软雅黑" pitchFamily="34" charset="-122"/>
                <a:ea typeface="微软雅黑" pitchFamily="34" charset="-122"/>
                <a:cs typeface="+mj-ea"/>
                <a:sym typeface="+mn-ea"/>
              </a:rPr>
              <a:t>山东科技大市场运营全景</a:t>
            </a:r>
            <a:endParaRPr lang="zh-CN" altLang="en-US" sz="2200" b="1" spc="225" dirty="0">
              <a:solidFill>
                <a:srgbClr val="066FBB"/>
              </a:solidFill>
              <a:latin typeface="微软雅黑" pitchFamily="34" charset="-122"/>
              <a:ea typeface="微软雅黑" pitchFamily="34" charset="-122"/>
              <a:cs typeface="+mj-ea"/>
              <a:sym typeface="+mn-ea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8"/>
          <p:cNvSpPr>
            <a:spLocks noGrp="1"/>
          </p:cNvSpPr>
          <p:nvPr/>
        </p:nvSpPr>
        <p:spPr>
          <a:xfrm>
            <a:off x="272891" y="190025"/>
            <a:ext cx="5718810" cy="322421"/>
          </a:xfrm>
          <a:prstGeom prst="rect">
            <a:avLst/>
          </a:prstGeom>
        </p:spPr>
        <p:txBody>
          <a:bodyPr lIns="68579" tIns="34289" rIns="68579" bIns="34289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1B1B1B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200" b="1" spc="225" dirty="0" smtClean="0">
                <a:solidFill>
                  <a:srgbClr val="066FBB"/>
                </a:solidFill>
                <a:latin typeface="微软雅黑" pitchFamily="34" charset="-122"/>
                <a:ea typeface="微软雅黑" pitchFamily="34" charset="-122"/>
                <a:cs typeface="+mj-ea"/>
                <a:sym typeface="+mn-ea"/>
              </a:rPr>
              <a:t>    </a:t>
            </a:r>
            <a:r>
              <a:rPr lang="zh-CN" altLang="en-US" sz="2200" b="1" spc="225" dirty="0" smtClean="0">
                <a:solidFill>
                  <a:srgbClr val="066FBB"/>
                </a:solidFill>
                <a:latin typeface="微软雅黑" pitchFamily="34" charset="-122"/>
                <a:ea typeface="微软雅黑" pitchFamily="34" charset="-122"/>
                <a:cs typeface="+mj-ea"/>
                <a:sym typeface="+mn-ea"/>
              </a:rPr>
              <a:t>建设</a:t>
            </a:r>
            <a:r>
              <a:rPr lang="zh-CN" altLang="en-US" sz="2200" b="1" spc="225" dirty="0">
                <a:solidFill>
                  <a:srgbClr val="066FBB"/>
                </a:solidFill>
                <a:latin typeface="微软雅黑" pitchFamily="34" charset="-122"/>
                <a:ea typeface="微软雅黑" pitchFamily="34" charset="-122"/>
                <a:cs typeface="+mj-ea"/>
                <a:sym typeface="+mn-ea"/>
              </a:rPr>
              <a:t>逻辑</a:t>
            </a:r>
            <a:r>
              <a:rPr lang="zh-CN" altLang="en-US" sz="2200" b="1" spc="225" dirty="0" smtClean="0">
                <a:solidFill>
                  <a:srgbClr val="066FBB"/>
                </a:solidFill>
                <a:latin typeface="微软雅黑" pitchFamily="34" charset="-122"/>
                <a:ea typeface="微软雅黑" pitchFamily="34" charset="-122"/>
                <a:cs typeface="+mj-ea"/>
                <a:sym typeface="+mn-ea"/>
              </a:rPr>
              <a:t>关系</a:t>
            </a:r>
            <a:endParaRPr lang="zh-CN" altLang="en-US" sz="2200" b="1" spc="225" dirty="0">
              <a:solidFill>
                <a:srgbClr val="066FBB"/>
              </a:solidFill>
              <a:latin typeface="微软雅黑" pitchFamily="34" charset="-122"/>
              <a:ea typeface="微软雅黑" pitchFamily="34" charset="-122"/>
              <a:cs typeface="+mj-ea"/>
              <a:sym typeface="+mn-ea"/>
            </a:endParaRPr>
          </a:p>
        </p:txBody>
      </p:sp>
      <p:grpSp>
        <p:nvGrpSpPr>
          <p:cNvPr id="75" name="组合 74"/>
          <p:cNvGrpSpPr/>
          <p:nvPr/>
        </p:nvGrpSpPr>
        <p:grpSpPr>
          <a:xfrm>
            <a:off x="575556" y="1923118"/>
            <a:ext cx="5292588" cy="2970890"/>
            <a:chOff x="479376" y="1988093"/>
            <a:chExt cx="7056784" cy="3961187"/>
          </a:xfrm>
        </p:grpSpPr>
        <p:sp>
          <p:nvSpPr>
            <p:cNvPr id="42" name="矩形 41"/>
            <p:cNvSpPr/>
            <p:nvPr/>
          </p:nvSpPr>
          <p:spPr>
            <a:xfrm>
              <a:off x="1343551" y="1988920"/>
              <a:ext cx="1440000" cy="864681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rgbClr val="006EFF">
                <a:shade val="50000"/>
              </a:srgbClr>
            </a:lnRef>
            <a:fillRef idx="1">
              <a:srgbClr val="006EFF"/>
            </a:fillRef>
            <a:effectRef idx="0">
              <a:srgbClr val="006EFF"/>
            </a:effectRef>
            <a:fontRef idx="minor">
              <a:srgbClr val="FFFFFF"/>
            </a:fontRef>
          </p:style>
          <p:txBody>
            <a:bodyPr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  <a:defRPr/>
              </a:pPr>
              <a:r>
                <a:rPr lang="zh-CN" altLang="en-US" sz="1200" b="1" kern="0" dirty="0">
                  <a:solidFill>
                    <a:srgbClr val="1B1B1B"/>
                  </a:solidFill>
                  <a:latin typeface="微软雅黑" pitchFamily="34" charset="-122"/>
                  <a:ea typeface="微软雅黑" pitchFamily="34" charset="-122"/>
                  <a:sym typeface="+mn-ea"/>
                </a:rPr>
                <a:t>信息化系统</a:t>
              </a:r>
            </a:p>
          </p:txBody>
        </p:sp>
        <p:sp>
          <p:nvSpPr>
            <p:cNvPr id="43" name="矩形 42"/>
            <p:cNvSpPr/>
            <p:nvPr/>
          </p:nvSpPr>
          <p:spPr>
            <a:xfrm>
              <a:off x="5235098" y="1988093"/>
              <a:ext cx="1440000" cy="864681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rgbClr val="006EFF">
                <a:shade val="50000"/>
              </a:srgbClr>
            </a:lnRef>
            <a:fillRef idx="1">
              <a:srgbClr val="006EFF"/>
            </a:fillRef>
            <a:effectRef idx="0">
              <a:srgbClr val="006EFF"/>
            </a:effectRef>
            <a:fontRef idx="minor">
              <a:srgbClr val="FFFFFF"/>
            </a:fontRef>
          </p:style>
          <p:txBody>
            <a:bodyPr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  <a:defRPr/>
              </a:pPr>
              <a:r>
                <a:rPr lang="zh-CN" altLang="en-US" sz="1200" b="1" kern="0" dirty="0">
                  <a:solidFill>
                    <a:srgbClr val="1B1B1B"/>
                  </a:solidFill>
                  <a:latin typeface="微软雅黑" pitchFamily="34" charset="-122"/>
                  <a:ea typeface="微软雅黑" pitchFamily="34" charset="-122"/>
                  <a:sym typeface="+mn-ea"/>
                </a:rPr>
                <a:t>线上大市场</a:t>
              </a:r>
            </a:p>
          </p:txBody>
        </p:sp>
        <p:sp>
          <p:nvSpPr>
            <p:cNvPr id="45" name="矩形 44"/>
            <p:cNvSpPr/>
            <p:nvPr/>
          </p:nvSpPr>
          <p:spPr>
            <a:xfrm>
              <a:off x="1343551" y="5246568"/>
              <a:ext cx="5331547" cy="702712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rgbClr val="006EFF">
                <a:shade val="50000"/>
              </a:srgbClr>
            </a:lnRef>
            <a:fillRef idx="1">
              <a:srgbClr val="006EFF"/>
            </a:fillRef>
            <a:effectRef idx="0">
              <a:srgbClr val="006EFF"/>
            </a:effectRef>
            <a:fontRef idx="minor">
              <a:srgbClr val="FFFFFF"/>
            </a:fontRef>
          </p:style>
          <p:txBody>
            <a:bodyPr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lvl="0" algn="ctr">
                <a:lnSpc>
                  <a:spcPct val="150000"/>
                </a:lnSpc>
                <a:buClrTx/>
                <a:buSzTx/>
                <a:buFontTx/>
                <a:defRPr/>
              </a:pPr>
              <a:r>
                <a:rPr lang="zh-CN" altLang="en-US" sz="1200" b="1" kern="0" dirty="0">
                  <a:solidFill>
                    <a:srgbClr val="1B1B1B"/>
                  </a:solidFill>
                  <a:latin typeface="微软雅黑" pitchFamily="34" charset="-122"/>
                  <a:ea typeface="微软雅黑" pitchFamily="34" charset="-122"/>
                  <a:sym typeface="+mn-ea"/>
                </a:rPr>
                <a:t>数据（采购）</a:t>
              </a:r>
            </a:p>
          </p:txBody>
        </p:sp>
        <p:sp>
          <p:nvSpPr>
            <p:cNvPr id="46" name="矩形 45"/>
            <p:cNvSpPr/>
            <p:nvPr/>
          </p:nvSpPr>
          <p:spPr>
            <a:xfrm>
              <a:off x="3215688" y="3882283"/>
              <a:ext cx="1584000" cy="842861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rgbClr val="006EFF">
                <a:shade val="50000"/>
              </a:srgbClr>
            </a:lnRef>
            <a:fillRef idx="1">
              <a:srgbClr val="006EFF"/>
            </a:fillRef>
            <a:effectRef idx="0">
              <a:srgbClr val="006EFF"/>
            </a:effectRef>
            <a:fontRef idx="minor">
              <a:srgbClr val="FFFFFF"/>
            </a:fontRef>
          </p:style>
          <p:txBody>
            <a:bodyPr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  <a:defRPr/>
              </a:pPr>
              <a:r>
                <a:rPr lang="zh-CN" altLang="en-US" sz="1200" b="1" kern="0" dirty="0">
                  <a:solidFill>
                    <a:srgbClr val="1B1B1B"/>
                  </a:solidFill>
                  <a:latin typeface="微软雅黑" pitchFamily="34" charset="-122"/>
                  <a:ea typeface="微软雅黑" pitchFamily="34" charset="-122"/>
                  <a:sym typeface="+mn-ea"/>
                </a:rPr>
                <a:t>垂类模型</a:t>
              </a:r>
              <a:endParaRPr lang="en-US" altLang="zh-CN" sz="1200" b="1" kern="0" dirty="0">
                <a:solidFill>
                  <a:srgbClr val="1B1B1B"/>
                </a:solidFill>
                <a:latin typeface="微软雅黑" pitchFamily="34" charset="-122"/>
                <a:ea typeface="微软雅黑" pitchFamily="34" charset="-122"/>
                <a:sym typeface="+mn-ea"/>
              </a:endParaRPr>
            </a:p>
          </p:txBody>
        </p:sp>
        <p:sp>
          <p:nvSpPr>
            <p:cNvPr id="48" name="文本框 51"/>
            <p:cNvSpPr txBox="1"/>
            <p:nvPr/>
          </p:nvSpPr>
          <p:spPr>
            <a:xfrm>
              <a:off x="479376" y="3275305"/>
              <a:ext cx="1080120" cy="720000"/>
            </a:xfrm>
            <a:prstGeom prst="rect">
              <a:avLst/>
            </a:prstGeom>
            <a:noFill/>
          </p:spPr>
          <p:txBody>
            <a:bodyPr wrap="square" anchor="ctr">
              <a:noAutofit/>
            </a:bodyPr>
            <a:lstStyle/>
            <a:p>
              <a:pPr marL="128270" indent="-128270" algn="dist">
                <a:spcAft>
                  <a:spcPts val="450"/>
                </a:spcAft>
                <a:buFont typeface="Arial" panose="020B0604020202020204" pitchFamily="34" charset="0"/>
                <a:buChar char="•"/>
              </a:pPr>
              <a:r>
                <a:rPr lang="zh-CN" altLang="en-US" sz="800" dirty="0">
                  <a:solidFill>
                    <a:srgbClr val="0070C0"/>
                  </a:solidFill>
                  <a:latin typeface="微软雅黑" pitchFamily="34" charset="-122"/>
                  <a:ea typeface="微软雅黑" pitchFamily="34" charset="-122"/>
                  <a:sym typeface="+mn-lt"/>
                </a:rPr>
                <a:t>基础数据供内部使用；</a:t>
              </a:r>
              <a:endParaRPr lang="en-US" altLang="zh-CN" sz="800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  <a:sym typeface="+mn-lt"/>
              </a:endParaRPr>
            </a:p>
            <a:p>
              <a:pPr marL="128270" indent="-128270" algn="dist">
                <a:spcAft>
                  <a:spcPts val="450"/>
                </a:spcAft>
                <a:buFont typeface="Arial" panose="020B0604020202020204" pitchFamily="34" charset="0"/>
                <a:buChar char="•"/>
              </a:pPr>
              <a:r>
                <a:rPr lang="zh-CN" altLang="en-US" sz="800" dirty="0">
                  <a:solidFill>
                    <a:srgbClr val="0070C0"/>
                  </a:solidFill>
                  <a:latin typeface="微软雅黑" pitchFamily="34" charset="-122"/>
                  <a:ea typeface="微软雅黑" pitchFamily="34" charset="-122"/>
                  <a:sym typeface="+mn-lt"/>
                </a:rPr>
                <a:t>内部数据反向</a:t>
              </a:r>
              <a:r>
                <a:rPr lang="zh-CN" altLang="en-US" sz="800" b="1" dirty="0">
                  <a:solidFill>
                    <a:srgbClr val="0070C0"/>
                  </a:solidFill>
                  <a:latin typeface="微软雅黑" pitchFamily="34" charset="-122"/>
                  <a:ea typeface="微软雅黑" pitchFamily="34" charset="-122"/>
                  <a:sym typeface="+mn-lt"/>
                </a:rPr>
                <a:t>“投喂”</a:t>
              </a:r>
              <a:r>
                <a:rPr lang="zh-CN" altLang="en-US" sz="800" dirty="0">
                  <a:solidFill>
                    <a:srgbClr val="0070C0"/>
                  </a:solidFill>
                  <a:latin typeface="微软雅黑" pitchFamily="34" charset="-122"/>
                  <a:ea typeface="微软雅黑" pitchFamily="34" charset="-122"/>
                  <a:sym typeface="+mn-lt"/>
                </a:rPr>
                <a:t>至数据中枢</a:t>
              </a:r>
            </a:p>
          </p:txBody>
        </p:sp>
        <p:sp>
          <p:nvSpPr>
            <p:cNvPr id="50" name="文本框 51"/>
            <p:cNvSpPr txBox="1"/>
            <p:nvPr/>
          </p:nvSpPr>
          <p:spPr>
            <a:xfrm>
              <a:off x="6456040" y="3275304"/>
              <a:ext cx="1080120" cy="720000"/>
            </a:xfrm>
            <a:prstGeom prst="rect">
              <a:avLst/>
            </a:prstGeom>
            <a:noFill/>
          </p:spPr>
          <p:txBody>
            <a:bodyPr wrap="square" anchor="ctr">
              <a:noAutofit/>
            </a:bodyPr>
            <a:lstStyle/>
            <a:p>
              <a:pPr marL="128270" indent="-128270" algn="dist">
                <a:spcAft>
                  <a:spcPts val="450"/>
                </a:spcAft>
                <a:buFont typeface="Arial" panose="020B0604020202020204" pitchFamily="34" charset="0"/>
                <a:buChar char="•"/>
              </a:pPr>
              <a:r>
                <a:rPr lang="zh-CN" altLang="en-US" sz="800" dirty="0">
                  <a:solidFill>
                    <a:srgbClr val="0070C0"/>
                  </a:solidFill>
                  <a:latin typeface="微软雅黑" pitchFamily="34" charset="-122"/>
                  <a:ea typeface="微软雅黑" pitchFamily="34" charset="-122"/>
                  <a:sym typeface="+mn-lt"/>
                </a:rPr>
                <a:t>基础数据供外部查询；</a:t>
              </a:r>
              <a:endParaRPr lang="en-US" altLang="zh-CN" sz="800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  <a:sym typeface="+mn-lt"/>
              </a:endParaRPr>
            </a:p>
            <a:p>
              <a:pPr marL="128270" indent="-128270" algn="dist">
                <a:spcAft>
                  <a:spcPts val="450"/>
                </a:spcAft>
                <a:buFont typeface="Arial" panose="020B0604020202020204" pitchFamily="34" charset="0"/>
                <a:buChar char="•"/>
              </a:pPr>
              <a:r>
                <a:rPr lang="zh-CN" altLang="en-US" sz="800" dirty="0">
                  <a:solidFill>
                    <a:srgbClr val="0070C0"/>
                  </a:solidFill>
                  <a:latin typeface="微软雅黑" pitchFamily="34" charset="-122"/>
                  <a:ea typeface="微软雅黑" pitchFamily="34" charset="-122"/>
                  <a:sym typeface="+mn-lt"/>
                </a:rPr>
                <a:t>运营数据反向</a:t>
              </a:r>
              <a:r>
                <a:rPr lang="zh-CN" altLang="en-US" sz="800" b="1" dirty="0">
                  <a:solidFill>
                    <a:srgbClr val="0070C0"/>
                  </a:solidFill>
                  <a:latin typeface="微软雅黑" pitchFamily="34" charset="-122"/>
                  <a:ea typeface="微软雅黑" pitchFamily="34" charset="-122"/>
                  <a:sym typeface="+mn-lt"/>
                </a:rPr>
                <a:t>“投喂”</a:t>
              </a:r>
              <a:r>
                <a:rPr lang="zh-CN" altLang="en-US" sz="800" dirty="0">
                  <a:solidFill>
                    <a:srgbClr val="0070C0"/>
                  </a:solidFill>
                  <a:latin typeface="微软雅黑" pitchFamily="34" charset="-122"/>
                  <a:ea typeface="微软雅黑" pitchFamily="34" charset="-122"/>
                  <a:sym typeface="+mn-lt"/>
                </a:rPr>
                <a:t>至数据中枢</a:t>
              </a:r>
            </a:p>
          </p:txBody>
        </p:sp>
        <p:cxnSp>
          <p:nvCxnSpPr>
            <p:cNvPr id="54" name="直接箭头连接符 53"/>
            <p:cNvCxnSpPr>
              <a:stCxn id="42" idx="3"/>
              <a:endCxn id="43" idx="1"/>
            </p:cNvCxnSpPr>
            <p:nvPr/>
          </p:nvCxnSpPr>
          <p:spPr>
            <a:xfrm flipV="1">
              <a:off x="2783551" y="2420434"/>
              <a:ext cx="2451547" cy="827"/>
            </a:xfrm>
            <a:prstGeom prst="straightConnector1">
              <a:avLst/>
            </a:prstGeom>
            <a:ln w="19050">
              <a:solidFill>
                <a:srgbClr val="00B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文本框 51"/>
            <p:cNvSpPr txBox="1"/>
            <p:nvPr/>
          </p:nvSpPr>
          <p:spPr>
            <a:xfrm>
              <a:off x="3215688" y="1988921"/>
              <a:ext cx="1584000" cy="503975"/>
            </a:xfrm>
            <a:prstGeom prst="rect">
              <a:avLst/>
            </a:prstGeom>
            <a:noFill/>
          </p:spPr>
          <p:txBody>
            <a:bodyPr wrap="square" anchor="ctr">
              <a:noAutofit/>
            </a:bodyPr>
            <a:lstStyle/>
            <a:p>
              <a:pPr lvl="0" algn="dist">
                <a:buClrTx/>
                <a:buSzTx/>
                <a:buFontTx/>
              </a:pPr>
              <a:r>
                <a:rPr lang="zh-CN" altLang="en-US" sz="800" dirty="0">
                  <a:solidFill>
                    <a:srgbClr val="00B050"/>
                  </a:solidFill>
                  <a:latin typeface="微软雅黑" pitchFamily="34" charset="-122"/>
                  <a:ea typeface="微软雅黑" pitchFamily="34" charset="-122"/>
                  <a:sym typeface="+mn-lt"/>
                </a:rPr>
                <a:t>权限体系支撑外部服务</a:t>
              </a:r>
            </a:p>
          </p:txBody>
        </p:sp>
        <p:cxnSp>
          <p:nvCxnSpPr>
            <p:cNvPr id="59" name="肘形连接符 58"/>
            <p:cNvCxnSpPr>
              <a:stCxn id="46" idx="0"/>
              <a:endCxn id="42" idx="2"/>
            </p:cNvCxnSpPr>
            <p:nvPr/>
          </p:nvCxnSpPr>
          <p:spPr>
            <a:xfrm rot="16200000" flipV="1">
              <a:off x="2521279" y="2395873"/>
              <a:ext cx="1028682" cy="1944137"/>
            </a:xfrm>
            <a:prstGeom prst="bentConnector3">
              <a:avLst>
                <a:gd name="adj1" fmla="val 33157"/>
              </a:avLst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肘形连接符 62"/>
            <p:cNvCxnSpPr>
              <a:stCxn id="46" idx="0"/>
              <a:endCxn id="43" idx="2"/>
            </p:cNvCxnSpPr>
            <p:nvPr/>
          </p:nvCxnSpPr>
          <p:spPr>
            <a:xfrm rot="5400000" flipH="1" flipV="1">
              <a:off x="4466639" y="2393824"/>
              <a:ext cx="1029509" cy="1947410"/>
            </a:xfrm>
            <a:prstGeom prst="bentConnector3">
              <a:avLst>
                <a:gd name="adj1" fmla="val 33171"/>
              </a:avLst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6" name="文本框 51"/>
            <p:cNvSpPr txBox="1"/>
            <p:nvPr/>
          </p:nvSpPr>
          <p:spPr>
            <a:xfrm>
              <a:off x="2783551" y="2912329"/>
              <a:ext cx="2451547" cy="588679"/>
            </a:xfrm>
            <a:prstGeom prst="rect">
              <a:avLst/>
            </a:prstGeom>
            <a:noFill/>
          </p:spPr>
          <p:txBody>
            <a:bodyPr wrap="square" anchor="ctr">
              <a:noAutofit/>
            </a:bodyPr>
            <a:lstStyle/>
            <a:p>
              <a:pPr marL="128270" indent="-128270" algn="dist">
                <a:spcAft>
                  <a:spcPts val="450"/>
                </a:spcAft>
                <a:buFont typeface="Arial" panose="020B0604020202020204" pitchFamily="34" charset="0"/>
                <a:buChar char="•"/>
              </a:pPr>
              <a:r>
                <a:rPr lang="zh-CN" altLang="en-US" sz="800" dirty="0">
                  <a:latin typeface="微软雅黑" pitchFamily="34" charset="-122"/>
                  <a:ea typeface="微软雅黑" pitchFamily="34" charset="-122"/>
                  <a:sym typeface="+mn-lt"/>
                </a:rPr>
                <a:t>将大模型的</a:t>
              </a:r>
              <a:r>
                <a:rPr lang="zh-CN" altLang="en-US" sz="800" b="1" dirty="0">
                  <a:latin typeface="微软雅黑" pitchFamily="34" charset="-122"/>
                  <a:ea typeface="微软雅黑" pitchFamily="34" charset="-122"/>
                  <a:sym typeface="+mn-lt"/>
                </a:rPr>
                <a:t>工具化成果（如智能匹配、智能对接等）</a:t>
              </a:r>
              <a:r>
                <a:rPr lang="zh-CN" altLang="en-US" sz="800" dirty="0">
                  <a:latin typeface="微软雅黑" pitchFamily="34" charset="-122"/>
                  <a:ea typeface="微软雅黑" pitchFamily="34" charset="-122"/>
                  <a:sym typeface="+mn-lt"/>
                </a:rPr>
                <a:t>落地为线上服务；</a:t>
              </a:r>
              <a:endParaRPr lang="en-US" altLang="zh-CN" sz="800" dirty="0">
                <a:latin typeface="微软雅黑" pitchFamily="34" charset="-122"/>
                <a:ea typeface="微软雅黑" pitchFamily="34" charset="-122"/>
                <a:sym typeface="+mn-lt"/>
              </a:endParaRPr>
            </a:p>
            <a:p>
              <a:pPr marL="128270" indent="-128270" algn="dist">
                <a:spcAft>
                  <a:spcPts val="450"/>
                </a:spcAft>
                <a:buFont typeface="Arial" panose="020B0604020202020204" pitchFamily="34" charset="0"/>
                <a:buChar char="•"/>
              </a:pPr>
              <a:r>
                <a:rPr lang="zh-CN" altLang="en-US" sz="800" dirty="0">
                  <a:latin typeface="微软雅黑" pitchFamily="34" charset="-122"/>
                  <a:ea typeface="微软雅黑" pitchFamily="34" charset="-122"/>
                  <a:sym typeface="+mn-lt"/>
                </a:rPr>
                <a:t>输出高质量“数据集”供 </a:t>
              </a:r>
              <a:r>
                <a:rPr lang="zh-CN" altLang="en-US" sz="800" b="1" dirty="0">
                  <a:latin typeface="微软雅黑" pitchFamily="34" charset="-122"/>
                  <a:ea typeface="微软雅黑" pitchFamily="34" charset="-122"/>
                  <a:sym typeface="+mn-lt"/>
                </a:rPr>
                <a:t>“调用”</a:t>
              </a:r>
            </a:p>
          </p:txBody>
        </p:sp>
        <p:cxnSp>
          <p:nvCxnSpPr>
            <p:cNvPr id="77" name="直接箭头连接符 76"/>
            <p:cNvCxnSpPr>
              <a:stCxn id="45" idx="0"/>
              <a:endCxn id="46" idx="2"/>
            </p:cNvCxnSpPr>
            <p:nvPr/>
          </p:nvCxnSpPr>
          <p:spPr>
            <a:xfrm flipH="1" flipV="1">
              <a:off x="4007688" y="4725144"/>
              <a:ext cx="1637" cy="521424"/>
            </a:xfrm>
            <a:prstGeom prst="straightConnector1">
              <a:avLst/>
            </a:prstGeom>
            <a:ln w="19050">
              <a:solidFill>
                <a:schemeClr val="bg2">
                  <a:lumMod val="50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8" name="文本框 51"/>
            <p:cNvSpPr txBox="1"/>
            <p:nvPr/>
          </p:nvSpPr>
          <p:spPr>
            <a:xfrm>
              <a:off x="4007944" y="4712529"/>
              <a:ext cx="1584000" cy="588679"/>
            </a:xfrm>
            <a:prstGeom prst="rect">
              <a:avLst/>
            </a:prstGeom>
            <a:noFill/>
          </p:spPr>
          <p:txBody>
            <a:bodyPr wrap="square" anchor="ctr">
              <a:noAutofit/>
            </a:bodyPr>
            <a:lstStyle/>
            <a:p>
              <a:pPr lvl="0" algn="dist">
                <a:buClrTx/>
                <a:buSzTx/>
                <a:buFontTx/>
              </a:pPr>
              <a:r>
                <a:rPr lang="zh-CN" altLang="en-US" sz="800" dirty="0">
                  <a:solidFill>
                    <a:srgbClr val="0070C0"/>
                  </a:solidFill>
                  <a:latin typeface="微软雅黑" pitchFamily="34" charset="-122"/>
                  <a:ea typeface="微软雅黑" pitchFamily="34" charset="-122"/>
                  <a:sym typeface="+mn-lt"/>
                </a:rPr>
                <a:t>输出“数据资源”供大模型进行</a:t>
              </a:r>
              <a:r>
                <a:rPr lang="zh-CN" altLang="en-US" sz="800" b="1" dirty="0">
                  <a:solidFill>
                    <a:srgbClr val="0070C0"/>
                  </a:solidFill>
                  <a:latin typeface="微软雅黑" pitchFamily="34" charset="-122"/>
                  <a:ea typeface="微软雅黑" pitchFamily="34" charset="-122"/>
                  <a:sym typeface="+mn-lt"/>
                </a:rPr>
                <a:t>“训练</a:t>
              </a:r>
              <a:r>
                <a:rPr lang="en-US" altLang="zh-CN" sz="800" b="1" dirty="0">
                  <a:solidFill>
                    <a:srgbClr val="0070C0"/>
                  </a:solidFill>
                  <a:latin typeface="微软雅黑" pitchFamily="34" charset="-122"/>
                  <a:ea typeface="微软雅黑" pitchFamily="34" charset="-122"/>
                  <a:sym typeface="+mn-lt"/>
                </a:rPr>
                <a:t>&amp;</a:t>
              </a:r>
              <a:r>
                <a:rPr lang="zh-CN" altLang="en-US" sz="800" b="1" dirty="0">
                  <a:solidFill>
                    <a:srgbClr val="0070C0"/>
                  </a:solidFill>
                  <a:latin typeface="微软雅黑" pitchFamily="34" charset="-122"/>
                  <a:ea typeface="微软雅黑" pitchFamily="34" charset="-122"/>
                  <a:sym typeface="+mn-lt"/>
                </a:rPr>
                <a:t>推理”</a:t>
              </a:r>
            </a:p>
          </p:txBody>
        </p:sp>
        <p:cxnSp>
          <p:nvCxnSpPr>
            <p:cNvPr id="68" name="肘形连接符 67"/>
            <p:cNvCxnSpPr>
              <a:stCxn id="42" idx="1"/>
              <a:endCxn id="45" idx="1"/>
            </p:cNvCxnSpPr>
            <p:nvPr/>
          </p:nvCxnSpPr>
          <p:spPr>
            <a:xfrm rot="10800000" flipV="1">
              <a:off x="1343551" y="2421260"/>
              <a:ext cx="12700" cy="3176663"/>
            </a:xfrm>
            <a:prstGeom prst="bentConnector3">
              <a:avLst>
                <a:gd name="adj1" fmla="val 6514283"/>
              </a:avLst>
            </a:prstGeom>
            <a:ln w="19050">
              <a:solidFill>
                <a:srgbClr val="0070C0"/>
              </a:solidFill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肘形连接符 85"/>
            <p:cNvCxnSpPr>
              <a:stCxn id="43" idx="3"/>
              <a:endCxn id="45" idx="3"/>
            </p:cNvCxnSpPr>
            <p:nvPr/>
          </p:nvCxnSpPr>
          <p:spPr>
            <a:xfrm>
              <a:off x="6675098" y="2420434"/>
              <a:ext cx="12700" cy="3177490"/>
            </a:xfrm>
            <a:prstGeom prst="bentConnector3">
              <a:avLst>
                <a:gd name="adj1" fmla="val 6771425"/>
              </a:avLst>
            </a:prstGeom>
            <a:ln w="19050">
              <a:solidFill>
                <a:srgbClr val="0070C0"/>
              </a:solidFill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3" name="文本框 51"/>
          <p:cNvSpPr txBox="1"/>
          <p:nvPr/>
        </p:nvSpPr>
        <p:spPr>
          <a:xfrm>
            <a:off x="6138174" y="2365128"/>
            <a:ext cx="2538282" cy="1934815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wrap="square" lIns="68579" tIns="34289" rIns="68579" bIns="34289" anchor="ctr">
            <a:noAutofit/>
          </a:bodyPr>
          <a:lstStyle/>
          <a:p>
            <a:pPr marL="128270" indent="-128270">
              <a:lnSpc>
                <a:spcPct val="150000"/>
              </a:lnSpc>
              <a:spcAft>
                <a:spcPts val="450"/>
              </a:spcAft>
              <a:buFont typeface="Wingdings" panose="05000000000000000000" pitchFamily="2" charset="2"/>
              <a:buChar char="l"/>
            </a:pPr>
            <a:r>
              <a:rPr lang="zh-CN" altLang="en-US" sz="900" b="1" dirty="0">
                <a:latin typeface="微软雅黑" pitchFamily="34" charset="-122"/>
                <a:ea typeface="微软雅黑" pitchFamily="34" charset="-122"/>
                <a:sym typeface="+mn-lt"/>
              </a:rPr>
              <a:t>数据层面：</a:t>
            </a:r>
            <a:r>
              <a:rPr lang="zh-CN" altLang="en-US" sz="900" dirty="0">
                <a:latin typeface="微软雅黑" pitchFamily="34" charset="-122"/>
                <a:ea typeface="微软雅黑" pitchFamily="34" charset="-122"/>
                <a:sym typeface="+mn-lt"/>
              </a:rPr>
              <a:t>数据采购→信息化系统（存储）→大模型（训练），链路清晰；</a:t>
            </a:r>
          </a:p>
          <a:p>
            <a:pPr marL="128270" indent="-128270">
              <a:lnSpc>
                <a:spcPct val="150000"/>
              </a:lnSpc>
              <a:spcAft>
                <a:spcPts val="450"/>
              </a:spcAft>
              <a:buFont typeface="Wingdings" panose="05000000000000000000" pitchFamily="2" charset="2"/>
              <a:buChar char="l"/>
            </a:pPr>
            <a:r>
              <a:rPr lang="zh-CN" altLang="en-US" sz="900" b="1" dirty="0">
                <a:latin typeface="微软雅黑" pitchFamily="34" charset="-122"/>
                <a:ea typeface="微软雅黑" pitchFamily="34" charset="-122"/>
                <a:sym typeface="+mn-lt"/>
              </a:rPr>
              <a:t>功能层面：</a:t>
            </a:r>
            <a:r>
              <a:rPr lang="zh-CN" altLang="en-US" sz="900" dirty="0">
                <a:latin typeface="微软雅黑" pitchFamily="34" charset="-122"/>
                <a:ea typeface="微软雅黑" pitchFamily="34" charset="-122"/>
                <a:sym typeface="+mn-lt"/>
              </a:rPr>
              <a:t>大模型→信息化系统</a:t>
            </a:r>
            <a:r>
              <a:rPr lang="en-US" altLang="zh-CN" sz="900" dirty="0">
                <a:latin typeface="微软雅黑" pitchFamily="34" charset="-122"/>
                <a:ea typeface="微软雅黑" pitchFamily="34" charset="-122"/>
                <a:sym typeface="+mn-lt"/>
              </a:rPr>
              <a:t>/</a:t>
            </a:r>
            <a:r>
              <a:rPr lang="zh-CN" altLang="en-US" sz="900" dirty="0">
                <a:latin typeface="微软雅黑" pitchFamily="34" charset="-122"/>
                <a:ea typeface="微软雅黑" pitchFamily="34" charset="-122"/>
                <a:sym typeface="+mn-lt"/>
              </a:rPr>
              <a:t>线上市场（输出智能模块），后两者只做“应用落地”，不做模型研发；</a:t>
            </a:r>
          </a:p>
          <a:p>
            <a:pPr marL="128270" indent="-128270">
              <a:lnSpc>
                <a:spcPct val="150000"/>
              </a:lnSpc>
              <a:spcAft>
                <a:spcPts val="450"/>
              </a:spcAft>
              <a:buFont typeface="Wingdings" panose="05000000000000000000" pitchFamily="2" charset="2"/>
              <a:buChar char="l"/>
            </a:pPr>
            <a:r>
              <a:rPr lang="zh-CN" altLang="en-US" sz="900" b="1" dirty="0">
                <a:latin typeface="微软雅黑" pitchFamily="34" charset="-122"/>
                <a:ea typeface="微软雅黑" pitchFamily="34" charset="-122"/>
                <a:sym typeface="+mn-lt"/>
              </a:rPr>
              <a:t>服务层面：</a:t>
            </a:r>
            <a:r>
              <a:rPr lang="zh-CN" altLang="en-US" sz="900" dirty="0">
                <a:latin typeface="微软雅黑" pitchFamily="34" charset="-122"/>
                <a:ea typeface="微软雅黑" pitchFamily="34" charset="-122"/>
                <a:sym typeface="+mn-lt"/>
              </a:rPr>
              <a:t>信息化系统（内部服务）→线上市场（外部服务），前者是后台，后者是前台，无服务重叠。</a:t>
            </a:r>
          </a:p>
        </p:txBody>
      </p:sp>
      <p:sp>
        <p:nvSpPr>
          <p:cNvPr id="94" name="文本框 5"/>
          <p:cNvSpPr txBox="1"/>
          <p:nvPr/>
        </p:nvSpPr>
        <p:spPr>
          <a:xfrm>
            <a:off x="575556" y="674425"/>
            <a:ext cx="8208912" cy="1177245"/>
          </a:xfrm>
          <a:prstGeom prst="rect">
            <a:avLst/>
          </a:prstGeom>
        </p:spPr>
        <p:txBody>
          <a:bodyPr wrap="square" lIns="68579" tIns="34289" rIns="68579" bIns="34289">
            <a:spAutoFit/>
          </a:bodyPr>
          <a:lstStyle/>
          <a:p>
            <a:pPr algn="just" defTabSz="200025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200" b="1" dirty="0">
                <a:latin typeface="微软雅黑" pitchFamily="34" charset="-122"/>
                <a:ea typeface="微软雅黑" pitchFamily="34" charset="-122"/>
                <a:cs typeface="微软雅黑" pitchFamily="34" charset="-122"/>
              </a:rPr>
              <a:t>核心说明：</a:t>
            </a:r>
            <a:endParaRPr lang="en-US" altLang="zh-CN" sz="1200" b="1" dirty="0">
              <a:latin typeface="微软雅黑" pitchFamily="34" charset="-122"/>
              <a:ea typeface="微软雅黑" pitchFamily="34" charset="-122"/>
              <a:cs typeface="微软雅黑" pitchFamily="34" charset="-122"/>
            </a:endParaRPr>
          </a:p>
          <a:p>
            <a:pPr marL="213995" indent="-213995" algn="just" defTabSz="200025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zh-CN" altLang="en-US" sz="1200" b="1" dirty="0">
                <a:latin typeface="微软雅黑" pitchFamily="34" charset="-122"/>
                <a:ea typeface="微软雅黑" pitchFamily="34" charset="-122"/>
                <a:cs typeface="微软雅黑" pitchFamily="34" charset="-122"/>
              </a:rPr>
              <a:t>数据为燃料，模型为引擎，信息化为抓手，大市场为窗口，各司其职，强力协同。</a:t>
            </a:r>
            <a:endParaRPr lang="en-US" altLang="zh-CN" sz="1200" b="1" dirty="0">
              <a:latin typeface="微软雅黑" pitchFamily="34" charset="-122"/>
              <a:ea typeface="微软雅黑" pitchFamily="34" charset="-122"/>
              <a:cs typeface="微软雅黑" pitchFamily="34" charset="-122"/>
            </a:endParaRPr>
          </a:p>
          <a:p>
            <a:pPr marL="213995" indent="-213995" algn="just" defTabSz="200025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zh-CN" altLang="en-US" sz="1200" dirty="0">
                <a:latin typeface="微软雅黑" pitchFamily="34" charset="-122"/>
                <a:ea typeface="微软雅黑" pitchFamily="34" charset="-122"/>
                <a:cs typeface="微软雅黑" pitchFamily="34" charset="-122"/>
              </a:rPr>
              <a:t>采购数据单向流动，采购负责供应，模型负责训练，信息化负责存储，大市场负责输出。</a:t>
            </a:r>
            <a:endParaRPr lang="en-US" altLang="zh-CN" sz="1200" dirty="0">
              <a:latin typeface="微软雅黑" pitchFamily="34" charset="-122"/>
              <a:ea typeface="微软雅黑" pitchFamily="34" charset="-122"/>
              <a:cs typeface="微软雅黑" pitchFamily="34" charset="-122"/>
            </a:endParaRPr>
          </a:p>
          <a:p>
            <a:pPr marL="213995" indent="-213995" algn="just" defTabSz="200025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zh-CN" altLang="en-US" sz="1200" dirty="0">
                <a:latin typeface="微软雅黑" pitchFamily="34" charset="-122"/>
                <a:ea typeface="微软雅黑" pitchFamily="34" charset="-122"/>
                <a:cs typeface="微软雅黑" pitchFamily="34" charset="-122"/>
              </a:rPr>
              <a:t>信息化的“智能”是固定规则的程序化响应（已知），垂类大模型的智能是数据训练驱动的自主决策与生成（未知）。</a:t>
            </a:r>
            <a:endParaRPr sz="1200" dirty="0">
              <a:latin typeface="微软雅黑" pitchFamily="34" charset="-122"/>
              <a:ea typeface="微软雅黑" pitchFamily="34" charset="-122"/>
              <a:cs typeface="微软雅黑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8"/>
          <p:cNvSpPr>
            <a:spLocks noGrp="1"/>
          </p:cNvSpPr>
          <p:nvPr/>
        </p:nvSpPr>
        <p:spPr>
          <a:xfrm>
            <a:off x="272891" y="190025"/>
            <a:ext cx="5718810" cy="322421"/>
          </a:xfrm>
          <a:prstGeom prst="rect">
            <a:avLst/>
          </a:prstGeom>
        </p:spPr>
        <p:txBody>
          <a:bodyPr lIns="68579" tIns="34289" rIns="68579" bIns="34289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1B1B1B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200" b="1" spc="225" dirty="0" smtClean="0">
                <a:solidFill>
                  <a:srgbClr val="066FBB"/>
                </a:solidFill>
                <a:latin typeface="微软雅黑" pitchFamily="34" charset="-122"/>
                <a:ea typeface="微软雅黑" pitchFamily="34" charset="-122"/>
                <a:cs typeface="+mj-ea"/>
                <a:sym typeface="+mn-ea"/>
              </a:rPr>
              <a:t>    </a:t>
            </a:r>
            <a:r>
              <a:rPr lang="zh-CN" altLang="en-US" sz="2200" b="1" spc="225" dirty="0" smtClean="0">
                <a:solidFill>
                  <a:srgbClr val="066FBB"/>
                </a:solidFill>
                <a:latin typeface="微软雅黑" pitchFamily="34" charset="-122"/>
                <a:ea typeface="微软雅黑" pitchFamily="34" charset="-122"/>
                <a:cs typeface="+mj-ea"/>
                <a:sym typeface="+mn-ea"/>
              </a:rPr>
              <a:t>整体</a:t>
            </a:r>
            <a:r>
              <a:rPr lang="zh-CN" altLang="en-US" sz="2200" b="1" spc="225" dirty="0">
                <a:solidFill>
                  <a:srgbClr val="066FBB"/>
                </a:solidFill>
                <a:latin typeface="微软雅黑" pitchFamily="34" charset="-122"/>
                <a:ea typeface="微软雅黑" pitchFamily="34" charset="-122"/>
                <a:cs typeface="+mj-ea"/>
                <a:sym typeface="+mn-ea"/>
              </a:rPr>
              <a:t>系统</a:t>
            </a:r>
            <a:r>
              <a:rPr lang="zh-CN" altLang="en-US" sz="2200" b="1" spc="225" dirty="0" smtClean="0">
                <a:solidFill>
                  <a:srgbClr val="066FBB"/>
                </a:solidFill>
                <a:latin typeface="微软雅黑" pitchFamily="34" charset="-122"/>
                <a:ea typeface="微软雅黑" pitchFamily="34" charset="-122"/>
                <a:cs typeface="+mj-ea"/>
                <a:sym typeface="+mn-ea"/>
              </a:rPr>
              <a:t>架构</a:t>
            </a:r>
            <a:endParaRPr lang="zh-CN" altLang="en-US" sz="2200" b="1" spc="225" dirty="0">
              <a:solidFill>
                <a:srgbClr val="066FBB"/>
              </a:solidFill>
              <a:latin typeface="微软雅黑" pitchFamily="34" charset="-122"/>
              <a:ea typeface="微软雅黑" pitchFamily="34" charset="-122"/>
              <a:cs typeface="+mj-ea"/>
              <a:sym typeface="+mn-ea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1230631" y="4633941"/>
            <a:ext cx="6035993" cy="364808"/>
            <a:chOff x="1640840" y="6014085"/>
            <a:chExt cx="8047990" cy="486410"/>
          </a:xfrm>
        </p:grpSpPr>
        <p:sp>
          <p:nvSpPr>
            <p:cNvPr id="81" name="矩形 80"/>
            <p:cNvSpPr/>
            <p:nvPr/>
          </p:nvSpPr>
          <p:spPr>
            <a:xfrm>
              <a:off x="2339975" y="6014085"/>
              <a:ext cx="7348855" cy="486410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FFFFFF">
                  <a:lumMod val="85000"/>
                </a:srgbClr>
              </a:solidFill>
            </a:ln>
          </p:spPr>
          <p:style>
            <a:lnRef idx="2">
              <a:srgbClr val="006EFF">
                <a:shade val="50000"/>
              </a:srgbClr>
            </a:lnRef>
            <a:fillRef idx="1">
              <a:srgbClr val="006EFF"/>
            </a:fillRef>
            <a:effectRef idx="0">
              <a:srgbClr val="006EFF"/>
            </a:effectRef>
            <a:fontRef idx="minor">
              <a:srgbClr val="FFFFFF"/>
            </a:fontRef>
          </p:style>
          <p:txBody>
            <a:bodyPr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 b="1">
                <a:latin typeface="微软雅黑" pitchFamily="34" charset="-122"/>
                <a:ea typeface="微软雅黑" pitchFamily="34" charset="-122"/>
                <a:sym typeface="+mn-lt"/>
              </a:endParaRPr>
            </a:p>
          </p:txBody>
        </p:sp>
        <p:sp>
          <p:nvSpPr>
            <p:cNvPr id="26" name="矩形 25"/>
            <p:cNvSpPr/>
            <p:nvPr/>
          </p:nvSpPr>
          <p:spPr>
            <a:xfrm>
              <a:off x="1640840" y="6014085"/>
              <a:ext cx="650240" cy="483235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1B1B1B"/>
              </a:solidFill>
            </a:ln>
          </p:spPr>
          <p:style>
            <a:lnRef idx="2">
              <a:srgbClr val="006EFF">
                <a:shade val="50000"/>
              </a:srgbClr>
            </a:lnRef>
            <a:fillRef idx="1">
              <a:srgbClr val="006EFF"/>
            </a:fillRef>
            <a:effectRef idx="0">
              <a:srgbClr val="006EFF"/>
            </a:effectRef>
            <a:fontRef idx="minor">
              <a:srgbClr val="FFFFFF"/>
            </a:fontRef>
          </p:style>
          <p:txBody>
            <a:bodyPr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  <a:defRPr/>
              </a:pPr>
              <a:r>
                <a:rPr lang="zh-CN" altLang="en-US" sz="900" b="1" kern="0" dirty="0">
                  <a:solidFill>
                    <a:srgbClr val="1B1B1B"/>
                  </a:solidFill>
                  <a:latin typeface="微软雅黑" pitchFamily="34" charset="-122"/>
                  <a:ea typeface="微软雅黑" pitchFamily="34" charset="-122"/>
                  <a:sym typeface="+mn-ea"/>
                </a:rPr>
                <a:t>基础层</a:t>
              </a:r>
            </a:p>
          </p:txBody>
        </p:sp>
        <p:sp>
          <p:nvSpPr>
            <p:cNvPr id="27" name="矩形: 圆角 12"/>
            <p:cNvSpPr/>
            <p:nvPr/>
          </p:nvSpPr>
          <p:spPr>
            <a:xfrm>
              <a:off x="2457450" y="6169025"/>
              <a:ext cx="1146810" cy="201930"/>
            </a:xfrm>
            <a:prstGeom prst="roundRect">
              <a:avLst/>
            </a:prstGeom>
            <a:solidFill>
              <a:srgbClr val="167D40"/>
            </a:solidFill>
            <a:ln>
              <a:noFill/>
            </a:ln>
          </p:spPr>
          <p:style>
            <a:lnRef idx="2">
              <a:srgbClr val="006EFF">
                <a:shade val="50000"/>
              </a:srgbClr>
            </a:lnRef>
            <a:fillRef idx="1">
              <a:srgbClr val="006EFF"/>
            </a:fillRef>
            <a:effectRef idx="0">
              <a:srgbClr val="006EFF"/>
            </a:effectRef>
            <a:fontRef idx="minor">
              <a:srgbClr val="FFFFFF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  <a:defRPr/>
              </a:pPr>
              <a:r>
                <a:rPr lang="zh-CN" altLang="en-US" sz="800" b="1" kern="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  <a:sym typeface="+mn-ea"/>
                </a:rPr>
                <a:t>计算资源</a:t>
              </a:r>
            </a:p>
          </p:txBody>
        </p:sp>
        <p:sp>
          <p:nvSpPr>
            <p:cNvPr id="29" name="矩形: 圆角 12"/>
            <p:cNvSpPr/>
            <p:nvPr/>
          </p:nvSpPr>
          <p:spPr>
            <a:xfrm>
              <a:off x="3739515" y="6169025"/>
              <a:ext cx="1146810" cy="201930"/>
            </a:xfrm>
            <a:prstGeom prst="roundRect">
              <a:avLst/>
            </a:prstGeom>
            <a:solidFill>
              <a:srgbClr val="167D40"/>
            </a:solidFill>
            <a:ln>
              <a:noFill/>
            </a:ln>
          </p:spPr>
          <p:style>
            <a:lnRef idx="2">
              <a:srgbClr val="006EFF">
                <a:shade val="50000"/>
              </a:srgbClr>
            </a:lnRef>
            <a:fillRef idx="1">
              <a:srgbClr val="006EFF"/>
            </a:fillRef>
            <a:effectRef idx="0">
              <a:srgbClr val="006EFF"/>
            </a:effectRef>
            <a:fontRef idx="minor">
              <a:srgbClr val="FFFFFF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  <a:defRPr/>
              </a:pPr>
              <a:r>
                <a:rPr lang="zh-CN" altLang="en-US" sz="800" b="1" kern="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  <a:sym typeface="+mn-ea"/>
                </a:rPr>
                <a:t>存储资源</a:t>
              </a:r>
            </a:p>
          </p:txBody>
        </p:sp>
        <p:sp>
          <p:nvSpPr>
            <p:cNvPr id="30" name="矩形: 圆角 12"/>
            <p:cNvSpPr/>
            <p:nvPr/>
          </p:nvSpPr>
          <p:spPr>
            <a:xfrm>
              <a:off x="5050790" y="6174105"/>
              <a:ext cx="1146810" cy="201930"/>
            </a:xfrm>
            <a:prstGeom prst="roundRect">
              <a:avLst/>
            </a:prstGeom>
            <a:solidFill>
              <a:srgbClr val="167D40"/>
            </a:solidFill>
            <a:ln>
              <a:noFill/>
            </a:ln>
          </p:spPr>
          <p:style>
            <a:lnRef idx="2">
              <a:srgbClr val="006EFF">
                <a:shade val="50000"/>
              </a:srgbClr>
            </a:lnRef>
            <a:fillRef idx="1">
              <a:srgbClr val="006EFF"/>
            </a:fillRef>
            <a:effectRef idx="0">
              <a:srgbClr val="006EFF"/>
            </a:effectRef>
            <a:fontRef idx="minor">
              <a:srgbClr val="FFFFFF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  <a:defRPr/>
              </a:pPr>
              <a:r>
                <a:rPr lang="zh-CN" altLang="en-US" sz="800" b="1" kern="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  <a:sym typeface="+mn-ea"/>
                </a:rPr>
                <a:t>网络资源</a:t>
              </a:r>
            </a:p>
          </p:txBody>
        </p:sp>
        <p:sp>
          <p:nvSpPr>
            <p:cNvPr id="31" name="矩形: 圆角 12"/>
            <p:cNvSpPr/>
            <p:nvPr/>
          </p:nvSpPr>
          <p:spPr>
            <a:xfrm>
              <a:off x="6379845" y="6169025"/>
              <a:ext cx="1146810" cy="201930"/>
            </a:xfrm>
            <a:prstGeom prst="roundRect">
              <a:avLst/>
            </a:prstGeom>
            <a:solidFill>
              <a:srgbClr val="167D40"/>
            </a:solidFill>
            <a:ln>
              <a:noFill/>
            </a:ln>
          </p:spPr>
          <p:style>
            <a:lnRef idx="2">
              <a:srgbClr val="006EFF">
                <a:shade val="50000"/>
              </a:srgbClr>
            </a:lnRef>
            <a:fillRef idx="1">
              <a:srgbClr val="006EFF"/>
            </a:fillRef>
            <a:effectRef idx="0">
              <a:srgbClr val="006EFF"/>
            </a:effectRef>
            <a:fontRef idx="minor">
              <a:srgbClr val="FFFFFF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  <a:defRPr/>
              </a:pPr>
              <a:r>
                <a:rPr lang="zh-CN" altLang="en-US" sz="800" b="1" kern="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  <a:sym typeface="+mn-ea"/>
                </a:rPr>
                <a:t>安全资源</a:t>
              </a:r>
            </a:p>
          </p:txBody>
        </p:sp>
        <p:sp>
          <p:nvSpPr>
            <p:cNvPr id="32" name="矩形: 圆角 12"/>
            <p:cNvSpPr/>
            <p:nvPr/>
          </p:nvSpPr>
          <p:spPr>
            <a:xfrm>
              <a:off x="7695565" y="6174105"/>
              <a:ext cx="1821815" cy="201295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rgbClr val="006EFF">
                <a:shade val="50000"/>
              </a:srgbClr>
            </a:lnRef>
            <a:fillRef idx="1">
              <a:srgbClr val="006EFF"/>
            </a:fillRef>
            <a:effectRef idx="0">
              <a:srgbClr val="006EFF"/>
            </a:effectRef>
            <a:fontRef idx="minor">
              <a:srgbClr val="FFFFFF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  <a:defRPr/>
              </a:pPr>
              <a:r>
                <a:rPr lang="zh-CN" altLang="en-US" sz="800" b="1" kern="0" dirty="0"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  <a:sym typeface="+mn-ea"/>
                </a:rPr>
                <a:t>……</a:t>
              </a:r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1230631" y="3172683"/>
            <a:ext cx="6035993" cy="687228"/>
            <a:chOff x="1640840" y="4103108"/>
            <a:chExt cx="8047990" cy="916304"/>
          </a:xfrm>
        </p:grpSpPr>
        <p:sp>
          <p:nvSpPr>
            <p:cNvPr id="116" name="矩形 115"/>
            <p:cNvSpPr/>
            <p:nvPr>
              <p:custDataLst>
                <p:tags r:id="rId36"/>
              </p:custDataLst>
            </p:nvPr>
          </p:nvSpPr>
          <p:spPr>
            <a:xfrm>
              <a:off x="4619625" y="4103108"/>
              <a:ext cx="2160905" cy="906780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FFFFFF">
                  <a:lumMod val="85000"/>
                </a:srgbClr>
              </a:solidFill>
            </a:ln>
          </p:spPr>
          <p:style>
            <a:lnRef idx="2">
              <a:srgbClr val="006EFF">
                <a:shade val="50000"/>
              </a:srgbClr>
            </a:lnRef>
            <a:fillRef idx="1">
              <a:srgbClr val="006EFF"/>
            </a:fillRef>
            <a:effectRef idx="0">
              <a:srgbClr val="006EFF"/>
            </a:effectRef>
            <a:fontRef idx="minor">
              <a:srgbClr val="FFFFFF"/>
            </a:fontRef>
          </p:style>
          <p:txBody>
            <a:bodyPr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 b="1" dirty="0">
                <a:latin typeface="微软雅黑" pitchFamily="34" charset="-122"/>
                <a:ea typeface="微软雅黑" pitchFamily="34" charset="-122"/>
                <a:sym typeface="+mn-lt"/>
              </a:endParaRPr>
            </a:p>
          </p:txBody>
        </p:sp>
        <p:sp>
          <p:nvSpPr>
            <p:cNvPr id="42" name="矩形 41"/>
            <p:cNvSpPr/>
            <p:nvPr/>
          </p:nvSpPr>
          <p:spPr>
            <a:xfrm>
              <a:off x="2339975" y="4103108"/>
              <a:ext cx="2229485" cy="906779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FFFFFF">
                  <a:lumMod val="85000"/>
                </a:srgbClr>
              </a:solidFill>
            </a:ln>
          </p:spPr>
          <p:style>
            <a:lnRef idx="2">
              <a:srgbClr val="006EFF">
                <a:shade val="50000"/>
              </a:srgbClr>
            </a:lnRef>
            <a:fillRef idx="1">
              <a:srgbClr val="006EFF"/>
            </a:fillRef>
            <a:effectRef idx="0">
              <a:srgbClr val="006EFF"/>
            </a:effectRef>
            <a:fontRef idx="minor">
              <a:srgbClr val="FFFFFF"/>
            </a:fontRef>
          </p:style>
          <p:txBody>
            <a:bodyPr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 b="1" dirty="0">
                <a:latin typeface="微软雅黑" pitchFamily="34" charset="-122"/>
                <a:ea typeface="微软雅黑" pitchFamily="34" charset="-122"/>
                <a:sym typeface="+mn-lt"/>
              </a:endParaRPr>
            </a:p>
          </p:txBody>
        </p:sp>
        <p:sp>
          <p:nvSpPr>
            <p:cNvPr id="62" name="矩形 61"/>
            <p:cNvSpPr/>
            <p:nvPr/>
          </p:nvSpPr>
          <p:spPr>
            <a:xfrm>
              <a:off x="1640840" y="4103742"/>
              <a:ext cx="650875" cy="915670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1B1B1B"/>
              </a:solidFill>
            </a:ln>
          </p:spPr>
          <p:style>
            <a:lnRef idx="2">
              <a:srgbClr val="006EFF">
                <a:shade val="50000"/>
              </a:srgbClr>
            </a:lnRef>
            <a:fillRef idx="1">
              <a:srgbClr val="006EFF"/>
            </a:fillRef>
            <a:effectRef idx="0">
              <a:srgbClr val="006EFF"/>
            </a:effectRef>
            <a:fontRef idx="minor">
              <a:srgbClr val="FFFFFF"/>
            </a:fontRef>
          </p:style>
          <p:txBody>
            <a:bodyPr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  <a:defRPr/>
              </a:pPr>
              <a:r>
                <a:rPr lang="zh-CN" altLang="en-US" sz="900" b="1" kern="0" dirty="0">
                  <a:solidFill>
                    <a:srgbClr val="1B1B1B"/>
                  </a:solidFill>
                  <a:latin typeface="微软雅黑" pitchFamily="34" charset="-122"/>
                  <a:ea typeface="微软雅黑" pitchFamily="34" charset="-122"/>
                  <a:sym typeface="+mn-ea"/>
                </a:rPr>
                <a:t>架构层</a:t>
              </a:r>
            </a:p>
          </p:txBody>
        </p:sp>
        <p:sp>
          <p:nvSpPr>
            <p:cNvPr id="52" name="文本框 51"/>
            <p:cNvSpPr txBox="1"/>
            <p:nvPr/>
          </p:nvSpPr>
          <p:spPr>
            <a:xfrm>
              <a:off x="2339975" y="4149080"/>
              <a:ext cx="2226946" cy="254635"/>
            </a:xfrm>
            <a:prstGeom prst="rect">
              <a:avLst/>
            </a:prstGeom>
            <a:noFill/>
          </p:spPr>
          <p:txBody>
            <a:bodyPr wrap="square">
              <a:noAutofit/>
            </a:bodyPr>
            <a:lstStyle/>
            <a:p>
              <a:pPr lvl="0" algn="ctr">
                <a:buClrTx/>
                <a:buSzTx/>
                <a:buFontTx/>
              </a:pPr>
              <a:r>
                <a:rPr lang="zh-CN" altLang="en-US" sz="800" b="1" dirty="0">
                  <a:latin typeface="微软雅黑" pitchFamily="34" charset="-122"/>
                  <a:ea typeface="微软雅黑" pitchFamily="34" charset="-122"/>
                  <a:sym typeface="+mn-lt"/>
                </a:rPr>
                <a:t>数据中台</a:t>
              </a:r>
              <a:endParaRPr lang="zh-CN" altLang="en-US" sz="500" b="1" dirty="0">
                <a:latin typeface="微软雅黑" pitchFamily="34" charset="-122"/>
                <a:ea typeface="微软雅黑" pitchFamily="34" charset="-122"/>
                <a:sym typeface="+mn-lt"/>
              </a:endParaRPr>
            </a:p>
          </p:txBody>
        </p:sp>
        <p:sp>
          <p:nvSpPr>
            <p:cNvPr id="99" name="圆角矩形 91"/>
            <p:cNvSpPr/>
            <p:nvPr/>
          </p:nvSpPr>
          <p:spPr>
            <a:xfrm>
              <a:off x="4675505" y="4725168"/>
              <a:ext cx="995045" cy="216000"/>
            </a:xfrm>
            <a:prstGeom prst="roundRect">
              <a:avLst/>
            </a:prstGeom>
            <a:solidFill>
              <a:srgbClr val="066FBB"/>
            </a:solidFill>
            <a:ln w="9525" algn="ctr">
              <a:noFill/>
              <a:round/>
            </a:ln>
          </p:spPr>
          <p:txBody>
            <a:bodyPr vert="horz" wrap="square" lIns="0" tIns="0" rIns="0" bIns="0" numCol="1" spcCol="0" rtlCol="0" fromWordArt="0" anchor="ctr" anchorCtr="0" forceAA="0" compatLnSpc="0">
              <a:noAutofit/>
            </a:bodyPr>
            <a:lstStyle/>
            <a:p>
              <a:pPr lvl="0" algn="ctr">
                <a:buClrTx/>
                <a:buSzTx/>
                <a:buFontTx/>
              </a:pPr>
              <a:r>
                <a:rPr lang="en-US" altLang="zh-CN" sz="800" b="1" dirty="0">
                  <a:solidFill>
                    <a:srgbClr val="FFFFFF"/>
                  </a:solidFill>
                  <a:latin typeface="微软雅黑" pitchFamily="34" charset="-122"/>
                  <a:ea typeface="微软雅黑" pitchFamily="34" charset="-122"/>
                  <a:sym typeface="+mn-ea"/>
                </a:rPr>
                <a:t>分析管理</a:t>
              </a:r>
            </a:p>
          </p:txBody>
        </p:sp>
        <p:sp>
          <p:nvSpPr>
            <p:cNvPr id="56" name="圆角矩形 93"/>
            <p:cNvSpPr/>
            <p:nvPr/>
          </p:nvSpPr>
          <p:spPr>
            <a:xfrm>
              <a:off x="4675505" y="4437136"/>
              <a:ext cx="995045" cy="216000"/>
            </a:xfrm>
            <a:prstGeom prst="roundRect">
              <a:avLst/>
            </a:prstGeom>
            <a:solidFill>
              <a:srgbClr val="066FBB"/>
            </a:solidFill>
            <a:ln w="9525" algn="ctr">
              <a:noFill/>
              <a:round/>
            </a:ln>
          </p:spPr>
          <p:txBody>
            <a:bodyPr vert="horz" wrap="square" lIns="0" tIns="0" rIns="0" bIns="0" numCol="1" spcCol="0" rtlCol="0" fromWordArt="0" anchor="ctr" anchorCtr="0" forceAA="0" compatLnSpc="0">
              <a:noAutofit/>
            </a:bodyPr>
            <a:lstStyle/>
            <a:p>
              <a:pPr lvl="0" algn="ctr">
                <a:buClrTx/>
                <a:buSzTx/>
                <a:buFontTx/>
              </a:pPr>
              <a:r>
                <a:rPr lang="en-US" altLang="zh-CN" sz="800" b="1" dirty="0">
                  <a:solidFill>
                    <a:srgbClr val="FFFFFF"/>
                  </a:solidFill>
                  <a:latin typeface="微软雅黑" pitchFamily="34" charset="-122"/>
                  <a:ea typeface="微软雅黑" pitchFamily="34" charset="-122"/>
                  <a:sym typeface="+mn-ea"/>
                </a:rPr>
                <a:t>基础支撑</a:t>
              </a:r>
            </a:p>
          </p:txBody>
        </p:sp>
        <p:sp>
          <p:nvSpPr>
            <p:cNvPr id="101" name="圆角矩形 94"/>
            <p:cNvSpPr/>
            <p:nvPr/>
          </p:nvSpPr>
          <p:spPr>
            <a:xfrm>
              <a:off x="5724525" y="4725168"/>
              <a:ext cx="995045" cy="216000"/>
            </a:xfrm>
            <a:prstGeom prst="roundRect">
              <a:avLst/>
            </a:prstGeom>
            <a:solidFill>
              <a:srgbClr val="066FBB"/>
            </a:solidFill>
            <a:ln w="9525" algn="ctr">
              <a:noFill/>
              <a:round/>
            </a:ln>
          </p:spPr>
          <p:txBody>
            <a:bodyPr vert="horz" wrap="square" lIns="0" tIns="0" rIns="0" bIns="0" numCol="1" spcCol="0" rtlCol="0" fromWordArt="0" anchor="ctr" anchorCtr="0" forceAA="0" compatLnSpc="0">
              <a:noAutofit/>
            </a:bodyPr>
            <a:lstStyle/>
            <a:p>
              <a:pPr lvl="0" algn="ctr">
                <a:buClrTx/>
                <a:buSzTx/>
                <a:buFontTx/>
              </a:pPr>
              <a:r>
                <a:rPr lang="en-US" altLang="zh-CN" sz="800" b="1" dirty="0">
                  <a:solidFill>
                    <a:srgbClr val="FFFFFF"/>
                  </a:solidFill>
                  <a:latin typeface="微软雅黑" pitchFamily="34" charset="-122"/>
                  <a:ea typeface="微软雅黑" pitchFamily="34" charset="-122"/>
                  <a:sym typeface="+mn-ea"/>
                </a:rPr>
                <a:t>能力开放</a:t>
              </a:r>
            </a:p>
          </p:txBody>
        </p:sp>
        <p:sp>
          <p:nvSpPr>
            <p:cNvPr id="103" name="圆角矩形 97"/>
            <p:cNvSpPr/>
            <p:nvPr/>
          </p:nvSpPr>
          <p:spPr>
            <a:xfrm>
              <a:off x="5724525" y="4437136"/>
              <a:ext cx="995045" cy="216000"/>
            </a:xfrm>
            <a:prstGeom prst="roundRect">
              <a:avLst/>
            </a:prstGeom>
            <a:solidFill>
              <a:srgbClr val="066FBB"/>
            </a:solidFill>
            <a:ln w="9525" algn="ctr">
              <a:noFill/>
              <a:round/>
            </a:ln>
          </p:spPr>
          <p:txBody>
            <a:bodyPr vert="horz" wrap="square" lIns="0" tIns="0" rIns="0" bIns="0" numCol="1" spcCol="0" rtlCol="0" fromWordArt="0" anchor="ctr" anchorCtr="0" forceAA="0" compatLnSpc="0">
              <a:noAutofit/>
            </a:bodyPr>
            <a:lstStyle/>
            <a:p>
              <a:pPr lvl="0" algn="ctr">
                <a:buClrTx/>
                <a:buSzTx/>
                <a:buFontTx/>
              </a:pPr>
              <a:r>
                <a:rPr lang="en-US" altLang="zh-CN" sz="800" b="1" dirty="0">
                  <a:solidFill>
                    <a:srgbClr val="FFFFFF"/>
                  </a:solidFill>
                  <a:latin typeface="微软雅黑" pitchFamily="34" charset="-122"/>
                  <a:ea typeface="微软雅黑" pitchFamily="34" charset="-122"/>
                  <a:sym typeface="+mn-ea"/>
                </a:rPr>
                <a:t>业务服务工具</a:t>
              </a:r>
            </a:p>
          </p:txBody>
        </p:sp>
        <p:sp>
          <p:nvSpPr>
            <p:cNvPr id="112" name="矩形: 圆角 12"/>
            <p:cNvSpPr/>
            <p:nvPr>
              <p:custDataLst>
                <p:tags r:id="rId37"/>
              </p:custDataLst>
            </p:nvPr>
          </p:nvSpPr>
          <p:spPr>
            <a:xfrm>
              <a:off x="2452370" y="4437136"/>
              <a:ext cx="905510" cy="216000"/>
            </a:xfrm>
            <a:prstGeom prst="roundRect">
              <a:avLst/>
            </a:prstGeom>
            <a:solidFill>
              <a:srgbClr val="167D4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vert="horz" wrap="square" numCol="1" spcCol="0" rtlCol="0" fromWordArt="0" anchor="ctr" anchorCtr="0" forceAA="0" compatLnSpc="0">
              <a:noAutofit/>
            </a:bodyPr>
            <a:lstStyle/>
            <a:p>
              <a:pPr lvl="0" algn="ctr">
                <a:buClrTx/>
                <a:buSzTx/>
                <a:buFontTx/>
              </a:pPr>
              <a:r>
                <a:rPr lang="zh-CN" altLang="en-US" sz="800" b="1" kern="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  <a:sym typeface="+mn-ea"/>
                </a:rPr>
                <a:t>数据管理</a:t>
              </a:r>
            </a:p>
          </p:txBody>
        </p:sp>
        <p:sp>
          <p:nvSpPr>
            <p:cNvPr id="113" name="矩形: 圆角 12"/>
            <p:cNvSpPr/>
            <p:nvPr>
              <p:custDataLst>
                <p:tags r:id="rId38"/>
              </p:custDataLst>
            </p:nvPr>
          </p:nvSpPr>
          <p:spPr>
            <a:xfrm>
              <a:off x="2452370" y="4725168"/>
              <a:ext cx="905510" cy="216000"/>
            </a:xfrm>
            <a:prstGeom prst="roundRect">
              <a:avLst/>
            </a:prstGeom>
            <a:solidFill>
              <a:srgbClr val="167D4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vert="horz" wrap="square" numCol="1" spcCol="0" rtlCol="0" fromWordArt="0" anchor="ctr" anchorCtr="0" forceAA="0" compatLnSpc="0">
              <a:noAutofit/>
            </a:bodyPr>
            <a:lstStyle/>
            <a:p>
              <a:pPr lvl="0" algn="ctr">
                <a:buClrTx/>
                <a:buSzTx/>
                <a:buFontTx/>
              </a:pPr>
              <a:r>
                <a:rPr lang="zh-CN" altLang="en-US" sz="800" b="1" kern="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  <a:sym typeface="+mn-ea"/>
                </a:rPr>
                <a:t>数据治理</a:t>
              </a:r>
            </a:p>
          </p:txBody>
        </p:sp>
        <p:sp>
          <p:nvSpPr>
            <p:cNvPr id="114" name="矩形: 圆角 12"/>
            <p:cNvSpPr/>
            <p:nvPr>
              <p:custDataLst>
                <p:tags r:id="rId39"/>
              </p:custDataLst>
            </p:nvPr>
          </p:nvSpPr>
          <p:spPr>
            <a:xfrm>
              <a:off x="3484880" y="4437136"/>
              <a:ext cx="905510" cy="216000"/>
            </a:xfrm>
            <a:prstGeom prst="roundRect">
              <a:avLst/>
            </a:prstGeom>
            <a:solidFill>
              <a:srgbClr val="167D4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vert="horz" wrap="square" numCol="1" spcCol="0" rtlCol="0" fromWordArt="0" anchor="ctr" anchorCtr="0" forceAA="0" compatLnSpc="0">
              <a:noAutofit/>
            </a:bodyPr>
            <a:lstStyle/>
            <a:p>
              <a:pPr lvl="0" algn="ctr">
                <a:buClrTx/>
                <a:buSzTx/>
                <a:buFontTx/>
              </a:pPr>
              <a:r>
                <a:rPr lang="zh-CN" altLang="en-US" sz="800" b="1" kern="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  <a:sym typeface="+mn-ea"/>
                </a:rPr>
                <a:t>数据服务</a:t>
              </a:r>
            </a:p>
          </p:txBody>
        </p:sp>
        <p:sp>
          <p:nvSpPr>
            <p:cNvPr id="115" name="矩形: 圆角 12"/>
            <p:cNvSpPr/>
            <p:nvPr>
              <p:custDataLst>
                <p:tags r:id="rId40"/>
              </p:custDataLst>
            </p:nvPr>
          </p:nvSpPr>
          <p:spPr>
            <a:xfrm>
              <a:off x="3484880" y="4725168"/>
              <a:ext cx="905510" cy="216000"/>
            </a:xfrm>
            <a:prstGeom prst="roundRect">
              <a:avLst/>
            </a:prstGeom>
            <a:solidFill>
              <a:srgbClr val="167D4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vert="horz" wrap="square" numCol="1" spcCol="0" rtlCol="0" fromWordArt="0" anchor="ctr" anchorCtr="0" forceAA="0" compatLnSpc="0">
              <a:noAutofit/>
            </a:bodyPr>
            <a:lstStyle/>
            <a:p>
              <a:pPr lvl="0" algn="ctr">
                <a:buClrTx/>
                <a:buSzTx/>
                <a:buFontTx/>
              </a:pPr>
              <a:r>
                <a:rPr lang="zh-CN" altLang="en-US" sz="800" b="1" kern="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  <a:sym typeface="+mn-ea"/>
                </a:rPr>
                <a:t>数据安全</a:t>
              </a:r>
            </a:p>
          </p:txBody>
        </p:sp>
        <p:sp>
          <p:nvSpPr>
            <p:cNvPr id="118" name="文本框 117"/>
            <p:cNvSpPr txBox="1"/>
            <p:nvPr>
              <p:custDataLst>
                <p:tags r:id="rId41"/>
              </p:custDataLst>
            </p:nvPr>
          </p:nvSpPr>
          <p:spPr>
            <a:xfrm>
              <a:off x="4619625" y="4149080"/>
              <a:ext cx="2160905" cy="28725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 algn="ctr">
                <a:buClrTx/>
                <a:buSzTx/>
                <a:buFontTx/>
              </a:pPr>
              <a:r>
                <a:rPr lang="zh-CN" altLang="en-US" sz="800" b="1" dirty="0">
                  <a:latin typeface="微软雅黑" pitchFamily="34" charset="-122"/>
                  <a:ea typeface="微软雅黑" pitchFamily="34" charset="-122"/>
                  <a:sym typeface="+mn-lt"/>
                </a:rPr>
                <a:t>业务中台</a:t>
              </a:r>
            </a:p>
          </p:txBody>
        </p:sp>
        <p:sp>
          <p:nvSpPr>
            <p:cNvPr id="6" name="矩形 5"/>
            <p:cNvSpPr/>
            <p:nvPr>
              <p:custDataLst>
                <p:tags r:id="rId42"/>
              </p:custDataLst>
            </p:nvPr>
          </p:nvSpPr>
          <p:spPr>
            <a:xfrm>
              <a:off x="6811010" y="4103742"/>
              <a:ext cx="2877820" cy="906145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FFFFFF">
                  <a:lumMod val="85000"/>
                </a:srgbClr>
              </a:solidFill>
            </a:ln>
          </p:spPr>
          <p:style>
            <a:lnRef idx="2">
              <a:srgbClr val="006EFF">
                <a:shade val="50000"/>
              </a:srgbClr>
            </a:lnRef>
            <a:fillRef idx="1">
              <a:srgbClr val="006EFF"/>
            </a:fillRef>
            <a:effectRef idx="0">
              <a:srgbClr val="006EFF"/>
            </a:effectRef>
            <a:fontRef idx="minor">
              <a:srgbClr val="FFFFFF"/>
            </a:fontRef>
          </p:style>
          <p:txBody>
            <a:bodyPr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 b="1" dirty="0">
                <a:latin typeface="微软雅黑" pitchFamily="34" charset="-122"/>
                <a:ea typeface="微软雅黑" pitchFamily="34" charset="-122"/>
                <a:sym typeface="+mn-lt"/>
              </a:endParaRPr>
            </a:p>
          </p:txBody>
        </p:sp>
        <p:sp>
          <p:nvSpPr>
            <p:cNvPr id="7" name="圆角矩形 91"/>
            <p:cNvSpPr/>
            <p:nvPr/>
          </p:nvSpPr>
          <p:spPr>
            <a:xfrm>
              <a:off x="7779385" y="4725168"/>
              <a:ext cx="906780" cy="216000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 w="9525" algn="ctr">
              <a:noFill/>
              <a:round/>
            </a:ln>
          </p:spPr>
          <p:txBody>
            <a:bodyPr vert="horz" wrap="square" lIns="0" tIns="0" rIns="0" bIns="0" numCol="1" spcCol="0" rtlCol="0" fromWordArt="0" anchor="ctr" anchorCtr="0" forceAA="0" compatLnSpc="0">
              <a:noAutofit/>
            </a:bodyPr>
            <a:lstStyle/>
            <a:p>
              <a:pPr lvl="0" algn="ctr">
                <a:buClrTx/>
                <a:buSzTx/>
                <a:buFontTx/>
              </a:pPr>
              <a:r>
                <a:rPr lang="zh-CN" altLang="en-US" sz="800" b="1" dirty="0">
                  <a:latin typeface="微软雅黑" pitchFamily="34" charset="-122"/>
                  <a:ea typeface="微软雅黑" pitchFamily="34" charset="-122"/>
                  <a:sym typeface="+mn-ea"/>
                </a:rPr>
                <a:t>算力调度</a:t>
              </a:r>
              <a:r>
                <a:rPr lang="en-US" altLang="zh-CN" sz="800" b="1" dirty="0">
                  <a:latin typeface="微软雅黑" pitchFamily="34" charset="-122"/>
                  <a:ea typeface="微软雅黑" pitchFamily="34" charset="-122"/>
                  <a:sym typeface="+mn-ea"/>
                </a:rPr>
                <a:t>管理</a:t>
              </a:r>
            </a:p>
          </p:txBody>
        </p:sp>
        <p:sp>
          <p:nvSpPr>
            <p:cNvPr id="17" name="圆角矩形 93"/>
            <p:cNvSpPr/>
            <p:nvPr/>
          </p:nvSpPr>
          <p:spPr>
            <a:xfrm>
              <a:off x="7782878" y="4437136"/>
              <a:ext cx="899795" cy="216000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 w="9525" algn="ctr">
              <a:noFill/>
              <a:round/>
            </a:ln>
          </p:spPr>
          <p:txBody>
            <a:bodyPr vert="horz" wrap="square" lIns="0" tIns="0" rIns="0" bIns="0" numCol="1" spcCol="0" rtlCol="0" fromWordArt="0" anchor="ctr" anchorCtr="0" forceAA="0" compatLnSpc="0">
              <a:noAutofit/>
            </a:bodyPr>
            <a:lstStyle/>
            <a:p>
              <a:pPr lvl="0" algn="ctr">
                <a:buClrTx/>
                <a:buSzTx/>
                <a:buFontTx/>
              </a:pPr>
              <a:r>
                <a:rPr lang="zh-CN" altLang="en-US" sz="800" b="1" dirty="0">
                  <a:latin typeface="微软雅黑" pitchFamily="34" charset="-122"/>
                  <a:ea typeface="微软雅黑" pitchFamily="34" charset="-122"/>
                  <a:sym typeface="+mn-ea"/>
                </a:rPr>
                <a:t>模型开发管理</a:t>
              </a:r>
            </a:p>
          </p:txBody>
        </p:sp>
        <p:sp>
          <p:nvSpPr>
            <p:cNvPr id="18" name="圆角矩形 94"/>
            <p:cNvSpPr/>
            <p:nvPr/>
          </p:nvSpPr>
          <p:spPr>
            <a:xfrm>
              <a:off x="8725535" y="4725168"/>
              <a:ext cx="889000" cy="216000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 w="9525" algn="ctr">
              <a:noFill/>
              <a:round/>
            </a:ln>
          </p:spPr>
          <p:txBody>
            <a:bodyPr vert="horz" wrap="square" lIns="0" tIns="0" rIns="0" bIns="0" numCol="1" spcCol="0" rtlCol="0" fromWordArt="0" anchor="ctr" anchorCtr="0" forceAA="0" compatLnSpc="0">
              <a:noAutofit/>
            </a:bodyPr>
            <a:lstStyle/>
            <a:p>
              <a:pPr lvl="0" algn="ctr">
                <a:buClrTx/>
                <a:buSzTx/>
                <a:buFontTx/>
              </a:pPr>
              <a:r>
                <a:rPr lang="zh-CN" altLang="en-US" sz="800" b="1" dirty="0">
                  <a:latin typeface="微软雅黑" pitchFamily="34" charset="-122"/>
                  <a:ea typeface="微软雅黑" pitchFamily="34" charset="-122"/>
                  <a:sym typeface="+mn-ea"/>
                </a:rPr>
                <a:t>模型供给管理</a:t>
              </a:r>
            </a:p>
          </p:txBody>
        </p:sp>
        <p:sp>
          <p:nvSpPr>
            <p:cNvPr id="19" name="圆角矩形 97"/>
            <p:cNvSpPr/>
            <p:nvPr/>
          </p:nvSpPr>
          <p:spPr>
            <a:xfrm>
              <a:off x="8725535" y="4437136"/>
              <a:ext cx="882015" cy="216000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 w="9525" algn="ctr">
              <a:noFill/>
              <a:round/>
            </a:ln>
          </p:spPr>
          <p:txBody>
            <a:bodyPr vert="horz" wrap="square" lIns="0" tIns="0" rIns="0" bIns="0" numCol="1" spcCol="0" rtlCol="0" fromWordArt="0" anchor="ctr" anchorCtr="0" forceAA="0" compatLnSpc="0">
              <a:noAutofit/>
            </a:bodyPr>
            <a:lstStyle/>
            <a:p>
              <a:pPr lvl="0" algn="ctr">
                <a:buClrTx/>
                <a:buSzTx/>
                <a:buFontTx/>
              </a:pPr>
              <a:r>
                <a:rPr lang="zh-CN" altLang="en-US" sz="800" b="1" dirty="0">
                  <a:latin typeface="微软雅黑" pitchFamily="34" charset="-122"/>
                  <a:ea typeface="微软雅黑" pitchFamily="34" charset="-122"/>
                  <a:sym typeface="+mn-ea"/>
                </a:rPr>
                <a:t>知识库管理</a:t>
              </a:r>
            </a:p>
          </p:txBody>
        </p:sp>
        <p:sp>
          <p:nvSpPr>
            <p:cNvPr id="20" name="文本框 19"/>
            <p:cNvSpPr txBox="1"/>
            <p:nvPr>
              <p:custDataLst>
                <p:tags r:id="rId43"/>
              </p:custDataLst>
            </p:nvPr>
          </p:nvSpPr>
          <p:spPr>
            <a:xfrm>
              <a:off x="6811646" y="4149080"/>
              <a:ext cx="2877184" cy="28725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 algn="ctr">
                <a:buClrTx/>
                <a:buSzTx/>
                <a:buFontTx/>
              </a:pPr>
              <a:r>
                <a:rPr lang="zh-CN" altLang="en-US" sz="800" b="1" dirty="0">
                  <a:latin typeface="微软雅黑" pitchFamily="34" charset="-122"/>
                  <a:ea typeface="微软雅黑" pitchFamily="34" charset="-122"/>
                  <a:sym typeface="+mn-lt"/>
                </a:rPr>
                <a:t>技术中台</a:t>
              </a:r>
            </a:p>
          </p:txBody>
        </p:sp>
        <p:sp>
          <p:nvSpPr>
            <p:cNvPr id="23" name="圆角矩形 93"/>
            <p:cNvSpPr/>
            <p:nvPr/>
          </p:nvSpPr>
          <p:spPr>
            <a:xfrm>
              <a:off x="6898005" y="4437136"/>
              <a:ext cx="842010" cy="216000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 w="9525" algn="ctr">
              <a:noFill/>
              <a:round/>
            </a:ln>
          </p:spPr>
          <p:txBody>
            <a:bodyPr vert="horz" wrap="square" lIns="0" tIns="0" rIns="0" bIns="0" numCol="1" spcCol="0" rtlCol="0" fromWordArt="0" anchor="ctr" anchorCtr="0" forceAA="0" compatLnSpc="0">
              <a:noAutofit/>
            </a:bodyPr>
            <a:lstStyle/>
            <a:p>
              <a:pPr lvl="0" algn="ctr">
                <a:buClrTx/>
                <a:buSzTx/>
                <a:buFontTx/>
              </a:pPr>
              <a:r>
                <a:rPr lang="zh-CN" altLang="en-US" sz="800" b="1" dirty="0">
                  <a:latin typeface="微软雅黑" pitchFamily="34" charset="-122"/>
                  <a:ea typeface="微软雅黑" pitchFamily="34" charset="-122"/>
                  <a:sym typeface="+mn-ea"/>
                </a:rPr>
                <a:t>数据集管理</a:t>
              </a:r>
            </a:p>
          </p:txBody>
        </p:sp>
        <p:sp>
          <p:nvSpPr>
            <p:cNvPr id="24" name="圆角矩形 93"/>
            <p:cNvSpPr/>
            <p:nvPr/>
          </p:nvSpPr>
          <p:spPr>
            <a:xfrm>
              <a:off x="6898005" y="4725168"/>
              <a:ext cx="842010" cy="216000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 w="9525" algn="ctr">
              <a:noFill/>
              <a:round/>
            </a:ln>
          </p:spPr>
          <p:txBody>
            <a:bodyPr vert="horz" wrap="square" lIns="0" tIns="0" rIns="0" bIns="0" numCol="1" spcCol="0" rtlCol="0" fromWordArt="0" anchor="ctr" anchorCtr="0" forceAA="0" compatLnSpc="0">
              <a:noAutofit/>
            </a:bodyPr>
            <a:lstStyle/>
            <a:p>
              <a:pPr lvl="0" algn="ctr">
                <a:buClrTx/>
                <a:buSzTx/>
                <a:buFontTx/>
              </a:pPr>
              <a:r>
                <a:rPr lang="zh-CN" altLang="en-US" sz="800" b="1" dirty="0">
                  <a:latin typeface="微软雅黑" pitchFamily="34" charset="-122"/>
                  <a:ea typeface="微软雅黑" pitchFamily="34" charset="-122"/>
                  <a:sym typeface="+mn-ea"/>
                </a:rPr>
                <a:t>智能体管理</a:t>
              </a:r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1230631" y="3909542"/>
            <a:ext cx="6035993" cy="674770"/>
            <a:chOff x="1640840" y="5085182"/>
            <a:chExt cx="8047990" cy="899693"/>
          </a:xfrm>
        </p:grpSpPr>
        <p:sp>
          <p:nvSpPr>
            <p:cNvPr id="122" name="矩形 121"/>
            <p:cNvSpPr/>
            <p:nvPr/>
          </p:nvSpPr>
          <p:spPr>
            <a:xfrm>
              <a:off x="2339975" y="5085182"/>
              <a:ext cx="7348855" cy="346607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FFFFFF">
                  <a:lumMod val="85000"/>
                </a:srgbClr>
              </a:solidFill>
            </a:ln>
          </p:spPr>
          <p:style>
            <a:lnRef idx="2">
              <a:srgbClr val="006EFF">
                <a:shade val="50000"/>
              </a:srgbClr>
            </a:lnRef>
            <a:fillRef idx="1">
              <a:srgbClr val="006EFF"/>
            </a:fillRef>
            <a:effectRef idx="0">
              <a:srgbClr val="006EFF"/>
            </a:effectRef>
            <a:fontRef idx="minor">
              <a:srgbClr val="FFFFFF"/>
            </a:fontRef>
          </p:style>
          <p:txBody>
            <a:bodyPr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 b="1">
                <a:latin typeface="微软雅黑" pitchFamily="34" charset="-122"/>
                <a:ea typeface="微软雅黑" pitchFamily="34" charset="-122"/>
                <a:sym typeface="+mn-lt"/>
              </a:endParaRPr>
            </a:p>
          </p:txBody>
        </p:sp>
        <p:sp>
          <p:nvSpPr>
            <p:cNvPr id="80" name="矩形 79"/>
            <p:cNvSpPr/>
            <p:nvPr/>
          </p:nvSpPr>
          <p:spPr>
            <a:xfrm>
              <a:off x="2339975" y="5451475"/>
              <a:ext cx="7348855" cy="533400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FFFFFF">
                  <a:lumMod val="85000"/>
                </a:srgbClr>
              </a:solidFill>
            </a:ln>
          </p:spPr>
          <p:style>
            <a:lnRef idx="2">
              <a:srgbClr val="006EFF">
                <a:shade val="50000"/>
              </a:srgbClr>
            </a:lnRef>
            <a:fillRef idx="1">
              <a:srgbClr val="006EFF"/>
            </a:fillRef>
            <a:effectRef idx="0">
              <a:srgbClr val="006EFF"/>
            </a:effectRef>
            <a:fontRef idx="minor">
              <a:srgbClr val="FFFFFF"/>
            </a:fontRef>
          </p:style>
          <p:txBody>
            <a:bodyPr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 b="1">
                <a:latin typeface="微软雅黑" pitchFamily="34" charset="-122"/>
                <a:ea typeface="微软雅黑" pitchFamily="34" charset="-122"/>
                <a:sym typeface="+mn-lt"/>
              </a:endParaRPr>
            </a:p>
          </p:txBody>
        </p:sp>
        <p:sp>
          <p:nvSpPr>
            <p:cNvPr id="35" name="矩形 34"/>
            <p:cNvSpPr/>
            <p:nvPr/>
          </p:nvSpPr>
          <p:spPr>
            <a:xfrm>
              <a:off x="1640840" y="5085183"/>
              <a:ext cx="650875" cy="893977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1B1B1B"/>
              </a:solidFill>
            </a:ln>
          </p:spPr>
          <p:style>
            <a:lnRef idx="2">
              <a:srgbClr val="006EFF">
                <a:shade val="50000"/>
              </a:srgbClr>
            </a:lnRef>
            <a:fillRef idx="1">
              <a:srgbClr val="006EFF"/>
            </a:fillRef>
            <a:effectRef idx="0">
              <a:srgbClr val="006EFF"/>
            </a:effectRef>
            <a:fontRef idx="minor">
              <a:srgbClr val="FFFFFF"/>
            </a:fontRef>
          </p:style>
          <p:txBody>
            <a:bodyPr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  <a:defRPr/>
              </a:pPr>
              <a:r>
                <a:rPr lang="zh-CN" altLang="en-US" sz="900" b="1" kern="0" dirty="0">
                  <a:solidFill>
                    <a:srgbClr val="1B1B1B"/>
                  </a:solidFill>
                  <a:latin typeface="微软雅黑" pitchFamily="34" charset="-122"/>
                  <a:ea typeface="微软雅黑" pitchFamily="34" charset="-122"/>
                  <a:sym typeface="+mn-ea"/>
                </a:rPr>
                <a:t>数据层</a:t>
              </a:r>
            </a:p>
          </p:txBody>
        </p:sp>
        <p:sp>
          <p:nvSpPr>
            <p:cNvPr id="68" name="矩形: 圆角 12"/>
            <p:cNvSpPr/>
            <p:nvPr>
              <p:custDataLst>
                <p:tags r:id="rId22"/>
              </p:custDataLst>
            </p:nvPr>
          </p:nvSpPr>
          <p:spPr>
            <a:xfrm>
              <a:off x="5533766" y="5535295"/>
              <a:ext cx="960000" cy="192000"/>
            </a:xfrm>
            <a:prstGeom prst="roundRect">
              <a:avLst/>
            </a:prstGeom>
            <a:solidFill>
              <a:srgbClr val="066FBB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>
              <a:noAutofit/>
            </a:bodyPr>
            <a:lstStyle/>
            <a:p>
              <a:pPr lvl="0" algn="ctr">
                <a:buClrTx/>
                <a:buSzTx/>
                <a:buFontTx/>
                <a:defRPr/>
              </a:pPr>
              <a:r>
                <a:rPr lang="zh-CN" altLang="en-US" sz="800" b="1" dirty="0">
                  <a:solidFill>
                    <a:srgbClr val="FFFFFF"/>
                  </a:solidFill>
                  <a:latin typeface="微软雅黑" pitchFamily="34" charset="-122"/>
                  <a:ea typeface="微软雅黑" pitchFamily="34" charset="-122"/>
                  <a:sym typeface="+mn-ea"/>
                </a:rPr>
                <a:t>机构资源库</a:t>
              </a:r>
            </a:p>
          </p:txBody>
        </p:sp>
        <p:sp>
          <p:nvSpPr>
            <p:cNvPr id="69" name="矩形: 圆角 12"/>
            <p:cNvSpPr/>
            <p:nvPr>
              <p:custDataLst>
                <p:tags r:id="rId23"/>
              </p:custDataLst>
            </p:nvPr>
          </p:nvSpPr>
          <p:spPr>
            <a:xfrm>
              <a:off x="6568518" y="5535295"/>
              <a:ext cx="960000" cy="192000"/>
            </a:xfrm>
            <a:prstGeom prst="roundRect">
              <a:avLst/>
            </a:prstGeom>
            <a:solidFill>
              <a:srgbClr val="066FBB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>
              <a:noAutofit/>
            </a:bodyPr>
            <a:lstStyle/>
            <a:p>
              <a:pPr lvl="0" algn="ctr">
                <a:buClrTx/>
                <a:buSzTx/>
                <a:buFontTx/>
                <a:defRPr/>
              </a:pPr>
              <a:r>
                <a:rPr lang="zh-CN" altLang="en-US" sz="800" b="1">
                  <a:solidFill>
                    <a:srgbClr val="FFFFFF"/>
                  </a:solidFill>
                  <a:latin typeface="微软雅黑" pitchFamily="34" charset="-122"/>
                  <a:ea typeface="微软雅黑" pitchFamily="34" charset="-122"/>
                  <a:sym typeface="+mn-ea"/>
                </a:rPr>
                <a:t>产业信息库</a:t>
              </a:r>
            </a:p>
          </p:txBody>
        </p:sp>
        <p:sp>
          <p:nvSpPr>
            <p:cNvPr id="72" name="矩形: 圆角 12"/>
            <p:cNvSpPr/>
            <p:nvPr>
              <p:custDataLst>
                <p:tags r:id="rId24"/>
              </p:custDataLst>
            </p:nvPr>
          </p:nvSpPr>
          <p:spPr>
            <a:xfrm>
              <a:off x="7603270" y="5535295"/>
              <a:ext cx="960000" cy="192000"/>
            </a:xfrm>
            <a:prstGeom prst="roundRect">
              <a:avLst/>
            </a:prstGeom>
            <a:solidFill>
              <a:srgbClr val="066FBB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>
              <a:noAutofit/>
            </a:bodyPr>
            <a:lstStyle/>
            <a:p>
              <a:pPr lvl="0" algn="ctr">
                <a:buClrTx/>
                <a:buSzTx/>
                <a:buFontTx/>
                <a:defRPr/>
              </a:pPr>
              <a:r>
                <a:rPr lang="zh-CN" altLang="en-US" sz="800" b="1" dirty="0">
                  <a:solidFill>
                    <a:srgbClr val="FFFFFF"/>
                  </a:solidFill>
                  <a:latin typeface="微软雅黑" pitchFamily="34" charset="-122"/>
                  <a:ea typeface="微软雅黑" pitchFamily="34" charset="-122"/>
                  <a:sym typeface="+mn-ea"/>
                </a:rPr>
                <a:t>服务机构库</a:t>
              </a:r>
            </a:p>
          </p:txBody>
        </p:sp>
        <p:sp>
          <p:nvSpPr>
            <p:cNvPr id="75" name="矩形: 圆角 12"/>
            <p:cNvSpPr/>
            <p:nvPr>
              <p:custDataLst>
                <p:tags r:id="rId25"/>
              </p:custDataLst>
            </p:nvPr>
          </p:nvSpPr>
          <p:spPr>
            <a:xfrm>
              <a:off x="2429511" y="5535295"/>
              <a:ext cx="960000" cy="192000"/>
            </a:xfrm>
            <a:prstGeom prst="roundRect">
              <a:avLst/>
            </a:prstGeom>
            <a:solidFill>
              <a:srgbClr val="066FBB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r>
                <a:rPr lang="zh-CN" altLang="en-US" sz="800" b="1" dirty="0">
                  <a:solidFill>
                    <a:srgbClr val="FFFFFF"/>
                  </a:solidFill>
                  <a:latin typeface="微软雅黑" pitchFamily="34" charset="-122"/>
                  <a:ea typeface="微软雅黑" pitchFamily="34" charset="-122"/>
                </a:rPr>
                <a:t>政策</a:t>
              </a:r>
              <a:r>
                <a:rPr lang="zh-CN" altLang="en-US" sz="800" b="1" kern="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信息库</a:t>
              </a:r>
            </a:p>
          </p:txBody>
        </p:sp>
        <p:sp>
          <p:nvSpPr>
            <p:cNvPr id="84" name="矩形: 圆角 12"/>
            <p:cNvSpPr/>
            <p:nvPr>
              <p:custDataLst>
                <p:tags r:id="rId26"/>
              </p:custDataLst>
            </p:nvPr>
          </p:nvSpPr>
          <p:spPr>
            <a:xfrm>
              <a:off x="3464263" y="5535295"/>
              <a:ext cx="960000" cy="192000"/>
            </a:xfrm>
            <a:prstGeom prst="roundRect">
              <a:avLst/>
            </a:prstGeom>
            <a:solidFill>
              <a:srgbClr val="066FBB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>
              <a:noAutofit/>
            </a:bodyPr>
            <a:lstStyle/>
            <a:p>
              <a:pPr lvl="0" algn="ctr">
                <a:buClrTx/>
                <a:buSzTx/>
                <a:buFontTx/>
                <a:defRPr/>
              </a:pPr>
              <a:r>
                <a:rPr lang="zh-CN" altLang="en-US" sz="800" b="1" dirty="0">
                  <a:solidFill>
                    <a:srgbClr val="FFFFFF"/>
                  </a:solidFill>
                  <a:latin typeface="微软雅黑" pitchFamily="34" charset="-122"/>
                  <a:ea typeface="微软雅黑" pitchFamily="34" charset="-122"/>
                  <a:sym typeface="+mn-ea"/>
                </a:rPr>
                <a:t>平台信息库</a:t>
              </a:r>
            </a:p>
          </p:txBody>
        </p:sp>
        <p:sp>
          <p:nvSpPr>
            <p:cNvPr id="89" name="矩形: 圆角 12"/>
            <p:cNvSpPr/>
            <p:nvPr>
              <p:custDataLst>
                <p:tags r:id="rId27"/>
              </p:custDataLst>
            </p:nvPr>
          </p:nvSpPr>
          <p:spPr>
            <a:xfrm>
              <a:off x="4499014" y="5535295"/>
              <a:ext cx="960000" cy="192000"/>
            </a:xfrm>
            <a:prstGeom prst="roundRect">
              <a:avLst/>
            </a:prstGeom>
            <a:solidFill>
              <a:srgbClr val="066FBB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>
              <a:noAutofit/>
            </a:bodyPr>
            <a:lstStyle/>
            <a:p>
              <a:pPr lvl="0" algn="ctr">
                <a:buClrTx/>
                <a:buSzTx/>
                <a:buFontTx/>
                <a:defRPr/>
              </a:pPr>
              <a:r>
                <a:rPr lang="zh-CN" altLang="en-US" sz="800" b="1">
                  <a:solidFill>
                    <a:srgbClr val="FFFFFF"/>
                  </a:solidFill>
                  <a:latin typeface="微软雅黑" pitchFamily="34" charset="-122"/>
                  <a:ea typeface="微软雅黑" pitchFamily="34" charset="-122"/>
                  <a:sym typeface="+mn-ea"/>
                </a:rPr>
                <a:t>成果信息库</a:t>
              </a:r>
            </a:p>
          </p:txBody>
        </p:sp>
        <p:sp>
          <p:nvSpPr>
            <p:cNvPr id="73" name="矩形: 圆角 12"/>
            <p:cNvSpPr/>
            <p:nvPr>
              <p:custDataLst>
                <p:tags r:id="rId28"/>
              </p:custDataLst>
            </p:nvPr>
          </p:nvSpPr>
          <p:spPr>
            <a:xfrm>
              <a:off x="5533766" y="5757544"/>
              <a:ext cx="960000" cy="192000"/>
            </a:xfrm>
            <a:prstGeom prst="roundRect">
              <a:avLst/>
            </a:prstGeom>
            <a:solidFill>
              <a:srgbClr val="066FBB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>
              <a:noAutofit/>
            </a:bodyPr>
            <a:lstStyle/>
            <a:p>
              <a:pPr lvl="0" algn="ctr">
                <a:buClrTx/>
                <a:buSzTx/>
                <a:buFontTx/>
                <a:defRPr/>
              </a:pPr>
              <a:r>
                <a:rPr lang="zh-CN" altLang="en-US" sz="800" b="1">
                  <a:solidFill>
                    <a:srgbClr val="FFFFFF"/>
                  </a:solidFill>
                  <a:latin typeface="微软雅黑" pitchFamily="34" charset="-122"/>
                  <a:ea typeface="微软雅黑" pitchFamily="34" charset="-122"/>
                  <a:sym typeface="+mn-ea"/>
                </a:rPr>
                <a:t>创新载体库</a:t>
              </a:r>
            </a:p>
          </p:txBody>
        </p:sp>
        <p:sp>
          <p:nvSpPr>
            <p:cNvPr id="94" name="矩形: 圆角 12"/>
            <p:cNvSpPr/>
            <p:nvPr>
              <p:custDataLst>
                <p:tags r:id="rId29"/>
              </p:custDataLst>
            </p:nvPr>
          </p:nvSpPr>
          <p:spPr>
            <a:xfrm>
              <a:off x="7603270" y="5757544"/>
              <a:ext cx="960000" cy="192000"/>
            </a:xfrm>
            <a:prstGeom prst="roundRect">
              <a:avLst/>
            </a:prstGeom>
            <a:solidFill>
              <a:srgbClr val="066FBB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>
              <a:noAutofit/>
            </a:bodyPr>
            <a:lstStyle/>
            <a:p>
              <a:pPr lvl="0" algn="ctr">
                <a:buClrTx/>
                <a:buSzTx/>
                <a:buFontTx/>
                <a:defRPr/>
              </a:pPr>
              <a:r>
                <a:rPr lang="zh-CN" altLang="en-US" sz="800" b="1">
                  <a:solidFill>
                    <a:srgbClr val="FFFFFF"/>
                  </a:solidFill>
                  <a:latin typeface="微软雅黑" pitchFamily="34" charset="-122"/>
                  <a:ea typeface="微软雅黑" pitchFamily="34" charset="-122"/>
                  <a:sym typeface="+mn-ea"/>
                </a:rPr>
                <a:t>服务产品库</a:t>
              </a:r>
            </a:p>
          </p:txBody>
        </p:sp>
        <p:sp>
          <p:nvSpPr>
            <p:cNvPr id="86" name="矩形: 圆角 12"/>
            <p:cNvSpPr/>
            <p:nvPr>
              <p:custDataLst>
                <p:tags r:id="rId30"/>
              </p:custDataLst>
            </p:nvPr>
          </p:nvSpPr>
          <p:spPr>
            <a:xfrm>
              <a:off x="2429511" y="5757544"/>
              <a:ext cx="960000" cy="192000"/>
            </a:xfrm>
            <a:prstGeom prst="roundRect">
              <a:avLst/>
            </a:prstGeom>
            <a:solidFill>
              <a:srgbClr val="066FBB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>
              <a:noAutofit/>
            </a:bodyPr>
            <a:lstStyle/>
            <a:p>
              <a:pPr lvl="0" algn="ctr">
                <a:buClrTx/>
                <a:buSzTx/>
                <a:buFontTx/>
                <a:defRPr/>
              </a:pPr>
              <a:r>
                <a:rPr lang="zh-CN" altLang="en-US" sz="800" b="1" dirty="0">
                  <a:solidFill>
                    <a:srgbClr val="FFFFFF"/>
                  </a:solidFill>
                  <a:latin typeface="微软雅黑" pitchFamily="34" charset="-122"/>
                  <a:ea typeface="微软雅黑" pitchFamily="34" charset="-122"/>
                  <a:sym typeface="+mn-ea"/>
                </a:rPr>
                <a:t>人才信息库</a:t>
              </a:r>
            </a:p>
          </p:txBody>
        </p:sp>
        <p:sp>
          <p:nvSpPr>
            <p:cNvPr id="102" name="矩形: 圆角 12"/>
            <p:cNvSpPr/>
            <p:nvPr>
              <p:custDataLst>
                <p:tags r:id="rId31"/>
              </p:custDataLst>
            </p:nvPr>
          </p:nvSpPr>
          <p:spPr>
            <a:xfrm>
              <a:off x="3464263" y="5757544"/>
              <a:ext cx="960000" cy="192000"/>
            </a:xfrm>
            <a:prstGeom prst="roundRect">
              <a:avLst/>
            </a:prstGeom>
            <a:solidFill>
              <a:srgbClr val="066FBB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>
              <a:noAutofit/>
            </a:bodyPr>
            <a:lstStyle/>
            <a:p>
              <a:pPr lvl="0" algn="ctr">
                <a:buClrTx/>
                <a:buSzTx/>
                <a:buFontTx/>
                <a:defRPr/>
              </a:pPr>
              <a:r>
                <a:rPr lang="zh-CN" altLang="en-US" sz="800" b="1" dirty="0">
                  <a:solidFill>
                    <a:srgbClr val="FFFFFF"/>
                  </a:solidFill>
                  <a:latin typeface="微软雅黑" pitchFamily="34" charset="-122"/>
                  <a:ea typeface="微软雅黑" pitchFamily="34" charset="-122"/>
                  <a:sym typeface="+mn-ea"/>
                </a:rPr>
                <a:t>专利信息库</a:t>
              </a:r>
            </a:p>
          </p:txBody>
        </p:sp>
        <p:sp>
          <p:nvSpPr>
            <p:cNvPr id="104" name="矩形: 圆角 12"/>
            <p:cNvSpPr/>
            <p:nvPr>
              <p:custDataLst>
                <p:tags r:id="rId32"/>
              </p:custDataLst>
            </p:nvPr>
          </p:nvSpPr>
          <p:spPr>
            <a:xfrm>
              <a:off x="4499014" y="5757544"/>
              <a:ext cx="960000" cy="192000"/>
            </a:xfrm>
            <a:prstGeom prst="roundRect">
              <a:avLst/>
            </a:prstGeom>
            <a:solidFill>
              <a:srgbClr val="066FBB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>
              <a:noAutofit/>
            </a:bodyPr>
            <a:lstStyle/>
            <a:p>
              <a:pPr lvl="0" algn="ctr">
                <a:buClrTx/>
                <a:buSzTx/>
                <a:buFontTx/>
                <a:defRPr/>
              </a:pPr>
              <a:r>
                <a:rPr lang="zh-CN" altLang="en-US" sz="800" b="1">
                  <a:solidFill>
                    <a:srgbClr val="FFFFFF"/>
                  </a:solidFill>
                  <a:latin typeface="微软雅黑" pitchFamily="34" charset="-122"/>
                  <a:ea typeface="微软雅黑" pitchFamily="34" charset="-122"/>
                  <a:sym typeface="+mn-ea"/>
                </a:rPr>
                <a:t>金融资源库</a:t>
              </a:r>
            </a:p>
          </p:txBody>
        </p:sp>
        <p:sp>
          <p:nvSpPr>
            <p:cNvPr id="105" name="矩形: 圆角 12"/>
            <p:cNvSpPr/>
            <p:nvPr>
              <p:custDataLst>
                <p:tags r:id="rId33"/>
              </p:custDataLst>
            </p:nvPr>
          </p:nvSpPr>
          <p:spPr>
            <a:xfrm>
              <a:off x="6568518" y="5757544"/>
              <a:ext cx="960000" cy="192000"/>
            </a:xfrm>
            <a:prstGeom prst="roundRect">
              <a:avLst/>
            </a:prstGeom>
            <a:solidFill>
              <a:srgbClr val="066FBB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>
              <a:noAutofit/>
            </a:bodyPr>
            <a:lstStyle/>
            <a:p>
              <a:pPr lvl="0" algn="ctr">
                <a:buClrTx/>
                <a:buSzTx/>
                <a:buFontTx/>
                <a:defRPr/>
              </a:pPr>
              <a:r>
                <a:rPr lang="zh-CN" altLang="en-US" sz="800" b="1">
                  <a:solidFill>
                    <a:srgbClr val="FFFFFF"/>
                  </a:solidFill>
                  <a:latin typeface="微软雅黑" pitchFamily="34" charset="-122"/>
                  <a:ea typeface="微软雅黑" pitchFamily="34" charset="-122"/>
                  <a:sym typeface="+mn-ea"/>
                </a:rPr>
                <a:t>指标库</a:t>
              </a:r>
            </a:p>
          </p:txBody>
        </p:sp>
        <p:sp>
          <p:nvSpPr>
            <p:cNvPr id="10" name="矩形: 圆角 12"/>
            <p:cNvSpPr/>
            <p:nvPr>
              <p:custDataLst>
                <p:tags r:id="rId34"/>
              </p:custDataLst>
            </p:nvPr>
          </p:nvSpPr>
          <p:spPr>
            <a:xfrm>
              <a:off x="8638025" y="5535295"/>
              <a:ext cx="960000" cy="192000"/>
            </a:xfrm>
            <a:prstGeom prst="roundRect">
              <a:avLst/>
            </a:prstGeom>
            <a:solidFill>
              <a:srgbClr val="066FBB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>
              <a:noAutofit/>
            </a:bodyPr>
            <a:lstStyle/>
            <a:p>
              <a:pPr lvl="0" algn="ctr">
                <a:buClrTx/>
                <a:buSzTx/>
                <a:buFontTx/>
                <a:defRPr/>
              </a:pPr>
              <a:r>
                <a:rPr lang="zh-CN" altLang="en-US" sz="800" b="1" dirty="0">
                  <a:solidFill>
                    <a:srgbClr val="FFFFFF"/>
                  </a:solidFill>
                  <a:latin typeface="微软雅黑" pitchFamily="34" charset="-122"/>
                  <a:ea typeface="微软雅黑" pitchFamily="34" charset="-122"/>
                  <a:sym typeface="+mn-ea"/>
                </a:rPr>
                <a:t>技术经纪库</a:t>
              </a:r>
            </a:p>
          </p:txBody>
        </p:sp>
        <p:sp>
          <p:nvSpPr>
            <p:cNvPr id="11" name="矩形: 圆角 12"/>
            <p:cNvSpPr/>
            <p:nvPr>
              <p:custDataLst>
                <p:tags r:id="rId35"/>
              </p:custDataLst>
            </p:nvPr>
          </p:nvSpPr>
          <p:spPr>
            <a:xfrm>
              <a:off x="8638025" y="5757544"/>
              <a:ext cx="960000" cy="192000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>
              <a:noAutofit/>
            </a:bodyPr>
            <a:lstStyle/>
            <a:p>
              <a:pPr lvl="0" algn="ctr">
                <a:buClrTx/>
                <a:buSzTx/>
                <a:buFontTx/>
                <a:defRPr/>
              </a:pPr>
              <a:r>
                <a:rPr lang="zh-CN" altLang="en-US" sz="800" b="1" dirty="0">
                  <a:latin typeface="微软雅黑" pitchFamily="34" charset="-122"/>
                  <a:ea typeface="微软雅黑" pitchFamily="34" charset="-122"/>
                  <a:sym typeface="+mn-ea"/>
                </a:rPr>
                <a:t>……</a:t>
              </a:r>
            </a:p>
          </p:txBody>
        </p:sp>
        <p:sp>
          <p:nvSpPr>
            <p:cNvPr id="108" name="矩形: 圆角 60"/>
            <p:cNvSpPr/>
            <p:nvPr/>
          </p:nvSpPr>
          <p:spPr>
            <a:xfrm>
              <a:off x="2429510" y="5157216"/>
              <a:ext cx="1008000" cy="216000"/>
            </a:xfrm>
            <a:prstGeom prst="roundRect">
              <a:avLst/>
            </a:prstGeom>
            <a:solidFill>
              <a:srgbClr val="8DEBFF"/>
            </a:solidFill>
            <a:ln w="9525" algn="ctr">
              <a:solidFill>
                <a:srgbClr val="BCE2F5"/>
              </a:solidFill>
              <a:round/>
            </a:ln>
          </p:spPr>
          <p:txBody>
            <a:bodyPr vert="horz" wrap="square" lIns="0" tIns="0" rIns="0" bIns="0" numCol="1" spcCol="0" rtlCol="0" fromWordArt="0" anchor="ctr" anchorCtr="0" forceAA="0" compatLnSpc="0">
              <a:noAutofit/>
            </a:bodyPr>
            <a:lstStyle/>
            <a:p>
              <a:pPr lvl="0" algn="ctr">
                <a:buClrTx/>
                <a:buSzTx/>
                <a:buFontTx/>
              </a:pPr>
              <a:r>
                <a:rPr lang="zh-CN" altLang="en-US" sz="800" b="1" dirty="0">
                  <a:latin typeface="微软雅黑" pitchFamily="34" charset="-122"/>
                  <a:ea typeface="微软雅黑" pitchFamily="34" charset="-122"/>
                  <a:sym typeface="+mn-ea"/>
                </a:rPr>
                <a:t>政策数据集</a:t>
              </a:r>
            </a:p>
          </p:txBody>
        </p:sp>
        <p:sp>
          <p:nvSpPr>
            <p:cNvPr id="111" name="矩形: 圆角 60"/>
            <p:cNvSpPr/>
            <p:nvPr/>
          </p:nvSpPr>
          <p:spPr>
            <a:xfrm>
              <a:off x="3661613" y="5157216"/>
              <a:ext cx="1008000" cy="216000"/>
            </a:xfrm>
            <a:prstGeom prst="roundRect">
              <a:avLst/>
            </a:prstGeom>
            <a:solidFill>
              <a:srgbClr val="8DEBFF"/>
            </a:solidFill>
            <a:ln w="9525" algn="ctr">
              <a:solidFill>
                <a:srgbClr val="BCE2F5"/>
              </a:solidFill>
              <a:round/>
            </a:ln>
          </p:spPr>
          <p:txBody>
            <a:bodyPr vert="horz" wrap="square" lIns="0" tIns="0" rIns="0" bIns="0" numCol="1" spcCol="0" rtlCol="0" fromWordArt="0" anchor="ctr" anchorCtr="0" forceAA="0" compatLnSpc="0">
              <a:noAutofit/>
            </a:bodyPr>
            <a:lstStyle/>
            <a:p>
              <a:pPr lvl="0" algn="ctr">
                <a:buClrTx/>
                <a:buSzTx/>
                <a:buFontTx/>
              </a:pPr>
              <a:r>
                <a:rPr lang="zh-CN" altLang="en-US" sz="800" b="1" dirty="0">
                  <a:latin typeface="微软雅黑" pitchFamily="34" charset="-122"/>
                  <a:ea typeface="微软雅黑" pitchFamily="34" charset="-122"/>
                  <a:sym typeface="+mn-ea"/>
                </a:rPr>
                <a:t>成果数据集</a:t>
              </a:r>
            </a:p>
          </p:txBody>
        </p:sp>
        <p:sp>
          <p:nvSpPr>
            <p:cNvPr id="117" name="矩形: 圆角 60"/>
            <p:cNvSpPr/>
            <p:nvPr/>
          </p:nvSpPr>
          <p:spPr>
            <a:xfrm>
              <a:off x="4893716" y="5157216"/>
              <a:ext cx="1008000" cy="216000"/>
            </a:xfrm>
            <a:prstGeom prst="roundRect">
              <a:avLst/>
            </a:prstGeom>
            <a:solidFill>
              <a:srgbClr val="8DEBFF"/>
            </a:solidFill>
            <a:ln w="9525" algn="ctr">
              <a:solidFill>
                <a:srgbClr val="BCE2F5"/>
              </a:solidFill>
              <a:round/>
            </a:ln>
          </p:spPr>
          <p:txBody>
            <a:bodyPr vert="horz" wrap="square" lIns="0" tIns="0" rIns="0" bIns="0" numCol="1" spcCol="0" rtlCol="0" fromWordArt="0" anchor="ctr" anchorCtr="0" forceAA="0" compatLnSpc="0">
              <a:noAutofit/>
            </a:bodyPr>
            <a:lstStyle/>
            <a:p>
              <a:pPr lvl="0" algn="ctr">
                <a:buClrTx/>
                <a:buSzTx/>
                <a:buFontTx/>
              </a:pPr>
              <a:r>
                <a:rPr lang="zh-CN" altLang="en-US" sz="800" b="1" dirty="0">
                  <a:latin typeface="微软雅黑" pitchFamily="34" charset="-122"/>
                  <a:ea typeface="微软雅黑" pitchFamily="34" charset="-122"/>
                  <a:sym typeface="+mn-ea"/>
                </a:rPr>
                <a:t>产业数据集</a:t>
              </a:r>
            </a:p>
          </p:txBody>
        </p:sp>
        <p:sp>
          <p:nvSpPr>
            <p:cNvPr id="119" name="矩形: 圆角 60"/>
            <p:cNvSpPr/>
            <p:nvPr/>
          </p:nvSpPr>
          <p:spPr>
            <a:xfrm>
              <a:off x="6125819" y="5157216"/>
              <a:ext cx="1008000" cy="216000"/>
            </a:xfrm>
            <a:prstGeom prst="roundRect">
              <a:avLst/>
            </a:prstGeom>
            <a:solidFill>
              <a:srgbClr val="8DEBFF"/>
            </a:solidFill>
            <a:ln w="9525" algn="ctr">
              <a:solidFill>
                <a:srgbClr val="BCE2F5"/>
              </a:solidFill>
              <a:round/>
            </a:ln>
          </p:spPr>
          <p:txBody>
            <a:bodyPr vert="horz" wrap="square" lIns="0" tIns="0" rIns="0" bIns="0" numCol="1" spcCol="0" rtlCol="0" fromWordArt="0" anchor="ctr" anchorCtr="0" forceAA="0" compatLnSpc="0">
              <a:noAutofit/>
            </a:bodyPr>
            <a:lstStyle/>
            <a:p>
              <a:pPr lvl="0" algn="ctr">
                <a:buClrTx/>
                <a:buSzTx/>
                <a:buFontTx/>
              </a:pPr>
              <a:r>
                <a:rPr lang="zh-CN" altLang="en-US" sz="800" b="1" dirty="0">
                  <a:latin typeface="微软雅黑" pitchFamily="34" charset="-122"/>
                  <a:ea typeface="微软雅黑" pitchFamily="34" charset="-122"/>
                  <a:sym typeface="+mn-ea"/>
                </a:rPr>
                <a:t>平台数据集</a:t>
              </a:r>
            </a:p>
          </p:txBody>
        </p:sp>
        <p:sp>
          <p:nvSpPr>
            <p:cNvPr id="120" name="矩形: 圆角 60"/>
            <p:cNvSpPr/>
            <p:nvPr/>
          </p:nvSpPr>
          <p:spPr>
            <a:xfrm>
              <a:off x="7357922" y="5157216"/>
              <a:ext cx="1008000" cy="216000"/>
            </a:xfrm>
            <a:prstGeom prst="roundRect">
              <a:avLst/>
            </a:prstGeom>
            <a:solidFill>
              <a:srgbClr val="8DEBFF"/>
            </a:solidFill>
            <a:ln w="9525" algn="ctr">
              <a:solidFill>
                <a:srgbClr val="BCE2F5"/>
              </a:solidFill>
              <a:round/>
            </a:ln>
          </p:spPr>
          <p:txBody>
            <a:bodyPr vert="horz" wrap="square" lIns="0" tIns="0" rIns="0" bIns="0" numCol="1" spcCol="0" rtlCol="0" fromWordArt="0" anchor="ctr" anchorCtr="0" forceAA="0" compatLnSpc="0">
              <a:noAutofit/>
            </a:bodyPr>
            <a:lstStyle/>
            <a:p>
              <a:pPr lvl="0" algn="ctr">
                <a:buClrTx/>
                <a:buSzTx/>
                <a:buFontTx/>
              </a:pPr>
              <a:r>
                <a:rPr lang="zh-CN" altLang="en-US" sz="800" b="1" dirty="0">
                  <a:latin typeface="微软雅黑" pitchFamily="34" charset="-122"/>
                  <a:ea typeface="微软雅黑" pitchFamily="34" charset="-122"/>
                  <a:sym typeface="+mn-ea"/>
                </a:rPr>
                <a:t>机构数据集</a:t>
              </a:r>
            </a:p>
          </p:txBody>
        </p:sp>
        <p:sp>
          <p:nvSpPr>
            <p:cNvPr id="121" name="矩形: 圆角 60"/>
            <p:cNvSpPr/>
            <p:nvPr/>
          </p:nvSpPr>
          <p:spPr>
            <a:xfrm>
              <a:off x="8590025" y="5157216"/>
              <a:ext cx="1008000" cy="216000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 w="9525" algn="ctr">
              <a:noFill/>
              <a:round/>
            </a:ln>
          </p:spPr>
          <p:txBody>
            <a:bodyPr vert="horz" wrap="square" lIns="0" tIns="0" rIns="0" bIns="0" numCol="1" spcCol="0" rtlCol="0" fromWordArt="0" anchor="ctr" anchorCtr="0" forceAA="0" compatLnSpc="0">
              <a:noAutofit/>
            </a:bodyPr>
            <a:lstStyle/>
            <a:p>
              <a:pPr lvl="0" algn="ctr">
                <a:buClrTx/>
                <a:buSzTx/>
                <a:buFontTx/>
              </a:pPr>
              <a:r>
                <a:rPr lang="en-US" altLang="zh-CN" sz="800" b="1" dirty="0">
                  <a:latin typeface="微软雅黑" pitchFamily="34" charset="-122"/>
                  <a:ea typeface="微软雅黑" pitchFamily="34" charset="-122"/>
                  <a:sym typeface="+mn-ea"/>
                </a:rPr>
                <a:t>……</a:t>
              </a:r>
              <a:endParaRPr lang="zh-CN" altLang="en-US" sz="800" b="1" dirty="0">
                <a:latin typeface="微软雅黑" pitchFamily="34" charset="-122"/>
                <a:ea typeface="微软雅黑" pitchFamily="34" charset="-122"/>
                <a:sym typeface="+mn-ea"/>
              </a:endParaRPr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1230631" y="2662444"/>
            <a:ext cx="6051709" cy="460610"/>
            <a:chOff x="1640840" y="3429000"/>
            <a:chExt cx="8068945" cy="614147"/>
          </a:xfrm>
        </p:grpSpPr>
        <p:sp>
          <p:nvSpPr>
            <p:cNvPr id="124" name="矩形 123"/>
            <p:cNvSpPr/>
            <p:nvPr/>
          </p:nvSpPr>
          <p:spPr>
            <a:xfrm>
              <a:off x="2339975" y="3429000"/>
              <a:ext cx="7369810" cy="614146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FFFFFF">
                  <a:lumMod val="85000"/>
                </a:srgbClr>
              </a:solidFill>
            </a:ln>
          </p:spPr>
          <p:style>
            <a:lnRef idx="2">
              <a:srgbClr val="006EFF">
                <a:shade val="50000"/>
              </a:srgbClr>
            </a:lnRef>
            <a:fillRef idx="1">
              <a:srgbClr val="006EFF"/>
            </a:fillRef>
            <a:effectRef idx="0">
              <a:srgbClr val="006EFF"/>
            </a:effectRef>
            <a:fontRef idx="minor">
              <a:srgbClr val="FFFFFF"/>
            </a:fontRef>
          </p:style>
          <p:txBody>
            <a:bodyPr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 b="1">
                <a:latin typeface="微软雅黑" pitchFamily="34" charset="-122"/>
                <a:ea typeface="微软雅黑" pitchFamily="34" charset="-122"/>
                <a:sym typeface="+mn-lt"/>
              </a:endParaRPr>
            </a:p>
          </p:txBody>
        </p:sp>
        <p:sp>
          <p:nvSpPr>
            <p:cNvPr id="127" name="矩形 126"/>
            <p:cNvSpPr/>
            <p:nvPr/>
          </p:nvSpPr>
          <p:spPr>
            <a:xfrm>
              <a:off x="1640840" y="3429000"/>
              <a:ext cx="650875" cy="614147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1B1B1B"/>
              </a:solidFill>
            </a:ln>
          </p:spPr>
          <p:style>
            <a:lnRef idx="2">
              <a:srgbClr val="006EFF">
                <a:shade val="50000"/>
              </a:srgbClr>
            </a:lnRef>
            <a:fillRef idx="1">
              <a:srgbClr val="006EFF"/>
            </a:fillRef>
            <a:effectRef idx="0">
              <a:srgbClr val="006EFF"/>
            </a:effectRef>
            <a:fontRef idx="minor">
              <a:srgbClr val="FFFFFF"/>
            </a:fontRef>
          </p:style>
          <p:txBody>
            <a:bodyPr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  <a:defRPr/>
              </a:pPr>
              <a:r>
                <a:rPr lang="zh-CN" altLang="en-US" sz="900" b="1" kern="0" dirty="0">
                  <a:solidFill>
                    <a:srgbClr val="1B1B1B"/>
                  </a:solidFill>
                  <a:latin typeface="微软雅黑" pitchFamily="34" charset="-122"/>
                  <a:ea typeface="微软雅黑" pitchFamily="34" charset="-122"/>
                  <a:sym typeface="+mn-ea"/>
                </a:rPr>
                <a:t>模型层</a:t>
              </a:r>
            </a:p>
          </p:txBody>
        </p:sp>
        <p:sp>
          <p:nvSpPr>
            <p:cNvPr id="147" name="矩形: 圆角 60"/>
            <p:cNvSpPr/>
            <p:nvPr/>
          </p:nvSpPr>
          <p:spPr>
            <a:xfrm>
              <a:off x="2429510" y="3501008"/>
              <a:ext cx="1174750" cy="495830"/>
            </a:xfrm>
            <a:prstGeom prst="roundRect">
              <a:avLst/>
            </a:prstGeom>
            <a:solidFill>
              <a:srgbClr val="8DEBFF"/>
            </a:solidFill>
            <a:ln w="9525" algn="ctr">
              <a:solidFill>
                <a:srgbClr val="BCE2F5"/>
              </a:solidFill>
              <a:round/>
            </a:ln>
          </p:spPr>
          <p:txBody>
            <a:bodyPr vert="horz" wrap="square" lIns="0" tIns="0" rIns="0" bIns="0" numCol="1" spcCol="0" rtlCol="0" fromWordArt="0" anchor="ctr" anchorCtr="0" forceAA="0" compatLnSpc="0">
              <a:noAutofit/>
            </a:bodyPr>
            <a:lstStyle/>
            <a:p>
              <a:pPr lvl="0" algn="ctr">
                <a:buClrTx/>
                <a:buSzTx/>
                <a:buFontTx/>
              </a:pPr>
              <a:r>
                <a:rPr lang="zh-CN" altLang="en-US" sz="800" b="1" dirty="0">
                  <a:latin typeface="微软雅黑" pitchFamily="34" charset="-122"/>
                  <a:ea typeface="微软雅黑" pitchFamily="34" charset="-122"/>
                  <a:sym typeface="+mn-ea"/>
                </a:rPr>
                <a:t>智库服务</a:t>
              </a:r>
              <a:endParaRPr lang="en-US" altLang="zh-CN" sz="800" b="1" dirty="0">
                <a:latin typeface="微软雅黑" pitchFamily="34" charset="-122"/>
                <a:ea typeface="微软雅黑" pitchFamily="34" charset="-122"/>
                <a:sym typeface="+mn-ea"/>
              </a:endParaRPr>
            </a:p>
            <a:p>
              <a:pPr lvl="0" algn="ctr">
                <a:buClrTx/>
                <a:buSzTx/>
                <a:buFontTx/>
              </a:pPr>
              <a:r>
                <a:rPr lang="zh-CN" altLang="en-US" sz="800" b="1" dirty="0">
                  <a:latin typeface="微软雅黑" pitchFamily="34" charset="-122"/>
                  <a:ea typeface="微软雅黑" pitchFamily="34" charset="-122"/>
                  <a:sym typeface="+mn-ea"/>
                </a:rPr>
                <a:t>大模型</a:t>
              </a:r>
            </a:p>
          </p:txBody>
        </p:sp>
        <p:sp>
          <p:nvSpPr>
            <p:cNvPr id="153" name="矩形: 圆角 60"/>
            <p:cNvSpPr/>
            <p:nvPr/>
          </p:nvSpPr>
          <p:spPr>
            <a:xfrm>
              <a:off x="3927951" y="3501008"/>
              <a:ext cx="1174750" cy="495830"/>
            </a:xfrm>
            <a:prstGeom prst="roundRect">
              <a:avLst/>
            </a:prstGeom>
            <a:solidFill>
              <a:srgbClr val="8DEBFF"/>
            </a:solidFill>
            <a:ln w="9525" algn="ctr">
              <a:solidFill>
                <a:srgbClr val="BCE2F5"/>
              </a:solidFill>
              <a:round/>
            </a:ln>
          </p:spPr>
          <p:txBody>
            <a:bodyPr vert="horz" wrap="square" lIns="0" tIns="0" rIns="0" bIns="0" numCol="1" spcCol="0" rtlCol="0" fromWordArt="0" anchor="ctr" anchorCtr="0" forceAA="0" compatLnSpc="0">
              <a:noAutofit/>
            </a:bodyPr>
            <a:lstStyle/>
            <a:p>
              <a:pPr lvl="0" algn="ctr">
                <a:buClrTx/>
                <a:buSzTx/>
                <a:buFontTx/>
              </a:pPr>
              <a:r>
                <a:rPr lang="zh-CN" altLang="en-US" sz="800" b="1" dirty="0">
                  <a:latin typeface="微软雅黑" pitchFamily="34" charset="-122"/>
                  <a:ea typeface="微软雅黑" pitchFamily="34" charset="-122"/>
                  <a:sym typeface="+mn-ea"/>
                </a:rPr>
                <a:t>成果转化</a:t>
              </a:r>
              <a:endParaRPr lang="en-US" altLang="zh-CN" sz="800" b="1" dirty="0">
                <a:latin typeface="微软雅黑" pitchFamily="34" charset="-122"/>
                <a:ea typeface="微软雅黑" pitchFamily="34" charset="-122"/>
                <a:sym typeface="+mn-ea"/>
              </a:endParaRPr>
            </a:p>
            <a:p>
              <a:pPr lvl="0" algn="ctr">
                <a:buClrTx/>
                <a:buSzTx/>
                <a:buFontTx/>
              </a:pPr>
              <a:r>
                <a:rPr lang="zh-CN" altLang="en-US" sz="800" b="1" dirty="0">
                  <a:latin typeface="微软雅黑" pitchFamily="34" charset="-122"/>
                  <a:ea typeface="微软雅黑" pitchFamily="34" charset="-122"/>
                  <a:sym typeface="+mn-ea"/>
                </a:rPr>
                <a:t>大模型</a:t>
              </a:r>
            </a:p>
          </p:txBody>
        </p:sp>
        <p:sp>
          <p:nvSpPr>
            <p:cNvPr id="154" name="矩形: 圆角 60"/>
            <p:cNvSpPr/>
            <p:nvPr/>
          </p:nvSpPr>
          <p:spPr>
            <a:xfrm>
              <a:off x="5426392" y="3501008"/>
              <a:ext cx="1174750" cy="495830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 w="9525" algn="ctr">
              <a:noFill/>
              <a:round/>
            </a:ln>
          </p:spPr>
          <p:txBody>
            <a:bodyPr vert="horz" wrap="square" lIns="0" tIns="0" rIns="0" bIns="0" numCol="1" spcCol="0" rtlCol="0" fromWordArt="0" anchor="ctr" anchorCtr="0" forceAA="0" compatLnSpc="0">
              <a:noAutofit/>
            </a:bodyPr>
            <a:lstStyle/>
            <a:p>
              <a:pPr lvl="0" algn="ctr">
                <a:buClrTx/>
                <a:buSzTx/>
                <a:buFontTx/>
              </a:pPr>
              <a:r>
                <a:rPr lang="zh-CN" altLang="en-US" sz="800" b="1" dirty="0">
                  <a:latin typeface="微软雅黑" pitchFamily="34" charset="-122"/>
                  <a:ea typeface="微软雅黑" pitchFamily="34" charset="-122"/>
                  <a:sym typeface="+mn-ea"/>
                </a:rPr>
                <a:t>产业</a:t>
              </a:r>
              <a:endParaRPr lang="en-US" altLang="zh-CN" sz="800" b="1" dirty="0">
                <a:latin typeface="微软雅黑" pitchFamily="34" charset="-122"/>
                <a:ea typeface="微软雅黑" pitchFamily="34" charset="-122"/>
                <a:sym typeface="+mn-ea"/>
              </a:endParaRPr>
            </a:p>
            <a:p>
              <a:pPr lvl="0" algn="ctr">
                <a:buClrTx/>
                <a:buSzTx/>
                <a:buFontTx/>
              </a:pPr>
              <a:r>
                <a:rPr lang="zh-CN" altLang="en-US" sz="800" b="1" dirty="0">
                  <a:latin typeface="微软雅黑" pitchFamily="34" charset="-122"/>
                  <a:ea typeface="微软雅黑" pitchFamily="34" charset="-122"/>
                  <a:sym typeface="+mn-ea"/>
                </a:rPr>
                <a:t>大模型</a:t>
              </a:r>
            </a:p>
          </p:txBody>
        </p:sp>
        <p:sp>
          <p:nvSpPr>
            <p:cNvPr id="155" name="矩形: 圆角 60"/>
            <p:cNvSpPr/>
            <p:nvPr/>
          </p:nvSpPr>
          <p:spPr>
            <a:xfrm>
              <a:off x="6924833" y="3501008"/>
              <a:ext cx="1174750" cy="495830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 w="9525" algn="ctr">
              <a:noFill/>
              <a:round/>
            </a:ln>
          </p:spPr>
          <p:txBody>
            <a:bodyPr vert="horz" wrap="square" lIns="0" tIns="0" rIns="0" bIns="0" numCol="1" spcCol="0" rtlCol="0" fromWordArt="0" anchor="ctr" anchorCtr="0" forceAA="0" compatLnSpc="0">
              <a:noAutofit/>
            </a:bodyPr>
            <a:lstStyle/>
            <a:p>
              <a:pPr lvl="0" algn="ctr">
                <a:buClrTx/>
                <a:buSzTx/>
                <a:buFontTx/>
              </a:pPr>
              <a:r>
                <a:rPr lang="en-US" altLang="zh-CN" sz="800" b="1" dirty="0" smtClean="0">
                  <a:latin typeface="微软雅黑" pitchFamily="34" charset="-122"/>
                  <a:ea typeface="微软雅黑" pitchFamily="34" charset="-122"/>
                  <a:sym typeface="+mn-ea"/>
                </a:rPr>
                <a:t>XX</a:t>
              </a:r>
              <a:endParaRPr lang="en-US" altLang="zh-CN" sz="800" b="1" dirty="0">
                <a:latin typeface="微软雅黑" pitchFamily="34" charset="-122"/>
                <a:ea typeface="微软雅黑" pitchFamily="34" charset="-122"/>
                <a:sym typeface="+mn-ea"/>
              </a:endParaRPr>
            </a:p>
            <a:p>
              <a:pPr lvl="0" algn="ctr">
                <a:buClrTx/>
                <a:buSzTx/>
                <a:buFontTx/>
              </a:pPr>
              <a:r>
                <a:rPr lang="zh-CN" altLang="en-US" sz="800" b="1" dirty="0">
                  <a:latin typeface="微软雅黑" pitchFamily="34" charset="-122"/>
                  <a:ea typeface="微软雅黑" pitchFamily="34" charset="-122"/>
                  <a:sym typeface="+mn-ea"/>
                </a:rPr>
                <a:t>大模型</a:t>
              </a:r>
            </a:p>
          </p:txBody>
        </p:sp>
        <p:sp>
          <p:nvSpPr>
            <p:cNvPr id="156" name="矩形: 圆角 60"/>
            <p:cNvSpPr/>
            <p:nvPr/>
          </p:nvSpPr>
          <p:spPr>
            <a:xfrm>
              <a:off x="8423275" y="3501008"/>
              <a:ext cx="1174750" cy="495830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 w="9525" algn="ctr">
              <a:noFill/>
              <a:round/>
            </a:ln>
          </p:spPr>
          <p:txBody>
            <a:bodyPr vert="horz" wrap="square" lIns="0" tIns="0" rIns="0" bIns="0" numCol="1" spcCol="0" rtlCol="0" fromWordArt="0" anchor="ctr" anchorCtr="0" forceAA="0" compatLnSpc="0">
              <a:noAutofit/>
            </a:bodyPr>
            <a:lstStyle/>
            <a:p>
              <a:pPr lvl="0" algn="ctr">
                <a:buClrTx/>
                <a:buSzTx/>
                <a:buFontTx/>
              </a:pPr>
              <a:r>
                <a:rPr lang="en-US" altLang="zh-CN" sz="800" b="1" dirty="0">
                  <a:latin typeface="微软雅黑" pitchFamily="34" charset="-122"/>
                  <a:ea typeface="微软雅黑" pitchFamily="34" charset="-122"/>
                  <a:sym typeface="+mn-ea"/>
                </a:rPr>
                <a:t>……</a:t>
              </a:r>
              <a:endParaRPr lang="zh-CN" altLang="en-US" sz="800" b="1" dirty="0">
                <a:latin typeface="微软雅黑" pitchFamily="34" charset="-122"/>
                <a:ea typeface="微软雅黑" pitchFamily="34" charset="-122"/>
                <a:sym typeface="+mn-ea"/>
              </a:endParaRPr>
            </a:p>
          </p:txBody>
        </p:sp>
      </p:grpSp>
      <p:grpSp>
        <p:nvGrpSpPr>
          <p:cNvPr id="64" name="组合 63"/>
          <p:cNvGrpSpPr/>
          <p:nvPr/>
        </p:nvGrpSpPr>
        <p:grpSpPr>
          <a:xfrm>
            <a:off x="467544" y="4263451"/>
            <a:ext cx="612000" cy="736250"/>
            <a:chOff x="41910" y="5517232"/>
            <a:chExt cx="700405" cy="981667"/>
          </a:xfrm>
        </p:grpSpPr>
        <p:sp>
          <p:nvSpPr>
            <p:cNvPr id="158" name="矩形: 圆角 60"/>
            <p:cNvSpPr/>
            <p:nvPr>
              <p:custDataLst>
                <p:tags r:id="rId17"/>
              </p:custDataLst>
            </p:nvPr>
          </p:nvSpPr>
          <p:spPr>
            <a:xfrm>
              <a:off x="41910" y="5517232"/>
              <a:ext cx="700405" cy="180000"/>
            </a:xfrm>
            <a:prstGeom prst="roundRect">
              <a:avLst/>
            </a:prstGeom>
            <a:solidFill>
              <a:srgbClr val="167D4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/>
              <a:r>
                <a:rPr lang="en-US" altLang="zh-CN" sz="800" b="1" kern="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2023</a:t>
              </a:r>
              <a:r>
                <a:rPr lang="zh-CN" altLang="en-US" sz="800" b="1" kern="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年</a:t>
              </a:r>
            </a:p>
          </p:txBody>
        </p:sp>
        <p:sp>
          <p:nvSpPr>
            <p:cNvPr id="162" name="矩形: 圆角 60"/>
            <p:cNvSpPr/>
            <p:nvPr>
              <p:custDataLst>
                <p:tags r:id="rId18"/>
              </p:custDataLst>
            </p:nvPr>
          </p:nvSpPr>
          <p:spPr>
            <a:xfrm>
              <a:off x="41910" y="5717649"/>
              <a:ext cx="700405" cy="180000"/>
            </a:xfrm>
            <a:prstGeom prst="roundRect">
              <a:avLst/>
            </a:prstGeom>
            <a:solidFill>
              <a:srgbClr val="066FBB"/>
            </a:solidFill>
            <a:ln w="9525" algn="ctr">
              <a:noFill/>
              <a:round/>
            </a:ln>
          </p:spPr>
          <p:txBody>
            <a:bodyPr vert="horz" wrap="square" lIns="0" tIns="0" rIns="0" bIns="0" numCol="1" spcCol="0" rtlCol="0" fromWordArt="0" anchor="ctr" anchorCtr="0" forceAA="0" compatLnSpc="0">
              <a:noAutofit/>
            </a:bodyPr>
            <a:lstStyle/>
            <a:p>
              <a:pPr algn="ctr"/>
              <a:r>
                <a:rPr lang="en-US" altLang="zh-CN" sz="800" b="1" dirty="0">
                  <a:solidFill>
                    <a:srgbClr val="FFFFFF"/>
                  </a:solidFill>
                  <a:latin typeface="微软雅黑" pitchFamily="34" charset="-122"/>
                  <a:ea typeface="微软雅黑" pitchFamily="34" charset="-122"/>
                </a:rPr>
                <a:t>2024</a:t>
              </a:r>
              <a:r>
                <a:rPr lang="zh-CN" altLang="en-US" sz="800" b="1" dirty="0">
                  <a:solidFill>
                    <a:srgbClr val="FFFFFF"/>
                  </a:solidFill>
                  <a:latin typeface="微软雅黑" pitchFamily="34" charset="-122"/>
                  <a:ea typeface="微软雅黑" pitchFamily="34" charset="-122"/>
                </a:rPr>
                <a:t>年</a:t>
              </a:r>
            </a:p>
          </p:txBody>
        </p:sp>
        <p:sp>
          <p:nvSpPr>
            <p:cNvPr id="166" name="矩形: 圆角 60"/>
            <p:cNvSpPr/>
            <p:nvPr>
              <p:custDataLst>
                <p:tags r:id="rId19"/>
              </p:custDataLst>
            </p:nvPr>
          </p:nvSpPr>
          <p:spPr>
            <a:xfrm>
              <a:off x="41910" y="5918066"/>
              <a:ext cx="700405" cy="180000"/>
            </a:xfrm>
            <a:prstGeom prst="roundRect">
              <a:avLst/>
            </a:prstGeom>
            <a:solidFill>
              <a:srgbClr val="BCE2F5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/>
              <a:r>
                <a:rPr lang="en-US" altLang="zh-CN" sz="800" b="1" kern="0" dirty="0">
                  <a:solidFill>
                    <a:srgbClr val="1B1B1B"/>
                  </a:solidFill>
                  <a:latin typeface="微软雅黑" pitchFamily="34" charset="-122"/>
                  <a:ea typeface="微软雅黑" pitchFamily="34" charset="-122"/>
                </a:rPr>
                <a:t>2025</a:t>
              </a:r>
              <a:r>
                <a:rPr lang="zh-CN" altLang="en-US" sz="800" b="1" kern="0" dirty="0">
                  <a:solidFill>
                    <a:srgbClr val="1B1B1B"/>
                  </a:solidFill>
                  <a:latin typeface="微软雅黑" pitchFamily="34" charset="-122"/>
                  <a:ea typeface="微软雅黑" pitchFamily="34" charset="-122"/>
                </a:rPr>
                <a:t>年</a:t>
              </a:r>
            </a:p>
          </p:txBody>
        </p:sp>
        <p:sp>
          <p:nvSpPr>
            <p:cNvPr id="167" name="矩形: 圆角 60"/>
            <p:cNvSpPr/>
            <p:nvPr>
              <p:custDataLst>
                <p:tags r:id="rId20"/>
              </p:custDataLst>
            </p:nvPr>
          </p:nvSpPr>
          <p:spPr>
            <a:xfrm>
              <a:off x="41910" y="6118483"/>
              <a:ext cx="700405" cy="180000"/>
            </a:xfrm>
            <a:prstGeom prst="roundRect">
              <a:avLst/>
            </a:prstGeom>
            <a:solidFill>
              <a:srgbClr val="00BAE2">
                <a:lumMod val="40000"/>
                <a:lumOff val="6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/>
              <a:r>
                <a:rPr lang="en-US" altLang="zh-CN" sz="800" b="1" kern="0" dirty="0">
                  <a:solidFill>
                    <a:srgbClr val="1B1B1B"/>
                  </a:solidFill>
                  <a:latin typeface="微软雅黑" pitchFamily="34" charset="-122"/>
                  <a:ea typeface="微软雅黑" pitchFamily="34" charset="-122"/>
                </a:rPr>
                <a:t>2026</a:t>
              </a:r>
              <a:r>
                <a:rPr lang="zh-CN" altLang="en-US" sz="800" b="1" kern="0" dirty="0">
                  <a:solidFill>
                    <a:srgbClr val="1B1B1B"/>
                  </a:solidFill>
                  <a:latin typeface="微软雅黑" pitchFamily="34" charset="-122"/>
                  <a:ea typeface="微软雅黑" pitchFamily="34" charset="-122"/>
                </a:rPr>
                <a:t>年</a:t>
              </a:r>
            </a:p>
          </p:txBody>
        </p:sp>
        <p:sp>
          <p:nvSpPr>
            <p:cNvPr id="168" name="矩形: 圆角 60"/>
            <p:cNvSpPr/>
            <p:nvPr>
              <p:custDataLst>
                <p:tags r:id="rId21"/>
              </p:custDataLst>
            </p:nvPr>
          </p:nvSpPr>
          <p:spPr>
            <a:xfrm>
              <a:off x="41910" y="6318899"/>
              <a:ext cx="700405" cy="180000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/>
              <a:r>
                <a:rPr lang="zh-CN" altLang="en-US" sz="800" kern="0" dirty="0">
                  <a:solidFill>
                    <a:srgbClr val="1B1B1B"/>
                  </a:solidFill>
                  <a:latin typeface="微软雅黑" pitchFamily="34" charset="-122"/>
                  <a:ea typeface="微软雅黑" pitchFamily="34" charset="-122"/>
                </a:rPr>
                <a:t>远期规划</a:t>
              </a:r>
            </a:p>
          </p:txBody>
        </p:sp>
      </p:grpSp>
      <p:grpSp>
        <p:nvGrpSpPr>
          <p:cNvPr id="50" name="组合 49"/>
          <p:cNvGrpSpPr/>
          <p:nvPr/>
        </p:nvGrpSpPr>
        <p:grpSpPr>
          <a:xfrm>
            <a:off x="1230631" y="706253"/>
            <a:ext cx="6051709" cy="1566119"/>
            <a:chOff x="1640840" y="1508437"/>
            <a:chExt cx="8068945" cy="2088158"/>
          </a:xfrm>
        </p:grpSpPr>
        <p:sp>
          <p:nvSpPr>
            <p:cNvPr id="25" name="矩形 24"/>
            <p:cNvSpPr/>
            <p:nvPr/>
          </p:nvSpPr>
          <p:spPr>
            <a:xfrm>
              <a:off x="1640840" y="1508438"/>
              <a:ext cx="650875" cy="2088157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1B1B1B"/>
              </a:solidFill>
            </a:ln>
          </p:spPr>
          <p:style>
            <a:lnRef idx="2">
              <a:srgbClr val="006EFF">
                <a:shade val="50000"/>
              </a:srgbClr>
            </a:lnRef>
            <a:fillRef idx="1">
              <a:srgbClr val="006EFF"/>
            </a:fillRef>
            <a:effectRef idx="0">
              <a:srgbClr val="006EFF"/>
            </a:effectRef>
            <a:fontRef idx="minor">
              <a:srgbClr val="FFFFFF"/>
            </a:fontRef>
          </p:style>
          <p:txBody>
            <a:bodyPr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  <a:defRPr/>
              </a:pPr>
              <a:r>
                <a:rPr lang="zh-CN" altLang="en-US" sz="900" b="1" kern="0" dirty="0">
                  <a:solidFill>
                    <a:srgbClr val="1B1B1B"/>
                  </a:solidFill>
                  <a:latin typeface="微软雅黑" pitchFamily="34" charset="-122"/>
                  <a:ea typeface="微软雅黑" pitchFamily="34" charset="-122"/>
                  <a:sym typeface="+mn-ea"/>
                </a:rPr>
                <a:t>应用层</a:t>
              </a:r>
            </a:p>
          </p:txBody>
        </p:sp>
        <p:grpSp>
          <p:nvGrpSpPr>
            <p:cNvPr id="21" name="组合 20"/>
            <p:cNvGrpSpPr/>
            <p:nvPr/>
          </p:nvGrpSpPr>
          <p:grpSpPr>
            <a:xfrm>
              <a:off x="2339975" y="1508437"/>
              <a:ext cx="7368540" cy="324000"/>
              <a:chOff x="2339975" y="1143993"/>
              <a:chExt cx="7368540" cy="324000"/>
            </a:xfrm>
          </p:grpSpPr>
          <p:sp>
            <p:nvSpPr>
              <p:cNvPr id="79" name="矩形 78"/>
              <p:cNvSpPr/>
              <p:nvPr/>
            </p:nvSpPr>
            <p:spPr>
              <a:xfrm>
                <a:off x="2339975" y="1143993"/>
                <a:ext cx="7368540" cy="324000"/>
              </a:xfrm>
              <a:prstGeom prst="rect">
                <a:avLst/>
              </a:prstGeom>
              <a:solidFill>
                <a:srgbClr val="FFFFFF"/>
              </a:solidFill>
              <a:ln w="15875">
                <a:solidFill>
                  <a:srgbClr val="FFFFFF">
                    <a:lumMod val="85000"/>
                  </a:srgbClr>
                </a:solidFill>
              </a:ln>
            </p:spPr>
            <p:style>
              <a:lnRef idx="2">
                <a:srgbClr val="006EFF">
                  <a:shade val="50000"/>
                </a:srgbClr>
              </a:lnRef>
              <a:fillRef idx="1">
                <a:srgbClr val="006EFF"/>
              </a:fillRef>
              <a:effectRef idx="0">
                <a:srgbClr val="006EFF"/>
              </a:effectRef>
              <a:fontRef idx="minor">
                <a:srgbClr val="FFFFFF"/>
              </a:fontRef>
            </p:style>
            <p:txBody>
              <a:bodyPr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lvl="0" algn="ctr">
                  <a:buClrTx/>
                  <a:buSzTx/>
                  <a:buFontTx/>
                </a:pPr>
                <a:endParaRPr lang="zh-CN" altLang="en-US" b="1">
                  <a:latin typeface="微软雅黑" pitchFamily="34" charset="-122"/>
                  <a:ea typeface="微软雅黑" pitchFamily="34" charset="-122"/>
                  <a:sym typeface="+mn-lt"/>
                </a:endParaRPr>
              </a:p>
            </p:txBody>
          </p:sp>
          <p:sp>
            <p:nvSpPr>
              <p:cNvPr id="33" name="矩形 32"/>
              <p:cNvSpPr/>
              <p:nvPr/>
            </p:nvSpPr>
            <p:spPr>
              <a:xfrm>
                <a:off x="3906382" y="1190423"/>
                <a:ext cx="1304925" cy="231140"/>
              </a:xfrm>
              <a:prstGeom prst="rect">
                <a:avLst/>
              </a:prstGeom>
              <a:solidFill>
                <a:srgbClr val="006EFF"/>
              </a:solidFill>
              <a:ln>
                <a:noFill/>
              </a:ln>
            </p:spPr>
            <p:style>
              <a:lnRef idx="2">
                <a:srgbClr val="006EFF">
                  <a:shade val="50000"/>
                </a:srgbClr>
              </a:lnRef>
              <a:fillRef idx="1">
                <a:srgbClr val="006EFF"/>
              </a:fillRef>
              <a:effectRef idx="0">
                <a:srgbClr val="006EFF"/>
              </a:effectRef>
              <a:fontRef idx="minor">
                <a:srgbClr val="FFFFFF"/>
              </a:fontRef>
            </p:style>
            <p:txBody>
              <a:bodyPr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lvl="0" algn="ctr">
                  <a:buClrTx/>
                  <a:buSzTx/>
                  <a:buFontTx/>
                </a:pPr>
                <a:r>
                  <a:rPr lang="zh-CN" altLang="en-US" sz="900" b="1" kern="0" dirty="0">
                    <a:solidFill>
                      <a:prstClr val="white"/>
                    </a:solidFill>
                    <a:latin typeface="微软雅黑" pitchFamily="34" charset="-122"/>
                    <a:ea typeface="微软雅黑" pitchFamily="34" charset="-122"/>
                    <a:sym typeface="+mn-ea"/>
                  </a:rPr>
                  <a:t>web门户网站</a:t>
                </a:r>
              </a:p>
            </p:txBody>
          </p:sp>
          <p:sp>
            <p:nvSpPr>
              <p:cNvPr id="39" name="矩形 38"/>
              <p:cNvSpPr/>
              <p:nvPr/>
            </p:nvSpPr>
            <p:spPr>
              <a:xfrm>
                <a:off x="5378172" y="1190423"/>
                <a:ext cx="970280" cy="231140"/>
              </a:xfrm>
              <a:prstGeom prst="rect">
                <a:avLst/>
              </a:prstGeom>
              <a:solidFill>
                <a:srgbClr val="006EFF"/>
              </a:solidFill>
              <a:ln>
                <a:noFill/>
              </a:ln>
            </p:spPr>
            <p:style>
              <a:lnRef idx="2">
                <a:srgbClr val="006EFF">
                  <a:shade val="50000"/>
                </a:srgbClr>
              </a:lnRef>
              <a:fillRef idx="1">
                <a:srgbClr val="006EFF"/>
              </a:fillRef>
              <a:effectRef idx="0">
                <a:srgbClr val="006EFF"/>
              </a:effectRef>
              <a:fontRef idx="minor">
                <a:srgbClr val="FFFFFF"/>
              </a:fontRef>
            </p:style>
            <p:txBody>
              <a:bodyPr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lvl="0" algn="ctr">
                  <a:buClrTx/>
                  <a:buSzTx/>
                  <a:buFontTx/>
                </a:pPr>
                <a:r>
                  <a:rPr lang="zh-CN" altLang="en-US" sz="900" b="1" kern="0" dirty="0">
                    <a:solidFill>
                      <a:prstClr val="white"/>
                    </a:solidFill>
                    <a:latin typeface="微软雅黑" pitchFamily="34" charset="-122"/>
                    <a:ea typeface="微软雅黑" pitchFamily="34" charset="-122"/>
                    <a:sym typeface="+mn-ea"/>
                  </a:rPr>
                  <a:t>小程序</a:t>
                </a:r>
              </a:p>
            </p:txBody>
          </p:sp>
          <p:sp>
            <p:nvSpPr>
              <p:cNvPr id="40" name="矩形 39"/>
              <p:cNvSpPr/>
              <p:nvPr/>
            </p:nvSpPr>
            <p:spPr>
              <a:xfrm>
                <a:off x="6515318" y="1197091"/>
                <a:ext cx="1155065" cy="217805"/>
              </a:xfrm>
              <a:prstGeom prst="rect">
                <a:avLst/>
              </a:prstGeom>
              <a:solidFill>
                <a:srgbClr val="006EFF"/>
              </a:solidFill>
              <a:ln>
                <a:noFill/>
              </a:ln>
            </p:spPr>
            <p:style>
              <a:lnRef idx="2">
                <a:srgbClr val="006EFF">
                  <a:shade val="50000"/>
                </a:srgbClr>
              </a:lnRef>
              <a:fillRef idx="1">
                <a:srgbClr val="006EFF"/>
              </a:fillRef>
              <a:effectRef idx="0">
                <a:srgbClr val="006EFF"/>
              </a:effectRef>
              <a:fontRef idx="minor">
                <a:srgbClr val="FFFFFF"/>
              </a:fontRef>
            </p:style>
            <p:txBody>
              <a:bodyPr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lvl="0" algn="ctr">
                  <a:buClrTx/>
                  <a:buSzTx/>
                  <a:buFontTx/>
                </a:pPr>
                <a:r>
                  <a:rPr lang="zh-CN" altLang="en-US" sz="900" b="1" kern="0" dirty="0">
                    <a:solidFill>
                      <a:prstClr val="white"/>
                    </a:solidFill>
                    <a:latin typeface="微软雅黑" pitchFamily="34" charset="-122"/>
                    <a:ea typeface="微软雅黑" pitchFamily="34" charset="-122"/>
                    <a:sym typeface="+mn-ea"/>
                  </a:rPr>
                  <a:t>爱山东</a:t>
                </a:r>
              </a:p>
            </p:txBody>
          </p:sp>
          <p:sp>
            <p:nvSpPr>
              <p:cNvPr id="135" name="矩形 134"/>
              <p:cNvSpPr/>
              <p:nvPr>
                <p:custDataLst>
                  <p:tags r:id="rId15"/>
                </p:custDataLst>
              </p:nvPr>
            </p:nvSpPr>
            <p:spPr>
              <a:xfrm>
                <a:off x="2434590" y="1190423"/>
                <a:ext cx="1304925" cy="231140"/>
              </a:xfrm>
              <a:prstGeom prst="rect">
                <a:avLst/>
              </a:prstGeom>
              <a:solidFill>
                <a:srgbClr val="006EFF"/>
              </a:solidFill>
              <a:ln>
                <a:noFill/>
              </a:ln>
            </p:spPr>
            <p:style>
              <a:lnRef idx="2">
                <a:srgbClr val="006EFF">
                  <a:shade val="50000"/>
                </a:srgbClr>
              </a:lnRef>
              <a:fillRef idx="1">
                <a:srgbClr val="006EFF"/>
              </a:fillRef>
              <a:effectRef idx="0">
                <a:srgbClr val="006EFF"/>
              </a:effectRef>
              <a:fontRef idx="minor">
                <a:srgbClr val="FFFFFF"/>
              </a:fontRef>
            </p:style>
            <p:txBody>
              <a:bodyPr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lvl="0" algn="ctr">
                  <a:buClrTx/>
                  <a:buSzTx/>
                  <a:buFontTx/>
                </a:pPr>
                <a:r>
                  <a:rPr lang="zh-CN" altLang="en-US" sz="900" b="1" kern="0" dirty="0">
                    <a:solidFill>
                      <a:prstClr val="white"/>
                    </a:solidFill>
                    <a:latin typeface="微软雅黑" pitchFamily="34" charset="-122"/>
                    <a:ea typeface="微软雅黑" pitchFamily="34" charset="-122"/>
                    <a:sym typeface="+mn-ea"/>
                  </a:rPr>
                  <a:t>大屏</a:t>
                </a:r>
              </a:p>
            </p:txBody>
          </p:sp>
          <p:sp>
            <p:nvSpPr>
              <p:cNvPr id="136" name="矩形 135"/>
              <p:cNvSpPr/>
              <p:nvPr>
                <p:custDataLst>
                  <p:tags r:id="rId16"/>
                </p:custDataLst>
              </p:nvPr>
            </p:nvSpPr>
            <p:spPr>
              <a:xfrm>
                <a:off x="7837250" y="1197408"/>
                <a:ext cx="1715135" cy="217171"/>
              </a:xfrm>
              <a:prstGeom prst="rect">
                <a:avLst/>
              </a:prstGeom>
              <a:solidFill>
                <a:srgbClr val="006EFF"/>
              </a:solidFill>
              <a:ln>
                <a:noFill/>
              </a:ln>
            </p:spPr>
            <p:style>
              <a:lnRef idx="2">
                <a:srgbClr val="006EFF">
                  <a:shade val="50000"/>
                </a:srgbClr>
              </a:lnRef>
              <a:fillRef idx="1">
                <a:srgbClr val="006EFF"/>
              </a:fillRef>
              <a:effectRef idx="0">
                <a:srgbClr val="006EFF"/>
              </a:effectRef>
              <a:fontRef idx="minor">
                <a:srgbClr val="FFFFFF"/>
              </a:fontRef>
            </p:style>
            <p:txBody>
              <a:bodyPr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lvl="0" algn="ctr">
                  <a:buClrTx/>
                  <a:buSzTx/>
                  <a:buFontTx/>
                </a:pPr>
                <a:r>
                  <a:rPr lang="zh-CN" altLang="en-US" sz="900" b="1" kern="0" dirty="0">
                    <a:solidFill>
                      <a:prstClr val="white"/>
                    </a:solidFill>
                    <a:latin typeface="微软雅黑" pitchFamily="34" charset="-122"/>
                    <a:ea typeface="微软雅黑" pitchFamily="34" charset="-122"/>
                    <a:sym typeface="+mn-ea"/>
                  </a:rPr>
                  <a:t>山东通</a:t>
                </a:r>
              </a:p>
            </p:txBody>
          </p:sp>
        </p:grpSp>
        <p:grpSp>
          <p:nvGrpSpPr>
            <p:cNvPr id="43" name="组合 42"/>
            <p:cNvGrpSpPr/>
            <p:nvPr/>
          </p:nvGrpSpPr>
          <p:grpSpPr>
            <a:xfrm>
              <a:off x="2339975" y="1928446"/>
              <a:ext cx="7369810" cy="1668148"/>
              <a:chOff x="2339975" y="1688843"/>
              <a:chExt cx="7369810" cy="1668148"/>
            </a:xfrm>
          </p:grpSpPr>
          <p:sp>
            <p:nvSpPr>
              <p:cNvPr id="45" name="矩形 44"/>
              <p:cNvSpPr/>
              <p:nvPr/>
            </p:nvSpPr>
            <p:spPr>
              <a:xfrm>
                <a:off x="2339975" y="1688843"/>
                <a:ext cx="7369810" cy="1668148"/>
              </a:xfrm>
              <a:prstGeom prst="rect">
                <a:avLst/>
              </a:prstGeom>
              <a:solidFill>
                <a:srgbClr val="FFFFFF"/>
              </a:solidFill>
              <a:ln w="15875">
                <a:solidFill>
                  <a:srgbClr val="FFFFFF">
                    <a:lumMod val="85000"/>
                  </a:srgbClr>
                </a:solidFill>
              </a:ln>
            </p:spPr>
            <p:style>
              <a:lnRef idx="2">
                <a:srgbClr val="006EFF">
                  <a:shade val="50000"/>
                </a:srgbClr>
              </a:lnRef>
              <a:fillRef idx="1">
                <a:srgbClr val="006EFF"/>
              </a:fillRef>
              <a:effectRef idx="0">
                <a:srgbClr val="006EFF"/>
              </a:effectRef>
              <a:fontRef idx="minor">
                <a:srgbClr val="FFFFFF"/>
              </a:fontRef>
            </p:style>
            <p:txBody>
              <a:bodyPr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lvl="0" algn="ctr">
                  <a:buClrTx/>
                  <a:buSzTx/>
                  <a:buFontTx/>
                </a:pPr>
                <a:endParaRPr lang="zh-CN" altLang="en-US" b="1">
                  <a:latin typeface="微软雅黑" pitchFamily="34" charset="-122"/>
                  <a:ea typeface="微软雅黑" pitchFamily="34" charset="-122"/>
                  <a:sym typeface="+mn-lt"/>
                </a:endParaRPr>
              </a:p>
            </p:txBody>
          </p:sp>
          <p:sp>
            <p:nvSpPr>
              <p:cNvPr id="46" name="矩形 45"/>
              <p:cNvSpPr/>
              <p:nvPr/>
            </p:nvSpPr>
            <p:spPr>
              <a:xfrm>
                <a:off x="2453005" y="1806213"/>
                <a:ext cx="3560762" cy="1478770"/>
              </a:xfrm>
              <a:prstGeom prst="rect">
                <a:avLst/>
              </a:prstGeom>
              <a:solidFill>
                <a:srgbClr val="FFFFFF"/>
              </a:solidFill>
              <a:ln w="15875">
                <a:solidFill>
                  <a:srgbClr val="FFFFFF">
                    <a:lumMod val="85000"/>
                  </a:srgbClr>
                </a:solidFill>
                <a:prstDash val="solid"/>
              </a:ln>
            </p:spPr>
            <p:style>
              <a:lnRef idx="2">
                <a:srgbClr val="006EFF">
                  <a:shade val="50000"/>
                </a:srgbClr>
              </a:lnRef>
              <a:fillRef idx="1">
                <a:srgbClr val="006EFF"/>
              </a:fillRef>
              <a:effectRef idx="0">
                <a:srgbClr val="006EFF"/>
              </a:effectRef>
              <a:fontRef idx="minor">
                <a:srgbClr val="FFFFFF"/>
              </a:fontRef>
            </p:style>
            <p:txBody>
              <a:bodyPr vertOverflow="overflow" horzOverflow="overflow" vert="horz" wrap="square" lIns="91440" tIns="45720" rIns="91440" bIns="45720" numCol="1" spcCol="0" rtlCol="0" fromWordArt="0" anchor="t" anchorCtr="0" forceAA="0" compatLnSpc="1">
                <a:noAutofit/>
              </a:bodyPr>
              <a:lstStyle/>
              <a:p>
                <a:pPr lvl="0" algn="ctr">
                  <a:buClrTx/>
                  <a:buSzTx/>
                  <a:buFontTx/>
                </a:pPr>
                <a:endParaRPr lang="zh-CN" altLang="en-US" sz="1100" b="1" dirty="0">
                  <a:solidFill>
                    <a:srgbClr val="1B1B1B"/>
                  </a:solidFill>
                  <a:latin typeface="微软雅黑" pitchFamily="34" charset="-122"/>
                  <a:ea typeface="微软雅黑" pitchFamily="34" charset="-122"/>
                  <a:sym typeface="+mn-lt"/>
                </a:endParaRPr>
              </a:p>
            </p:txBody>
          </p:sp>
          <p:sp>
            <p:nvSpPr>
              <p:cNvPr id="53" name="矩形: 圆角 60"/>
              <p:cNvSpPr/>
              <p:nvPr/>
            </p:nvSpPr>
            <p:spPr>
              <a:xfrm>
                <a:off x="4364701" y="2388216"/>
                <a:ext cx="1488000" cy="216000"/>
              </a:xfrm>
              <a:prstGeom prst="roundRect">
                <a:avLst/>
              </a:prstGeom>
              <a:solidFill>
                <a:srgbClr val="066FBB"/>
              </a:solidFill>
              <a:ln w="9525" algn="ctr">
                <a:noFill/>
                <a:round/>
              </a:ln>
            </p:spPr>
            <p:txBody>
              <a:bodyPr vert="horz" wrap="square" lIns="0" tIns="0" rIns="0" bIns="0" numCol="1" spcCol="0" rtlCol="0" fromWordArt="0" anchor="ctr" anchorCtr="0" forceAA="0" compatLnSpc="0">
                <a:noAutofit/>
              </a:bodyPr>
              <a:lstStyle/>
              <a:p>
                <a:pPr lvl="0" algn="ctr">
                  <a:buClrTx/>
                  <a:buSzTx/>
                  <a:buFontTx/>
                </a:pPr>
                <a:r>
                  <a:rPr lang="zh-CN" altLang="en-US" sz="800" b="1" dirty="0">
                    <a:solidFill>
                      <a:srgbClr val="FFFFFF"/>
                    </a:solidFill>
                    <a:latin typeface="微软雅黑" pitchFamily="34" charset="-122"/>
                    <a:ea typeface="微软雅黑" pitchFamily="34" charset="-122"/>
                    <a:sym typeface="+mn-ea"/>
                  </a:rPr>
                  <a:t>产业监测分析</a:t>
                </a:r>
              </a:p>
            </p:txBody>
          </p:sp>
          <p:sp>
            <p:nvSpPr>
              <p:cNvPr id="92" name="矩形: 圆角 60"/>
              <p:cNvSpPr/>
              <p:nvPr/>
            </p:nvSpPr>
            <p:spPr>
              <a:xfrm>
                <a:off x="4364701" y="2692596"/>
                <a:ext cx="1488000" cy="216000"/>
              </a:xfrm>
              <a:prstGeom prst="roundRect">
                <a:avLst/>
              </a:prstGeom>
              <a:solidFill>
                <a:srgbClr val="BCE2F5"/>
              </a:solidFill>
              <a:ln w="9525" algn="ctr">
                <a:solidFill>
                  <a:srgbClr val="BCE2F5"/>
                </a:solidFill>
                <a:round/>
              </a:ln>
            </p:spPr>
            <p:txBody>
              <a:bodyPr vert="horz" wrap="square" lIns="0" tIns="0" rIns="0" bIns="0" numCol="1" spcCol="0" rtlCol="0" fromWordArt="0" anchor="ctr" anchorCtr="0" forceAA="0" compatLnSpc="0">
                <a:noAutofit/>
              </a:bodyPr>
              <a:lstStyle/>
              <a:p>
                <a:pPr lvl="0" algn="ctr">
                  <a:buClrTx/>
                  <a:buSzTx/>
                  <a:buFontTx/>
                </a:pPr>
                <a:r>
                  <a:rPr lang="zh-CN" altLang="en-US" sz="800" b="1" dirty="0">
                    <a:latin typeface="微软雅黑" pitchFamily="34" charset="-122"/>
                    <a:ea typeface="微软雅黑" pitchFamily="34" charset="-122"/>
                    <a:sym typeface="+mn-ea"/>
                  </a:rPr>
                  <a:t>科技成果转化评价</a:t>
                </a:r>
              </a:p>
            </p:txBody>
          </p:sp>
          <p:sp>
            <p:nvSpPr>
              <p:cNvPr id="125" name="矩形 124"/>
              <p:cNvSpPr/>
              <p:nvPr>
                <p:custDataLst>
                  <p:tags r:id="rId6"/>
                </p:custDataLst>
              </p:nvPr>
            </p:nvSpPr>
            <p:spPr>
              <a:xfrm>
                <a:off x="6096001" y="1806213"/>
                <a:ext cx="3461382" cy="1478770"/>
              </a:xfrm>
              <a:prstGeom prst="rect">
                <a:avLst/>
              </a:prstGeom>
              <a:solidFill>
                <a:srgbClr val="FFFFFF"/>
              </a:solidFill>
              <a:ln w="15875">
                <a:solidFill>
                  <a:srgbClr val="FFFFFF">
                    <a:lumMod val="85000"/>
                  </a:srgbClr>
                </a:solidFill>
                <a:prstDash val="solid"/>
              </a:ln>
            </p:spPr>
            <p:style>
              <a:lnRef idx="2">
                <a:srgbClr val="006EFF">
                  <a:shade val="50000"/>
                </a:srgbClr>
              </a:lnRef>
              <a:fillRef idx="1">
                <a:srgbClr val="006EFF"/>
              </a:fillRef>
              <a:effectRef idx="0">
                <a:srgbClr val="006EFF"/>
              </a:effectRef>
              <a:fontRef idx="minor">
                <a:srgbClr val="FFFFFF"/>
              </a:fontRef>
            </p:style>
            <p:txBody>
              <a:bodyPr vertOverflow="overflow" horzOverflow="overflow" vert="horz" wrap="square" lIns="91440" tIns="45720" rIns="91440" bIns="45720" numCol="1" spcCol="0" rtlCol="0" fromWordArt="0" anchor="t" anchorCtr="0" forceAA="0" compatLnSpc="1">
                <a:noAutofit/>
              </a:bodyPr>
              <a:lstStyle/>
              <a:p>
                <a:pPr lvl="0" algn="ctr">
                  <a:buClrTx/>
                  <a:buSzTx/>
                  <a:buFontTx/>
                </a:pPr>
                <a:endParaRPr lang="zh-CN" altLang="en-US" sz="1100" b="1" dirty="0">
                  <a:solidFill>
                    <a:srgbClr val="1B1B1B"/>
                  </a:solidFill>
                  <a:latin typeface="微软雅黑" pitchFamily="34" charset="-122"/>
                  <a:ea typeface="微软雅黑" pitchFamily="34" charset="-122"/>
                  <a:sym typeface="+mn-lt"/>
                </a:endParaRPr>
              </a:p>
            </p:txBody>
          </p:sp>
          <p:sp>
            <p:nvSpPr>
              <p:cNvPr id="128" name="矩形: 圆角 60"/>
              <p:cNvSpPr/>
              <p:nvPr>
                <p:custDataLst>
                  <p:tags r:id="rId7"/>
                </p:custDataLst>
              </p:nvPr>
            </p:nvSpPr>
            <p:spPr>
              <a:xfrm>
                <a:off x="2603776" y="2692596"/>
                <a:ext cx="1488000" cy="216000"/>
              </a:xfrm>
              <a:prstGeom prst="roundRect">
                <a:avLst/>
              </a:prstGeom>
              <a:solidFill>
                <a:srgbClr val="066FBB"/>
              </a:solidFill>
              <a:ln w="9525" algn="ctr">
                <a:solidFill>
                  <a:srgbClr val="0053BF"/>
                </a:solidFill>
                <a:round/>
              </a:ln>
            </p:spPr>
            <p:txBody>
              <a:bodyPr vert="horz" wrap="square" lIns="0" tIns="0" rIns="0" bIns="0" numCol="1" spcCol="0" rtlCol="0" fromWordArt="0" anchor="ctr" anchorCtr="0" forceAA="0" compatLnSpc="0">
                <a:noAutofit/>
              </a:bodyPr>
              <a:lstStyle/>
              <a:p>
                <a:pPr lvl="0" algn="ctr">
                  <a:buClrTx/>
                  <a:buSzTx/>
                  <a:buFontTx/>
                </a:pPr>
                <a:r>
                  <a:rPr lang="zh-CN" altLang="en-US" sz="800" b="1" dirty="0">
                    <a:solidFill>
                      <a:schemeClr val="bg1"/>
                    </a:solidFill>
                    <a:latin typeface="微软雅黑" pitchFamily="34" charset="-122"/>
                    <a:ea typeface="微软雅黑" pitchFamily="34" charset="-122"/>
                    <a:sym typeface="+mn-ea"/>
                  </a:rPr>
                  <a:t>图谱公共服务</a:t>
                </a:r>
              </a:p>
            </p:txBody>
          </p:sp>
          <p:sp>
            <p:nvSpPr>
              <p:cNvPr id="130" name="矩形: 圆角 60"/>
              <p:cNvSpPr/>
              <p:nvPr>
                <p:custDataLst>
                  <p:tags r:id="rId8"/>
                </p:custDataLst>
              </p:nvPr>
            </p:nvSpPr>
            <p:spPr>
              <a:xfrm>
                <a:off x="6800691" y="2083836"/>
                <a:ext cx="2052000" cy="216000"/>
              </a:xfrm>
              <a:prstGeom prst="roundRect">
                <a:avLst/>
              </a:prstGeom>
              <a:solidFill>
                <a:srgbClr val="167D40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wrap="square" lIns="91440" tIns="45720" rIns="91440" bIns="45720" numCol="1" spcCol="0" rtlCol="0" fromWordArt="0" anchor="ctr" anchorCtr="0" forceAA="0" compatLnSpc="0">
                <a:noAutofit/>
              </a:bodyPr>
              <a:lstStyle/>
              <a:p>
                <a:pPr lvl="0" algn="ctr">
                  <a:buClrTx/>
                  <a:buSzTx/>
                  <a:buFontTx/>
                </a:pPr>
                <a:r>
                  <a:rPr lang="zh-CN" altLang="en-US" sz="800" b="1" kern="0" dirty="0">
                    <a:solidFill>
                      <a:prstClr val="white"/>
                    </a:solidFill>
                    <a:latin typeface="微软雅黑" pitchFamily="34" charset="-122"/>
                    <a:ea typeface="微软雅黑" pitchFamily="34" charset="-122"/>
                    <a:sym typeface="+mn-ea"/>
                  </a:rPr>
                  <a:t>科技成果转化线上平台（一期）</a:t>
                </a:r>
              </a:p>
            </p:txBody>
          </p:sp>
          <p:sp>
            <p:nvSpPr>
              <p:cNvPr id="131" name="矩形: 圆角 60"/>
              <p:cNvSpPr/>
              <p:nvPr>
                <p:custDataLst>
                  <p:tags r:id="rId9"/>
                </p:custDataLst>
              </p:nvPr>
            </p:nvSpPr>
            <p:spPr>
              <a:xfrm>
                <a:off x="4364701" y="2996976"/>
                <a:ext cx="1488000" cy="216000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9525" algn="ctr">
                <a:noFill/>
                <a:round/>
              </a:ln>
            </p:spPr>
            <p:txBody>
              <a:bodyPr vert="horz" wrap="square" lIns="0" tIns="0" rIns="0" bIns="0" numCol="1" spcCol="0" rtlCol="0" fromWordArt="0" anchor="ctr" anchorCtr="0" forceAA="0" compatLnSpc="0">
                <a:noAutofit/>
              </a:bodyPr>
              <a:lstStyle/>
              <a:p>
                <a:pPr lvl="0" algn="ctr">
                  <a:buClrTx/>
                  <a:buSzTx/>
                  <a:buFontTx/>
                </a:pPr>
                <a:r>
                  <a:rPr lang="en-US" altLang="zh-CN" sz="800" b="1" dirty="0">
                    <a:latin typeface="微软雅黑" pitchFamily="34" charset="-122"/>
                    <a:ea typeface="微软雅黑" pitchFamily="34" charset="-122"/>
                    <a:sym typeface="+mn-ea"/>
                  </a:rPr>
                  <a:t>……</a:t>
                </a:r>
                <a:endParaRPr lang="zh-CN" altLang="en-US" sz="800" b="1" dirty="0">
                  <a:latin typeface="微软雅黑" pitchFamily="34" charset="-122"/>
                  <a:ea typeface="微软雅黑" pitchFamily="34" charset="-122"/>
                  <a:sym typeface="+mn-ea"/>
                </a:endParaRPr>
              </a:p>
            </p:txBody>
          </p:sp>
          <p:sp>
            <p:nvSpPr>
              <p:cNvPr id="106" name="矩形: 圆角 60"/>
              <p:cNvSpPr/>
              <p:nvPr/>
            </p:nvSpPr>
            <p:spPr>
              <a:xfrm>
                <a:off x="2603776" y="2083836"/>
                <a:ext cx="1488000" cy="216000"/>
              </a:xfrm>
              <a:prstGeom prst="roundRect">
                <a:avLst/>
              </a:prstGeom>
              <a:solidFill>
                <a:srgbClr val="167D40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wrap="square" numCol="1" spcCol="0" rtlCol="0" fromWordArt="0" anchor="ctr" anchorCtr="0" forceAA="0" compatLnSpc="0">
                <a:noAutofit/>
              </a:bodyPr>
              <a:lstStyle/>
              <a:p>
                <a:pPr lvl="0" algn="ctr">
                  <a:buClrTx/>
                  <a:buSzTx/>
                  <a:buFontTx/>
                </a:pPr>
                <a:r>
                  <a:rPr lang="zh-CN" altLang="en-US" sz="800" b="1" kern="0" dirty="0">
                    <a:solidFill>
                      <a:prstClr val="white"/>
                    </a:solidFill>
                    <a:latin typeface="微软雅黑" pitchFamily="34" charset="-122"/>
                    <a:ea typeface="微软雅黑" pitchFamily="34" charset="-122"/>
                    <a:sym typeface="+mn-ea"/>
                  </a:rPr>
                  <a:t>科技统计数据</a:t>
                </a:r>
              </a:p>
            </p:txBody>
          </p:sp>
          <p:sp>
            <p:nvSpPr>
              <p:cNvPr id="107" name="矩形: 圆角 60"/>
              <p:cNvSpPr/>
              <p:nvPr/>
            </p:nvSpPr>
            <p:spPr>
              <a:xfrm>
                <a:off x="2603776" y="2388216"/>
                <a:ext cx="1488000" cy="216000"/>
              </a:xfrm>
              <a:prstGeom prst="roundRect">
                <a:avLst/>
              </a:prstGeom>
              <a:solidFill>
                <a:srgbClr val="066FBB"/>
              </a:solidFill>
              <a:ln w="9525" algn="ctr">
                <a:noFill/>
                <a:round/>
              </a:ln>
            </p:spPr>
            <p:txBody>
              <a:bodyPr vert="horz" wrap="square" lIns="0" tIns="0" rIns="0" bIns="0" numCol="1" spcCol="0" rtlCol="0" fromWordArt="0" anchor="ctr" anchorCtr="0" forceAA="0" compatLnSpc="0">
                <a:noAutofit/>
              </a:bodyPr>
              <a:lstStyle/>
              <a:p>
                <a:pPr lvl="0" algn="ctr">
                  <a:buClrTx/>
                  <a:buSzTx/>
                  <a:buFontTx/>
                </a:pPr>
                <a:r>
                  <a:rPr lang="zh-CN" altLang="en-US" sz="800" b="1" dirty="0">
                    <a:solidFill>
                      <a:srgbClr val="FFFFFF"/>
                    </a:solidFill>
                    <a:latin typeface="微软雅黑" pitchFamily="34" charset="-122"/>
                    <a:ea typeface="微软雅黑" pitchFamily="34" charset="-122"/>
                    <a:sym typeface="+mn-ea"/>
                  </a:rPr>
                  <a:t>智库</a:t>
                </a:r>
                <a:r>
                  <a:rPr lang="en-US" altLang="zh-CN" sz="800" b="1" dirty="0" err="1">
                    <a:solidFill>
                      <a:srgbClr val="FFFFFF"/>
                    </a:solidFill>
                    <a:latin typeface="微软雅黑" pitchFamily="34" charset="-122"/>
                    <a:ea typeface="微软雅黑" pitchFamily="34" charset="-122"/>
                    <a:sym typeface="+mn-ea"/>
                  </a:rPr>
                  <a:t>研究辅助</a:t>
                </a:r>
                <a:endParaRPr lang="zh-CN" altLang="en-US" sz="800" b="1" dirty="0">
                  <a:solidFill>
                    <a:srgbClr val="FFFFFF"/>
                  </a:solidFill>
                  <a:latin typeface="微软雅黑" pitchFamily="34" charset="-122"/>
                  <a:ea typeface="微软雅黑" pitchFamily="34" charset="-122"/>
                  <a:sym typeface="+mn-ea"/>
                </a:endParaRPr>
              </a:p>
            </p:txBody>
          </p:sp>
          <p:sp>
            <p:nvSpPr>
              <p:cNvPr id="110" name="矩形: 圆角 60"/>
              <p:cNvSpPr/>
              <p:nvPr>
                <p:custDataLst>
                  <p:tags r:id="rId10"/>
                </p:custDataLst>
              </p:nvPr>
            </p:nvSpPr>
            <p:spPr>
              <a:xfrm>
                <a:off x="4364701" y="2083836"/>
                <a:ext cx="1488000" cy="216000"/>
              </a:xfrm>
              <a:prstGeom prst="roundRect">
                <a:avLst/>
              </a:prstGeom>
              <a:solidFill>
                <a:srgbClr val="167D40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wrap="square" numCol="1" spcCol="0" rtlCol="0" fromWordArt="0" anchor="ctr" anchorCtr="0" forceAA="0" compatLnSpc="0">
                <a:noAutofit/>
              </a:bodyPr>
              <a:lstStyle/>
              <a:p>
                <a:pPr lvl="0" algn="ctr">
                  <a:buClrTx/>
                  <a:buSzTx/>
                  <a:buFontTx/>
                </a:pPr>
                <a:r>
                  <a:rPr lang="zh-CN" altLang="en-US" sz="800" b="1" kern="0" dirty="0">
                    <a:solidFill>
                      <a:prstClr val="white"/>
                    </a:solidFill>
                    <a:latin typeface="微软雅黑" pitchFamily="34" charset="-122"/>
                    <a:ea typeface="微软雅黑" pitchFamily="34" charset="-122"/>
                    <a:sym typeface="+mn-ea"/>
                  </a:rPr>
                  <a:t>科技项目全过程管理</a:t>
                </a:r>
              </a:p>
            </p:txBody>
          </p:sp>
          <p:sp>
            <p:nvSpPr>
              <p:cNvPr id="47" name="矩形: 圆角 60"/>
              <p:cNvSpPr/>
              <p:nvPr>
                <p:custDataLst>
                  <p:tags r:id="rId11"/>
                </p:custDataLst>
              </p:nvPr>
            </p:nvSpPr>
            <p:spPr>
              <a:xfrm>
                <a:off x="6800691" y="2388216"/>
                <a:ext cx="2052000" cy="216000"/>
              </a:xfrm>
              <a:prstGeom prst="roundRect">
                <a:avLst/>
              </a:prstGeom>
              <a:solidFill>
                <a:srgbClr val="BCE2F5"/>
              </a:solidFill>
              <a:ln w="9525" algn="ctr">
                <a:solidFill>
                  <a:srgbClr val="BCE2F5"/>
                </a:solidFill>
                <a:round/>
              </a:ln>
            </p:spPr>
            <p:txBody>
              <a:bodyPr vert="horz" wrap="square" lIns="0" tIns="0" rIns="0" bIns="0" numCol="1" spcCol="0" rtlCol="0" fromWordArt="0" anchor="ctr" anchorCtr="0" forceAA="0" compatLnSpc="0">
                <a:noAutofit/>
              </a:bodyPr>
              <a:lstStyle/>
              <a:p>
                <a:pPr lvl="0" algn="ctr">
                  <a:buClrTx/>
                  <a:buSzTx/>
                  <a:buFontTx/>
                </a:pPr>
                <a:r>
                  <a:rPr lang="zh-CN" altLang="en-US" sz="800" b="1" dirty="0">
                    <a:latin typeface="微软雅黑" pitchFamily="34" charset="-122"/>
                    <a:ea typeface="微软雅黑" pitchFamily="34" charset="-122"/>
                    <a:sym typeface="+mn-ea"/>
                  </a:rPr>
                  <a:t>科技成果转化线上平台（二期）</a:t>
                </a:r>
              </a:p>
            </p:txBody>
          </p:sp>
          <p:sp>
            <p:nvSpPr>
              <p:cNvPr id="49" name="矩形: 圆角 60"/>
              <p:cNvSpPr/>
              <p:nvPr>
                <p:custDataLst>
                  <p:tags r:id="rId12"/>
                </p:custDataLst>
              </p:nvPr>
            </p:nvSpPr>
            <p:spPr>
              <a:xfrm>
                <a:off x="6800691" y="2692596"/>
                <a:ext cx="2052000" cy="216000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9525" algn="ctr">
                <a:noFill/>
                <a:round/>
              </a:ln>
            </p:spPr>
            <p:txBody>
              <a:bodyPr vert="horz" wrap="square" lIns="0" tIns="0" rIns="0" bIns="0" numCol="1" spcCol="0" rtlCol="0" fromWordArt="0" anchor="ctr" anchorCtr="0" forceAA="0" compatLnSpc="0">
                <a:noAutofit/>
              </a:bodyPr>
              <a:lstStyle/>
              <a:p>
                <a:pPr lvl="0" algn="ctr">
                  <a:buClrTx/>
                  <a:buSzTx/>
                  <a:buFontTx/>
                </a:pPr>
                <a:r>
                  <a:rPr lang="zh-CN" altLang="en-US" sz="800" b="1" dirty="0">
                    <a:latin typeface="微软雅黑" pitchFamily="34" charset="-122"/>
                    <a:ea typeface="微软雅黑" pitchFamily="34" charset="-122"/>
                    <a:sym typeface="+mn-ea"/>
                  </a:rPr>
                  <a:t>科技产业融合一体化服务平台</a:t>
                </a:r>
              </a:p>
            </p:txBody>
          </p:sp>
          <p:sp>
            <p:nvSpPr>
              <p:cNvPr id="157" name="文本框 51"/>
              <p:cNvSpPr txBox="1"/>
              <p:nvPr/>
            </p:nvSpPr>
            <p:spPr>
              <a:xfrm>
                <a:off x="2452371" y="1806213"/>
                <a:ext cx="3561396" cy="254635"/>
              </a:xfrm>
              <a:prstGeom prst="rect">
                <a:avLst/>
              </a:prstGeom>
              <a:noFill/>
            </p:spPr>
            <p:txBody>
              <a:bodyPr wrap="square">
                <a:noAutofit/>
              </a:bodyPr>
              <a:lstStyle/>
              <a:p>
                <a:pPr lvl="0" algn="ctr">
                  <a:buClrTx/>
                  <a:buSzTx/>
                  <a:buFontTx/>
                </a:pPr>
                <a:r>
                  <a:rPr lang="zh-CN" altLang="en-US" sz="800" b="1" dirty="0">
                    <a:latin typeface="微软雅黑" pitchFamily="34" charset="-122"/>
                    <a:ea typeface="微软雅黑" pitchFamily="34" charset="-122"/>
                    <a:sym typeface="+mn-lt"/>
                  </a:rPr>
                  <a:t>对内管理</a:t>
                </a:r>
              </a:p>
            </p:txBody>
          </p:sp>
          <p:sp>
            <p:nvSpPr>
              <p:cNvPr id="169" name="矩形: 圆角 60"/>
              <p:cNvSpPr/>
              <p:nvPr>
                <p:custDataLst>
                  <p:tags r:id="rId13"/>
                </p:custDataLst>
              </p:nvPr>
            </p:nvSpPr>
            <p:spPr>
              <a:xfrm>
                <a:off x="2603776" y="2996976"/>
                <a:ext cx="1488000" cy="216000"/>
              </a:xfrm>
              <a:prstGeom prst="roundRect">
                <a:avLst/>
              </a:prstGeom>
              <a:solidFill>
                <a:srgbClr val="8DEBFF"/>
              </a:solidFill>
              <a:ln w="9525" algn="ctr">
                <a:solidFill>
                  <a:srgbClr val="BCE2F5"/>
                </a:solidFill>
                <a:round/>
              </a:ln>
            </p:spPr>
            <p:txBody>
              <a:bodyPr vert="horz" wrap="square" lIns="0" tIns="0" rIns="0" bIns="0" numCol="1" spcCol="0" rtlCol="0" fromWordArt="0" anchor="ctr" anchorCtr="0" forceAA="0" compatLnSpc="0">
                <a:noAutofit/>
              </a:bodyPr>
              <a:lstStyle/>
              <a:p>
                <a:pPr lvl="0" algn="ctr">
                  <a:buClrTx/>
                  <a:buSzTx/>
                  <a:buFontTx/>
                </a:pPr>
                <a:r>
                  <a:rPr lang="zh-CN" altLang="en-US" sz="800" b="1" dirty="0">
                    <a:latin typeface="微软雅黑" pitchFamily="34" charset="-122"/>
                    <a:ea typeface="微软雅黑" pitchFamily="34" charset="-122"/>
                    <a:sym typeface="+mn-ea"/>
                  </a:rPr>
                  <a:t>“一平台”</a:t>
                </a:r>
              </a:p>
            </p:txBody>
          </p:sp>
          <p:sp>
            <p:nvSpPr>
              <p:cNvPr id="170" name="文本框 51"/>
              <p:cNvSpPr txBox="1"/>
              <p:nvPr/>
            </p:nvSpPr>
            <p:spPr>
              <a:xfrm>
                <a:off x="6096000" y="1798602"/>
                <a:ext cx="3461382" cy="254635"/>
              </a:xfrm>
              <a:prstGeom prst="rect">
                <a:avLst/>
              </a:prstGeom>
              <a:noFill/>
            </p:spPr>
            <p:txBody>
              <a:bodyPr wrap="square">
                <a:noAutofit/>
              </a:bodyPr>
              <a:lstStyle/>
              <a:p>
                <a:pPr lvl="0" algn="ctr">
                  <a:buClrTx/>
                  <a:buSzTx/>
                  <a:buFontTx/>
                </a:pPr>
                <a:r>
                  <a:rPr lang="zh-CN" altLang="en-US" sz="800" b="1" dirty="0">
                    <a:latin typeface="微软雅黑" pitchFamily="34" charset="-122"/>
                    <a:ea typeface="微软雅黑" pitchFamily="34" charset="-122"/>
                    <a:sym typeface="+mn-lt"/>
                  </a:rPr>
                  <a:t>对外服务</a:t>
                </a:r>
              </a:p>
            </p:txBody>
          </p:sp>
          <p:sp>
            <p:nvSpPr>
              <p:cNvPr id="171" name="矩形: 圆角 60"/>
              <p:cNvSpPr/>
              <p:nvPr>
                <p:custDataLst>
                  <p:tags r:id="rId14"/>
                </p:custDataLst>
              </p:nvPr>
            </p:nvSpPr>
            <p:spPr>
              <a:xfrm>
                <a:off x="6800691" y="2996976"/>
                <a:ext cx="2052000" cy="216000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9525" algn="ctr">
                <a:noFill/>
                <a:round/>
              </a:ln>
            </p:spPr>
            <p:txBody>
              <a:bodyPr vert="horz" wrap="square" lIns="0" tIns="0" rIns="0" bIns="0" numCol="1" spcCol="0" rtlCol="0" fromWordArt="0" anchor="ctr" anchorCtr="0" forceAA="0" compatLnSpc="0">
                <a:noAutofit/>
              </a:bodyPr>
              <a:lstStyle/>
              <a:p>
                <a:pPr lvl="0" algn="ctr">
                  <a:buClrTx/>
                  <a:buSzTx/>
                  <a:buFontTx/>
                </a:pPr>
                <a:r>
                  <a:rPr lang="en-US" altLang="zh-CN" sz="800" b="1" dirty="0">
                    <a:latin typeface="微软雅黑" pitchFamily="34" charset="-122"/>
                    <a:ea typeface="微软雅黑" pitchFamily="34" charset="-122"/>
                    <a:sym typeface="+mn-ea"/>
                  </a:rPr>
                  <a:t>……</a:t>
                </a:r>
                <a:endParaRPr lang="zh-CN" altLang="en-US" sz="800" b="1" dirty="0">
                  <a:latin typeface="微软雅黑" pitchFamily="34" charset="-122"/>
                  <a:ea typeface="微软雅黑" pitchFamily="34" charset="-122"/>
                  <a:sym typeface="+mn-ea"/>
                </a:endParaRPr>
              </a:p>
            </p:txBody>
          </p:sp>
        </p:grpSp>
      </p:grpSp>
      <p:grpSp>
        <p:nvGrpSpPr>
          <p:cNvPr id="172" name="组合 171"/>
          <p:cNvGrpSpPr/>
          <p:nvPr/>
        </p:nvGrpSpPr>
        <p:grpSpPr>
          <a:xfrm>
            <a:off x="1230631" y="2322001"/>
            <a:ext cx="6051709" cy="290813"/>
            <a:chOff x="1640840" y="3429000"/>
            <a:chExt cx="8068945" cy="387751"/>
          </a:xfrm>
        </p:grpSpPr>
        <p:sp>
          <p:nvSpPr>
            <p:cNvPr id="173" name="矩形 172"/>
            <p:cNvSpPr/>
            <p:nvPr/>
          </p:nvSpPr>
          <p:spPr>
            <a:xfrm>
              <a:off x="2339975" y="3429000"/>
              <a:ext cx="7369810" cy="387750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FFFFFF">
                  <a:lumMod val="85000"/>
                </a:srgbClr>
              </a:solidFill>
            </a:ln>
          </p:spPr>
          <p:style>
            <a:lnRef idx="2">
              <a:srgbClr val="006EFF">
                <a:shade val="50000"/>
              </a:srgbClr>
            </a:lnRef>
            <a:fillRef idx="1">
              <a:srgbClr val="006EFF"/>
            </a:fillRef>
            <a:effectRef idx="0">
              <a:srgbClr val="006EFF"/>
            </a:effectRef>
            <a:fontRef idx="minor">
              <a:srgbClr val="FFFFFF"/>
            </a:fontRef>
          </p:style>
          <p:txBody>
            <a:bodyPr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 b="1">
                <a:latin typeface="微软雅黑" pitchFamily="34" charset="-122"/>
                <a:ea typeface="微软雅黑" pitchFamily="34" charset="-122"/>
                <a:sym typeface="+mn-lt"/>
              </a:endParaRPr>
            </a:p>
          </p:txBody>
        </p:sp>
        <p:sp>
          <p:nvSpPr>
            <p:cNvPr id="174" name="矩形 173"/>
            <p:cNvSpPr/>
            <p:nvPr/>
          </p:nvSpPr>
          <p:spPr>
            <a:xfrm>
              <a:off x="1640840" y="3429000"/>
              <a:ext cx="650875" cy="387751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1B1B1B"/>
              </a:solidFill>
            </a:ln>
          </p:spPr>
          <p:style>
            <a:lnRef idx="2">
              <a:srgbClr val="006EFF">
                <a:shade val="50000"/>
              </a:srgbClr>
            </a:lnRef>
            <a:fillRef idx="1">
              <a:srgbClr val="006EFF"/>
            </a:fillRef>
            <a:effectRef idx="0">
              <a:srgbClr val="006EFF"/>
            </a:effectRef>
            <a:fontRef idx="minor">
              <a:srgbClr val="FFFFFF"/>
            </a:fontRef>
          </p:style>
          <p:txBody>
            <a:bodyPr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  <a:defRPr/>
              </a:pPr>
              <a:r>
                <a:rPr lang="zh-CN" altLang="en-US" sz="900" b="1" kern="0" dirty="0">
                  <a:solidFill>
                    <a:srgbClr val="1B1B1B"/>
                  </a:solidFill>
                  <a:latin typeface="微软雅黑" pitchFamily="34" charset="-122"/>
                  <a:ea typeface="微软雅黑" pitchFamily="34" charset="-122"/>
                  <a:sym typeface="+mn-ea"/>
                </a:rPr>
                <a:t>服务层</a:t>
              </a:r>
            </a:p>
          </p:txBody>
        </p:sp>
        <p:sp>
          <p:nvSpPr>
            <p:cNvPr id="175" name="矩形: 圆角 60"/>
            <p:cNvSpPr/>
            <p:nvPr/>
          </p:nvSpPr>
          <p:spPr>
            <a:xfrm>
              <a:off x="2429510" y="3514875"/>
              <a:ext cx="1174750" cy="216000"/>
            </a:xfrm>
            <a:prstGeom prst="roundRect">
              <a:avLst/>
            </a:prstGeom>
            <a:solidFill>
              <a:srgbClr val="167D4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vert="horz" wrap="square" numCol="1" spcCol="0" rtlCol="0" fromWordArt="0" anchor="ctr" anchorCtr="0" forceAA="0" compatLnSpc="0">
              <a:noAutofit/>
            </a:bodyPr>
            <a:lstStyle/>
            <a:p>
              <a:pPr algn="ctr"/>
              <a:r>
                <a:rPr lang="zh-CN" altLang="en-US" sz="800" b="1" kern="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  <a:sym typeface="+mn-ea"/>
                </a:rPr>
                <a:t>数据服务</a:t>
              </a:r>
            </a:p>
          </p:txBody>
        </p:sp>
        <p:sp>
          <p:nvSpPr>
            <p:cNvPr id="176" name="矩形: 圆角 60"/>
            <p:cNvSpPr/>
            <p:nvPr/>
          </p:nvSpPr>
          <p:spPr>
            <a:xfrm>
              <a:off x="3927951" y="3514875"/>
              <a:ext cx="1174750" cy="216000"/>
            </a:xfrm>
            <a:prstGeom prst="roundRect">
              <a:avLst/>
            </a:prstGeom>
            <a:solidFill>
              <a:srgbClr val="066FBB"/>
            </a:solidFill>
            <a:ln w="9525" algn="ctr">
              <a:noFill/>
              <a:round/>
            </a:ln>
          </p:spPr>
          <p:txBody>
            <a:bodyPr vert="horz" wrap="square" lIns="0" tIns="0" rIns="0" bIns="0" numCol="1" spcCol="0" rtlCol="0" fromWordArt="0" anchor="ctr" anchorCtr="0" forceAA="0" compatLnSpc="0">
              <a:noAutofit/>
            </a:bodyPr>
            <a:lstStyle/>
            <a:p>
              <a:pPr lvl="0" algn="ctr">
                <a:buClrTx/>
                <a:buSzTx/>
                <a:buFontTx/>
              </a:pPr>
              <a:r>
                <a:rPr lang="zh-CN" altLang="en-US" sz="800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  <a:sym typeface="+mn-ea"/>
                </a:rPr>
                <a:t>流程服务</a:t>
              </a:r>
            </a:p>
          </p:txBody>
        </p:sp>
        <p:sp>
          <p:nvSpPr>
            <p:cNvPr id="177" name="矩形: 圆角 60"/>
            <p:cNvSpPr/>
            <p:nvPr/>
          </p:nvSpPr>
          <p:spPr>
            <a:xfrm>
              <a:off x="5426392" y="3514875"/>
              <a:ext cx="1174750" cy="216000"/>
            </a:xfrm>
            <a:prstGeom prst="roundRect">
              <a:avLst/>
            </a:prstGeom>
            <a:solidFill>
              <a:srgbClr val="8DEBFF"/>
            </a:solidFill>
            <a:ln w="9525" algn="ctr">
              <a:solidFill>
                <a:srgbClr val="BCE2F5"/>
              </a:solidFill>
              <a:round/>
            </a:ln>
          </p:spPr>
          <p:txBody>
            <a:bodyPr vert="horz" wrap="square" lIns="0" tIns="0" rIns="0" bIns="0" numCol="1" spcCol="0" rtlCol="0" fromWordArt="0" anchor="ctr" anchorCtr="0" forceAA="0" compatLnSpc="0">
              <a:noAutofit/>
            </a:bodyPr>
            <a:lstStyle/>
            <a:p>
              <a:pPr algn="ctr"/>
              <a:r>
                <a:rPr lang="en-US" altLang="zh-CN" sz="800" b="1" dirty="0">
                  <a:latin typeface="微软雅黑" pitchFamily="34" charset="-122"/>
                  <a:ea typeface="微软雅黑" pitchFamily="34" charset="-122"/>
                  <a:sym typeface="+mn-ea"/>
                </a:rPr>
                <a:t>AI</a:t>
              </a:r>
              <a:r>
                <a:rPr lang="zh-CN" altLang="en-US" sz="800" b="1" dirty="0">
                  <a:latin typeface="微软雅黑" pitchFamily="34" charset="-122"/>
                  <a:ea typeface="微软雅黑" pitchFamily="34" charset="-122"/>
                  <a:sym typeface="+mn-ea"/>
                </a:rPr>
                <a:t>服务</a:t>
              </a:r>
            </a:p>
          </p:txBody>
        </p:sp>
        <p:sp>
          <p:nvSpPr>
            <p:cNvPr id="178" name="矩形: 圆角 60"/>
            <p:cNvSpPr/>
            <p:nvPr/>
          </p:nvSpPr>
          <p:spPr>
            <a:xfrm>
              <a:off x="6924833" y="3514875"/>
              <a:ext cx="1174750" cy="216000"/>
            </a:xfrm>
            <a:prstGeom prst="roundRect">
              <a:avLst/>
            </a:prstGeom>
            <a:solidFill>
              <a:srgbClr val="066FBB"/>
            </a:solidFill>
            <a:ln w="9525" algn="ctr">
              <a:noFill/>
              <a:round/>
            </a:ln>
          </p:spPr>
          <p:txBody>
            <a:bodyPr vert="horz" wrap="square" lIns="0" tIns="0" rIns="0" bIns="0" numCol="1" spcCol="0" rtlCol="0" fromWordArt="0" anchor="ctr" anchorCtr="0" forceAA="0" compatLnSpc="0">
              <a:noAutofit/>
            </a:bodyPr>
            <a:lstStyle/>
            <a:p>
              <a:pPr lvl="0" algn="ctr">
                <a:buClrTx/>
                <a:buSzTx/>
                <a:buFontTx/>
              </a:pPr>
              <a:r>
                <a:rPr lang="zh-CN" altLang="en-US" sz="800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  <a:sym typeface="+mn-ea"/>
                </a:rPr>
                <a:t>接口服务</a:t>
              </a:r>
            </a:p>
          </p:txBody>
        </p:sp>
        <p:sp>
          <p:nvSpPr>
            <p:cNvPr id="179" name="矩形: 圆角 60"/>
            <p:cNvSpPr/>
            <p:nvPr/>
          </p:nvSpPr>
          <p:spPr>
            <a:xfrm>
              <a:off x="8423275" y="3514875"/>
              <a:ext cx="1174750" cy="216000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 w="9525" algn="ctr">
              <a:noFill/>
              <a:round/>
            </a:ln>
          </p:spPr>
          <p:txBody>
            <a:bodyPr vert="horz" wrap="square" lIns="0" tIns="0" rIns="0" bIns="0" numCol="1" spcCol="0" rtlCol="0" fromWordArt="0" anchor="ctr" anchorCtr="0" forceAA="0" compatLnSpc="0">
              <a:noAutofit/>
            </a:bodyPr>
            <a:lstStyle/>
            <a:p>
              <a:pPr lvl="0" algn="ctr">
                <a:buClrTx/>
                <a:buSzTx/>
                <a:buFontTx/>
              </a:pPr>
              <a:r>
                <a:rPr lang="en-US" altLang="zh-CN" sz="800" b="1" dirty="0">
                  <a:latin typeface="微软雅黑" pitchFamily="34" charset="-122"/>
                  <a:ea typeface="微软雅黑" pitchFamily="34" charset="-122"/>
                  <a:sym typeface="+mn-ea"/>
                </a:rPr>
                <a:t>……</a:t>
              </a:r>
              <a:endParaRPr lang="zh-CN" altLang="en-US" sz="800" b="1" dirty="0">
                <a:latin typeface="微软雅黑" pitchFamily="34" charset="-122"/>
                <a:ea typeface="微软雅黑" pitchFamily="34" charset="-122"/>
                <a:sym typeface="+mn-ea"/>
              </a:endParaRPr>
            </a:p>
          </p:txBody>
        </p:sp>
      </p:grpSp>
      <p:grpSp>
        <p:nvGrpSpPr>
          <p:cNvPr id="65" name="组合 64"/>
          <p:cNvGrpSpPr/>
          <p:nvPr/>
        </p:nvGrpSpPr>
        <p:grpSpPr>
          <a:xfrm>
            <a:off x="7328059" y="706251"/>
            <a:ext cx="1677353" cy="4293450"/>
            <a:chOff x="9770745" y="1016768"/>
            <a:chExt cx="2236470" cy="5724600"/>
          </a:xfrm>
        </p:grpSpPr>
        <p:sp>
          <p:nvSpPr>
            <p:cNvPr id="36" name="矩形 35"/>
            <p:cNvSpPr/>
            <p:nvPr/>
          </p:nvSpPr>
          <p:spPr>
            <a:xfrm>
              <a:off x="9770745" y="1016768"/>
              <a:ext cx="260985" cy="5723964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1B1B1B"/>
              </a:solidFill>
            </a:ln>
          </p:spPr>
          <p:style>
            <a:lnRef idx="2">
              <a:srgbClr val="006EFF">
                <a:shade val="50000"/>
              </a:srgbClr>
            </a:lnRef>
            <a:fillRef idx="1">
              <a:srgbClr val="006EFF"/>
            </a:fillRef>
            <a:effectRef idx="0">
              <a:srgbClr val="006EFF"/>
            </a:effectRef>
            <a:fontRef idx="minor">
              <a:srgbClr val="FFFFFF"/>
            </a:fontRef>
          </p:style>
          <p:txBody>
            <a:bodyPr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  <a:defRPr/>
              </a:pPr>
              <a:r>
                <a:rPr lang="zh-CN" altLang="en-US" sz="900" b="1" kern="0" dirty="0">
                  <a:solidFill>
                    <a:srgbClr val="1B1B1B"/>
                  </a:solidFill>
                  <a:latin typeface="微软雅黑" pitchFamily="34" charset="-122"/>
                  <a:ea typeface="微软雅黑" pitchFamily="34" charset="-122"/>
                  <a:sym typeface="+mn-ea"/>
                </a:rPr>
                <a:t>标准规范体系</a:t>
              </a:r>
            </a:p>
          </p:txBody>
        </p:sp>
        <p:sp>
          <p:nvSpPr>
            <p:cNvPr id="37" name="矩形 36"/>
            <p:cNvSpPr/>
            <p:nvPr/>
          </p:nvSpPr>
          <p:spPr>
            <a:xfrm>
              <a:off x="10367645" y="1016797"/>
              <a:ext cx="264160" cy="5724570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1B1B1B"/>
              </a:solidFill>
            </a:ln>
          </p:spPr>
          <p:style>
            <a:lnRef idx="2">
              <a:srgbClr val="006EFF">
                <a:shade val="50000"/>
              </a:srgbClr>
            </a:lnRef>
            <a:fillRef idx="1">
              <a:srgbClr val="006EFF"/>
            </a:fillRef>
            <a:effectRef idx="0">
              <a:srgbClr val="006EFF"/>
            </a:effectRef>
            <a:fontRef idx="minor">
              <a:srgbClr val="FFFFFF"/>
            </a:fontRef>
          </p:style>
          <p:txBody>
            <a:bodyPr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  <a:defRPr/>
              </a:pPr>
              <a:r>
                <a:rPr lang="zh-CN" altLang="en-US" sz="900" b="1" kern="0" dirty="0">
                  <a:solidFill>
                    <a:srgbClr val="1B1B1B"/>
                  </a:solidFill>
                  <a:latin typeface="微软雅黑" pitchFamily="34" charset="-122"/>
                  <a:ea typeface="微软雅黑" pitchFamily="34" charset="-122"/>
                  <a:sym typeface="+mn-ea"/>
                </a:rPr>
                <a:t>安全保障体系</a:t>
              </a:r>
            </a:p>
          </p:txBody>
        </p:sp>
        <p:sp>
          <p:nvSpPr>
            <p:cNvPr id="78" name="矩形 77"/>
            <p:cNvSpPr/>
            <p:nvPr/>
          </p:nvSpPr>
          <p:spPr>
            <a:xfrm>
              <a:off x="10067608" y="1016796"/>
              <a:ext cx="264160" cy="5724572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1B1B1B"/>
              </a:solidFill>
            </a:ln>
          </p:spPr>
          <p:style>
            <a:lnRef idx="2">
              <a:srgbClr val="006EFF">
                <a:shade val="50000"/>
              </a:srgbClr>
            </a:lnRef>
            <a:fillRef idx="1">
              <a:srgbClr val="006EFF"/>
            </a:fillRef>
            <a:effectRef idx="0">
              <a:srgbClr val="006EFF"/>
            </a:effectRef>
            <a:fontRef idx="minor">
              <a:srgbClr val="FFFFFF"/>
            </a:fontRef>
          </p:style>
          <p:txBody>
            <a:bodyPr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  <a:defRPr/>
              </a:pPr>
              <a:r>
                <a:rPr lang="zh-CN" altLang="en-US" sz="900" b="1" kern="0" dirty="0">
                  <a:solidFill>
                    <a:srgbClr val="1B1B1B"/>
                  </a:solidFill>
                  <a:latin typeface="微软雅黑" pitchFamily="34" charset="-122"/>
                  <a:ea typeface="微软雅黑" pitchFamily="34" charset="-122"/>
                  <a:sym typeface="+mn-ea"/>
                </a:rPr>
                <a:t>运营管理体系</a:t>
              </a:r>
            </a:p>
          </p:txBody>
        </p:sp>
        <p:sp>
          <p:nvSpPr>
            <p:cNvPr id="160" name="矩形 159"/>
            <p:cNvSpPr/>
            <p:nvPr/>
          </p:nvSpPr>
          <p:spPr>
            <a:xfrm>
              <a:off x="10702290" y="1016768"/>
              <a:ext cx="1304925" cy="5724600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1B1B1B"/>
              </a:solidFill>
            </a:ln>
          </p:spPr>
          <p:style>
            <a:lnRef idx="2">
              <a:srgbClr val="006EFF">
                <a:lumMod val="75000"/>
              </a:srgbClr>
            </a:lnRef>
            <a:fillRef idx="1">
              <a:srgbClr val="006EFF"/>
            </a:fillRef>
            <a:effectRef idx="0">
              <a:srgbClr val="FFFFFF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61" name="文本框 160"/>
            <p:cNvSpPr txBox="1"/>
            <p:nvPr/>
          </p:nvSpPr>
          <p:spPr>
            <a:xfrm>
              <a:off x="10702290" y="1116613"/>
              <a:ext cx="1304925" cy="80021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zh-CN" altLang="en-US" sz="1100" b="1" dirty="0">
                  <a:latin typeface="微软雅黑" pitchFamily="34" charset="-122"/>
                  <a:ea typeface="微软雅黑" pitchFamily="34" charset="-122"/>
                </a:rPr>
                <a:t>山东省</a:t>
              </a:r>
              <a:endParaRPr lang="en-US" altLang="zh-CN" sz="1100" b="1" dirty="0">
                <a:latin typeface="微软雅黑" pitchFamily="34" charset="-122"/>
                <a:ea typeface="微软雅黑" pitchFamily="34" charset="-122"/>
              </a:endParaRPr>
            </a:p>
            <a:p>
              <a:pPr algn="ctr">
                <a:lnSpc>
                  <a:spcPct val="150000"/>
                </a:lnSpc>
              </a:pPr>
              <a:r>
                <a:rPr lang="zh-CN" altLang="en-US" sz="1100" b="1" dirty="0">
                  <a:latin typeface="微软雅黑" pitchFamily="34" charset="-122"/>
                  <a:ea typeface="微软雅黑" pitchFamily="34" charset="-122"/>
                </a:rPr>
                <a:t>数字政府</a:t>
              </a:r>
            </a:p>
          </p:txBody>
        </p:sp>
        <p:sp>
          <p:nvSpPr>
            <p:cNvPr id="163" name="文本框 162"/>
            <p:cNvSpPr txBox="1"/>
            <p:nvPr/>
          </p:nvSpPr>
          <p:spPr>
            <a:xfrm>
              <a:off x="10762615" y="2204864"/>
              <a:ext cx="1171576" cy="1080000"/>
            </a:xfrm>
            <a:prstGeom prst="rect">
              <a:avLst/>
            </a:prstGeom>
            <a:noFill/>
            <a:ln>
              <a:solidFill>
                <a:srgbClr val="006EFF">
                  <a:lumMod val="40000"/>
                  <a:lumOff val="60000"/>
                </a:srgbClr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>
                <a:lnSpc>
                  <a:spcPct val="150000"/>
                </a:lnSpc>
              </a:pPr>
              <a:r>
                <a:rPr lang="zh-CN" altLang="en-US" sz="700" dirty="0">
                  <a:latin typeface="微软雅黑" pitchFamily="34" charset="-122"/>
                  <a:ea typeface="微软雅黑" pitchFamily="34" charset="-122"/>
                </a:rPr>
                <a:t>统一身份认证服务</a:t>
              </a:r>
              <a:endParaRPr lang="en-US" altLang="zh-CN" sz="700" dirty="0">
                <a:latin typeface="微软雅黑" pitchFamily="34" charset="-122"/>
                <a:ea typeface="微软雅黑" pitchFamily="34" charset="-122"/>
              </a:endParaRPr>
            </a:p>
            <a:p>
              <a:pPr algn="ctr">
                <a:lnSpc>
                  <a:spcPct val="150000"/>
                </a:lnSpc>
              </a:pPr>
              <a:r>
                <a:rPr lang="zh-CN" altLang="en-US" sz="700" dirty="0">
                  <a:latin typeface="微软雅黑" pitchFamily="34" charset="-122"/>
                  <a:ea typeface="微软雅黑" pitchFamily="34" charset="-122"/>
                </a:rPr>
                <a:t>可信电子证照服务</a:t>
              </a:r>
            </a:p>
            <a:p>
              <a:pPr algn="ctr">
                <a:lnSpc>
                  <a:spcPct val="150000"/>
                </a:lnSpc>
              </a:pPr>
              <a:r>
                <a:rPr lang="zh-CN" altLang="en-US" sz="700" dirty="0">
                  <a:latin typeface="微软雅黑" pitchFamily="34" charset="-122"/>
                  <a:ea typeface="微软雅黑" pitchFamily="34" charset="-122"/>
                </a:rPr>
                <a:t>公共信用服务</a:t>
              </a:r>
            </a:p>
          </p:txBody>
        </p:sp>
        <p:sp>
          <p:nvSpPr>
            <p:cNvPr id="164" name="文本框 163"/>
            <p:cNvSpPr txBox="1"/>
            <p:nvPr>
              <p:custDataLst>
                <p:tags r:id="rId2"/>
              </p:custDataLst>
            </p:nvPr>
          </p:nvSpPr>
          <p:spPr>
            <a:xfrm>
              <a:off x="10762615" y="3746344"/>
              <a:ext cx="1170940" cy="1080000"/>
            </a:xfrm>
            <a:prstGeom prst="rect">
              <a:avLst/>
            </a:prstGeom>
            <a:noFill/>
            <a:ln>
              <a:solidFill>
                <a:srgbClr val="006EFF">
                  <a:lumMod val="40000"/>
                  <a:lumOff val="60000"/>
                </a:srgbClr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>
                <a:lnSpc>
                  <a:spcPct val="150000"/>
                </a:lnSpc>
              </a:pPr>
              <a:r>
                <a:rPr lang="zh-CN" altLang="en-US" sz="700" dirty="0">
                  <a:latin typeface="微软雅黑" pitchFamily="34" charset="-122"/>
                  <a:ea typeface="微软雅黑" pitchFamily="34" charset="-122"/>
                </a:rPr>
                <a:t>政务大数据平台政务大数据资源库</a:t>
              </a:r>
            </a:p>
          </p:txBody>
        </p:sp>
        <p:sp>
          <p:nvSpPr>
            <p:cNvPr id="165" name="文本框 164"/>
            <p:cNvSpPr txBox="1"/>
            <p:nvPr>
              <p:custDataLst>
                <p:tags r:id="rId3"/>
              </p:custDataLst>
            </p:nvPr>
          </p:nvSpPr>
          <p:spPr>
            <a:xfrm>
              <a:off x="10778490" y="5287822"/>
              <a:ext cx="1170940" cy="1080000"/>
            </a:xfrm>
            <a:prstGeom prst="rect">
              <a:avLst/>
            </a:prstGeom>
            <a:noFill/>
            <a:ln>
              <a:solidFill>
                <a:srgbClr val="006EFF">
                  <a:lumMod val="40000"/>
                  <a:lumOff val="60000"/>
                </a:srgbClr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>
                <a:lnSpc>
                  <a:spcPct val="150000"/>
                </a:lnSpc>
              </a:pPr>
              <a:r>
                <a:rPr lang="zh-CN" altLang="en-US" sz="800" dirty="0">
                  <a:latin typeface="微软雅黑" pitchFamily="34" charset="-122"/>
                  <a:ea typeface="微软雅黑" pitchFamily="34" charset="-122"/>
                </a:rPr>
                <a:t>云资源</a:t>
              </a:r>
              <a:endParaRPr lang="en-US" altLang="zh-CN" sz="800" dirty="0">
                <a:latin typeface="微软雅黑" pitchFamily="34" charset="-122"/>
                <a:ea typeface="微软雅黑" pitchFamily="34" charset="-122"/>
              </a:endParaRPr>
            </a:p>
            <a:p>
              <a:pPr algn="ctr">
                <a:lnSpc>
                  <a:spcPct val="150000"/>
                </a:lnSpc>
              </a:pPr>
              <a:r>
                <a:rPr lang="zh-CN" altLang="en-US" sz="800" dirty="0">
                  <a:latin typeface="微软雅黑" pitchFamily="34" charset="-122"/>
                  <a:ea typeface="微软雅黑" pitchFamily="34" charset="-122"/>
                </a:rPr>
                <a:t>网络资源</a:t>
              </a:r>
            </a:p>
          </p:txBody>
        </p:sp>
        <p:grpSp>
          <p:nvGrpSpPr>
            <p:cNvPr id="51" name="组合 50"/>
            <p:cNvGrpSpPr/>
            <p:nvPr/>
          </p:nvGrpSpPr>
          <p:grpSpPr>
            <a:xfrm>
              <a:off x="10596520" y="2672928"/>
              <a:ext cx="180000" cy="3229490"/>
              <a:chOff x="10596520" y="2672928"/>
              <a:chExt cx="180000" cy="3229490"/>
            </a:xfrm>
          </p:grpSpPr>
          <p:sp>
            <p:nvSpPr>
              <p:cNvPr id="201" name="上下箭头 200"/>
              <p:cNvSpPr/>
              <p:nvPr>
                <p:custDataLst>
                  <p:tags r:id="rId4"/>
                </p:custDataLst>
              </p:nvPr>
            </p:nvSpPr>
            <p:spPr>
              <a:xfrm rot="16200000" flipH="1" flipV="1">
                <a:off x="10632520" y="5758418"/>
                <a:ext cx="108000" cy="180000"/>
              </a:xfrm>
              <a:prstGeom prst="upDownArrow">
                <a:avLst/>
              </a:prstGeom>
              <a:solidFill>
                <a:srgbClr val="1B1B1B"/>
              </a:solidFill>
              <a:ln>
                <a:noFill/>
              </a:ln>
            </p:spPr>
            <p:style>
              <a:lnRef idx="2">
                <a:srgbClr val="006EFF">
                  <a:lumMod val="75000"/>
                </a:srgbClr>
              </a:lnRef>
              <a:fillRef idx="1">
                <a:srgbClr val="006EFF"/>
              </a:fillRef>
              <a:effectRef idx="0">
                <a:srgbClr val="FFFFFF"/>
              </a:effectRef>
              <a:fontRef idx="minor">
                <a:srgbClr val="FFFFFF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159" name="上下箭头 158"/>
              <p:cNvSpPr/>
              <p:nvPr/>
            </p:nvSpPr>
            <p:spPr>
              <a:xfrm rot="16200000" flipH="1" flipV="1">
                <a:off x="10632520" y="2636928"/>
                <a:ext cx="108000" cy="180000"/>
              </a:xfrm>
              <a:prstGeom prst="upDownArrow">
                <a:avLst/>
              </a:prstGeom>
              <a:solidFill>
                <a:srgbClr val="1B1B1B"/>
              </a:solidFill>
              <a:ln>
                <a:noFill/>
              </a:ln>
            </p:spPr>
            <p:style>
              <a:lnRef idx="2">
                <a:srgbClr val="006EFF">
                  <a:lumMod val="75000"/>
                </a:srgbClr>
              </a:lnRef>
              <a:fillRef idx="1">
                <a:srgbClr val="006EFF"/>
              </a:fillRef>
              <a:effectRef idx="0">
                <a:srgbClr val="FFFFFF"/>
              </a:effectRef>
              <a:fontRef idx="minor">
                <a:srgbClr val="FFFFFF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180" name="上下箭头 179"/>
              <p:cNvSpPr/>
              <p:nvPr>
                <p:custDataLst>
                  <p:tags r:id="rId5"/>
                </p:custDataLst>
              </p:nvPr>
            </p:nvSpPr>
            <p:spPr>
              <a:xfrm rot="16200000" flipH="1" flipV="1">
                <a:off x="10632520" y="4185089"/>
                <a:ext cx="108000" cy="180000"/>
              </a:xfrm>
              <a:prstGeom prst="upDownArrow">
                <a:avLst/>
              </a:prstGeom>
              <a:solidFill>
                <a:srgbClr val="1B1B1B"/>
              </a:solidFill>
              <a:ln>
                <a:noFill/>
              </a:ln>
            </p:spPr>
            <p:style>
              <a:lnRef idx="2">
                <a:srgbClr val="006EFF">
                  <a:lumMod val="75000"/>
                </a:srgbClr>
              </a:lnRef>
              <a:fillRef idx="1">
                <a:srgbClr val="006EFF"/>
              </a:fillRef>
              <a:effectRef idx="0">
                <a:srgbClr val="FFFFFF"/>
              </a:effectRef>
              <a:fontRef idx="minor">
                <a:srgbClr val="FFFFFF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</p:grpSp>
      </p:grpSp>
      <p:sp>
        <p:nvSpPr>
          <p:cNvPr id="181" name="文本框 13"/>
          <p:cNvSpPr txBox="1"/>
          <p:nvPr>
            <p:custDataLst>
              <p:tags r:id="rId1"/>
            </p:custDataLst>
          </p:nvPr>
        </p:nvSpPr>
        <p:spPr>
          <a:xfrm>
            <a:off x="359472" y="699543"/>
            <a:ext cx="756084" cy="2769989"/>
          </a:xfrm>
          <a:prstGeom prst="rect">
            <a:avLst/>
          </a:prstGeom>
          <a:ln>
            <a:solidFill>
              <a:schemeClr val="tx1"/>
            </a:solidFill>
            <a:prstDash val="dash"/>
          </a:ln>
        </p:spPr>
        <p:txBody>
          <a:bodyPr wrap="square" lIns="68579" tIns="34289" rIns="68579" bIns="34289" anchor="ctr">
            <a:spAutoFit/>
          </a:bodyPr>
          <a:lstStyle/>
          <a:p>
            <a:pPr algn="just" fontAlgn="auto">
              <a:lnSpc>
                <a:spcPct val="150000"/>
              </a:lnSpc>
            </a:pPr>
            <a:r>
              <a:rPr lang="zh-CN" altLang="en-US" sz="900" dirty="0"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以技术创新和大数据赋能为驱动，以信息化系统为抓手，建立科技创新数字化技术架构，建设领域垂类大模型，推动实现科技创新数字化、智能化管理。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8"/>
          <p:cNvSpPr>
            <a:spLocks noGrp="1"/>
          </p:cNvSpPr>
          <p:nvPr/>
        </p:nvSpPr>
        <p:spPr>
          <a:xfrm>
            <a:off x="272891" y="190025"/>
            <a:ext cx="5718810" cy="322421"/>
          </a:xfrm>
          <a:prstGeom prst="rect">
            <a:avLst/>
          </a:prstGeom>
        </p:spPr>
        <p:txBody>
          <a:bodyPr lIns="68579" tIns="34289" rIns="68579" bIns="34289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1B1B1B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200" b="1" spc="225" dirty="0" smtClean="0">
                <a:solidFill>
                  <a:srgbClr val="066FBB"/>
                </a:solidFill>
                <a:latin typeface="微软雅黑" pitchFamily="34" charset="-122"/>
                <a:ea typeface="微软雅黑" pitchFamily="34" charset="-122"/>
                <a:cs typeface="+mj-ea"/>
                <a:sym typeface="+mn-ea"/>
              </a:rPr>
              <a:t>    </a:t>
            </a:r>
            <a:r>
              <a:rPr lang="zh-CN" altLang="en-US" sz="2200" b="1" spc="225" dirty="0" smtClean="0">
                <a:solidFill>
                  <a:srgbClr val="066FBB"/>
                </a:solidFill>
                <a:latin typeface="微软雅黑" pitchFamily="34" charset="-122"/>
                <a:ea typeface="微软雅黑" pitchFamily="34" charset="-122"/>
                <a:cs typeface="+mj-ea"/>
                <a:sym typeface="+mn-ea"/>
              </a:rPr>
              <a:t>功能</a:t>
            </a:r>
            <a:r>
              <a:rPr lang="zh-CN" altLang="en-US" sz="2200" b="1" spc="225" dirty="0">
                <a:solidFill>
                  <a:srgbClr val="066FBB"/>
                </a:solidFill>
                <a:latin typeface="微软雅黑" pitchFamily="34" charset="-122"/>
                <a:ea typeface="微软雅黑" pitchFamily="34" charset="-122"/>
                <a:cs typeface="+mj-ea"/>
                <a:sym typeface="+mn-ea"/>
              </a:rPr>
              <a:t>架构</a:t>
            </a:r>
            <a:r>
              <a:rPr lang="zh-CN" altLang="en-US" sz="2200" b="1" spc="225" dirty="0" smtClean="0">
                <a:solidFill>
                  <a:srgbClr val="066FBB"/>
                </a:solidFill>
                <a:latin typeface="微软雅黑" pitchFamily="34" charset="-122"/>
                <a:ea typeface="微软雅黑" pitchFamily="34" charset="-122"/>
                <a:sym typeface="+mn-ea"/>
              </a:rPr>
              <a:t>注解</a:t>
            </a:r>
            <a:endParaRPr lang="zh-CN" altLang="en-US" sz="2200" b="1" spc="225" dirty="0">
              <a:solidFill>
                <a:srgbClr val="066FBB"/>
              </a:solidFill>
              <a:latin typeface="微软雅黑" pitchFamily="34" charset="-122"/>
              <a:ea typeface="微软雅黑" pitchFamily="34" charset="-122"/>
              <a:cs typeface="+mj-ea"/>
              <a:sym typeface="+mn-ea"/>
            </a:endParaRPr>
          </a:p>
        </p:txBody>
      </p:sp>
      <p:grpSp>
        <p:nvGrpSpPr>
          <p:cNvPr id="158" name="组合 157"/>
          <p:cNvGrpSpPr/>
          <p:nvPr/>
        </p:nvGrpSpPr>
        <p:grpSpPr>
          <a:xfrm>
            <a:off x="539553" y="4633941"/>
            <a:ext cx="6035993" cy="364808"/>
            <a:chOff x="1640840" y="6014085"/>
            <a:chExt cx="8047990" cy="486410"/>
          </a:xfrm>
        </p:grpSpPr>
        <p:sp>
          <p:nvSpPr>
            <p:cNvPr id="159" name="矩形 158"/>
            <p:cNvSpPr/>
            <p:nvPr/>
          </p:nvSpPr>
          <p:spPr>
            <a:xfrm>
              <a:off x="2339975" y="6014085"/>
              <a:ext cx="7348855" cy="486410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FFFFFF">
                  <a:lumMod val="85000"/>
                </a:srgbClr>
              </a:solidFill>
            </a:ln>
          </p:spPr>
          <p:style>
            <a:lnRef idx="2">
              <a:srgbClr val="006EFF">
                <a:shade val="50000"/>
              </a:srgbClr>
            </a:lnRef>
            <a:fillRef idx="1">
              <a:srgbClr val="006EFF"/>
            </a:fillRef>
            <a:effectRef idx="0">
              <a:srgbClr val="006EFF"/>
            </a:effectRef>
            <a:fontRef idx="minor">
              <a:srgbClr val="FFFFFF"/>
            </a:fontRef>
          </p:style>
          <p:txBody>
            <a:bodyPr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 b="1">
                <a:latin typeface="微软雅黑" pitchFamily="34" charset="-122"/>
                <a:ea typeface="微软雅黑" pitchFamily="34" charset="-122"/>
                <a:sym typeface="+mn-lt"/>
              </a:endParaRPr>
            </a:p>
          </p:txBody>
        </p:sp>
        <p:sp>
          <p:nvSpPr>
            <p:cNvPr id="160" name="矩形 159"/>
            <p:cNvSpPr/>
            <p:nvPr/>
          </p:nvSpPr>
          <p:spPr>
            <a:xfrm>
              <a:off x="1640840" y="6014085"/>
              <a:ext cx="650240" cy="483235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1B1B1B"/>
              </a:solidFill>
            </a:ln>
          </p:spPr>
          <p:style>
            <a:lnRef idx="2">
              <a:srgbClr val="006EFF">
                <a:shade val="50000"/>
              </a:srgbClr>
            </a:lnRef>
            <a:fillRef idx="1">
              <a:srgbClr val="006EFF"/>
            </a:fillRef>
            <a:effectRef idx="0">
              <a:srgbClr val="006EFF"/>
            </a:effectRef>
            <a:fontRef idx="minor">
              <a:srgbClr val="FFFFFF"/>
            </a:fontRef>
          </p:style>
          <p:txBody>
            <a:bodyPr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  <a:defRPr/>
              </a:pPr>
              <a:r>
                <a:rPr lang="zh-CN" altLang="en-US" sz="900" b="1" kern="0" dirty="0">
                  <a:solidFill>
                    <a:srgbClr val="1B1B1B"/>
                  </a:solidFill>
                  <a:latin typeface="微软雅黑" pitchFamily="34" charset="-122"/>
                  <a:ea typeface="微软雅黑" pitchFamily="34" charset="-122"/>
                  <a:sym typeface="+mn-ea"/>
                </a:rPr>
                <a:t>基础层</a:t>
              </a:r>
            </a:p>
          </p:txBody>
        </p:sp>
        <p:sp>
          <p:nvSpPr>
            <p:cNvPr id="161" name="矩形: 圆角 12"/>
            <p:cNvSpPr/>
            <p:nvPr/>
          </p:nvSpPr>
          <p:spPr>
            <a:xfrm>
              <a:off x="2457450" y="6169025"/>
              <a:ext cx="1146810" cy="201930"/>
            </a:xfrm>
            <a:prstGeom prst="roundRect">
              <a:avLst/>
            </a:prstGeom>
            <a:solidFill>
              <a:srgbClr val="167D40"/>
            </a:solidFill>
            <a:ln>
              <a:noFill/>
            </a:ln>
          </p:spPr>
          <p:style>
            <a:lnRef idx="2">
              <a:srgbClr val="006EFF">
                <a:shade val="50000"/>
              </a:srgbClr>
            </a:lnRef>
            <a:fillRef idx="1">
              <a:srgbClr val="006EFF"/>
            </a:fillRef>
            <a:effectRef idx="0">
              <a:srgbClr val="006EFF"/>
            </a:effectRef>
            <a:fontRef idx="minor">
              <a:srgbClr val="FFFFFF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  <a:defRPr/>
              </a:pPr>
              <a:r>
                <a:rPr lang="zh-CN" altLang="en-US" sz="800" b="1" kern="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  <a:sym typeface="+mn-ea"/>
                </a:rPr>
                <a:t>计算资源</a:t>
              </a:r>
            </a:p>
          </p:txBody>
        </p:sp>
        <p:sp>
          <p:nvSpPr>
            <p:cNvPr id="162" name="矩形: 圆角 12"/>
            <p:cNvSpPr/>
            <p:nvPr/>
          </p:nvSpPr>
          <p:spPr>
            <a:xfrm>
              <a:off x="3739515" y="6169025"/>
              <a:ext cx="1146810" cy="201930"/>
            </a:xfrm>
            <a:prstGeom prst="roundRect">
              <a:avLst/>
            </a:prstGeom>
            <a:solidFill>
              <a:srgbClr val="167D40"/>
            </a:solidFill>
            <a:ln>
              <a:noFill/>
            </a:ln>
          </p:spPr>
          <p:style>
            <a:lnRef idx="2">
              <a:srgbClr val="006EFF">
                <a:shade val="50000"/>
              </a:srgbClr>
            </a:lnRef>
            <a:fillRef idx="1">
              <a:srgbClr val="006EFF"/>
            </a:fillRef>
            <a:effectRef idx="0">
              <a:srgbClr val="006EFF"/>
            </a:effectRef>
            <a:fontRef idx="minor">
              <a:srgbClr val="FFFFFF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  <a:defRPr/>
              </a:pPr>
              <a:r>
                <a:rPr lang="zh-CN" altLang="en-US" sz="800" b="1" kern="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  <a:sym typeface="+mn-ea"/>
                </a:rPr>
                <a:t>存储资源</a:t>
              </a:r>
            </a:p>
          </p:txBody>
        </p:sp>
        <p:sp>
          <p:nvSpPr>
            <p:cNvPr id="163" name="矩形: 圆角 12"/>
            <p:cNvSpPr/>
            <p:nvPr/>
          </p:nvSpPr>
          <p:spPr>
            <a:xfrm>
              <a:off x="5050790" y="6174105"/>
              <a:ext cx="1146810" cy="201930"/>
            </a:xfrm>
            <a:prstGeom prst="roundRect">
              <a:avLst/>
            </a:prstGeom>
            <a:solidFill>
              <a:srgbClr val="167D40"/>
            </a:solidFill>
            <a:ln>
              <a:noFill/>
            </a:ln>
          </p:spPr>
          <p:style>
            <a:lnRef idx="2">
              <a:srgbClr val="006EFF">
                <a:shade val="50000"/>
              </a:srgbClr>
            </a:lnRef>
            <a:fillRef idx="1">
              <a:srgbClr val="006EFF"/>
            </a:fillRef>
            <a:effectRef idx="0">
              <a:srgbClr val="006EFF"/>
            </a:effectRef>
            <a:fontRef idx="minor">
              <a:srgbClr val="FFFFFF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  <a:defRPr/>
              </a:pPr>
              <a:r>
                <a:rPr lang="zh-CN" altLang="en-US" sz="800" b="1" kern="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  <a:sym typeface="+mn-ea"/>
                </a:rPr>
                <a:t>网络资源</a:t>
              </a:r>
            </a:p>
          </p:txBody>
        </p:sp>
        <p:sp>
          <p:nvSpPr>
            <p:cNvPr id="164" name="矩形: 圆角 12"/>
            <p:cNvSpPr/>
            <p:nvPr/>
          </p:nvSpPr>
          <p:spPr>
            <a:xfrm>
              <a:off x="6379845" y="6169025"/>
              <a:ext cx="1146810" cy="201930"/>
            </a:xfrm>
            <a:prstGeom prst="roundRect">
              <a:avLst/>
            </a:prstGeom>
            <a:solidFill>
              <a:srgbClr val="167D40"/>
            </a:solidFill>
            <a:ln>
              <a:noFill/>
            </a:ln>
          </p:spPr>
          <p:style>
            <a:lnRef idx="2">
              <a:srgbClr val="006EFF">
                <a:shade val="50000"/>
              </a:srgbClr>
            </a:lnRef>
            <a:fillRef idx="1">
              <a:srgbClr val="006EFF"/>
            </a:fillRef>
            <a:effectRef idx="0">
              <a:srgbClr val="006EFF"/>
            </a:effectRef>
            <a:fontRef idx="minor">
              <a:srgbClr val="FFFFFF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  <a:defRPr/>
              </a:pPr>
              <a:r>
                <a:rPr lang="zh-CN" altLang="en-US" sz="800" b="1" kern="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  <a:sym typeface="+mn-ea"/>
                </a:rPr>
                <a:t>安全资源</a:t>
              </a:r>
            </a:p>
          </p:txBody>
        </p:sp>
        <p:sp>
          <p:nvSpPr>
            <p:cNvPr id="165" name="矩形: 圆角 12"/>
            <p:cNvSpPr/>
            <p:nvPr/>
          </p:nvSpPr>
          <p:spPr>
            <a:xfrm>
              <a:off x="7695565" y="6174105"/>
              <a:ext cx="1821815" cy="201295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rgbClr val="006EFF">
                <a:shade val="50000"/>
              </a:srgbClr>
            </a:lnRef>
            <a:fillRef idx="1">
              <a:srgbClr val="006EFF"/>
            </a:fillRef>
            <a:effectRef idx="0">
              <a:srgbClr val="006EFF"/>
            </a:effectRef>
            <a:fontRef idx="minor">
              <a:srgbClr val="FFFFFF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  <a:defRPr/>
              </a:pPr>
              <a:r>
                <a:rPr lang="zh-CN" altLang="en-US" sz="800" b="1" kern="0" dirty="0"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  <a:sym typeface="+mn-ea"/>
                </a:rPr>
                <a:t>……</a:t>
              </a:r>
            </a:p>
          </p:txBody>
        </p:sp>
      </p:grpSp>
      <p:grpSp>
        <p:nvGrpSpPr>
          <p:cNvPr id="166" name="组合 165"/>
          <p:cNvGrpSpPr/>
          <p:nvPr/>
        </p:nvGrpSpPr>
        <p:grpSpPr>
          <a:xfrm>
            <a:off x="539553" y="3172683"/>
            <a:ext cx="6035993" cy="687228"/>
            <a:chOff x="1640840" y="4103108"/>
            <a:chExt cx="8047990" cy="916304"/>
          </a:xfrm>
        </p:grpSpPr>
        <p:sp>
          <p:nvSpPr>
            <p:cNvPr id="167" name="矩形 166"/>
            <p:cNvSpPr/>
            <p:nvPr>
              <p:custDataLst>
                <p:tags r:id="rId31"/>
              </p:custDataLst>
            </p:nvPr>
          </p:nvSpPr>
          <p:spPr>
            <a:xfrm>
              <a:off x="4619625" y="4103108"/>
              <a:ext cx="2160905" cy="906780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FFFFFF">
                  <a:lumMod val="85000"/>
                </a:srgbClr>
              </a:solidFill>
            </a:ln>
          </p:spPr>
          <p:style>
            <a:lnRef idx="2">
              <a:srgbClr val="006EFF">
                <a:shade val="50000"/>
              </a:srgbClr>
            </a:lnRef>
            <a:fillRef idx="1">
              <a:srgbClr val="006EFF"/>
            </a:fillRef>
            <a:effectRef idx="0">
              <a:srgbClr val="006EFF"/>
            </a:effectRef>
            <a:fontRef idx="minor">
              <a:srgbClr val="FFFFFF"/>
            </a:fontRef>
          </p:style>
          <p:txBody>
            <a:bodyPr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 b="1" dirty="0">
                <a:latin typeface="微软雅黑" pitchFamily="34" charset="-122"/>
                <a:ea typeface="微软雅黑" pitchFamily="34" charset="-122"/>
                <a:sym typeface="+mn-lt"/>
              </a:endParaRPr>
            </a:p>
          </p:txBody>
        </p:sp>
        <p:sp>
          <p:nvSpPr>
            <p:cNvPr id="168" name="矩形 167"/>
            <p:cNvSpPr/>
            <p:nvPr/>
          </p:nvSpPr>
          <p:spPr>
            <a:xfrm>
              <a:off x="2339975" y="4103108"/>
              <a:ext cx="2229485" cy="906779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FFFFFF">
                  <a:lumMod val="85000"/>
                </a:srgbClr>
              </a:solidFill>
            </a:ln>
          </p:spPr>
          <p:style>
            <a:lnRef idx="2">
              <a:srgbClr val="006EFF">
                <a:shade val="50000"/>
              </a:srgbClr>
            </a:lnRef>
            <a:fillRef idx="1">
              <a:srgbClr val="006EFF"/>
            </a:fillRef>
            <a:effectRef idx="0">
              <a:srgbClr val="006EFF"/>
            </a:effectRef>
            <a:fontRef idx="minor">
              <a:srgbClr val="FFFFFF"/>
            </a:fontRef>
          </p:style>
          <p:txBody>
            <a:bodyPr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 b="1" dirty="0">
                <a:latin typeface="微软雅黑" pitchFamily="34" charset="-122"/>
                <a:ea typeface="微软雅黑" pitchFamily="34" charset="-122"/>
                <a:sym typeface="+mn-lt"/>
              </a:endParaRPr>
            </a:p>
          </p:txBody>
        </p:sp>
        <p:sp>
          <p:nvSpPr>
            <p:cNvPr id="180" name="矩形 179"/>
            <p:cNvSpPr/>
            <p:nvPr/>
          </p:nvSpPr>
          <p:spPr>
            <a:xfrm>
              <a:off x="1640840" y="4103742"/>
              <a:ext cx="650875" cy="915670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1B1B1B"/>
              </a:solidFill>
            </a:ln>
          </p:spPr>
          <p:style>
            <a:lnRef idx="2">
              <a:srgbClr val="006EFF">
                <a:shade val="50000"/>
              </a:srgbClr>
            </a:lnRef>
            <a:fillRef idx="1">
              <a:srgbClr val="006EFF"/>
            </a:fillRef>
            <a:effectRef idx="0">
              <a:srgbClr val="006EFF"/>
            </a:effectRef>
            <a:fontRef idx="minor">
              <a:srgbClr val="FFFFFF"/>
            </a:fontRef>
          </p:style>
          <p:txBody>
            <a:bodyPr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  <a:defRPr/>
              </a:pPr>
              <a:r>
                <a:rPr lang="zh-CN" altLang="en-US" sz="900" b="1" kern="0" dirty="0">
                  <a:solidFill>
                    <a:srgbClr val="1B1B1B"/>
                  </a:solidFill>
                  <a:latin typeface="微软雅黑" pitchFamily="34" charset="-122"/>
                  <a:ea typeface="微软雅黑" pitchFamily="34" charset="-122"/>
                  <a:sym typeface="+mn-ea"/>
                </a:rPr>
                <a:t>架构层</a:t>
              </a:r>
            </a:p>
          </p:txBody>
        </p:sp>
        <p:sp>
          <p:nvSpPr>
            <p:cNvPr id="181" name="文本框 51"/>
            <p:cNvSpPr txBox="1"/>
            <p:nvPr/>
          </p:nvSpPr>
          <p:spPr>
            <a:xfrm>
              <a:off x="2339975" y="4149080"/>
              <a:ext cx="2226946" cy="254635"/>
            </a:xfrm>
            <a:prstGeom prst="rect">
              <a:avLst/>
            </a:prstGeom>
            <a:noFill/>
          </p:spPr>
          <p:txBody>
            <a:bodyPr wrap="square">
              <a:noAutofit/>
            </a:bodyPr>
            <a:lstStyle/>
            <a:p>
              <a:pPr lvl="0" algn="ctr">
                <a:buClrTx/>
                <a:buSzTx/>
                <a:buFontTx/>
              </a:pPr>
              <a:r>
                <a:rPr lang="zh-CN" altLang="en-US" sz="800" b="1" dirty="0">
                  <a:latin typeface="微软雅黑" pitchFamily="34" charset="-122"/>
                  <a:ea typeface="微软雅黑" pitchFamily="34" charset="-122"/>
                  <a:sym typeface="+mn-lt"/>
                </a:rPr>
                <a:t>数据中台</a:t>
              </a:r>
              <a:endParaRPr lang="zh-CN" altLang="en-US" sz="500" b="1" dirty="0">
                <a:latin typeface="微软雅黑" pitchFamily="34" charset="-122"/>
                <a:ea typeface="微软雅黑" pitchFamily="34" charset="-122"/>
                <a:sym typeface="+mn-lt"/>
              </a:endParaRPr>
            </a:p>
          </p:txBody>
        </p:sp>
        <p:sp>
          <p:nvSpPr>
            <p:cNvPr id="193" name="圆角矩形 91"/>
            <p:cNvSpPr/>
            <p:nvPr/>
          </p:nvSpPr>
          <p:spPr>
            <a:xfrm>
              <a:off x="4675505" y="4725168"/>
              <a:ext cx="995045" cy="216000"/>
            </a:xfrm>
            <a:prstGeom prst="roundRect">
              <a:avLst/>
            </a:prstGeom>
            <a:solidFill>
              <a:srgbClr val="066FBB"/>
            </a:solidFill>
            <a:ln w="9525" algn="ctr">
              <a:noFill/>
              <a:round/>
            </a:ln>
          </p:spPr>
          <p:txBody>
            <a:bodyPr vert="horz" wrap="square" lIns="0" tIns="0" rIns="0" bIns="0" numCol="1" spcCol="0" rtlCol="0" fromWordArt="0" anchor="ctr" anchorCtr="0" forceAA="0" compatLnSpc="0">
              <a:noAutofit/>
            </a:bodyPr>
            <a:lstStyle/>
            <a:p>
              <a:pPr lvl="0" algn="ctr">
                <a:buClrTx/>
                <a:buSzTx/>
                <a:buFontTx/>
              </a:pPr>
              <a:r>
                <a:rPr lang="en-US" altLang="zh-CN" sz="800" b="1" dirty="0">
                  <a:solidFill>
                    <a:srgbClr val="FFFFFF"/>
                  </a:solidFill>
                  <a:latin typeface="微软雅黑" pitchFamily="34" charset="-122"/>
                  <a:ea typeface="微软雅黑" pitchFamily="34" charset="-122"/>
                  <a:sym typeface="+mn-ea"/>
                </a:rPr>
                <a:t>分析管理</a:t>
              </a:r>
            </a:p>
          </p:txBody>
        </p:sp>
        <p:sp>
          <p:nvSpPr>
            <p:cNvPr id="194" name="圆角矩形 93"/>
            <p:cNvSpPr/>
            <p:nvPr/>
          </p:nvSpPr>
          <p:spPr>
            <a:xfrm>
              <a:off x="4675505" y="4437136"/>
              <a:ext cx="995045" cy="216000"/>
            </a:xfrm>
            <a:prstGeom prst="roundRect">
              <a:avLst/>
            </a:prstGeom>
            <a:solidFill>
              <a:srgbClr val="066FBB"/>
            </a:solidFill>
            <a:ln w="9525" algn="ctr">
              <a:noFill/>
              <a:round/>
            </a:ln>
          </p:spPr>
          <p:txBody>
            <a:bodyPr vert="horz" wrap="square" lIns="0" tIns="0" rIns="0" bIns="0" numCol="1" spcCol="0" rtlCol="0" fromWordArt="0" anchor="ctr" anchorCtr="0" forceAA="0" compatLnSpc="0">
              <a:noAutofit/>
            </a:bodyPr>
            <a:lstStyle/>
            <a:p>
              <a:pPr lvl="0" algn="ctr">
                <a:buClrTx/>
                <a:buSzTx/>
                <a:buFontTx/>
              </a:pPr>
              <a:r>
                <a:rPr lang="en-US" altLang="zh-CN" sz="800" b="1" dirty="0">
                  <a:solidFill>
                    <a:srgbClr val="FFFFFF"/>
                  </a:solidFill>
                  <a:latin typeface="微软雅黑" pitchFamily="34" charset="-122"/>
                  <a:ea typeface="微软雅黑" pitchFamily="34" charset="-122"/>
                  <a:sym typeface="+mn-ea"/>
                </a:rPr>
                <a:t>基础支撑</a:t>
              </a:r>
            </a:p>
          </p:txBody>
        </p:sp>
        <p:sp>
          <p:nvSpPr>
            <p:cNvPr id="195" name="圆角矩形 94"/>
            <p:cNvSpPr/>
            <p:nvPr/>
          </p:nvSpPr>
          <p:spPr>
            <a:xfrm>
              <a:off x="5724525" y="4725168"/>
              <a:ext cx="995045" cy="216000"/>
            </a:xfrm>
            <a:prstGeom prst="roundRect">
              <a:avLst/>
            </a:prstGeom>
            <a:solidFill>
              <a:srgbClr val="066FBB"/>
            </a:solidFill>
            <a:ln w="9525" algn="ctr">
              <a:noFill/>
              <a:round/>
            </a:ln>
          </p:spPr>
          <p:txBody>
            <a:bodyPr vert="horz" wrap="square" lIns="0" tIns="0" rIns="0" bIns="0" numCol="1" spcCol="0" rtlCol="0" fromWordArt="0" anchor="ctr" anchorCtr="0" forceAA="0" compatLnSpc="0">
              <a:noAutofit/>
            </a:bodyPr>
            <a:lstStyle/>
            <a:p>
              <a:pPr lvl="0" algn="ctr">
                <a:buClrTx/>
                <a:buSzTx/>
                <a:buFontTx/>
              </a:pPr>
              <a:r>
                <a:rPr lang="en-US" altLang="zh-CN" sz="800" b="1" dirty="0">
                  <a:solidFill>
                    <a:srgbClr val="FFFFFF"/>
                  </a:solidFill>
                  <a:latin typeface="微软雅黑" pitchFamily="34" charset="-122"/>
                  <a:ea typeface="微软雅黑" pitchFamily="34" charset="-122"/>
                  <a:sym typeface="+mn-ea"/>
                </a:rPr>
                <a:t>能力开放</a:t>
              </a:r>
            </a:p>
          </p:txBody>
        </p:sp>
        <p:sp>
          <p:nvSpPr>
            <p:cNvPr id="196" name="圆角矩形 97"/>
            <p:cNvSpPr/>
            <p:nvPr/>
          </p:nvSpPr>
          <p:spPr>
            <a:xfrm>
              <a:off x="5724525" y="4437136"/>
              <a:ext cx="995045" cy="216000"/>
            </a:xfrm>
            <a:prstGeom prst="roundRect">
              <a:avLst/>
            </a:prstGeom>
            <a:solidFill>
              <a:srgbClr val="066FBB"/>
            </a:solidFill>
            <a:ln w="9525" algn="ctr">
              <a:noFill/>
              <a:round/>
            </a:ln>
          </p:spPr>
          <p:txBody>
            <a:bodyPr vert="horz" wrap="square" lIns="0" tIns="0" rIns="0" bIns="0" numCol="1" spcCol="0" rtlCol="0" fromWordArt="0" anchor="ctr" anchorCtr="0" forceAA="0" compatLnSpc="0">
              <a:noAutofit/>
            </a:bodyPr>
            <a:lstStyle/>
            <a:p>
              <a:pPr lvl="0" algn="ctr">
                <a:buClrTx/>
                <a:buSzTx/>
                <a:buFontTx/>
              </a:pPr>
              <a:r>
                <a:rPr lang="en-US" altLang="zh-CN" sz="800" b="1" dirty="0">
                  <a:solidFill>
                    <a:srgbClr val="FFFFFF"/>
                  </a:solidFill>
                  <a:latin typeface="微软雅黑" pitchFamily="34" charset="-122"/>
                  <a:ea typeface="微软雅黑" pitchFamily="34" charset="-122"/>
                  <a:sym typeface="+mn-ea"/>
                </a:rPr>
                <a:t>业务服务工具</a:t>
              </a:r>
            </a:p>
          </p:txBody>
        </p:sp>
        <p:sp>
          <p:nvSpPr>
            <p:cNvPr id="197" name="矩形: 圆角 12"/>
            <p:cNvSpPr/>
            <p:nvPr>
              <p:custDataLst>
                <p:tags r:id="rId32"/>
              </p:custDataLst>
            </p:nvPr>
          </p:nvSpPr>
          <p:spPr>
            <a:xfrm>
              <a:off x="2452370" y="4437136"/>
              <a:ext cx="905510" cy="216000"/>
            </a:xfrm>
            <a:prstGeom prst="roundRect">
              <a:avLst/>
            </a:prstGeom>
            <a:solidFill>
              <a:srgbClr val="167D4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vert="horz" wrap="square" numCol="1" spcCol="0" rtlCol="0" fromWordArt="0" anchor="ctr" anchorCtr="0" forceAA="0" compatLnSpc="0">
              <a:noAutofit/>
            </a:bodyPr>
            <a:lstStyle/>
            <a:p>
              <a:pPr lvl="0" algn="ctr">
                <a:buClrTx/>
                <a:buSzTx/>
                <a:buFontTx/>
              </a:pPr>
              <a:r>
                <a:rPr lang="zh-CN" altLang="en-US" sz="800" b="1" kern="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  <a:sym typeface="+mn-ea"/>
                </a:rPr>
                <a:t>数据管理</a:t>
              </a:r>
            </a:p>
          </p:txBody>
        </p:sp>
        <p:sp>
          <p:nvSpPr>
            <p:cNvPr id="198" name="矩形: 圆角 12"/>
            <p:cNvSpPr/>
            <p:nvPr>
              <p:custDataLst>
                <p:tags r:id="rId33"/>
              </p:custDataLst>
            </p:nvPr>
          </p:nvSpPr>
          <p:spPr>
            <a:xfrm>
              <a:off x="2452370" y="4725168"/>
              <a:ext cx="905510" cy="216000"/>
            </a:xfrm>
            <a:prstGeom prst="roundRect">
              <a:avLst/>
            </a:prstGeom>
            <a:solidFill>
              <a:srgbClr val="167D4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vert="horz" wrap="square" numCol="1" spcCol="0" rtlCol="0" fromWordArt="0" anchor="ctr" anchorCtr="0" forceAA="0" compatLnSpc="0">
              <a:noAutofit/>
            </a:bodyPr>
            <a:lstStyle/>
            <a:p>
              <a:pPr lvl="0" algn="ctr">
                <a:buClrTx/>
                <a:buSzTx/>
                <a:buFontTx/>
              </a:pPr>
              <a:r>
                <a:rPr lang="zh-CN" altLang="en-US" sz="800" b="1" kern="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  <a:sym typeface="+mn-ea"/>
                </a:rPr>
                <a:t>数据治理</a:t>
              </a:r>
            </a:p>
          </p:txBody>
        </p:sp>
        <p:sp>
          <p:nvSpPr>
            <p:cNvPr id="199" name="矩形: 圆角 12"/>
            <p:cNvSpPr/>
            <p:nvPr>
              <p:custDataLst>
                <p:tags r:id="rId34"/>
              </p:custDataLst>
            </p:nvPr>
          </p:nvSpPr>
          <p:spPr>
            <a:xfrm>
              <a:off x="3484880" y="4437136"/>
              <a:ext cx="905510" cy="216000"/>
            </a:xfrm>
            <a:prstGeom prst="roundRect">
              <a:avLst/>
            </a:prstGeom>
            <a:solidFill>
              <a:srgbClr val="167D4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vert="horz" wrap="square" numCol="1" spcCol="0" rtlCol="0" fromWordArt="0" anchor="ctr" anchorCtr="0" forceAA="0" compatLnSpc="0">
              <a:noAutofit/>
            </a:bodyPr>
            <a:lstStyle/>
            <a:p>
              <a:pPr lvl="0" algn="ctr">
                <a:buClrTx/>
                <a:buSzTx/>
                <a:buFontTx/>
              </a:pPr>
              <a:r>
                <a:rPr lang="zh-CN" altLang="en-US" sz="800" b="1" kern="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  <a:sym typeface="+mn-ea"/>
                </a:rPr>
                <a:t>数据服务</a:t>
              </a:r>
            </a:p>
          </p:txBody>
        </p:sp>
        <p:sp>
          <p:nvSpPr>
            <p:cNvPr id="200" name="矩形: 圆角 12"/>
            <p:cNvSpPr/>
            <p:nvPr>
              <p:custDataLst>
                <p:tags r:id="rId35"/>
              </p:custDataLst>
            </p:nvPr>
          </p:nvSpPr>
          <p:spPr>
            <a:xfrm>
              <a:off x="3484880" y="4725168"/>
              <a:ext cx="905510" cy="216000"/>
            </a:xfrm>
            <a:prstGeom prst="roundRect">
              <a:avLst/>
            </a:prstGeom>
            <a:solidFill>
              <a:srgbClr val="167D4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vert="horz" wrap="square" numCol="1" spcCol="0" rtlCol="0" fromWordArt="0" anchor="ctr" anchorCtr="0" forceAA="0" compatLnSpc="0">
              <a:noAutofit/>
            </a:bodyPr>
            <a:lstStyle/>
            <a:p>
              <a:pPr lvl="0" algn="ctr">
                <a:buClrTx/>
                <a:buSzTx/>
                <a:buFontTx/>
              </a:pPr>
              <a:r>
                <a:rPr lang="zh-CN" altLang="en-US" sz="800" b="1" kern="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  <a:sym typeface="+mn-ea"/>
                </a:rPr>
                <a:t>数据安全</a:t>
              </a:r>
            </a:p>
          </p:txBody>
        </p:sp>
        <p:sp>
          <p:nvSpPr>
            <p:cNvPr id="201" name="文本框 117"/>
            <p:cNvSpPr txBox="1"/>
            <p:nvPr>
              <p:custDataLst>
                <p:tags r:id="rId36"/>
              </p:custDataLst>
            </p:nvPr>
          </p:nvSpPr>
          <p:spPr>
            <a:xfrm>
              <a:off x="4619625" y="4149080"/>
              <a:ext cx="2160905" cy="28725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 algn="ctr">
                <a:buClrTx/>
                <a:buSzTx/>
                <a:buFontTx/>
              </a:pPr>
              <a:r>
                <a:rPr lang="zh-CN" altLang="en-US" sz="800" b="1" dirty="0">
                  <a:latin typeface="微软雅黑" pitchFamily="34" charset="-122"/>
                  <a:ea typeface="微软雅黑" pitchFamily="34" charset="-122"/>
                  <a:sym typeface="+mn-lt"/>
                </a:rPr>
                <a:t>业务中台</a:t>
              </a:r>
            </a:p>
          </p:txBody>
        </p:sp>
        <p:sp>
          <p:nvSpPr>
            <p:cNvPr id="202" name="矩形 201"/>
            <p:cNvSpPr/>
            <p:nvPr>
              <p:custDataLst>
                <p:tags r:id="rId37"/>
              </p:custDataLst>
            </p:nvPr>
          </p:nvSpPr>
          <p:spPr>
            <a:xfrm>
              <a:off x="6811010" y="4103742"/>
              <a:ext cx="2877820" cy="906145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FFFFFF">
                  <a:lumMod val="85000"/>
                </a:srgbClr>
              </a:solidFill>
            </a:ln>
          </p:spPr>
          <p:style>
            <a:lnRef idx="2">
              <a:srgbClr val="006EFF">
                <a:shade val="50000"/>
              </a:srgbClr>
            </a:lnRef>
            <a:fillRef idx="1">
              <a:srgbClr val="006EFF"/>
            </a:fillRef>
            <a:effectRef idx="0">
              <a:srgbClr val="006EFF"/>
            </a:effectRef>
            <a:fontRef idx="minor">
              <a:srgbClr val="FFFFFF"/>
            </a:fontRef>
          </p:style>
          <p:txBody>
            <a:bodyPr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 b="1" dirty="0">
                <a:latin typeface="微软雅黑" pitchFamily="34" charset="-122"/>
                <a:ea typeface="微软雅黑" pitchFamily="34" charset="-122"/>
                <a:sym typeface="+mn-lt"/>
              </a:endParaRPr>
            </a:p>
          </p:txBody>
        </p:sp>
        <p:sp>
          <p:nvSpPr>
            <p:cNvPr id="203" name="圆角矩形 91"/>
            <p:cNvSpPr/>
            <p:nvPr/>
          </p:nvSpPr>
          <p:spPr>
            <a:xfrm>
              <a:off x="7779385" y="4725168"/>
              <a:ext cx="906780" cy="216000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 w="9525" algn="ctr">
              <a:noFill/>
              <a:round/>
            </a:ln>
          </p:spPr>
          <p:txBody>
            <a:bodyPr vert="horz" wrap="square" lIns="0" tIns="0" rIns="0" bIns="0" numCol="1" spcCol="0" rtlCol="0" fromWordArt="0" anchor="ctr" anchorCtr="0" forceAA="0" compatLnSpc="0">
              <a:noAutofit/>
            </a:bodyPr>
            <a:lstStyle/>
            <a:p>
              <a:pPr lvl="0" algn="ctr">
                <a:buClrTx/>
                <a:buSzTx/>
                <a:buFontTx/>
              </a:pPr>
              <a:r>
                <a:rPr lang="zh-CN" altLang="en-US" sz="800" b="1" dirty="0">
                  <a:latin typeface="微软雅黑" pitchFamily="34" charset="-122"/>
                  <a:ea typeface="微软雅黑" pitchFamily="34" charset="-122"/>
                  <a:sym typeface="+mn-ea"/>
                </a:rPr>
                <a:t>算力调度</a:t>
              </a:r>
              <a:r>
                <a:rPr lang="en-US" altLang="zh-CN" sz="800" b="1" dirty="0">
                  <a:latin typeface="微软雅黑" pitchFamily="34" charset="-122"/>
                  <a:ea typeface="微软雅黑" pitchFamily="34" charset="-122"/>
                  <a:sym typeface="+mn-ea"/>
                </a:rPr>
                <a:t>管理</a:t>
              </a:r>
            </a:p>
          </p:txBody>
        </p:sp>
        <p:sp>
          <p:nvSpPr>
            <p:cNvPr id="204" name="圆角矩形 93"/>
            <p:cNvSpPr/>
            <p:nvPr/>
          </p:nvSpPr>
          <p:spPr>
            <a:xfrm>
              <a:off x="7782878" y="4437136"/>
              <a:ext cx="899795" cy="216000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 w="9525" algn="ctr">
              <a:noFill/>
              <a:round/>
            </a:ln>
          </p:spPr>
          <p:txBody>
            <a:bodyPr vert="horz" wrap="square" lIns="0" tIns="0" rIns="0" bIns="0" numCol="1" spcCol="0" rtlCol="0" fromWordArt="0" anchor="ctr" anchorCtr="0" forceAA="0" compatLnSpc="0">
              <a:noAutofit/>
            </a:bodyPr>
            <a:lstStyle/>
            <a:p>
              <a:pPr lvl="0" algn="ctr">
                <a:buClrTx/>
                <a:buSzTx/>
                <a:buFontTx/>
              </a:pPr>
              <a:r>
                <a:rPr lang="zh-CN" altLang="en-US" sz="800" b="1" dirty="0">
                  <a:latin typeface="微软雅黑" pitchFamily="34" charset="-122"/>
                  <a:ea typeface="微软雅黑" pitchFamily="34" charset="-122"/>
                  <a:sym typeface="+mn-ea"/>
                </a:rPr>
                <a:t>模型开发管理</a:t>
              </a:r>
            </a:p>
          </p:txBody>
        </p:sp>
        <p:sp>
          <p:nvSpPr>
            <p:cNvPr id="205" name="圆角矩形 94"/>
            <p:cNvSpPr/>
            <p:nvPr/>
          </p:nvSpPr>
          <p:spPr>
            <a:xfrm>
              <a:off x="8725535" y="4725168"/>
              <a:ext cx="889000" cy="216000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 w="9525" algn="ctr">
              <a:noFill/>
              <a:round/>
            </a:ln>
          </p:spPr>
          <p:txBody>
            <a:bodyPr vert="horz" wrap="square" lIns="0" tIns="0" rIns="0" bIns="0" numCol="1" spcCol="0" rtlCol="0" fromWordArt="0" anchor="ctr" anchorCtr="0" forceAA="0" compatLnSpc="0">
              <a:noAutofit/>
            </a:bodyPr>
            <a:lstStyle/>
            <a:p>
              <a:pPr lvl="0" algn="ctr">
                <a:buClrTx/>
                <a:buSzTx/>
                <a:buFontTx/>
              </a:pPr>
              <a:r>
                <a:rPr lang="zh-CN" altLang="en-US" sz="800" b="1" dirty="0">
                  <a:latin typeface="微软雅黑" pitchFamily="34" charset="-122"/>
                  <a:ea typeface="微软雅黑" pitchFamily="34" charset="-122"/>
                  <a:sym typeface="+mn-ea"/>
                </a:rPr>
                <a:t>模型供给管理</a:t>
              </a:r>
            </a:p>
          </p:txBody>
        </p:sp>
        <p:sp>
          <p:nvSpPr>
            <p:cNvPr id="206" name="圆角矩形 97"/>
            <p:cNvSpPr/>
            <p:nvPr/>
          </p:nvSpPr>
          <p:spPr>
            <a:xfrm>
              <a:off x="8725535" y="4437136"/>
              <a:ext cx="882015" cy="216000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 w="9525" algn="ctr">
              <a:noFill/>
              <a:round/>
            </a:ln>
          </p:spPr>
          <p:txBody>
            <a:bodyPr vert="horz" wrap="square" lIns="0" tIns="0" rIns="0" bIns="0" numCol="1" spcCol="0" rtlCol="0" fromWordArt="0" anchor="ctr" anchorCtr="0" forceAA="0" compatLnSpc="0">
              <a:noAutofit/>
            </a:bodyPr>
            <a:lstStyle/>
            <a:p>
              <a:pPr lvl="0" algn="ctr">
                <a:buClrTx/>
                <a:buSzTx/>
                <a:buFontTx/>
              </a:pPr>
              <a:r>
                <a:rPr lang="zh-CN" altLang="en-US" sz="800" b="1" dirty="0">
                  <a:latin typeface="微软雅黑" pitchFamily="34" charset="-122"/>
                  <a:ea typeface="微软雅黑" pitchFamily="34" charset="-122"/>
                  <a:sym typeface="+mn-ea"/>
                </a:rPr>
                <a:t>知识库管理</a:t>
              </a:r>
            </a:p>
          </p:txBody>
        </p:sp>
        <p:sp>
          <p:nvSpPr>
            <p:cNvPr id="207" name="文本框 19"/>
            <p:cNvSpPr txBox="1"/>
            <p:nvPr>
              <p:custDataLst>
                <p:tags r:id="rId38"/>
              </p:custDataLst>
            </p:nvPr>
          </p:nvSpPr>
          <p:spPr>
            <a:xfrm>
              <a:off x="6811646" y="4149080"/>
              <a:ext cx="2877184" cy="28725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 algn="ctr">
                <a:buClrTx/>
                <a:buSzTx/>
                <a:buFontTx/>
              </a:pPr>
              <a:r>
                <a:rPr lang="zh-CN" altLang="en-US" sz="800" b="1" dirty="0">
                  <a:latin typeface="微软雅黑" pitchFamily="34" charset="-122"/>
                  <a:ea typeface="微软雅黑" pitchFamily="34" charset="-122"/>
                  <a:sym typeface="+mn-lt"/>
                </a:rPr>
                <a:t>技术中台</a:t>
              </a:r>
            </a:p>
          </p:txBody>
        </p:sp>
        <p:sp>
          <p:nvSpPr>
            <p:cNvPr id="208" name="圆角矩形 93"/>
            <p:cNvSpPr/>
            <p:nvPr/>
          </p:nvSpPr>
          <p:spPr>
            <a:xfrm>
              <a:off x="6898005" y="4437136"/>
              <a:ext cx="842010" cy="216000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 w="9525" algn="ctr">
              <a:noFill/>
              <a:round/>
            </a:ln>
          </p:spPr>
          <p:txBody>
            <a:bodyPr vert="horz" wrap="square" lIns="0" tIns="0" rIns="0" bIns="0" numCol="1" spcCol="0" rtlCol="0" fromWordArt="0" anchor="ctr" anchorCtr="0" forceAA="0" compatLnSpc="0">
              <a:noAutofit/>
            </a:bodyPr>
            <a:lstStyle/>
            <a:p>
              <a:pPr lvl="0" algn="ctr">
                <a:buClrTx/>
                <a:buSzTx/>
                <a:buFontTx/>
              </a:pPr>
              <a:r>
                <a:rPr lang="zh-CN" altLang="en-US" sz="800" b="1" dirty="0">
                  <a:latin typeface="微软雅黑" pitchFamily="34" charset="-122"/>
                  <a:ea typeface="微软雅黑" pitchFamily="34" charset="-122"/>
                  <a:sym typeface="+mn-ea"/>
                </a:rPr>
                <a:t>数据集管理</a:t>
              </a:r>
            </a:p>
          </p:txBody>
        </p:sp>
        <p:sp>
          <p:nvSpPr>
            <p:cNvPr id="209" name="圆角矩形 93"/>
            <p:cNvSpPr/>
            <p:nvPr/>
          </p:nvSpPr>
          <p:spPr>
            <a:xfrm>
              <a:off x="6898005" y="4725168"/>
              <a:ext cx="842010" cy="216000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 w="9525" algn="ctr">
              <a:noFill/>
              <a:round/>
            </a:ln>
          </p:spPr>
          <p:txBody>
            <a:bodyPr vert="horz" wrap="square" lIns="0" tIns="0" rIns="0" bIns="0" numCol="1" spcCol="0" rtlCol="0" fromWordArt="0" anchor="ctr" anchorCtr="0" forceAA="0" compatLnSpc="0">
              <a:noAutofit/>
            </a:bodyPr>
            <a:lstStyle/>
            <a:p>
              <a:pPr lvl="0" algn="ctr">
                <a:buClrTx/>
                <a:buSzTx/>
                <a:buFontTx/>
              </a:pPr>
              <a:r>
                <a:rPr lang="zh-CN" altLang="en-US" sz="800" b="1" dirty="0">
                  <a:latin typeface="微软雅黑" pitchFamily="34" charset="-122"/>
                  <a:ea typeface="微软雅黑" pitchFamily="34" charset="-122"/>
                  <a:sym typeface="+mn-ea"/>
                </a:rPr>
                <a:t>智能体管理</a:t>
              </a:r>
            </a:p>
          </p:txBody>
        </p:sp>
      </p:grpSp>
      <p:grpSp>
        <p:nvGrpSpPr>
          <p:cNvPr id="210" name="组合 209"/>
          <p:cNvGrpSpPr/>
          <p:nvPr/>
        </p:nvGrpSpPr>
        <p:grpSpPr>
          <a:xfrm>
            <a:off x="539553" y="3909542"/>
            <a:ext cx="6035993" cy="674770"/>
            <a:chOff x="1640840" y="5085182"/>
            <a:chExt cx="8047990" cy="899693"/>
          </a:xfrm>
        </p:grpSpPr>
        <p:sp>
          <p:nvSpPr>
            <p:cNvPr id="211" name="矩形 210"/>
            <p:cNvSpPr/>
            <p:nvPr/>
          </p:nvSpPr>
          <p:spPr>
            <a:xfrm>
              <a:off x="2339975" y="5085182"/>
              <a:ext cx="7348855" cy="346607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FFFFFF">
                  <a:lumMod val="85000"/>
                </a:srgbClr>
              </a:solidFill>
            </a:ln>
          </p:spPr>
          <p:style>
            <a:lnRef idx="2">
              <a:srgbClr val="006EFF">
                <a:shade val="50000"/>
              </a:srgbClr>
            </a:lnRef>
            <a:fillRef idx="1">
              <a:srgbClr val="006EFF"/>
            </a:fillRef>
            <a:effectRef idx="0">
              <a:srgbClr val="006EFF"/>
            </a:effectRef>
            <a:fontRef idx="minor">
              <a:srgbClr val="FFFFFF"/>
            </a:fontRef>
          </p:style>
          <p:txBody>
            <a:bodyPr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 b="1">
                <a:latin typeface="微软雅黑" pitchFamily="34" charset="-122"/>
                <a:ea typeface="微软雅黑" pitchFamily="34" charset="-122"/>
                <a:sym typeface="+mn-lt"/>
              </a:endParaRPr>
            </a:p>
          </p:txBody>
        </p:sp>
        <p:sp>
          <p:nvSpPr>
            <p:cNvPr id="212" name="矩形 211"/>
            <p:cNvSpPr/>
            <p:nvPr/>
          </p:nvSpPr>
          <p:spPr>
            <a:xfrm>
              <a:off x="2339975" y="5451475"/>
              <a:ext cx="7348855" cy="533400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FFFFFF">
                  <a:lumMod val="85000"/>
                </a:srgbClr>
              </a:solidFill>
            </a:ln>
          </p:spPr>
          <p:style>
            <a:lnRef idx="2">
              <a:srgbClr val="006EFF">
                <a:shade val="50000"/>
              </a:srgbClr>
            </a:lnRef>
            <a:fillRef idx="1">
              <a:srgbClr val="006EFF"/>
            </a:fillRef>
            <a:effectRef idx="0">
              <a:srgbClr val="006EFF"/>
            </a:effectRef>
            <a:fontRef idx="minor">
              <a:srgbClr val="FFFFFF"/>
            </a:fontRef>
          </p:style>
          <p:txBody>
            <a:bodyPr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 b="1">
                <a:latin typeface="微软雅黑" pitchFamily="34" charset="-122"/>
                <a:ea typeface="微软雅黑" pitchFamily="34" charset="-122"/>
                <a:sym typeface="+mn-lt"/>
              </a:endParaRPr>
            </a:p>
          </p:txBody>
        </p:sp>
        <p:sp>
          <p:nvSpPr>
            <p:cNvPr id="213" name="矩形 212"/>
            <p:cNvSpPr/>
            <p:nvPr/>
          </p:nvSpPr>
          <p:spPr>
            <a:xfrm>
              <a:off x="1640840" y="5085183"/>
              <a:ext cx="650875" cy="893977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1B1B1B"/>
              </a:solidFill>
            </a:ln>
          </p:spPr>
          <p:style>
            <a:lnRef idx="2">
              <a:srgbClr val="006EFF">
                <a:shade val="50000"/>
              </a:srgbClr>
            </a:lnRef>
            <a:fillRef idx="1">
              <a:srgbClr val="006EFF"/>
            </a:fillRef>
            <a:effectRef idx="0">
              <a:srgbClr val="006EFF"/>
            </a:effectRef>
            <a:fontRef idx="minor">
              <a:srgbClr val="FFFFFF"/>
            </a:fontRef>
          </p:style>
          <p:txBody>
            <a:bodyPr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  <a:defRPr/>
              </a:pPr>
              <a:r>
                <a:rPr lang="zh-CN" altLang="en-US" sz="900" b="1" kern="0" dirty="0">
                  <a:solidFill>
                    <a:srgbClr val="1B1B1B"/>
                  </a:solidFill>
                  <a:latin typeface="微软雅黑" pitchFamily="34" charset="-122"/>
                  <a:ea typeface="微软雅黑" pitchFamily="34" charset="-122"/>
                  <a:sym typeface="+mn-ea"/>
                </a:rPr>
                <a:t>数据层</a:t>
              </a:r>
            </a:p>
          </p:txBody>
        </p:sp>
        <p:sp>
          <p:nvSpPr>
            <p:cNvPr id="214" name="矩形: 圆角 12"/>
            <p:cNvSpPr/>
            <p:nvPr>
              <p:custDataLst>
                <p:tags r:id="rId17"/>
              </p:custDataLst>
            </p:nvPr>
          </p:nvSpPr>
          <p:spPr>
            <a:xfrm>
              <a:off x="5533766" y="5535295"/>
              <a:ext cx="960000" cy="192000"/>
            </a:xfrm>
            <a:prstGeom prst="roundRect">
              <a:avLst/>
            </a:prstGeom>
            <a:solidFill>
              <a:srgbClr val="066FBB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>
              <a:noAutofit/>
            </a:bodyPr>
            <a:lstStyle/>
            <a:p>
              <a:pPr lvl="0" algn="ctr">
                <a:buClrTx/>
                <a:buSzTx/>
                <a:buFontTx/>
                <a:defRPr/>
              </a:pPr>
              <a:r>
                <a:rPr lang="zh-CN" altLang="en-US" sz="800" b="1" dirty="0">
                  <a:solidFill>
                    <a:srgbClr val="FFFFFF"/>
                  </a:solidFill>
                  <a:latin typeface="微软雅黑" pitchFamily="34" charset="-122"/>
                  <a:ea typeface="微软雅黑" pitchFamily="34" charset="-122"/>
                  <a:sym typeface="+mn-ea"/>
                </a:rPr>
                <a:t>机构资源库</a:t>
              </a:r>
            </a:p>
          </p:txBody>
        </p:sp>
        <p:sp>
          <p:nvSpPr>
            <p:cNvPr id="215" name="矩形: 圆角 12"/>
            <p:cNvSpPr/>
            <p:nvPr>
              <p:custDataLst>
                <p:tags r:id="rId18"/>
              </p:custDataLst>
            </p:nvPr>
          </p:nvSpPr>
          <p:spPr>
            <a:xfrm>
              <a:off x="6568518" y="5535295"/>
              <a:ext cx="960000" cy="192000"/>
            </a:xfrm>
            <a:prstGeom prst="roundRect">
              <a:avLst/>
            </a:prstGeom>
            <a:solidFill>
              <a:srgbClr val="066FBB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>
              <a:noAutofit/>
            </a:bodyPr>
            <a:lstStyle/>
            <a:p>
              <a:pPr lvl="0" algn="ctr">
                <a:buClrTx/>
                <a:buSzTx/>
                <a:buFontTx/>
                <a:defRPr/>
              </a:pPr>
              <a:r>
                <a:rPr lang="zh-CN" altLang="en-US" sz="800" b="1">
                  <a:solidFill>
                    <a:srgbClr val="FFFFFF"/>
                  </a:solidFill>
                  <a:latin typeface="微软雅黑" pitchFamily="34" charset="-122"/>
                  <a:ea typeface="微软雅黑" pitchFamily="34" charset="-122"/>
                  <a:sym typeface="+mn-ea"/>
                </a:rPr>
                <a:t>产业信息库</a:t>
              </a:r>
            </a:p>
          </p:txBody>
        </p:sp>
        <p:sp>
          <p:nvSpPr>
            <p:cNvPr id="216" name="矩形: 圆角 12"/>
            <p:cNvSpPr/>
            <p:nvPr>
              <p:custDataLst>
                <p:tags r:id="rId19"/>
              </p:custDataLst>
            </p:nvPr>
          </p:nvSpPr>
          <p:spPr>
            <a:xfrm>
              <a:off x="7603270" y="5535295"/>
              <a:ext cx="960000" cy="192000"/>
            </a:xfrm>
            <a:prstGeom prst="roundRect">
              <a:avLst/>
            </a:prstGeom>
            <a:solidFill>
              <a:srgbClr val="066FBB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>
              <a:noAutofit/>
            </a:bodyPr>
            <a:lstStyle/>
            <a:p>
              <a:pPr lvl="0" algn="ctr">
                <a:buClrTx/>
                <a:buSzTx/>
                <a:buFontTx/>
                <a:defRPr/>
              </a:pPr>
              <a:r>
                <a:rPr lang="zh-CN" altLang="en-US" sz="800" b="1" dirty="0">
                  <a:solidFill>
                    <a:srgbClr val="FFFFFF"/>
                  </a:solidFill>
                  <a:latin typeface="微软雅黑" pitchFamily="34" charset="-122"/>
                  <a:ea typeface="微软雅黑" pitchFamily="34" charset="-122"/>
                  <a:sym typeface="+mn-ea"/>
                </a:rPr>
                <a:t>服务机构库</a:t>
              </a:r>
            </a:p>
          </p:txBody>
        </p:sp>
        <p:sp>
          <p:nvSpPr>
            <p:cNvPr id="217" name="矩形: 圆角 12"/>
            <p:cNvSpPr/>
            <p:nvPr>
              <p:custDataLst>
                <p:tags r:id="rId20"/>
              </p:custDataLst>
            </p:nvPr>
          </p:nvSpPr>
          <p:spPr>
            <a:xfrm>
              <a:off x="2429511" y="5535295"/>
              <a:ext cx="960000" cy="192000"/>
            </a:xfrm>
            <a:prstGeom prst="roundRect">
              <a:avLst/>
            </a:prstGeom>
            <a:solidFill>
              <a:srgbClr val="066FBB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r>
                <a:rPr lang="zh-CN" altLang="en-US" sz="800" b="1" dirty="0">
                  <a:solidFill>
                    <a:srgbClr val="FFFFFF"/>
                  </a:solidFill>
                  <a:latin typeface="微软雅黑" pitchFamily="34" charset="-122"/>
                  <a:ea typeface="微软雅黑" pitchFamily="34" charset="-122"/>
                </a:rPr>
                <a:t>政策</a:t>
              </a:r>
              <a:r>
                <a:rPr lang="zh-CN" altLang="en-US" sz="800" b="1" kern="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信息库</a:t>
              </a:r>
            </a:p>
          </p:txBody>
        </p:sp>
        <p:sp>
          <p:nvSpPr>
            <p:cNvPr id="218" name="矩形: 圆角 12"/>
            <p:cNvSpPr/>
            <p:nvPr>
              <p:custDataLst>
                <p:tags r:id="rId21"/>
              </p:custDataLst>
            </p:nvPr>
          </p:nvSpPr>
          <p:spPr>
            <a:xfrm>
              <a:off x="3464263" y="5535295"/>
              <a:ext cx="960000" cy="192000"/>
            </a:xfrm>
            <a:prstGeom prst="roundRect">
              <a:avLst/>
            </a:prstGeom>
            <a:solidFill>
              <a:srgbClr val="066FBB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>
              <a:noAutofit/>
            </a:bodyPr>
            <a:lstStyle/>
            <a:p>
              <a:pPr lvl="0" algn="ctr">
                <a:buClrTx/>
                <a:buSzTx/>
                <a:buFontTx/>
                <a:defRPr/>
              </a:pPr>
              <a:r>
                <a:rPr lang="zh-CN" altLang="en-US" sz="800" b="1" dirty="0">
                  <a:solidFill>
                    <a:srgbClr val="FFFFFF"/>
                  </a:solidFill>
                  <a:latin typeface="微软雅黑" pitchFamily="34" charset="-122"/>
                  <a:ea typeface="微软雅黑" pitchFamily="34" charset="-122"/>
                  <a:sym typeface="+mn-ea"/>
                </a:rPr>
                <a:t>平台信息库</a:t>
              </a:r>
            </a:p>
          </p:txBody>
        </p:sp>
        <p:sp>
          <p:nvSpPr>
            <p:cNvPr id="219" name="矩形: 圆角 12"/>
            <p:cNvSpPr/>
            <p:nvPr>
              <p:custDataLst>
                <p:tags r:id="rId22"/>
              </p:custDataLst>
            </p:nvPr>
          </p:nvSpPr>
          <p:spPr>
            <a:xfrm>
              <a:off x="4499014" y="5535295"/>
              <a:ext cx="960000" cy="192000"/>
            </a:xfrm>
            <a:prstGeom prst="roundRect">
              <a:avLst/>
            </a:prstGeom>
            <a:solidFill>
              <a:srgbClr val="066FBB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>
              <a:noAutofit/>
            </a:bodyPr>
            <a:lstStyle/>
            <a:p>
              <a:pPr lvl="0" algn="ctr">
                <a:buClrTx/>
                <a:buSzTx/>
                <a:buFontTx/>
                <a:defRPr/>
              </a:pPr>
              <a:r>
                <a:rPr lang="zh-CN" altLang="en-US" sz="800" b="1">
                  <a:solidFill>
                    <a:srgbClr val="FFFFFF"/>
                  </a:solidFill>
                  <a:latin typeface="微软雅黑" pitchFamily="34" charset="-122"/>
                  <a:ea typeface="微软雅黑" pitchFamily="34" charset="-122"/>
                  <a:sym typeface="+mn-ea"/>
                </a:rPr>
                <a:t>成果信息库</a:t>
              </a:r>
            </a:p>
          </p:txBody>
        </p:sp>
        <p:sp>
          <p:nvSpPr>
            <p:cNvPr id="220" name="矩形: 圆角 12"/>
            <p:cNvSpPr/>
            <p:nvPr>
              <p:custDataLst>
                <p:tags r:id="rId23"/>
              </p:custDataLst>
            </p:nvPr>
          </p:nvSpPr>
          <p:spPr>
            <a:xfrm>
              <a:off x="5533766" y="5757544"/>
              <a:ext cx="960000" cy="192000"/>
            </a:xfrm>
            <a:prstGeom prst="roundRect">
              <a:avLst/>
            </a:prstGeom>
            <a:solidFill>
              <a:srgbClr val="066FBB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>
              <a:noAutofit/>
            </a:bodyPr>
            <a:lstStyle/>
            <a:p>
              <a:pPr lvl="0" algn="ctr">
                <a:buClrTx/>
                <a:buSzTx/>
                <a:buFontTx/>
                <a:defRPr/>
              </a:pPr>
              <a:r>
                <a:rPr lang="zh-CN" altLang="en-US" sz="800" b="1">
                  <a:solidFill>
                    <a:srgbClr val="FFFFFF"/>
                  </a:solidFill>
                  <a:latin typeface="微软雅黑" pitchFamily="34" charset="-122"/>
                  <a:ea typeface="微软雅黑" pitchFamily="34" charset="-122"/>
                  <a:sym typeface="+mn-ea"/>
                </a:rPr>
                <a:t>创新载体库</a:t>
              </a:r>
            </a:p>
          </p:txBody>
        </p:sp>
        <p:sp>
          <p:nvSpPr>
            <p:cNvPr id="221" name="矩形: 圆角 12"/>
            <p:cNvSpPr/>
            <p:nvPr>
              <p:custDataLst>
                <p:tags r:id="rId24"/>
              </p:custDataLst>
            </p:nvPr>
          </p:nvSpPr>
          <p:spPr>
            <a:xfrm>
              <a:off x="7603270" y="5757544"/>
              <a:ext cx="960000" cy="192000"/>
            </a:xfrm>
            <a:prstGeom prst="roundRect">
              <a:avLst/>
            </a:prstGeom>
            <a:solidFill>
              <a:srgbClr val="066FBB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>
              <a:noAutofit/>
            </a:bodyPr>
            <a:lstStyle/>
            <a:p>
              <a:pPr lvl="0" algn="ctr">
                <a:buClrTx/>
                <a:buSzTx/>
                <a:buFontTx/>
                <a:defRPr/>
              </a:pPr>
              <a:r>
                <a:rPr lang="zh-CN" altLang="en-US" sz="800" b="1">
                  <a:solidFill>
                    <a:srgbClr val="FFFFFF"/>
                  </a:solidFill>
                  <a:latin typeface="微软雅黑" pitchFamily="34" charset="-122"/>
                  <a:ea typeface="微软雅黑" pitchFamily="34" charset="-122"/>
                  <a:sym typeface="+mn-ea"/>
                </a:rPr>
                <a:t>服务产品库</a:t>
              </a:r>
            </a:p>
          </p:txBody>
        </p:sp>
        <p:sp>
          <p:nvSpPr>
            <p:cNvPr id="222" name="矩形: 圆角 12"/>
            <p:cNvSpPr/>
            <p:nvPr>
              <p:custDataLst>
                <p:tags r:id="rId25"/>
              </p:custDataLst>
            </p:nvPr>
          </p:nvSpPr>
          <p:spPr>
            <a:xfrm>
              <a:off x="2429511" y="5757544"/>
              <a:ext cx="960000" cy="192000"/>
            </a:xfrm>
            <a:prstGeom prst="roundRect">
              <a:avLst/>
            </a:prstGeom>
            <a:solidFill>
              <a:srgbClr val="066FBB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>
              <a:noAutofit/>
            </a:bodyPr>
            <a:lstStyle/>
            <a:p>
              <a:pPr lvl="0" algn="ctr">
                <a:buClrTx/>
                <a:buSzTx/>
                <a:buFontTx/>
                <a:defRPr/>
              </a:pPr>
              <a:r>
                <a:rPr lang="zh-CN" altLang="en-US" sz="800" b="1" dirty="0">
                  <a:solidFill>
                    <a:srgbClr val="FFFFFF"/>
                  </a:solidFill>
                  <a:latin typeface="微软雅黑" pitchFamily="34" charset="-122"/>
                  <a:ea typeface="微软雅黑" pitchFamily="34" charset="-122"/>
                  <a:sym typeface="+mn-ea"/>
                </a:rPr>
                <a:t>人才信息库</a:t>
              </a:r>
            </a:p>
          </p:txBody>
        </p:sp>
        <p:sp>
          <p:nvSpPr>
            <p:cNvPr id="223" name="矩形: 圆角 12"/>
            <p:cNvSpPr/>
            <p:nvPr>
              <p:custDataLst>
                <p:tags r:id="rId26"/>
              </p:custDataLst>
            </p:nvPr>
          </p:nvSpPr>
          <p:spPr>
            <a:xfrm>
              <a:off x="3464263" y="5757544"/>
              <a:ext cx="960000" cy="192000"/>
            </a:xfrm>
            <a:prstGeom prst="roundRect">
              <a:avLst/>
            </a:prstGeom>
            <a:solidFill>
              <a:srgbClr val="066FBB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>
              <a:noAutofit/>
            </a:bodyPr>
            <a:lstStyle/>
            <a:p>
              <a:pPr lvl="0" algn="ctr">
                <a:buClrTx/>
                <a:buSzTx/>
                <a:buFontTx/>
                <a:defRPr/>
              </a:pPr>
              <a:r>
                <a:rPr lang="zh-CN" altLang="en-US" sz="800" b="1" dirty="0">
                  <a:solidFill>
                    <a:srgbClr val="FFFFFF"/>
                  </a:solidFill>
                  <a:latin typeface="微软雅黑" pitchFamily="34" charset="-122"/>
                  <a:ea typeface="微软雅黑" pitchFamily="34" charset="-122"/>
                  <a:sym typeface="+mn-ea"/>
                </a:rPr>
                <a:t>专利信息库</a:t>
              </a:r>
            </a:p>
          </p:txBody>
        </p:sp>
        <p:sp>
          <p:nvSpPr>
            <p:cNvPr id="224" name="矩形: 圆角 12"/>
            <p:cNvSpPr/>
            <p:nvPr>
              <p:custDataLst>
                <p:tags r:id="rId27"/>
              </p:custDataLst>
            </p:nvPr>
          </p:nvSpPr>
          <p:spPr>
            <a:xfrm>
              <a:off x="4499014" y="5757544"/>
              <a:ext cx="960000" cy="192000"/>
            </a:xfrm>
            <a:prstGeom prst="roundRect">
              <a:avLst/>
            </a:prstGeom>
            <a:solidFill>
              <a:srgbClr val="066FBB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>
              <a:noAutofit/>
            </a:bodyPr>
            <a:lstStyle/>
            <a:p>
              <a:pPr lvl="0" algn="ctr">
                <a:buClrTx/>
                <a:buSzTx/>
                <a:buFontTx/>
                <a:defRPr/>
              </a:pPr>
              <a:r>
                <a:rPr lang="zh-CN" altLang="en-US" sz="800" b="1">
                  <a:solidFill>
                    <a:srgbClr val="FFFFFF"/>
                  </a:solidFill>
                  <a:latin typeface="微软雅黑" pitchFamily="34" charset="-122"/>
                  <a:ea typeface="微软雅黑" pitchFamily="34" charset="-122"/>
                  <a:sym typeface="+mn-ea"/>
                </a:rPr>
                <a:t>金融资源库</a:t>
              </a:r>
            </a:p>
          </p:txBody>
        </p:sp>
        <p:sp>
          <p:nvSpPr>
            <p:cNvPr id="225" name="矩形: 圆角 12"/>
            <p:cNvSpPr/>
            <p:nvPr>
              <p:custDataLst>
                <p:tags r:id="rId28"/>
              </p:custDataLst>
            </p:nvPr>
          </p:nvSpPr>
          <p:spPr>
            <a:xfrm>
              <a:off x="6568518" y="5757544"/>
              <a:ext cx="960000" cy="192000"/>
            </a:xfrm>
            <a:prstGeom prst="roundRect">
              <a:avLst/>
            </a:prstGeom>
            <a:solidFill>
              <a:srgbClr val="066FBB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>
              <a:noAutofit/>
            </a:bodyPr>
            <a:lstStyle/>
            <a:p>
              <a:pPr lvl="0" algn="ctr">
                <a:buClrTx/>
                <a:buSzTx/>
                <a:buFontTx/>
                <a:defRPr/>
              </a:pPr>
              <a:r>
                <a:rPr lang="zh-CN" altLang="en-US" sz="800" b="1">
                  <a:solidFill>
                    <a:srgbClr val="FFFFFF"/>
                  </a:solidFill>
                  <a:latin typeface="微软雅黑" pitchFamily="34" charset="-122"/>
                  <a:ea typeface="微软雅黑" pitchFamily="34" charset="-122"/>
                  <a:sym typeface="+mn-ea"/>
                </a:rPr>
                <a:t>指标库</a:t>
              </a:r>
            </a:p>
          </p:txBody>
        </p:sp>
        <p:sp>
          <p:nvSpPr>
            <p:cNvPr id="226" name="矩形: 圆角 12"/>
            <p:cNvSpPr/>
            <p:nvPr>
              <p:custDataLst>
                <p:tags r:id="rId29"/>
              </p:custDataLst>
            </p:nvPr>
          </p:nvSpPr>
          <p:spPr>
            <a:xfrm>
              <a:off x="8638025" y="5535295"/>
              <a:ext cx="960000" cy="192000"/>
            </a:xfrm>
            <a:prstGeom prst="roundRect">
              <a:avLst/>
            </a:prstGeom>
            <a:solidFill>
              <a:srgbClr val="066FBB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>
              <a:noAutofit/>
            </a:bodyPr>
            <a:lstStyle/>
            <a:p>
              <a:pPr lvl="0" algn="ctr">
                <a:buClrTx/>
                <a:buSzTx/>
                <a:buFontTx/>
                <a:defRPr/>
              </a:pPr>
              <a:r>
                <a:rPr lang="zh-CN" altLang="en-US" sz="800" b="1" dirty="0">
                  <a:solidFill>
                    <a:srgbClr val="FFFFFF"/>
                  </a:solidFill>
                  <a:latin typeface="微软雅黑" pitchFamily="34" charset="-122"/>
                  <a:ea typeface="微软雅黑" pitchFamily="34" charset="-122"/>
                  <a:sym typeface="+mn-ea"/>
                </a:rPr>
                <a:t>技术经纪库</a:t>
              </a:r>
            </a:p>
          </p:txBody>
        </p:sp>
        <p:sp>
          <p:nvSpPr>
            <p:cNvPr id="227" name="矩形: 圆角 12"/>
            <p:cNvSpPr/>
            <p:nvPr>
              <p:custDataLst>
                <p:tags r:id="rId30"/>
              </p:custDataLst>
            </p:nvPr>
          </p:nvSpPr>
          <p:spPr>
            <a:xfrm>
              <a:off x="8638025" y="5757544"/>
              <a:ext cx="960000" cy="192000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>
              <a:noAutofit/>
            </a:bodyPr>
            <a:lstStyle/>
            <a:p>
              <a:pPr lvl="0" algn="ctr">
                <a:buClrTx/>
                <a:buSzTx/>
                <a:buFontTx/>
                <a:defRPr/>
              </a:pPr>
              <a:r>
                <a:rPr lang="zh-CN" altLang="en-US" sz="800" b="1" dirty="0">
                  <a:latin typeface="微软雅黑" pitchFamily="34" charset="-122"/>
                  <a:ea typeface="微软雅黑" pitchFamily="34" charset="-122"/>
                  <a:sym typeface="+mn-ea"/>
                </a:rPr>
                <a:t>……</a:t>
              </a:r>
            </a:p>
          </p:txBody>
        </p:sp>
        <p:sp>
          <p:nvSpPr>
            <p:cNvPr id="228" name="矩形: 圆角 60"/>
            <p:cNvSpPr/>
            <p:nvPr/>
          </p:nvSpPr>
          <p:spPr>
            <a:xfrm>
              <a:off x="2429510" y="5157216"/>
              <a:ext cx="1008000" cy="216000"/>
            </a:xfrm>
            <a:prstGeom prst="roundRect">
              <a:avLst/>
            </a:prstGeom>
            <a:solidFill>
              <a:srgbClr val="8DEBFF"/>
            </a:solidFill>
            <a:ln w="9525" algn="ctr">
              <a:solidFill>
                <a:srgbClr val="BCE2F5"/>
              </a:solidFill>
              <a:round/>
            </a:ln>
          </p:spPr>
          <p:txBody>
            <a:bodyPr vert="horz" wrap="square" lIns="0" tIns="0" rIns="0" bIns="0" numCol="1" spcCol="0" rtlCol="0" fromWordArt="0" anchor="ctr" anchorCtr="0" forceAA="0" compatLnSpc="0">
              <a:noAutofit/>
            </a:bodyPr>
            <a:lstStyle/>
            <a:p>
              <a:pPr lvl="0" algn="ctr">
                <a:buClrTx/>
                <a:buSzTx/>
                <a:buFontTx/>
              </a:pPr>
              <a:r>
                <a:rPr lang="zh-CN" altLang="en-US" sz="800" b="1" dirty="0">
                  <a:latin typeface="微软雅黑" pitchFamily="34" charset="-122"/>
                  <a:ea typeface="微软雅黑" pitchFamily="34" charset="-122"/>
                  <a:sym typeface="+mn-ea"/>
                </a:rPr>
                <a:t>政策数据集</a:t>
              </a:r>
            </a:p>
          </p:txBody>
        </p:sp>
        <p:sp>
          <p:nvSpPr>
            <p:cNvPr id="229" name="矩形: 圆角 60"/>
            <p:cNvSpPr/>
            <p:nvPr/>
          </p:nvSpPr>
          <p:spPr>
            <a:xfrm>
              <a:off x="3661613" y="5157216"/>
              <a:ext cx="1008000" cy="216000"/>
            </a:xfrm>
            <a:prstGeom prst="roundRect">
              <a:avLst/>
            </a:prstGeom>
            <a:solidFill>
              <a:srgbClr val="8DEBFF"/>
            </a:solidFill>
            <a:ln w="9525" algn="ctr">
              <a:solidFill>
                <a:srgbClr val="BCE2F5"/>
              </a:solidFill>
              <a:round/>
            </a:ln>
          </p:spPr>
          <p:txBody>
            <a:bodyPr vert="horz" wrap="square" lIns="0" tIns="0" rIns="0" bIns="0" numCol="1" spcCol="0" rtlCol="0" fromWordArt="0" anchor="ctr" anchorCtr="0" forceAA="0" compatLnSpc="0">
              <a:noAutofit/>
            </a:bodyPr>
            <a:lstStyle/>
            <a:p>
              <a:pPr lvl="0" algn="ctr">
                <a:buClrTx/>
                <a:buSzTx/>
                <a:buFontTx/>
              </a:pPr>
              <a:r>
                <a:rPr lang="zh-CN" altLang="en-US" sz="800" b="1" dirty="0">
                  <a:latin typeface="微软雅黑" pitchFamily="34" charset="-122"/>
                  <a:ea typeface="微软雅黑" pitchFamily="34" charset="-122"/>
                  <a:sym typeface="+mn-ea"/>
                </a:rPr>
                <a:t>成果数据集</a:t>
              </a:r>
            </a:p>
          </p:txBody>
        </p:sp>
        <p:sp>
          <p:nvSpPr>
            <p:cNvPr id="230" name="矩形: 圆角 60"/>
            <p:cNvSpPr/>
            <p:nvPr/>
          </p:nvSpPr>
          <p:spPr>
            <a:xfrm>
              <a:off x="4893716" y="5157216"/>
              <a:ext cx="1008000" cy="216000"/>
            </a:xfrm>
            <a:prstGeom prst="roundRect">
              <a:avLst/>
            </a:prstGeom>
            <a:solidFill>
              <a:srgbClr val="8DEBFF"/>
            </a:solidFill>
            <a:ln w="9525" algn="ctr">
              <a:solidFill>
                <a:srgbClr val="BCE2F5"/>
              </a:solidFill>
              <a:round/>
            </a:ln>
          </p:spPr>
          <p:txBody>
            <a:bodyPr vert="horz" wrap="square" lIns="0" tIns="0" rIns="0" bIns="0" numCol="1" spcCol="0" rtlCol="0" fromWordArt="0" anchor="ctr" anchorCtr="0" forceAA="0" compatLnSpc="0">
              <a:noAutofit/>
            </a:bodyPr>
            <a:lstStyle/>
            <a:p>
              <a:pPr lvl="0" algn="ctr">
                <a:buClrTx/>
                <a:buSzTx/>
                <a:buFontTx/>
              </a:pPr>
              <a:r>
                <a:rPr lang="zh-CN" altLang="en-US" sz="800" b="1" dirty="0">
                  <a:latin typeface="微软雅黑" pitchFamily="34" charset="-122"/>
                  <a:ea typeface="微软雅黑" pitchFamily="34" charset="-122"/>
                  <a:sym typeface="+mn-ea"/>
                </a:rPr>
                <a:t>产业数据集</a:t>
              </a:r>
            </a:p>
          </p:txBody>
        </p:sp>
        <p:sp>
          <p:nvSpPr>
            <p:cNvPr id="231" name="矩形: 圆角 60"/>
            <p:cNvSpPr/>
            <p:nvPr/>
          </p:nvSpPr>
          <p:spPr>
            <a:xfrm>
              <a:off x="6125819" y="5157216"/>
              <a:ext cx="1008000" cy="216000"/>
            </a:xfrm>
            <a:prstGeom prst="roundRect">
              <a:avLst/>
            </a:prstGeom>
            <a:solidFill>
              <a:srgbClr val="8DEBFF"/>
            </a:solidFill>
            <a:ln w="9525" algn="ctr">
              <a:solidFill>
                <a:srgbClr val="BCE2F5"/>
              </a:solidFill>
              <a:round/>
            </a:ln>
          </p:spPr>
          <p:txBody>
            <a:bodyPr vert="horz" wrap="square" lIns="0" tIns="0" rIns="0" bIns="0" numCol="1" spcCol="0" rtlCol="0" fromWordArt="0" anchor="ctr" anchorCtr="0" forceAA="0" compatLnSpc="0">
              <a:noAutofit/>
            </a:bodyPr>
            <a:lstStyle/>
            <a:p>
              <a:pPr lvl="0" algn="ctr">
                <a:buClrTx/>
                <a:buSzTx/>
                <a:buFontTx/>
              </a:pPr>
              <a:r>
                <a:rPr lang="zh-CN" altLang="en-US" sz="800" b="1" dirty="0">
                  <a:latin typeface="微软雅黑" pitchFamily="34" charset="-122"/>
                  <a:ea typeface="微软雅黑" pitchFamily="34" charset="-122"/>
                  <a:sym typeface="+mn-ea"/>
                </a:rPr>
                <a:t>平台数据集</a:t>
              </a:r>
            </a:p>
          </p:txBody>
        </p:sp>
        <p:sp>
          <p:nvSpPr>
            <p:cNvPr id="232" name="矩形: 圆角 60"/>
            <p:cNvSpPr/>
            <p:nvPr/>
          </p:nvSpPr>
          <p:spPr>
            <a:xfrm>
              <a:off x="7357922" y="5157216"/>
              <a:ext cx="1008000" cy="216000"/>
            </a:xfrm>
            <a:prstGeom prst="roundRect">
              <a:avLst/>
            </a:prstGeom>
            <a:solidFill>
              <a:srgbClr val="8DEBFF"/>
            </a:solidFill>
            <a:ln w="9525" algn="ctr">
              <a:solidFill>
                <a:srgbClr val="BCE2F5"/>
              </a:solidFill>
              <a:round/>
            </a:ln>
          </p:spPr>
          <p:txBody>
            <a:bodyPr vert="horz" wrap="square" lIns="0" tIns="0" rIns="0" bIns="0" numCol="1" spcCol="0" rtlCol="0" fromWordArt="0" anchor="ctr" anchorCtr="0" forceAA="0" compatLnSpc="0">
              <a:noAutofit/>
            </a:bodyPr>
            <a:lstStyle/>
            <a:p>
              <a:pPr lvl="0" algn="ctr">
                <a:buClrTx/>
                <a:buSzTx/>
                <a:buFontTx/>
              </a:pPr>
              <a:r>
                <a:rPr lang="zh-CN" altLang="en-US" sz="800" b="1" dirty="0">
                  <a:latin typeface="微软雅黑" pitchFamily="34" charset="-122"/>
                  <a:ea typeface="微软雅黑" pitchFamily="34" charset="-122"/>
                  <a:sym typeface="+mn-ea"/>
                </a:rPr>
                <a:t>机构数据集</a:t>
              </a:r>
            </a:p>
          </p:txBody>
        </p:sp>
        <p:sp>
          <p:nvSpPr>
            <p:cNvPr id="233" name="矩形: 圆角 60"/>
            <p:cNvSpPr/>
            <p:nvPr/>
          </p:nvSpPr>
          <p:spPr>
            <a:xfrm>
              <a:off x="8590025" y="5157216"/>
              <a:ext cx="1008000" cy="216000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 w="9525" algn="ctr">
              <a:noFill/>
              <a:round/>
            </a:ln>
          </p:spPr>
          <p:txBody>
            <a:bodyPr vert="horz" wrap="square" lIns="0" tIns="0" rIns="0" bIns="0" numCol="1" spcCol="0" rtlCol="0" fromWordArt="0" anchor="ctr" anchorCtr="0" forceAA="0" compatLnSpc="0">
              <a:noAutofit/>
            </a:bodyPr>
            <a:lstStyle/>
            <a:p>
              <a:pPr lvl="0" algn="ctr">
                <a:buClrTx/>
                <a:buSzTx/>
                <a:buFontTx/>
              </a:pPr>
              <a:r>
                <a:rPr lang="en-US" altLang="zh-CN" sz="800" b="1" dirty="0">
                  <a:latin typeface="微软雅黑" pitchFamily="34" charset="-122"/>
                  <a:ea typeface="微软雅黑" pitchFamily="34" charset="-122"/>
                  <a:sym typeface="+mn-ea"/>
                </a:rPr>
                <a:t>……</a:t>
              </a:r>
              <a:endParaRPr lang="zh-CN" altLang="en-US" sz="800" b="1" dirty="0">
                <a:latin typeface="微软雅黑" pitchFamily="34" charset="-122"/>
                <a:ea typeface="微软雅黑" pitchFamily="34" charset="-122"/>
                <a:sym typeface="+mn-ea"/>
              </a:endParaRPr>
            </a:p>
          </p:txBody>
        </p:sp>
      </p:grpSp>
      <p:grpSp>
        <p:nvGrpSpPr>
          <p:cNvPr id="234" name="组合 233"/>
          <p:cNvGrpSpPr/>
          <p:nvPr/>
        </p:nvGrpSpPr>
        <p:grpSpPr>
          <a:xfrm>
            <a:off x="539553" y="2662444"/>
            <a:ext cx="6051709" cy="460610"/>
            <a:chOff x="1640840" y="3429000"/>
            <a:chExt cx="8068945" cy="614147"/>
          </a:xfrm>
        </p:grpSpPr>
        <p:sp>
          <p:nvSpPr>
            <p:cNvPr id="235" name="矩形 234"/>
            <p:cNvSpPr/>
            <p:nvPr/>
          </p:nvSpPr>
          <p:spPr>
            <a:xfrm>
              <a:off x="2339975" y="3429000"/>
              <a:ext cx="7369810" cy="614146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FFFFFF">
                  <a:lumMod val="85000"/>
                </a:srgbClr>
              </a:solidFill>
            </a:ln>
          </p:spPr>
          <p:style>
            <a:lnRef idx="2">
              <a:srgbClr val="006EFF">
                <a:shade val="50000"/>
              </a:srgbClr>
            </a:lnRef>
            <a:fillRef idx="1">
              <a:srgbClr val="006EFF"/>
            </a:fillRef>
            <a:effectRef idx="0">
              <a:srgbClr val="006EFF"/>
            </a:effectRef>
            <a:fontRef idx="minor">
              <a:srgbClr val="FFFFFF"/>
            </a:fontRef>
          </p:style>
          <p:txBody>
            <a:bodyPr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 b="1">
                <a:latin typeface="微软雅黑" pitchFamily="34" charset="-122"/>
                <a:ea typeface="微软雅黑" pitchFamily="34" charset="-122"/>
                <a:sym typeface="+mn-lt"/>
              </a:endParaRPr>
            </a:p>
          </p:txBody>
        </p:sp>
        <p:sp>
          <p:nvSpPr>
            <p:cNvPr id="236" name="矩形 235"/>
            <p:cNvSpPr/>
            <p:nvPr/>
          </p:nvSpPr>
          <p:spPr>
            <a:xfrm>
              <a:off x="1640840" y="3429000"/>
              <a:ext cx="650875" cy="614147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1B1B1B"/>
              </a:solidFill>
            </a:ln>
          </p:spPr>
          <p:style>
            <a:lnRef idx="2">
              <a:srgbClr val="006EFF">
                <a:shade val="50000"/>
              </a:srgbClr>
            </a:lnRef>
            <a:fillRef idx="1">
              <a:srgbClr val="006EFF"/>
            </a:fillRef>
            <a:effectRef idx="0">
              <a:srgbClr val="006EFF"/>
            </a:effectRef>
            <a:fontRef idx="minor">
              <a:srgbClr val="FFFFFF"/>
            </a:fontRef>
          </p:style>
          <p:txBody>
            <a:bodyPr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  <a:defRPr/>
              </a:pPr>
              <a:r>
                <a:rPr lang="zh-CN" altLang="en-US" sz="900" b="1" kern="0" dirty="0">
                  <a:solidFill>
                    <a:srgbClr val="1B1B1B"/>
                  </a:solidFill>
                  <a:latin typeface="微软雅黑" pitchFamily="34" charset="-122"/>
                  <a:ea typeface="微软雅黑" pitchFamily="34" charset="-122"/>
                  <a:sym typeface="+mn-ea"/>
                </a:rPr>
                <a:t>模型层</a:t>
              </a:r>
            </a:p>
          </p:txBody>
        </p:sp>
        <p:sp>
          <p:nvSpPr>
            <p:cNvPr id="237" name="矩形: 圆角 60"/>
            <p:cNvSpPr/>
            <p:nvPr/>
          </p:nvSpPr>
          <p:spPr>
            <a:xfrm>
              <a:off x="2429510" y="3501008"/>
              <a:ext cx="1174750" cy="495830"/>
            </a:xfrm>
            <a:prstGeom prst="roundRect">
              <a:avLst/>
            </a:prstGeom>
            <a:solidFill>
              <a:srgbClr val="8DEBFF"/>
            </a:solidFill>
            <a:ln w="9525" algn="ctr">
              <a:solidFill>
                <a:srgbClr val="BCE2F5"/>
              </a:solidFill>
              <a:round/>
            </a:ln>
          </p:spPr>
          <p:txBody>
            <a:bodyPr vert="horz" wrap="square" lIns="0" tIns="0" rIns="0" bIns="0" numCol="1" spcCol="0" rtlCol="0" fromWordArt="0" anchor="ctr" anchorCtr="0" forceAA="0" compatLnSpc="0">
              <a:noAutofit/>
            </a:bodyPr>
            <a:lstStyle/>
            <a:p>
              <a:pPr lvl="0" algn="ctr">
                <a:buClrTx/>
                <a:buSzTx/>
                <a:buFontTx/>
              </a:pPr>
              <a:r>
                <a:rPr lang="zh-CN" altLang="en-US" sz="800" b="1" dirty="0">
                  <a:latin typeface="微软雅黑" pitchFamily="34" charset="-122"/>
                  <a:ea typeface="微软雅黑" pitchFamily="34" charset="-122"/>
                  <a:sym typeface="+mn-ea"/>
                </a:rPr>
                <a:t>智库服务</a:t>
              </a:r>
              <a:endParaRPr lang="en-US" altLang="zh-CN" sz="800" b="1" dirty="0">
                <a:latin typeface="微软雅黑" pitchFamily="34" charset="-122"/>
                <a:ea typeface="微软雅黑" pitchFamily="34" charset="-122"/>
                <a:sym typeface="+mn-ea"/>
              </a:endParaRPr>
            </a:p>
            <a:p>
              <a:pPr lvl="0" algn="ctr">
                <a:buClrTx/>
                <a:buSzTx/>
                <a:buFontTx/>
              </a:pPr>
              <a:r>
                <a:rPr lang="zh-CN" altLang="en-US" sz="800" b="1" dirty="0">
                  <a:latin typeface="微软雅黑" pitchFamily="34" charset="-122"/>
                  <a:ea typeface="微软雅黑" pitchFamily="34" charset="-122"/>
                  <a:sym typeface="+mn-ea"/>
                </a:rPr>
                <a:t>大模型</a:t>
              </a:r>
            </a:p>
          </p:txBody>
        </p:sp>
        <p:sp>
          <p:nvSpPr>
            <p:cNvPr id="238" name="矩形: 圆角 60"/>
            <p:cNvSpPr/>
            <p:nvPr/>
          </p:nvSpPr>
          <p:spPr>
            <a:xfrm>
              <a:off x="3927951" y="3501008"/>
              <a:ext cx="1174750" cy="495830"/>
            </a:xfrm>
            <a:prstGeom prst="roundRect">
              <a:avLst/>
            </a:prstGeom>
            <a:solidFill>
              <a:srgbClr val="8DEBFF"/>
            </a:solidFill>
            <a:ln w="9525" algn="ctr">
              <a:solidFill>
                <a:srgbClr val="BCE2F5"/>
              </a:solidFill>
              <a:round/>
            </a:ln>
          </p:spPr>
          <p:txBody>
            <a:bodyPr vert="horz" wrap="square" lIns="0" tIns="0" rIns="0" bIns="0" numCol="1" spcCol="0" rtlCol="0" fromWordArt="0" anchor="ctr" anchorCtr="0" forceAA="0" compatLnSpc="0">
              <a:noAutofit/>
            </a:bodyPr>
            <a:lstStyle/>
            <a:p>
              <a:pPr lvl="0" algn="ctr">
                <a:buClrTx/>
                <a:buSzTx/>
                <a:buFontTx/>
              </a:pPr>
              <a:r>
                <a:rPr lang="zh-CN" altLang="en-US" sz="800" b="1" dirty="0">
                  <a:latin typeface="微软雅黑" pitchFamily="34" charset="-122"/>
                  <a:ea typeface="微软雅黑" pitchFamily="34" charset="-122"/>
                  <a:sym typeface="+mn-ea"/>
                </a:rPr>
                <a:t>成果转化</a:t>
              </a:r>
              <a:endParaRPr lang="en-US" altLang="zh-CN" sz="800" b="1" dirty="0">
                <a:latin typeface="微软雅黑" pitchFamily="34" charset="-122"/>
                <a:ea typeface="微软雅黑" pitchFamily="34" charset="-122"/>
                <a:sym typeface="+mn-ea"/>
              </a:endParaRPr>
            </a:p>
            <a:p>
              <a:pPr lvl="0" algn="ctr">
                <a:buClrTx/>
                <a:buSzTx/>
                <a:buFontTx/>
              </a:pPr>
              <a:r>
                <a:rPr lang="zh-CN" altLang="en-US" sz="800" b="1" dirty="0">
                  <a:latin typeface="微软雅黑" pitchFamily="34" charset="-122"/>
                  <a:ea typeface="微软雅黑" pitchFamily="34" charset="-122"/>
                  <a:sym typeface="+mn-ea"/>
                </a:rPr>
                <a:t>大模型</a:t>
              </a:r>
            </a:p>
          </p:txBody>
        </p:sp>
        <p:sp>
          <p:nvSpPr>
            <p:cNvPr id="239" name="矩形: 圆角 60"/>
            <p:cNvSpPr/>
            <p:nvPr/>
          </p:nvSpPr>
          <p:spPr>
            <a:xfrm>
              <a:off x="5426392" y="3501008"/>
              <a:ext cx="1174750" cy="495830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 w="9525" algn="ctr">
              <a:noFill/>
              <a:round/>
            </a:ln>
          </p:spPr>
          <p:txBody>
            <a:bodyPr vert="horz" wrap="square" lIns="0" tIns="0" rIns="0" bIns="0" numCol="1" spcCol="0" rtlCol="0" fromWordArt="0" anchor="ctr" anchorCtr="0" forceAA="0" compatLnSpc="0">
              <a:noAutofit/>
            </a:bodyPr>
            <a:lstStyle/>
            <a:p>
              <a:pPr lvl="0" algn="ctr">
                <a:buClrTx/>
                <a:buSzTx/>
                <a:buFontTx/>
              </a:pPr>
              <a:r>
                <a:rPr lang="zh-CN" altLang="en-US" sz="800" b="1" dirty="0">
                  <a:latin typeface="微软雅黑" pitchFamily="34" charset="-122"/>
                  <a:ea typeface="微软雅黑" pitchFamily="34" charset="-122"/>
                  <a:sym typeface="+mn-ea"/>
                </a:rPr>
                <a:t>产业</a:t>
              </a:r>
              <a:endParaRPr lang="en-US" altLang="zh-CN" sz="800" b="1" dirty="0">
                <a:latin typeface="微软雅黑" pitchFamily="34" charset="-122"/>
                <a:ea typeface="微软雅黑" pitchFamily="34" charset="-122"/>
                <a:sym typeface="+mn-ea"/>
              </a:endParaRPr>
            </a:p>
            <a:p>
              <a:pPr lvl="0" algn="ctr">
                <a:buClrTx/>
                <a:buSzTx/>
                <a:buFontTx/>
              </a:pPr>
              <a:r>
                <a:rPr lang="zh-CN" altLang="en-US" sz="800" b="1" dirty="0">
                  <a:latin typeface="微软雅黑" pitchFamily="34" charset="-122"/>
                  <a:ea typeface="微软雅黑" pitchFamily="34" charset="-122"/>
                  <a:sym typeface="+mn-ea"/>
                </a:rPr>
                <a:t>大模型</a:t>
              </a:r>
            </a:p>
          </p:txBody>
        </p:sp>
        <p:sp>
          <p:nvSpPr>
            <p:cNvPr id="240" name="矩形: 圆角 60"/>
            <p:cNvSpPr/>
            <p:nvPr/>
          </p:nvSpPr>
          <p:spPr>
            <a:xfrm>
              <a:off x="6924833" y="3501008"/>
              <a:ext cx="1174750" cy="495830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 w="9525" algn="ctr">
              <a:noFill/>
              <a:round/>
            </a:ln>
          </p:spPr>
          <p:txBody>
            <a:bodyPr vert="horz" wrap="square" lIns="0" tIns="0" rIns="0" bIns="0" numCol="1" spcCol="0" rtlCol="0" fromWordArt="0" anchor="ctr" anchorCtr="0" forceAA="0" compatLnSpc="0">
              <a:noAutofit/>
            </a:bodyPr>
            <a:lstStyle/>
            <a:p>
              <a:pPr lvl="0" algn="ctr">
                <a:buClrTx/>
                <a:buSzTx/>
                <a:buFontTx/>
              </a:pPr>
              <a:r>
                <a:rPr lang="en-US" altLang="zh-CN" sz="800" b="1" dirty="0" smtClean="0">
                  <a:latin typeface="微软雅黑" pitchFamily="34" charset="-122"/>
                  <a:ea typeface="微软雅黑" pitchFamily="34" charset="-122"/>
                  <a:sym typeface="+mn-ea"/>
                </a:rPr>
                <a:t>XX</a:t>
              </a:r>
              <a:endParaRPr lang="en-US" altLang="zh-CN" sz="800" b="1" dirty="0">
                <a:latin typeface="微软雅黑" pitchFamily="34" charset="-122"/>
                <a:ea typeface="微软雅黑" pitchFamily="34" charset="-122"/>
                <a:sym typeface="+mn-ea"/>
              </a:endParaRPr>
            </a:p>
            <a:p>
              <a:pPr lvl="0" algn="ctr">
                <a:buClrTx/>
                <a:buSzTx/>
                <a:buFontTx/>
              </a:pPr>
              <a:r>
                <a:rPr lang="zh-CN" altLang="en-US" sz="800" b="1" dirty="0">
                  <a:latin typeface="微软雅黑" pitchFamily="34" charset="-122"/>
                  <a:ea typeface="微软雅黑" pitchFamily="34" charset="-122"/>
                  <a:sym typeface="+mn-ea"/>
                </a:rPr>
                <a:t>大模型</a:t>
              </a:r>
            </a:p>
          </p:txBody>
        </p:sp>
        <p:sp>
          <p:nvSpPr>
            <p:cNvPr id="241" name="矩形: 圆角 60"/>
            <p:cNvSpPr/>
            <p:nvPr/>
          </p:nvSpPr>
          <p:spPr>
            <a:xfrm>
              <a:off x="8423275" y="3501008"/>
              <a:ext cx="1174750" cy="495830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 w="9525" algn="ctr">
              <a:noFill/>
              <a:round/>
            </a:ln>
          </p:spPr>
          <p:txBody>
            <a:bodyPr vert="horz" wrap="square" lIns="0" tIns="0" rIns="0" bIns="0" numCol="1" spcCol="0" rtlCol="0" fromWordArt="0" anchor="ctr" anchorCtr="0" forceAA="0" compatLnSpc="0">
              <a:noAutofit/>
            </a:bodyPr>
            <a:lstStyle/>
            <a:p>
              <a:pPr lvl="0" algn="ctr">
                <a:buClrTx/>
                <a:buSzTx/>
                <a:buFontTx/>
              </a:pPr>
              <a:r>
                <a:rPr lang="en-US" altLang="zh-CN" sz="800" b="1" dirty="0">
                  <a:latin typeface="微软雅黑" pitchFamily="34" charset="-122"/>
                  <a:ea typeface="微软雅黑" pitchFamily="34" charset="-122"/>
                  <a:sym typeface="+mn-ea"/>
                </a:rPr>
                <a:t>……</a:t>
              </a:r>
              <a:endParaRPr lang="zh-CN" altLang="en-US" sz="800" b="1" dirty="0">
                <a:latin typeface="微软雅黑" pitchFamily="34" charset="-122"/>
                <a:ea typeface="微软雅黑" pitchFamily="34" charset="-122"/>
                <a:sym typeface="+mn-ea"/>
              </a:endParaRPr>
            </a:p>
          </p:txBody>
        </p:sp>
      </p:grpSp>
      <p:grpSp>
        <p:nvGrpSpPr>
          <p:cNvPr id="242" name="组合 241"/>
          <p:cNvGrpSpPr/>
          <p:nvPr/>
        </p:nvGrpSpPr>
        <p:grpSpPr>
          <a:xfrm>
            <a:off x="539553" y="706253"/>
            <a:ext cx="6051709" cy="1566119"/>
            <a:chOff x="1640840" y="1508437"/>
            <a:chExt cx="8068945" cy="2088158"/>
          </a:xfrm>
        </p:grpSpPr>
        <p:sp>
          <p:nvSpPr>
            <p:cNvPr id="243" name="矩形 242"/>
            <p:cNvSpPr/>
            <p:nvPr/>
          </p:nvSpPr>
          <p:spPr>
            <a:xfrm>
              <a:off x="1640840" y="1508438"/>
              <a:ext cx="650875" cy="2088157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1B1B1B"/>
              </a:solidFill>
            </a:ln>
          </p:spPr>
          <p:style>
            <a:lnRef idx="2">
              <a:srgbClr val="006EFF">
                <a:shade val="50000"/>
              </a:srgbClr>
            </a:lnRef>
            <a:fillRef idx="1">
              <a:srgbClr val="006EFF"/>
            </a:fillRef>
            <a:effectRef idx="0">
              <a:srgbClr val="006EFF"/>
            </a:effectRef>
            <a:fontRef idx="minor">
              <a:srgbClr val="FFFFFF"/>
            </a:fontRef>
          </p:style>
          <p:txBody>
            <a:bodyPr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  <a:defRPr/>
              </a:pPr>
              <a:r>
                <a:rPr lang="zh-CN" altLang="en-US" sz="900" b="1" kern="0" dirty="0">
                  <a:solidFill>
                    <a:srgbClr val="1B1B1B"/>
                  </a:solidFill>
                  <a:latin typeface="微软雅黑" pitchFamily="34" charset="-122"/>
                  <a:ea typeface="微软雅黑" pitchFamily="34" charset="-122"/>
                  <a:sym typeface="+mn-ea"/>
                </a:rPr>
                <a:t>应用层</a:t>
              </a:r>
            </a:p>
          </p:txBody>
        </p:sp>
        <p:grpSp>
          <p:nvGrpSpPr>
            <p:cNvPr id="244" name="组合 243"/>
            <p:cNvGrpSpPr/>
            <p:nvPr/>
          </p:nvGrpSpPr>
          <p:grpSpPr>
            <a:xfrm>
              <a:off x="2339975" y="1508437"/>
              <a:ext cx="7368540" cy="324000"/>
              <a:chOff x="2339975" y="1143993"/>
              <a:chExt cx="7368540" cy="324000"/>
            </a:xfrm>
          </p:grpSpPr>
          <p:sp>
            <p:nvSpPr>
              <p:cNvPr id="263" name="矩形 262"/>
              <p:cNvSpPr/>
              <p:nvPr/>
            </p:nvSpPr>
            <p:spPr>
              <a:xfrm>
                <a:off x="2339975" y="1143993"/>
                <a:ext cx="7368540" cy="324000"/>
              </a:xfrm>
              <a:prstGeom prst="rect">
                <a:avLst/>
              </a:prstGeom>
              <a:solidFill>
                <a:srgbClr val="FFFFFF"/>
              </a:solidFill>
              <a:ln w="15875">
                <a:solidFill>
                  <a:srgbClr val="FFFFFF">
                    <a:lumMod val="85000"/>
                  </a:srgbClr>
                </a:solidFill>
              </a:ln>
            </p:spPr>
            <p:style>
              <a:lnRef idx="2">
                <a:srgbClr val="006EFF">
                  <a:shade val="50000"/>
                </a:srgbClr>
              </a:lnRef>
              <a:fillRef idx="1">
                <a:srgbClr val="006EFF"/>
              </a:fillRef>
              <a:effectRef idx="0">
                <a:srgbClr val="006EFF"/>
              </a:effectRef>
              <a:fontRef idx="minor">
                <a:srgbClr val="FFFFFF"/>
              </a:fontRef>
            </p:style>
            <p:txBody>
              <a:bodyPr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lvl="0" algn="ctr">
                  <a:buClrTx/>
                  <a:buSzTx/>
                  <a:buFontTx/>
                </a:pPr>
                <a:endParaRPr lang="zh-CN" altLang="en-US" b="1">
                  <a:latin typeface="微软雅黑" pitchFamily="34" charset="-122"/>
                  <a:ea typeface="微软雅黑" pitchFamily="34" charset="-122"/>
                  <a:sym typeface="+mn-lt"/>
                </a:endParaRPr>
              </a:p>
            </p:txBody>
          </p:sp>
          <p:sp>
            <p:nvSpPr>
              <p:cNvPr id="264" name="矩形 263"/>
              <p:cNvSpPr/>
              <p:nvPr/>
            </p:nvSpPr>
            <p:spPr>
              <a:xfrm>
                <a:off x="3906382" y="1190423"/>
                <a:ext cx="1304925" cy="231140"/>
              </a:xfrm>
              <a:prstGeom prst="rect">
                <a:avLst/>
              </a:prstGeom>
              <a:solidFill>
                <a:srgbClr val="006EFF"/>
              </a:solidFill>
              <a:ln>
                <a:noFill/>
              </a:ln>
            </p:spPr>
            <p:style>
              <a:lnRef idx="2">
                <a:srgbClr val="006EFF">
                  <a:shade val="50000"/>
                </a:srgbClr>
              </a:lnRef>
              <a:fillRef idx="1">
                <a:srgbClr val="006EFF"/>
              </a:fillRef>
              <a:effectRef idx="0">
                <a:srgbClr val="006EFF"/>
              </a:effectRef>
              <a:fontRef idx="minor">
                <a:srgbClr val="FFFFFF"/>
              </a:fontRef>
            </p:style>
            <p:txBody>
              <a:bodyPr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lvl="0" algn="ctr">
                  <a:buClrTx/>
                  <a:buSzTx/>
                  <a:buFontTx/>
                </a:pPr>
                <a:r>
                  <a:rPr lang="zh-CN" altLang="en-US" sz="900" b="1" kern="0" dirty="0">
                    <a:solidFill>
                      <a:prstClr val="white"/>
                    </a:solidFill>
                    <a:latin typeface="微软雅黑" pitchFamily="34" charset="-122"/>
                    <a:ea typeface="微软雅黑" pitchFamily="34" charset="-122"/>
                    <a:sym typeface="+mn-ea"/>
                  </a:rPr>
                  <a:t>web门户网站</a:t>
                </a:r>
              </a:p>
            </p:txBody>
          </p:sp>
          <p:sp>
            <p:nvSpPr>
              <p:cNvPr id="265" name="矩形 264"/>
              <p:cNvSpPr/>
              <p:nvPr/>
            </p:nvSpPr>
            <p:spPr>
              <a:xfrm>
                <a:off x="5378172" y="1190423"/>
                <a:ext cx="970280" cy="231140"/>
              </a:xfrm>
              <a:prstGeom prst="rect">
                <a:avLst/>
              </a:prstGeom>
              <a:solidFill>
                <a:srgbClr val="006EFF"/>
              </a:solidFill>
              <a:ln>
                <a:noFill/>
              </a:ln>
            </p:spPr>
            <p:style>
              <a:lnRef idx="2">
                <a:srgbClr val="006EFF">
                  <a:shade val="50000"/>
                </a:srgbClr>
              </a:lnRef>
              <a:fillRef idx="1">
                <a:srgbClr val="006EFF"/>
              </a:fillRef>
              <a:effectRef idx="0">
                <a:srgbClr val="006EFF"/>
              </a:effectRef>
              <a:fontRef idx="minor">
                <a:srgbClr val="FFFFFF"/>
              </a:fontRef>
            </p:style>
            <p:txBody>
              <a:bodyPr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lvl="0" algn="ctr">
                  <a:buClrTx/>
                  <a:buSzTx/>
                  <a:buFontTx/>
                </a:pPr>
                <a:r>
                  <a:rPr lang="zh-CN" altLang="en-US" sz="900" b="1" kern="0" dirty="0">
                    <a:solidFill>
                      <a:prstClr val="white"/>
                    </a:solidFill>
                    <a:latin typeface="微软雅黑" pitchFamily="34" charset="-122"/>
                    <a:ea typeface="微软雅黑" pitchFamily="34" charset="-122"/>
                    <a:sym typeface="+mn-ea"/>
                  </a:rPr>
                  <a:t>小程序</a:t>
                </a:r>
              </a:p>
            </p:txBody>
          </p:sp>
          <p:sp>
            <p:nvSpPr>
              <p:cNvPr id="266" name="矩形 265"/>
              <p:cNvSpPr/>
              <p:nvPr/>
            </p:nvSpPr>
            <p:spPr>
              <a:xfrm>
                <a:off x="6515318" y="1197091"/>
                <a:ext cx="1155065" cy="217805"/>
              </a:xfrm>
              <a:prstGeom prst="rect">
                <a:avLst/>
              </a:prstGeom>
              <a:solidFill>
                <a:srgbClr val="006EFF"/>
              </a:solidFill>
              <a:ln>
                <a:noFill/>
              </a:ln>
            </p:spPr>
            <p:style>
              <a:lnRef idx="2">
                <a:srgbClr val="006EFF">
                  <a:shade val="50000"/>
                </a:srgbClr>
              </a:lnRef>
              <a:fillRef idx="1">
                <a:srgbClr val="006EFF"/>
              </a:fillRef>
              <a:effectRef idx="0">
                <a:srgbClr val="006EFF"/>
              </a:effectRef>
              <a:fontRef idx="minor">
                <a:srgbClr val="FFFFFF"/>
              </a:fontRef>
            </p:style>
            <p:txBody>
              <a:bodyPr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lvl="0" algn="ctr">
                  <a:buClrTx/>
                  <a:buSzTx/>
                  <a:buFontTx/>
                </a:pPr>
                <a:r>
                  <a:rPr lang="zh-CN" altLang="en-US" sz="900" b="1" kern="0" dirty="0">
                    <a:solidFill>
                      <a:prstClr val="white"/>
                    </a:solidFill>
                    <a:latin typeface="微软雅黑" pitchFamily="34" charset="-122"/>
                    <a:ea typeface="微软雅黑" pitchFamily="34" charset="-122"/>
                    <a:sym typeface="+mn-ea"/>
                  </a:rPr>
                  <a:t>爱山东</a:t>
                </a:r>
              </a:p>
            </p:txBody>
          </p:sp>
          <p:sp>
            <p:nvSpPr>
              <p:cNvPr id="267" name="矩形 266"/>
              <p:cNvSpPr/>
              <p:nvPr>
                <p:custDataLst>
                  <p:tags r:id="rId15"/>
                </p:custDataLst>
              </p:nvPr>
            </p:nvSpPr>
            <p:spPr>
              <a:xfrm>
                <a:off x="2434590" y="1190423"/>
                <a:ext cx="1304925" cy="231140"/>
              </a:xfrm>
              <a:prstGeom prst="rect">
                <a:avLst/>
              </a:prstGeom>
              <a:solidFill>
                <a:srgbClr val="006EFF"/>
              </a:solidFill>
              <a:ln>
                <a:noFill/>
              </a:ln>
            </p:spPr>
            <p:style>
              <a:lnRef idx="2">
                <a:srgbClr val="006EFF">
                  <a:shade val="50000"/>
                </a:srgbClr>
              </a:lnRef>
              <a:fillRef idx="1">
                <a:srgbClr val="006EFF"/>
              </a:fillRef>
              <a:effectRef idx="0">
                <a:srgbClr val="006EFF"/>
              </a:effectRef>
              <a:fontRef idx="minor">
                <a:srgbClr val="FFFFFF"/>
              </a:fontRef>
            </p:style>
            <p:txBody>
              <a:bodyPr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lvl="0" algn="ctr">
                  <a:buClrTx/>
                  <a:buSzTx/>
                  <a:buFontTx/>
                </a:pPr>
                <a:r>
                  <a:rPr lang="zh-CN" altLang="en-US" sz="900" b="1" kern="0" dirty="0">
                    <a:solidFill>
                      <a:prstClr val="white"/>
                    </a:solidFill>
                    <a:latin typeface="微软雅黑" pitchFamily="34" charset="-122"/>
                    <a:ea typeface="微软雅黑" pitchFamily="34" charset="-122"/>
                    <a:sym typeface="+mn-ea"/>
                  </a:rPr>
                  <a:t>大屏</a:t>
                </a:r>
              </a:p>
            </p:txBody>
          </p:sp>
          <p:sp>
            <p:nvSpPr>
              <p:cNvPr id="268" name="矩形 267"/>
              <p:cNvSpPr/>
              <p:nvPr>
                <p:custDataLst>
                  <p:tags r:id="rId16"/>
                </p:custDataLst>
              </p:nvPr>
            </p:nvSpPr>
            <p:spPr>
              <a:xfrm>
                <a:off x="7837250" y="1197408"/>
                <a:ext cx="1715135" cy="217171"/>
              </a:xfrm>
              <a:prstGeom prst="rect">
                <a:avLst/>
              </a:prstGeom>
              <a:solidFill>
                <a:srgbClr val="006EFF"/>
              </a:solidFill>
              <a:ln>
                <a:noFill/>
              </a:ln>
            </p:spPr>
            <p:style>
              <a:lnRef idx="2">
                <a:srgbClr val="006EFF">
                  <a:shade val="50000"/>
                </a:srgbClr>
              </a:lnRef>
              <a:fillRef idx="1">
                <a:srgbClr val="006EFF"/>
              </a:fillRef>
              <a:effectRef idx="0">
                <a:srgbClr val="006EFF"/>
              </a:effectRef>
              <a:fontRef idx="minor">
                <a:srgbClr val="FFFFFF"/>
              </a:fontRef>
            </p:style>
            <p:txBody>
              <a:bodyPr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lvl="0" algn="ctr">
                  <a:buClrTx/>
                  <a:buSzTx/>
                  <a:buFontTx/>
                </a:pPr>
                <a:r>
                  <a:rPr lang="zh-CN" altLang="en-US" sz="900" b="1" kern="0" dirty="0">
                    <a:solidFill>
                      <a:prstClr val="white"/>
                    </a:solidFill>
                    <a:latin typeface="微软雅黑" pitchFamily="34" charset="-122"/>
                    <a:ea typeface="微软雅黑" pitchFamily="34" charset="-122"/>
                    <a:sym typeface="+mn-ea"/>
                  </a:rPr>
                  <a:t>山东通</a:t>
                </a:r>
              </a:p>
            </p:txBody>
          </p:sp>
        </p:grpSp>
        <p:grpSp>
          <p:nvGrpSpPr>
            <p:cNvPr id="245" name="组合 244"/>
            <p:cNvGrpSpPr/>
            <p:nvPr/>
          </p:nvGrpSpPr>
          <p:grpSpPr>
            <a:xfrm>
              <a:off x="2339975" y="1928446"/>
              <a:ext cx="7369810" cy="1668148"/>
              <a:chOff x="2339975" y="1688843"/>
              <a:chExt cx="7369810" cy="1668148"/>
            </a:xfrm>
          </p:grpSpPr>
          <p:sp>
            <p:nvSpPr>
              <p:cNvPr id="246" name="矩形 245"/>
              <p:cNvSpPr/>
              <p:nvPr/>
            </p:nvSpPr>
            <p:spPr>
              <a:xfrm>
                <a:off x="2339975" y="1688843"/>
                <a:ext cx="7369810" cy="1668148"/>
              </a:xfrm>
              <a:prstGeom prst="rect">
                <a:avLst/>
              </a:prstGeom>
              <a:solidFill>
                <a:srgbClr val="FFFFFF"/>
              </a:solidFill>
              <a:ln w="15875">
                <a:solidFill>
                  <a:srgbClr val="FFFFFF">
                    <a:lumMod val="85000"/>
                  </a:srgbClr>
                </a:solidFill>
              </a:ln>
            </p:spPr>
            <p:style>
              <a:lnRef idx="2">
                <a:srgbClr val="006EFF">
                  <a:shade val="50000"/>
                </a:srgbClr>
              </a:lnRef>
              <a:fillRef idx="1">
                <a:srgbClr val="006EFF"/>
              </a:fillRef>
              <a:effectRef idx="0">
                <a:srgbClr val="006EFF"/>
              </a:effectRef>
              <a:fontRef idx="minor">
                <a:srgbClr val="FFFFFF"/>
              </a:fontRef>
            </p:style>
            <p:txBody>
              <a:bodyPr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lvl="0" algn="ctr">
                  <a:buClrTx/>
                  <a:buSzTx/>
                  <a:buFontTx/>
                </a:pPr>
                <a:endParaRPr lang="zh-CN" altLang="en-US" b="1">
                  <a:latin typeface="微软雅黑" pitchFamily="34" charset="-122"/>
                  <a:ea typeface="微软雅黑" pitchFamily="34" charset="-122"/>
                  <a:sym typeface="+mn-lt"/>
                </a:endParaRPr>
              </a:p>
            </p:txBody>
          </p:sp>
          <p:sp>
            <p:nvSpPr>
              <p:cNvPr id="247" name="矩形 246"/>
              <p:cNvSpPr/>
              <p:nvPr/>
            </p:nvSpPr>
            <p:spPr>
              <a:xfrm>
                <a:off x="2453005" y="1806213"/>
                <a:ext cx="3560762" cy="1478770"/>
              </a:xfrm>
              <a:prstGeom prst="rect">
                <a:avLst/>
              </a:prstGeom>
              <a:solidFill>
                <a:srgbClr val="FFFFFF"/>
              </a:solidFill>
              <a:ln w="15875">
                <a:solidFill>
                  <a:srgbClr val="FFFFFF">
                    <a:lumMod val="85000"/>
                  </a:srgbClr>
                </a:solidFill>
                <a:prstDash val="solid"/>
              </a:ln>
            </p:spPr>
            <p:style>
              <a:lnRef idx="2">
                <a:srgbClr val="006EFF">
                  <a:shade val="50000"/>
                </a:srgbClr>
              </a:lnRef>
              <a:fillRef idx="1">
                <a:srgbClr val="006EFF"/>
              </a:fillRef>
              <a:effectRef idx="0">
                <a:srgbClr val="006EFF"/>
              </a:effectRef>
              <a:fontRef idx="minor">
                <a:srgbClr val="FFFFFF"/>
              </a:fontRef>
            </p:style>
            <p:txBody>
              <a:bodyPr vertOverflow="overflow" horzOverflow="overflow" vert="horz" wrap="square" lIns="91440" tIns="45720" rIns="91440" bIns="45720" numCol="1" spcCol="0" rtlCol="0" fromWordArt="0" anchor="t" anchorCtr="0" forceAA="0" compatLnSpc="1">
                <a:noAutofit/>
              </a:bodyPr>
              <a:lstStyle/>
              <a:p>
                <a:pPr lvl="0" algn="ctr">
                  <a:buClrTx/>
                  <a:buSzTx/>
                  <a:buFontTx/>
                </a:pPr>
                <a:endParaRPr lang="zh-CN" altLang="en-US" sz="1100" b="1" dirty="0">
                  <a:solidFill>
                    <a:srgbClr val="1B1B1B"/>
                  </a:solidFill>
                  <a:latin typeface="微软雅黑" pitchFamily="34" charset="-122"/>
                  <a:ea typeface="微软雅黑" pitchFamily="34" charset="-122"/>
                  <a:sym typeface="+mn-lt"/>
                </a:endParaRPr>
              </a:p>
            </p:txBody>
          </p:sp>
          <p:sp>
            <p:nvSpPr>
              <p:cNvPr id="248" name="矩形: 圆角 60"/>
              <p:cNvSpPr/>
              <p:nvPr/>
            </p:nvSpPr>
            <p:spPr>
              <a:xfrm>
                <a:off x="4364701" y="2388216"/>
                <a:ext cx="1476000" cy="216000"/>
              </a:xfrm>
              <a:prstGeom prst="roundRect">
                <a:avLst/>
              </a:prstGeom>
              <a:solidFill>
                <a:srgbClr val="066FBB"/>
              </a:solidFill>
              <a:ln w="9525" algn="ctr">
                <a:noFill/>
                <a:round/>
              </a:ln>
            </p:spPr>
            <p:txBody>
              <a:bodyPr vert="horz" wrap="square" lIns="0" tIns="0" rIns="0" bIns="0" numCol="1" spcCol="0" rtlCol="0" fromWordArt="0" anchor="ctr" anchorCtr="0" forceAA="0" compatLnSpc="0">
                <a:noAutofit/>
              </a:bodyPr>
              <a:lstStyle/>
              <a:p>
                <a:pPr lvl="0" algn="ctr">
                  <a:buClrTx/>
                  <a:buSzTx/>
                  <a:buFontTx/>
                </a:pPr>
                <a:r>
                  <a:rPr lang="zh-CN" altLang="en-US" sz="800" b="1" dirty="0">
                    <a:solidFill>
                      <a:srgbClr val="FFFFFF"/>
                    </a:solidFill>
                    <a:latin typeface="微软雅黑" pitchFamily="34" charset="-122"/>
                    <a:ea typeface="微软雅黑" pitchFamily="34" charset="-122"/>
                    <a:sym typeface="+mn-ea"/>
                  </a:rPr>
                  <a:t>产业监测分析</a:t>
                </a:r>
              </a:p>
            </p:txBody>
          </p:sp>
          <p:sp>
            <p:nvSpPr>
              <p:cNvPr id="249" name="矩形: 圆角 60"/>
              <p:cNvSpPr/>
              <p:nvPr/>
            </p:nvSpPr>
            <p:spPr>
              <a:xfrm>
                <a:off x="4364701" y="2692596"/>
                <a:ext cx="1476000" cy="216000"/>
              </a:xfrm>
              <a:prstGeom prst="roundRect">
                <a:avLst/>
              </a:prstGeom>
              <a:solidFill>
                <a:srgbClr val="BCE2F5"/>
              </a:solidFill>
              <a:ln w="9525" algn="ctr">
                <a:solidFill>
                  <a:srgbClr val="BCE2F5"/>
                </a:solidFill>
                <a:round/>
              </a:ln>
            </p:spPr>
            <p:txBody>
              <a:bodyPr vert="horz" wrap="square" lIns="0" tIns="0" rIns="0" bIns="0" numCol="1" spcCol="0" rtlCol="0" fromWordArt="0" anchor="ctr" anchorCtr="0" forceAA="0" compatLnSpc="0">
                <a:noAutofit/>
              </a:bodyPr>
              <a:lstStyle/>
              <a:p>
                <a:pPr lvl="0" algn="ctr">
                  <a:buClrTx/>
                  <a:buSzTx/>
                  <a:buFontTx/>
                </a:pPr>
                <a:r>
                  <a:rPr lang="zh-CN" altLang="en-US" sz="800" b="1" dirty="0">
                    <a:latin typeface="微软雅黑" pitchFamily="34" charset="-122"/>
                    <a:ea typeface="微软雅黑" pitchFamily="34" charset="-122"/>
                    <a:sym typeface="+mn-ea"/>
                  </a:rPr>
                  <a:t>科技成果转化评价</a:t>
                </a:r>
              </a:p>
            </p:txBody>
          </p:sp>
          <p:sp>
            <p:nvSpPr>
              <p:cNvPr id="250" name="矩形 249"/>
              <p:cNvSpPr/>
              <p:nvPr>
                <p:custDataLst>
                  <p:tags r:id="rId6"/>
                </p:custDataLst>
              </p:nvPr>
            </p:nvSpPr>
            <p:spPr>
              <a:xfrm>
                <a:off x="6096001" y="1806213"/>
                <a:ext cx="3461382" cy="1478770"/>
              </a:xfrm>
              <a:prstGeom prst="rect">
                <a:avLst/>
              </a:prstGeom>
              <a:solidFill>
                <a:srgbClr val="FFFFFF"/>
              </a:solidFill>
              <a:ln w="15875">
                <a:solidFill>
                  <a:srgbClr val="FFFFFF">
                    <a:lumMod val="85000"/>
                  </a:srgbClr>
                </a:solidFill>
                <a:prstDash val="solid"/>
              </a:ln>
            </p:spPr>
            <p:style>
              <a:lnRef idx="2">
                <a:srgbClr val="006EFF">
                  <a:shade val="50000"/>
                </a:srgbClr>
              </a:lnRef>
              <a:fillRef idx="1">
                <a:srgbClr val="006EFF"/>
              </a:fillRef>
              <a:effectRef idx="0">
                <a:srgbClr val="006EFF"/>
              </a:effectRef>
              <a:fontRef idx="minor">
                <a:srgbClr val="FFFFFF"/>
              </a:fontRef>
            </p:style>
            <p:txBody>
              <a:bodyPr vertOverflow="overflow" horzOverflow="overflow" vert="horz" wrap="square" lIns="91440" tIns="45720" rIns="91440" bIns="45720" numCol="1" spcCol="0" rtlCol="0" fromWordArt="0" anchor="t" anchorCtr="0" forceAA="0" compatLnSpc="1">
                <a:noAutofit/>
              </a:bodyPr>
              <a:lstStyle/>
              <a:p>
                <a:pPr lvl="0" algn="ctr">
                  <a:buClrTx/>
                  <a:buSzTx/>
                  <a:buFontTx/>
                </a:pPr>
                <a:endParaRPr lang="zh-CN" altLang="en-US" sz="1100" b="1" dirty="0">
                  <a:solidFill>
                    <a:srgbClr val="1B1B1B"/>
                  </a:solidFill>
                  <a:latin typeface="微软雅黑" pitchFamily="34" charset="-122"/>
                  <a:ea typeface="微软雅黑" pitchFamily="34" charset="-122"/>
                  <a:sym typeface="+mn-lt"/>
                </a:endParaRPr>
              </a:p>
            </p:txBody>
          </p:sp>
          <p:sp>
            <p:nvSpPr>
              <p:cNvPr id="251" name="矩形: 圆角 60"/>
              <p:cNvSpPr/>
              <p:nvPr>
                <p:custDataLst>
                  <p:tags r:id="rId7"/>
                </p:custDataLst>
              </p:nvPr>
            </p:nvSpPr>
            <p:spPr>
              <a:xfrm>
                <a:off x="2603776" y="2692596"/>
                <a:ext cx="1476000" cy="216000"/>
              </a:xfrm>
              <a:prstGeom prst="roundRect">
                <a:avLst/>
              </a:prstGeom>
              <a:solidFill>
                <a:srgbClr val="066FBB"/>
              </a:solidFill>
              <a:ln w="9525" algn="ctr">
                <a:solidFill>
                  <a:srgbClr val="0053BF"/>
                </a:solidFill>
                <a:round/>
              </a:ln>
            </p:spPr>
            <p:txBody>
              <a:bodyPr vert="horz" wrap="square" lIns="0" tIns="0" rIns="0" bIns="0" numCol="1" spcCol="0" rtlCol="0" fromWordArt="0" anchor="ctr" anchorCtr="0" forceAA="0" compatLnSpc="0">
                <a:noAutofit/>
              </a:bodyPr>
              <a:lstStyle/>
              <a:p>
                <a:pPr lvl="0" algn="ctr">
                  <a:buClrTx/>
                  <a:buSzTx/>
                  <a:buFontTx/>
                </a:pPr>
                <a:r>
                  <a:rPr lang="zh-CN" altLang="en-US" sz="800" b="1" dirty="0">
                    <a:solidFill>
                      <a:schemeClr val="bg1"/>
                    </a:solidFill>
                    <a:latin typeface="微软雅黑" pitchFamily="34" charset="-122"/>
                    <a:ea typeface="微软雅黑" pitchFamily="34" charset="-122"/>
                    <a:sym typeface="+mn-ea"/>
                  </a:rPr>
                  <a:t>图谱公共服务</a:t>
                </a:r>
              </a:p>
            </p:txBody>
          </p:sp>
          <p:sp>
            <p:nvSpPr>
              <p:cNvPr id="252" name="矩形: 圆角 60"/>
              <p:cNvSpPr/>
              <p:nvPr>
                <p:custDataLst>
                  <p:tags r:id="rId8"/>
                </p:custDataLst>
              </p:nvPr>
            </p:nvSpPr>
            <p:spPr>
              <a:xfrm>
                <a:off x="6800691" y="2083836"/>
                <a:ext cx="2052000" cy="216000"/>
              </a:xfrm>
              <a:prstGeom prst="roundRect">
                <a:avLst/>
              </a:prstGeom>
              <a:solidFill>
                <a:srgbClr val="167D40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wrap="square" lIns="91440" tIns="45720" rIns="91440" bIns="45720" numCol="1" spcCol="0" rtlCol="0" fromWordArt="0" anchor="ctr" anchorCtr="0" forceAA="0" compatLnSpc="0">
                <a:noAutofit/>
              </a:bodyPr>
              <a:lstStyle/>
              <a:p>
                <a:pPr lvl="0" algn="ctr">
                  <a:buClrTx/>
                  <a:buSzTx/>
                  <a:buFontTx/>
                </a:pPr>
                <a:r>
                  <a:rPr lang="zh-CN" altLang="en-US" sz="800" b="1" kern="0" dirty="0">
                    <a:solidFill>
                      <a:prstClr val="white"/>
                    </a:solidFill>
                    <a:latin typeface="微软雅黑" pitchFamily="34" charset="-122"/>
                    <a:ea typeface="微软雅黑" pitchFamily="34" charset="-122"/>
                    <a:sym typeface="+mn-ea"/>
                  </a:rPr>
                  <a:t>科技成果转化线上平台（一期）</a:t>
                </a:r>
              </a:p>
            </p:txBody>
          </p:sp>
          <p:sp>
            <p:nvSpPr>
              <p:cNvPr id="253" name="矩形: 圆角 60"/>
              <p:cNvSpPr/>
              <p:nvPr>
                <p:custDataLst>
                  <p:tags r:id="rId9"/>
                </p:custDataLst>
              </p:nvPr>
            </p:nvSpPr>
            <p:spPr>
              <a:xfrm>
                <a:off x="4364701" y="2996976"/>
                <a:ext cx="1476000" cy="216000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9525" algn="ctr">
                <a:noFill/>
                <a:round/>
              </a:ln>
            </p:spPr>
            <p:txBody>
              <a:bodyPr vert="horz" wrap="square" lIns="0" tIns="0" rIns="0" bIns="0" numCol="1" spcCol="0" rtlCol="0" fromWordArt="0" anchor="ctr" anchorCtr="0" forceAA="0" compatLnSpc="0">
                <a:noAutofit/>
              </a:bodyPr>
              <a:lstStyle/>
              <a:p>
                <a:pPr lvl="0" algn="ctr">
                  <a:buClrTx/>
                  <a:buSzTx/>
                  <a:buFontTx/>
                </a:pPr>
                <a:r>
                  <a:rPr lang="en-US" altLang="zh-CN" sz="800" b="1" dirty="0">
                    <a:latin typeface="微软雅黑" pitchFamily="34" charset="-122"/>
                    <a:ea typeface="微软雅黑" pitchFamily="34" charset="-122"/>
                    <a:sym typeface="+mn-ea"/>
                  </a:rPr>
                  <a:t>……</a:t>
                </a:r>
                <a:endParaRPr lang="zh-CN" altLang="en-US" sz="800" b="1" dirty="0">
                  <a:latin typeface="微软雅黑" pitchFamily="34" charset="-122"/>
                  <a:ea typeface="微软雅黑" pitchFamily="34" charset="-122"/>
                  <a:sym typeface="+mn-ea"/>
                </a:endParaRPr>
              </a:p>
            </p:txBody>
          </p:sp>
          <p:sp>
            <p:nvSpPr>
              <p:cNvPr id="254" name="矩形: 圆角 60"/>
              <p:cNvSpPr/>
              <p:nvPr/>
            </p:nvSpPr>
            <p:spPr>
              <a:xfrm>
                <a:off x="2603776" y="2083836"/>
                <a:ext cx="1476000" cy="216000"/>
              </a:xfrm>
              <a:prstGeom prst="roundRect">
                <a:avLst/>
              </a:prstGeom>
              <a:solidFill>
                <a:srgbClr val="167D40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wrap="square" numCol="1" spcCol="0" rtlCol="0" fromWordArt="0" anchor="ctr" anchorCtr="0" forceAA="0" compatLnSpc="0">
                <a:noAutofit/>
              </a:bodyPr>
              <a:lstStyle/>
              <a:p>
                <a:pPr lvl="0" algn="ctr">
                  <a:buClrTx/>
                  <a:buSzTx/>
                  <a:buFontTx/>
                </a:pPr>
                <a:r>
                  <a:rPr lang="zh-CN" altLang="en-US" sz="800" b="1" kern="0" dirty="0">
                    <a:solidFill>
                      <a:prstClr val="white"/>
                    </a:solidFill>
                    <a:latin typeface="微软雅黑" pitchFamily="34" charset="-122"/>
                    <a:ea typeface="微软雅黑" pitchFamily="34" charset="-122"/>
                    <a:sym typeface="+mn-ea"/>
                  </a:rPr>
                  <a:t>科技统计数据</a:t>
                </a:r>
              </a:p>
            </p:txBody>
          </p:sp>
          <p:sp>
            <p:nvSpPr>
              <p:cNvPr id="255" name="矩形: 圆角 60"/>
              <p:cNvSpPr/>
              <p:nvPr/>
            </p:nvSpPr>
            <p:spPr>
              <a:xfrm>
                <a:off x="2603776" y="2388216"/>
                <a:ext cx="1476000" cy="216000"/>
              </a:xfrm>
              <a:prstGeom prst="roundRect">
                <a:avLst/>
              </a:prstGeom>
              <a:solidFill>
                <a:srgbClr val="066FBB"/>
              </a:solidFill>
              <a:ln w="9525" algn="ctr">
                <a:noFill/>
                <a:round/>
              </a:ln>
            </p:spPr>
            <p:txBody>
              <a:bodyPr vert="horz" wrap="square" lIns="0" tIns="0" rIns="0" bIns="0" numCol="1" spcCol="0" rtlCol="0" fromWordArt="0" anchor="ctr" anchorCtr="0" forceAA="0" compatLnSpc="0">
                <a:noAutofit/>
              </a:bodyPr>
              <a:lstStyle/>
              <a:p>
                <a:pPr lvl="0" algn="ctr">
                  <a:buClrTx/>
                  <a:buSzTx/>
                  <a:buFontTx/>
                </a:pPr>
                <a:r>
                  <a:rPr lang="zh-CN" altLang="en-US" sz="800" b="1" dirty="0">
                    <a:solidFill>
                      <a:srgbClr val="FFFFFF"/>
                    </a:solidFill>
                    <a:latin typeface="微软雅黑" pitchFamily="34" charset="-122"/>
                    <a:ea typeface="微软雅黑" pitchFamily="34" charset="-122"/>
                    <a:sym typeface="+mn-ea"/>
                  </a:rPr>
                  <a:t>智库</a:t>
                </a:r>
                <a:r>
                  <a:rPr lang="en-US" altLang="zh-CN" sz="800" b="1" dirty="0" err="1">
                    <a:solidFill>
                      <a:srgbClr val="FFFFFF"/>
                    </a:solidFill>
                    <a:latin typeface="微软雅黑" pitchFamily="34" charset="-122"/>
                    <a:ea typeface="微软雅黑" pitchFamily="34" charset="-122"/>
                    <a:sym typeface="+mn-ea"/>
                  </a:rPr>
                  <a:t>研究辅助</a:t>
                </a:r>
                <a:endParaRPr lang="zh-CN" altLang="en-US" sz="800" b="1" dirty="0">
                  <a:solidFill>
                    <a:srgbClr val="FFFFFF"/>
                  </a:solidFill>
                  <a:latin typeface="微软雅黑" pitchFamily="34" charset="-122"/>
                  <a:ea typeface="微软雅黑" pitchFamily="34" charset="-122"/>
                  <a:sym typeface="+mn-ea"/>
                </a:endParaRPr>
              </a:p>
            </p:txBody>
          </p:sp>
          <p:sp>
            <p:nvSpPr>
              <p:cNvPr id="256" name="矩形: 圆角 60"/>
              <p:cNvSpPr/>
              <p:nvPr>
                <p:custDataLst>
                  <p:tags r:id="rId10"/>
                </p:custDataLst>
              </p:nvPr>
            </p:nvSpPr>
            <p:spPr>
              <a:xfrm>
                <a:off x="4364701" y="2083836"/>
                <a:ext cx="1476000" cy="216000"/>
              </a:xfrm>
              <a:prstGeom prst="roundRect">
                <a:avLst/>
              </a:prstGeom>
              <a:solidFill>
                <a:srgbClr val="167D40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wrap="square" numCol="1" spcCol="0" rtlCol="0" fromWordArt="0" anchor="ctr" anchorCtr="0" forceAA="0" compatLnSpc="0">
                <a:noAutofit/>
              </a:bodyPr>
              <a:lstStyle/>
              <a:p>
                <a:pPr lvl="0" algn="ctr">
                  <a:buClrTx/>
                  <a:buSzTx/>
                  <a:buFontTx/>
                </a:pPr>
                <a:r>
                  <a:rPr lang="zh-CN" altLang="en-US" sz="800" b="1" kern="0" dirty="0">
                    <a:solidFill>
                      <a:prstClr val="white"/>
                    </a:solidFill>
                    <a:latin typeface="微软雅黑" pitchFamily="34" charset="-122"/>
                    <a:ea typeface="微软雅黑" pitchFamily="34" charset="-122"/>
                    <a:sym typeface="+mn-ea"/>
                  </a:rPr>
                  <a:t>科技项目全过程管理</a:t>
                </a:r>
              </a:p>
            </p:txBody>
          </p:sp>
          <p:sp>
            <p:nvSpPr>
              <p:cNvPr id="257" name="矩形: 圆角 60"/>
              <p:cNvSpPr/>
              <p:nvPr>
                <p:custDataLst>
                  <p:tags r:id="rId11"/>
                </p:custDataLst>
              </p:nvPr>
            </p:nvSpPr>
            <p:spPr>
              <a:xfrm>
                <a:off x="6800691" y="2388216"/>
                <a:ext cx="2052000" cy="216000"/>
              </a:xfrm>
              <a:prstGeom prst="roundRect">
                <a:avLst/>
              </a:prstGeom>
              <a:solidFill>
                <a:srgbClr val="BCE2F5"/>
              </a:solidFill>
              <a:ln w="9525" algn="ctr">
                <a:solidFill>
                  <a:srgbClr val="BCE2F5"/>
                </a:solidFill>
                <a:round/>
              </a:ln>
            </p:spPr>
            <p:txBody>
              <a:bodyPr vert="horz" wrap="square" lIns="0" tIns="0" rIns="0" bIns="0" numCol="1" spcCol="0" rtlCol="0" fromWordArt="0" anchor="ctr" anchorCtr="0" forceAA="0" compatLnSpc="0">
                <a:noAutofit/>
              </a:bodyPr>
              <a:lstStyle/>
              <a:p>
                <a:pPr lvl="0" algn="ctr">
                  <a:buClrTx/>
                  <a:buSzTx/>
                  <a:buFontTx/>
                </a:pPr>
                <a:r>
                  <a:rPr lang="zh-CN" altLang="en-US" sz="800" b="1" dirty="0">
                    <a:latin typeface="微软雅黑" pitchFamily="34" charset="-122"/>
                    <a:ea typeface="微软雅黑" pitchFamily="34" charset="-122"/>
                    <a:sym typeface="+mn-ea"/>
                  </a:rPr>
                  <a:t>科技成果转化线上平台（二期）</a:t>
                </a:r>
              </a:p>
            </p:txBody>
          </p:sp>
          <p:sp>
            <p:nvSpPr>
              <p:cNvPr id="258" name="矩形: 圆角 60"/>
              <p:cNvSpPr/>
              <p:nvPr>
                <p:custDataLst>
                  <p:tags r:id="rId12"/>
                </p:custDataLst>
              </p:nvPr>
            </p:nvSpPr>
            <p:spPr>
              <a:xfrm>
                <a:off x="6800691" y="2692596"/>
                <a:ext cx="2052000" cy="216000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9525" algn="ctr">
                <a:noFill/>
                <a:round/>
              </a:ln>
            </p:spPr>
            <p:txBody>
              <a:bodyPr vert="horz" wrap="square" lIns="0" tIns="0" rIns="0" bIns="0" numCol="1" spcCol="0" rtlCol="0" fromWordArt="0" anchor="ctr" anchorCtr="0" forceAA="0" compatLnSpc="0">
                <a:noAutofit/>
              </a:bodyPr>
              <a:lstStyle/>
              <a:p>
                <a:pPr lvl="0" algn="ctr">
                  <a:buClrTx/>
                  <a:buSzTx/>
                  <a:buFontTx/>
                </a:pPr>
                <a:r>
                  <a:rPr lang="zh-CN" altLang="en-US" sz="800" b="1" dirty="0">
                    <a:latin typeface="微软雅黑" pitchFamily="34" charset="-122"/>
                    <a:ea typeface="微软雅黑" pitchFamily="34" charset="-122"/>
                    <a:sym typeface="+mn-ea"/>
                  </a:rPr>
                  <a:t>科技产业融合一体化服务平台</a:t>
                </a:r>
              </a:p>
            </p:txBody>
          </p:sp>
          <p:sp>
            <p:nvSpPr>
              <p:cNvPr id="259" name="文本框 51"/>
              <p:cNvSpPr txBox="1"/>
              <p:nvPr/>
            </p:nvSpPr>
            <p:spPr>
              <a:xfrm>
                <a:off x="2452371" y="1806213"/>
                <a:ext cx="3561396" cy="254635"/>
              </a:xfrm>
              <a:prstGeom prst="rect">
                <a:avLst/>
              </a:prstGeom>
              <a:noFill/>
            </p:spPr>
            <p:txBody>
              <a:bodyPr wrap="square">
                <a:noAutofit/>
              </a:bodyPr>
              <a:lstStyle/>
              <a:p>
                <a:pPr lvl="0" algn="ctr">
                  <a:buClrTx/>
                  <a:buSzTx/>
                  <a:buFontTx/>
                </a:pPr>
                <a:r>
                  <a:rPr lang="zh-CN" altLang="en-US" sz="800" b="1" dirty="0">
                    <a:latin typeface="微软雅黑" pitchFamily="34" charset="-122"/>
                    <a:ea typeface="微软雅黑" pitchFamily="34" charset="-122"/>
                    <a:sym typeface="+mn-lt"/>
                  </a:rPr>
                  <a:t>对内管理</a:t>
                </a:r>
              </a:p>
            </p:txBody>
          </p:sp>
          <p:sp>
            <p:nvSpPr>
              <p:cNvPr id="260" name="矩形: 圆角 60"/>
              <p:cNvSpPr/>
              <p:nvPr>
                <p:custDataLst>
                  <p:tags r:id="rId13"/>
                </p:custDataLst>
              </p:nvPr>
            </p:nvSpPr>
            <p:spPr>
              <a:xfrm>
                <a:off x="2603776" y="2996976"/>
                <a:ext cx="1476000" cy="216000"/>
              </a:xfrm>
              <a:prstGeom prst="roundRect">
                <a:avLst/>
              </a:prstGeom>
              <a:solidFill>
                <a:srgbClr val="8DEBFF"/>
              </a:solidFill>
              <a:ln w="9525" algn="ctr">
                <a:solidFill>
                  <a:srgbClr val="BCE2F5"/>
                </a:solidFill>
                <a:round/>
              </a:ln>
            </p:spPr>
            <p:txBody>
              <a:bodyPr vert="horz" wrap="square" lIns="0" tIns="0" rIns="0" bIns="0" numCol="1" spcCol="0" rtlCol="0" fromWordArt="0" anchor="ctr" anchorCtr="0" forceAA="0" compatLnSpc="0">
                <a:noAutofit/>
              </a:bodyPr>
              <a:lstStyle/>
              <a:p>
                <a:pPr lvl="0" algn="ctr">
                  <a:buClrTx/>
                  <a:buSzTx/>
                  <a:buFontTx/>
                </a:pPr>
                <a:r>
                  <a:rPr lang="zh-CN" altLang="en-US" sz="800" b="1" dirty="0">
                    <a:latin typeface="微软雅黑" pitchFamily="34" charset="-122"/>
                    <a:ea typeface="微软雅黑" pitchFamily="34" charset="-122"/>
                    <a:sym typeface="+mn-ea"/>
                  </a:rPr>
                  <a:t>“一平台”</a:t>
                </a:r>
              </a:p>
            </p:txBody>
          </p:sp>
          <p:sp>
            <p:nvSpPr>
              <p:cNvPr id="261" name="文本框 51"/>
              <p:cNvSpPr txBox="1"/>
              <p:nvPr/>
            </p:nvSpPr>
            <p:spPr>
              <a:xfrm>
                <a:off x="6096000" y="1798602"/>
                <a:ext cx="3461382" cy="254635"/>
              </a:xfrm>
              <a:prstGeom prst="rect">
                <a:avLst/>
              </a:prstGeom>
              <a:noFill/>
            </p:spPr>
            <p:txBody>
              <a:bodyPr wrap="square">
                <a:noAutofit/>
              </a:bodyPr>
              <a:lstStyle/>
              <a:p>
                <a:pPr lvl="0" algn="ctr">
                  <a:buClrTx/>
                  <a:buSzTx/>
                  <a:buFontTx/>
                </a:pPr>
                <a:r>
                  <a:rPr lang="zh-CN" altLang="en-US" sz="800" b="1" dirty="0">
                    <a:latin typeface="微软雅黑" pitchFamily="34" charset="-122"/>
                    <a:ea typeface="微软雅黑" pitchFamily="34" charset="-122"/>
                    <a:sym typeface="+mn-lt"/>
                  </a:rPr>
                  <a:t>对外服务</a:t>
                </a:r>
              </a:p>
            </p:txBody>
          </p:sp>
          <p:sp>
            <p:nvSpPr>
              <p:cNvPr id="262" name="矩形: 圆角 60"/>
              <p:cNvSpPr/>
              <p:nvPr>
                <p:custDataLst>
                  <p:tags r:id="rId14"/>
                </p:custDataLst>
              </p:nvPr>
            </p:nvSpPr>
            <p:spPr>
              <a:xfrm>
                <a:off x="6800691" y="2996976"/>
                <a:ext cx="2052000" cy="216000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9525" algn="ctr">
                <a:noFill/>
                <a:round/>
              </a:ln>
            </p:spPr>
            <p:txBody>
              <a:bodyPr vert="horz" wrap="square" lIns="0" tIns="0" rIns="0" bIns="0" numCol="1" spcCol="0" rtlCol="0" fromWordArt="0" anchor="ctr" anchorCtr="0" forceAA="0" compatLnSpc="0">
                <a:noAutofit/>
              </a:bodyPr>
              <a:lstStyle/>
              <a:p>
                <a:pPr lvl="0" algn="ctr">
                  <a:buClrTx/>
                  <a:buSzTx/>
                  <a:buFontTx/>
                </a:pPr>
                <a:r>
                  <a:rPr lang="en-US" altLang="zh-CN" sz="800" b="1" dirty="0">
                    <a:latin typeface="微软雅黑" pitchFamily="34" charset="-122"/>
                    <a:ea typeface="微软雅黑" pitchFamily="34" charset="-122"/>
                    <a:sym typeface="+mn-ea"/>
                  </a:rPr>
                  <a:t>……</a:t>
                </a:r>
                <a:endParaRPr lang="zh-CN" altLang="en-US" sz="800" b="1" dirty="0">
                  <a:latin typeface="微软雅黑" pitchFamily="34" charset="-122"/>
                  <a:ea typeface="微软雅黑" pitchFamily="34" charset="-122"/>
                  <a:sym typeface="+mn-ea"/>
                </a:endParaRPr>
              </a:p>
            </p:txBody>
          </p:sp>
        </p:grpSp>
      </p:grpSp>
      <p:grpSp>
        <p:nvGrpSpPr>
          <p:cNvPr id="269" name="组合 268"/>
          <p:cNvGrpSpPr/>
          <p:nvPr/>
        </p:nvGrpSpPr>
        <p:grpSpPr>
          <a:xfrm>
            <a:off x="539553" y="2322001"/>
            <a:ext cx="6051709" cy="290813"/>
            <a:chOff x="1640840" y="3429000"/>
            <a:chExt cx="8068945" cy="387751"/>
          </a:xfrm>
        </p:grpSpPr>
        <p:sp>
          <p:nvSpPr>
            <p:cNvPr id="270" name="矩形 269"/>
            <p:cNvSpPr/>
            <p:nvPr/>
          </p:nvSpPr>
          <p:spPr>
            <a:xfrm>
              <a:off x="2339975" y="3429000"/>
              <a:ext cx="7369810" cy="387750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FFFFFF">
                  <a:lumMod val="85000"/>
                </a:srgbClr>
              </a:solidFill>
            </a:ln>
          </p:spPr>
          <p:style>
            <a:lnRef idx="2">
              <a:srgbClr val="006EFF">
                <a:shade val="50000"/>
              </a:srgbClr>
            </a:lnRef>
            <a:fillRef idx="1">
              <a:srgbClr val="006EFF"/>
            </a:fillRef>
            <a:effectRef idx="0">
              <a:srgbClr val="006EFF"/>
            </a:effectRef>
            <a:fontRef idx="minor">
              <a:srgbClr val="FFFFFF"/>
            </a:fontRef>
          </p:style>
          <p:txBody>
            <a:bodyPr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 b="1">
                <a:latin typeface="微软雅黑" pitchFamily="34" charset="-122"/>
                <a:ea typeface="微软雅黑" pitchFamily="34" charset="-122"/>
                <a:sym typeface="+mn-lt"/>
              </a:endParaRPr>
            </a:p>
          </p:txBody>
        </p:sp>
        <p:sp>
          <p:nvSpPr>
            <p:cNvPr id="271" name="矩形 270"/>
            <p:cNvSpPr/>
            <p:nvPr/>
          </p:nvSpPr>
          <p:spPr>
            <a:xfrm>
              <a:off x="1640840" y="3429000"/>
              <a:ext cx="650875" cy="387751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1B1B1B"/>
              </a:solidFill>
            </a:ln>
          </p:spPr>
          <p:style>
            <a:lnRef idx="2">
              <a:srgbClr val="006EFF">
                <a:shade val="50000"/>
              </a:srgbClr>
            </a:lnRef>
            <a:fillRef idx="1">
              <a:srgbClr val="006EFF"/>
            </a:fillRef>
            <a:effectRef idx="0">
              <a:srgbClr val="006EFF"/>
            </a:effectRef>
            <a:fontRef idx="minor">
              <a:srgbClr val="FFFFFF"/>
            </a:fontRef>
          </p:style>
          <p:txBody>
            <a:bodyPr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  <a:defRPr/>
              </a:pPr>
              <a:r>
                <a:rPr lang="zh-CN" altLang="en-US" sz="900" b="1" kern="0" dirty="0">
                  <a:solidFill>
                    <a:srgbClr val="1B1B1B"/>
                  </a:solidFill>
                  <a:latin typeface="微软雅黑" pitchFamily="34" charset="-122"/>
                  <a:ea typeface="微软雅黑" pitchFamily="34" charset="-122"/>
                  <a:sym typeface="+mn-ea"/>
                </a:rPr>
                <a:t>服务层</a:t>
              </a:r>
            </a:p>
          </p:txBody>
        </p:sp>
        <p:sp>
          <p:nvSpPr>
            <p:cNvPr id="272" name="矩形: 圆角 60"/>
            <p:cNvSpPr/>
            <p:nvPr/>
          </p:nvSpPr>
          <p:spPr>
            <a:xfrm>
              <a:off x="2429510" y="3514875"/>
              <a:ext cx="1174750" cy="216000"/>
            </a:xfrm>
            <a:prstGeom prst="roundRect">
              <a:avLst/>
            </a:prstGeom>
            <a:solidFill>
              <a:srgbClr val="167D4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vert="horz" wrap="square" numCol="1" spcCol="0" rtlCol="0" fromWordArt="0" anchor="ctr" anchorCtr="0" forceAA="0" compatLnSpc="0">
              <a:noAutofit/>
            </a:bodyPr>
            <a:lstStyle/>
            <a:p>
              <a:pPr algn="ctr"/>
              <a:r>
                <a:rPr lang="zh-CN" altLang="en-US" sz="800" b="1" kern="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  <a:sym typeface="+mn-ea"/>
                </a:rPr>
                <a:t>数据服务</a:t>
              </a:r>
            </a:p>
          </p:txBody>
        </p:sp>
        <p:sp>
          <p:nvSpPr>
            <p:cNvPr id="273" name="矩形: 圆角 60"/>
            <p:cNvSpPr/>
            <p:nvPr/>
          </p:nvSpPr>
          <p:spPr>
            <a:xfrm>
              <a:off x="3927951" y="3514875"/>
              <a:ext cx="1174750" cy="216000"/>
            </a:xfrm>
            <a:prstGeom prst="roundRect">
              <a:avLst/>
            </a:prstGeom>
            <a:solidFill>
              <a:srgbClr val="066FBB"/>
            </a:solidFill>
            <a:ln w="9525" algn="ctr">
              <a:noFill/>
              <a:round/>
            </a:ln>
          </p:spPr>
          <p:txBody>
            <a:bodyPr vert="horz" wrap="square" lIns="0" tIns="0" rIns="0" bIns="0" numCol="1" spcCol="0" rtlCol="0" fromWordArt="0" anchor="ctr" anchorCtr="0" forceAA="0" compatLnSpc="0">
              <a:noAutofit/>
            </a:bodyPr>
            <a:lstStyle/>
            <a:p>
              <a:pPr lvl="0" algn="ctr">
                <a:buClrTx/>
                <a:buSzTx/>
                <a:buFontTx/>
              </a:pPr>
              <a:r>
                <a:rPr lang="zh-CN" altLang="en-US" sz="800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  <a:sym typeface="+mn-ea"/>
                </a:rPr>
                <a:t>流程服务</a:t>
              </a:r>
            </a:p>
          </p:txBody>
        </p:sp>
        <p:sp>
          <p:nvSpPr>
            <p:cNvPr id="274" name="矩形: 圆角 60"/>
            <p:cNvSpPr/>
            <p:nvPr/>
          </p:nvSpPr>
          <p:spPr>
            <a:xfrm>
              <a:off x="5426392" y="3514875"/>
              <a:ext cx="1174750" cy="216000"/>
            </a:xfrm>
            <a:prstGeom prst="roundRect">
              <a:avLst/>
            </a:prstGeom>
            <a:solidFill>
              <a:srgbClr val="8DEBFF"/>
            </a:solidFill>
            <a:ln w="9525" algn="ctr">
              <a:solidFill>
                <a:srgbClr val="BCE2F5"/>
              </a:solidFill>
              <a:round/>
            </a:ln>
          </p:spPr>
          <p:txBody>
            <a:bodyPr vert="horz" wrap="square" lIns="0" tIns="0" rIns="0" bIns="0" numCol="1" spcCol="0" rtlCol="0" fromWordArt="0" anchor="ctr" anchorCtr="0" forceAA="0" compatLnSpc="0">
              <a:noAutofit/>
            </a:bodyPr>
            <a:lstStyle/>
            <a:p>
              <a:pPr algn="ctr"/>
              <a:r>
                <a:rPr lang="en-US" altLang="zh-CN" sz="800" b="1" dirty="0">
                  <a:latin typeface="微软雅黑" pitchFamily="34" charset="-122"/>
                  <a:ea typeface="微软雅黑" pitchFamily="34" charset="-122"/>
                  <a:sym typeface="+mn-ea"/>
                </a:rPr>
                <a:t>AI</a:t>
              </a:r>
              <a:r>
                <a:rPr lang="zh-CN" altLang="en-US" sz="800" b="1" dirty="0">
                  <a:latin typeface="微软雅黑" pitchFamily="34" charset="-122"/>
                  <a:ea typeface="微软雅黑" pitchFamily="34" charset="-122"/>
                  <a:sym typeface="+mn-ea"/>
                </a:rPr>
                <a:t>服务</a:t>
              </a:r>
            </a:p>
          </p:txBody>
        </p:sp>
        <p:sp>
          <p:nvSpPr>
            <p:cNvPr id="275" name="矩形: 圆角 60"/>
            <p:cNvSpPr/>
            <p:nvPr/>
          </p:nvSpPr>
          <p:spPr>
            <a:xfrm>
              <a:off x="6924833" y="3514875"/>
              <a:ext cx="1174750" cy="216000"/>
            </a:xfrm>
            <a:prstGeom prst="roundRect">
              <a:avLst/>
            </a:prstGeom>
            <a:solidFill>
              <a:srgbClr val="066FBB"/>
            </a:solidFill>
            <a:ln w="9525" algn="ctr">
              <a:noFill/>
              <a:round/>
            </a:ln>
          </p:spPr>
          <p:txBody>
            <a:bodyPr vert="horz" wrap="square" lIns="0" tIns="0" rIns="0" bIns="0" numCol="1" spcCol="0" rtlCol="0" fromWordArt="0" anchor="ctr" anchorCtr="0" forceAA="0" compatLnSpc="0">
              <a:noAutofit/>
            </a:bodyPr>
            <a:lstStyle/>
            <a:p>
              <a:pPr lvl="0" algn="ctr">
                <a:buClrTx/>
                <a:buSzTx/>
                <a:buFontTx/>
              </a:pPr>
              <a:r>
                <a:rPr lang="zh-CN" altLang="en-US" sz="800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  <a:sym typeface="+mn-ea"/>
                </a:rPr>
                <a:t>接口服务</a:t>
              </a:r>
            </a:p>
          </p:txBody>
        </p:sp>
        <p:sp>
          <p:nvSpPr>
            <p:cNvPr id="276" name="矩形: 圆角 60"/>
            <p:cNvSpPr/>
            <p:nvPr/>
          </p:nvSpPr>
          <p:spPr>
            <a:xfrm>
              <a:off x="8423275" y="3514875"/>
              <a:ext cx="1174750" cy="216000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 w="9525" algn="ctr">
              <a:noFill/>
              <a:round/>
            </a:ln>
          </p:spPr>
          <p:txBody>
            <a:bodyPr vert="horz" wrap="square" lIns="0" tIns="0" rIns="0" bIns="0" numCol="1" spcCol="0" rtlCol="0" fromWordArt="0" anchor="ctr" anchorCtr="0" forceAA="0" compatLnSpc="0">
              <a:noAutofit/>
            </a:bodyPr>
            <a:lstStyle/>
            <a:p>
              <a:pPr lvl="0" algn="ctr">
                <a:buClrTx/>
                <a:buSzTx/>
                <a:buFontTx/>
              </a:pPr>
              <a:r>
                <a:rPr lang="en-US" altLang="zh-CN" sz="800" b="1" dirty="0">
                  <a:latin typeface="微软雅黑" pitchFamily="34" charset="-122"/>
                  <a:ea typeface="微软雅黑" pitchFamily="34" charset="-122"/>
                  <a:sym typeface="+mn-ea"/>
                </a:rPr>
                <a:t>……</a:t>
              </a:r>
              <a:endParaRPr lang="zh-CN" altLang="en-US" sz="800" b="1" dirty="0">
                <a:latin typeface="微软雅黑" pitchFamily="34" charset="-122"/>
                <a:ea typeface="微软雅黑" pitchFamily="34" charset="-122"/>
                <a:sym typeface="+mn-ea"/>
              </a:endParaRPr>
            </a:p>
          </p:txBody>
        </p:sp>
      </p:grpSp>
      <p:sp>
        <p:nvSpPr>
          <p:cNvPr id="129" name="文本框 51"/>
          <p:cNvSpPr txBox="1"/>
          <p:nvPr/>
        </p:nvSpPr>
        <p:spPr>
          <a:xfrm>
            <a:off x="1043609" y="3909542"/>
            <a:ext cx="5526407" cy="1086825"/>
          </a:xfrm>
          <a:prstGeom prst="rect">
            <a:avLst/>
          </a:prstGeom>
          <a:solidFill>
            <a:schemeClr val="bg1">
              <a:lumMod val="85000"/>
              <a:alpha val="95000"/>
            </a:schemeClr>
          </a:solidFill>
        </p:spPr>
        <p:txBody>
          <a:bodyPr wrap="square" lIns="68579" tIns="34289" rIns="68579" bIns="34289" anchor="ctr">
            <a:noAutofit/>
          </a:bodyPr>
          <a:lstStyle/>
          <a:p>
            <a:pPr lvl="0">
              <a:lnSpc>
                <a:spcPct val="150000"/>
              </a:lnSpc>
              <a:buClrTx/>
              <a:buSzTx/>
              <a:buFontTx/>
            </a:pPr>
            <a:r>
              <a:rPr lang="zh-CN" altLang="en-US" sz="800" b="1" u="sng" dirty="0">
                <a:latin typeface="微软雅黑" pitchFamily="34" charset="-122"/>
                <a:ea typeface="微软雅黑" pitchFamily="34" charset="-122"/>
                <a:sym typeface="+mn-lt"/>
              </a:rPr>
              <a:t>稳定支撑</a:t>
            </a:r>
            <a:r>
              <a:rPr lang="zh-CN" altLang="en-US" sz="800" b="1" dirty="0">
                <a:latin typeface="微软雅黑" pitchFamily="34" charset="-122"/>
                <a:ea typeface="微软雅黑" pitchFamily="34" charset="-122"/>
                <a:sym typeface="+mn-lt"/>
              </a:rPr>
              <a:t>：采购数据提供“原始原料”，再通过数据标注</a:t>
            </a:r>
            <a:r>
              <a:rPr lang="en-US" altLang="zh-CN" sz="800" b="1" dirty="0">
                <a:latin typeface="微软雅黑" pitchFamily="34" charset="-122"/>
                <a:ea typeface="微软雅黑" pitchFamily="34" charset="-122"/>
                <a:sym typeface="+mn-lt"/>
              </a:rPr>
              <a:t>-</a:t>
            </a:r>
            <a:r>
              <a:rPr lang="zh-CN" altLang="en-US" sz="800" b="1" dirty="0">
                <a:latin typeface="微软雅黑" pitchFamily="34" charset="-122"/>
                <a:ea typeface="微软雅黑" pitchFamily="34" charset="-122"/>
                <a:sym typeface="+mn-lt"/>
              </a:rPr>
              <a:t>数据治理</a:t>
            </a:r>
            <a:r>
              <a:rPr lang="en-US" altLang="zh-CN" sz="800" b="1" dirty="0">
                <a:latin typeface="微软雅黑" pitchFamily="34" charset="-122"/>
                <a:ea typeface="微软雅黑" pitchFamily="34" charset="-122"/>
                <a:sym typeface="+mn-lt"/>
              </a:rPr>
              <a:t>-</a:t>
            </a:r>
            <a:r>
              <a:rPr lang="zh-CN" altLang="en-US" sz="800" b="1" dirty="0">
                <a:latin typeface="微软雅黑" pitchFamily="34" charset="-122"/>
                <a:ea typeface="微软雅黑" pitchFamily="34" charset="-122"/>
                <a:sym typeface="+mn-lt"/>
              </a:rPr>
              <a:t>数据增强，形成高质量数据集，作为“数字地基”，为上层提供稳定、可扩展的基础支撑，保障全体系顺畅运行。</a:t>
            </a:r>
          </a:p>
        </p:txBody>
      </p:sp>
      <p:sp>
        <p:nvSpPr>
          <p:cNvPr id="132" name="文本框 51"/>
          <p:cNvSpPr txBox="1"/>
          <p:nvPr/>
        </p:nvSpPr>
        <p:spPr>
          <a:xfrm>
            <a:off x="1043609" y="3172684"/>
            <a:ext cx="5534027" cy="680084"/>
          </a:xfrm>
          <a:prstGeom prst="rect">
            <a:avLst/>
          </a:prstGeom>
          <a:solidFill>
            <a:schemeClr val="bg1">
              <a:lumMod val="85000"/>
              <a:alpha val="95000"/>
            </a:schemeClr>
          </a:solidFill>
        </p:spPr>
        <p:txBody>
          <a:bodyPr wrap="square" lIns="68579" tIns="34289" rIns="68579" bIns="34289" anchor="ctr">
            <a:noAutofit/>
          </a:bodyPr>
          <a:lstStyle/>
          <a:p>
            <a:pPr lvl="0">
              <a:lnSpc>
                <a:spcPct val="150000"/>
              </a:lnSpc>
              <a:buClrTx/>
              <a:buSzTx/>
              <a:buFontTx/>
            </a:pPr>
            <a:r>
              <a:rPr lang="zh-CN" altLang="en-US" sz="800" b="1" u="sng" dirty="0">
                <a:latin typeface="微软雅黑" pitchFamily="34" charset="-122"/>
                <a:ea typeface="微软雅黑" pitchFamily="34" charset="-122"/>
                <a:sym typeface="+mn-lt"/>
              </a:rPr>
              <a:t>转化调度</a:t>
            </a:r>
            <a:r>
              <a:rPr lang="zh-CN" altLang="en-US" sz="800" b="1" dirty="0">
                <a:latin typeface="微软雅黑" pitchFamily="34" charset="-122"/>
                <a:ea typeface="微软雅黑" pitchFamily="34" charset="-122"/>
                <a:sym typeface="+mn-lt"/>
              </a:rPr>
              <a:t>：多中台实现数据整合、业务标准化、技术标准化，打破信息孤岛。</a:t>
            </a:r>
          </a:p>
        </p:txBody>
      </p:sp>
      <p:sp>
        <p:nvSpPr>
          <p:cNvPr id="133" name="文本框 51"/>
          <p:cNvSpPr txBox="1"/>
          <p:nvPr/>
        </p:nvSpPr>
        <p:spPr>
          <a:xfrm>
            <a:off x="1043609" y="2662444"/>
            <a:ext cx="5534027" cy="460610"/>
          </a:xfrm>
          <a:prstGeom prst="rect">
            <a:avLst/>
          </a:prstGeom>
          <a:solidFill>
            <a:schemeClr val="bg1">
              <a:lumMod val="85000"/>
              <a:alpha val="95000"/>
            </a:schemeClr>
          </a:solidFill>
        </p:spPr>
        <p:txBody>
          <a:bodyPr wrap="square" lIns="68579" tIns="34289" rIns="68579" bIns="34289" anchor="ctr">
            <a:noAutofit/>
          </a:bodyPr>
          <a:lstStyle/>
          <a:p>
            <a:pPr lvl="0">
              <a:lnSpc>
                <a:spcPct val="150000"/>
              </a:lnSpc>
              <a:buClrTx/>
              <a:buSzTx/>
              <a:buFontTx/>
            </a:pPr>
            <a:r>
              <a:rPr lang="zh-CN" altLang="en-US" sz="800" b="1" u="sng" dirty="0">
                <a:latin typeface="微软雅黑" pitchFamily="34" charset="-122"/>
                <a:ea typeface="微软雅黑" pitchFamily="34" charset="-122"/>
                <a:sym typeface="+mn-lt"/>
              </a:rPr>
              <a:t>智能驱动</a:t>
            </a:r>
            <a:r>
              <a:rPr lang="zh-CN" altLang="en-US" sz="800" b="1" dirty="0">
                <a:latin typeface="微软雅黑" pitchFamily="34" charset="-122"/>
                <a:ea typeface="微软雅黑" pitchFamily="34" charset="-122"/>
                <a:sym typeface="+mn-lt"/>
              </a:rPr>
              <a:t>：人工智能模型研发、训练与封装，形成可调用的</a:t>
            </a:r>
            <a:r>
              <a:rPr lang="en-US" altLang="zh-CN" sz="800" b="1" dirty="0">
                <a:latin typeface="微软雅黑" pitchFamily="34" charset="-122"/>
                <a:ea typeface="微软雅黑" pitchFamily="34" charset="-122"/>
                <a:sym typeface="+mn-lt"/>
              </a:rPr>
              <a:t>AI</a:t>
            </a:r>
            <a:r>
              <a:rPr lang="zh-CN" altLang="en-US" sz="800" b="1" dirty="0">
                <a:latin typeface="微软雅黑" pitchFamily="34" charset="-122"/>
                <a:ea typeface="微软雅黑" pitchFamily="34" charset="-122"/>
                <a:sym typeface="+mn-lt"/>
              </a:rPr>
              <a:t>能力，嵌入各业务场景，让传统信息化从“流程线上化”升级为“决策智能化”。</a:t>
            </a:r>
          </a:p>
        </p:txBody>
      </p:sp>
      <p:sp>
        <p:nvSpPr>
          <p:cNvPr id="134" name="文本框 51"/>
          <p:cNvSpPr txBox="1"/>
          <p:nvPr/>
        </p:nvSpPr>
        <p:spPr>
          <a:xfrm>
            <a:off x="1043609" y="2317432"/>
            <a:ext cx="5526406" cy="295381"/>
          </a:xfrm>
          <a:prstGeom prst="rect">
            <a:avLst/>
          </a:prstGeom>
          <a:solidFill>
            <a:schemeClr val="bg1">
              <a:lumMod val="85000"/>
              <a:alpha val="95000"/>
            </a:schemeClr>
          </a:solidFill>
        </p:spPr>
        <p:txBody>
          <a:bodyPr wrap="square" lIns="68579" tIns="34289" rIns="68579" bIns="34289" anchor="ctr">
            <a:noAutofit/>
          </a:bodyPr>
          <a:lstStyle/>
          <a:p>
            <a:pPr lvl="0">
              <a:lnSpc>
                <a:spcPct val="150000"/>
              </a:lnSpc>
              <a:buClrTx/>
              <a:buSzTx/>
              <a:buFontTx/>
            </a:pPr>
            <a:r>
              <a:rPr lang="zh-CN" altLang="en-US" sz="800" b="1" u="sng" dirty="0">
                <a:latin typeface="微软雅黑" pitchFamily="34" charset="-122"/>
                <a:ea typeface="微软雅黑" pitchFamily="34" charset="-122"/>
                <a:sym typeface="+mn-lt"/>
              </a:rPr>
              <a:t>能力中枢</a:t>
            </a:r>
            <a:r>
              <a:rPr lang="zh-CN" altLang="en-US" sz="800" b="1" dirty="0">
                <a:latin typeface="微软雅黑" pitchFamily="34" charset="-122"/>
                <a:ea typeface="微软雅黑" pitchFamily="34" charset="-122"/>
                <a:sym typeface="+mn-lt"/>
              </a:rPr>
              <a:t>：封装标准化、可复用的业务服务，承接底座与应用层，避免重复开发，让上层应用快速调用核心能力。</a:t>
            </a:r>
          </a:p>
        </p:txBody>
      </p:sp>
      <p:sp>
        <p:nvSpPr>
          <p:cNvPr id="137" name="文本框 51"/>
          <p:cNvSpPr txBox="1"/>
          <p:nvPr/>
        </p:nvSpPr>
        <p:spPr>
          <a:xfrm>
            <a:off x="1051081" y="706253"/>
            <a:ext cx="5527358" cy="1584118"/>
          </a:xfrm>
          <a:prstGeom prst="rect">
            <a:avLst/>
          </a:prstGeom>
          <a:solidFill>
            <a:schemeClr val="bg1">
              <a:lumMod val="85000"/>
              <a:alpha val="95000"/>
            </a:schemeClr>
          </a:solidFill>
        </p:spPr>
        <p:txBody>
          <a:bodyPr wrap="square" lIns="68579" tIns="34289" rIns="68579" bIns="34289" anchor="ctr">
            <a:noAutofit/>
          </a:bodyPr>
          <a:lstStyle/>
          <a:p>
            <a:pPr lvl="0">
              <a:lnSpc>
                <a:spcPct val="150000"/>
              </a:lnSpc>
              <a:buClrTx/>
              <a:buSzTx/>
              <a:buFontTx/>
            </a:pPr>
            <a:r>
              <a:rPr lang="zh-CN" altLang="en-US" sz="800" b="1" u="sng" dirty="0">
                <a:latin typeface="微软雅黑" pitchFamily="34" charset="-122"/>
                <a:ea typeface="微软雅黑" pitchFamily="34" charset="-122"/>
                <a:sym typeface="+mn-lt"/>
              </a:rPr>
              <a:t>业务落地</a:t>
            </a:r>
            <a:r>
              <a:rPr lang="zh-CN" altLang="en-US" sz="800" b="1" dirty="0">
                <a:latin typeface="微软雅黑" pitchFamily="34" charset="-122"/>
                <a:ea typeface="微软雅黑" pitchFamily="34" charset="-122"/>
                <a:sym typeface="+mn-lt"/>
              </a:rPr>
              <a:t>：信息化作为工具与抓手，全场景覆盖业务核心及多端触达，适配不同使用场景与用户需求，让内部员工、外部用户都能便捷使用，提升整体系统的使用效率。</a:t>
            </a:r>
          </a:p>
        </p:txBody>
      </p:sp>
      <p:grpSp>
        <p:nvGrpSpPr>
          <p:cNvPr id="138" name="组合 137"/>
          <p:cNvGrpSpPr/>
          <p:nvPr/>
        </p:nvGrpSpPr>
        <p:grpSpPr>
          <a:xfrm>
            <a:off x="6610835" y="4161763"/>
            <a:ext cx="2353653" cy="675000"/>
            <a:chOff x="9093107" y="5672126"/>
            <a:chExt cx="3138204" cy="900000"/>
          </a:xfrm>
        </p:grpSpPr>
        <p:grpSp>
          <p:nvGrpSpPr>
            <p:cNvPr id="139" name="组合 138"/>
            <p:cNvGrpSpPr/>
            <p:nvPr/>
          </p:nvGrpSpPr>
          <p:grpSpPr>
            <a:xfrm>
              <a:off x="9093107" y="5942126"/>
              <a:ext cx="2043010" cy="360000"/>
              <a:chOff x="9093091" y="5942126"/>
              <a:chExt cx="2396041" cy="360000"/>
            </a:xfrm>
          </p:grpSpPr>
          <p:sp>
            <p:nvSpPr>
              <p:cNvPr id="141" name="上下箭头 140"/>
              <p:cNvSpPr/>
              <p:nvPr>
                <p:custDataLst>
                  <p:tags r:id="rId5"/>
                </p:custDataLst>
              </p:nvPr>
            </p:nvSpPr>
            <p:spPr>
              <a:xfrm rot="16200000" flipH="1" flipV="1">
                <a:off x="9165091" y="5996126"/>
                <a:ext cx="108000" cy="252000"/>
              </a:xfrm>
              <a:prstGeom prst="upDownArrow">
                <a:avLst/>
              </a:prstGeom>
              <a:solidFill>
                <a:srgbClr val="1B1B1B"/>
              </a:solidFill>
              <a:ln>
                <a:noFill/>
              </a:ln>
            </p:spPr>
            <p:style>
              <a:lnRef idx="2">
                <a:srgbClr val="006EFF">
                  <a:lumMod val="75000"/>
                </a:srgbClr>
              </a:lnRef>
              <a:fillRef idx="1">
                <a:srgbClr val="006EFF"/>
              </a:fillRef>
              <a:effectRef idx="0">
                <a:srgbClr val="FFFFFF"/>
              </a:effectRef>
              <a:fontRef idx="minor">
                <a:srgbClr val="FFFFFF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142" name="文本框 51"/>
              <p:cNvSpPr txBox="1"/>
              <p:nvPr/>
            </p:nvSpPr>
            <p:spPr>
              <a:xfrm>
                <a:off x="9406241" y="5942126"/>
                <a:ext cx="2082891" cy="3600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  <a:prstDash val="dash"/>
              </a:ln>
            </p:spPr>
            <p:txBody>
              <a:bodyPr wrap="square" anchor="ctr">
                <a:noAutofit/>
              </a:bodyPr>
              <a:lstStyle/>
              <a:p>
                <a:pPr lvl="0" algn="ctr">
                  <a:buClrTx/>
                  <a:buSzTx/>
                  <a:buFontTx/>
                </a:pPr>
                <a:r>
                  <a:rPr lang="zh-CN" altLang="en-US" sz="900" b="1" dirty="0">
                    <a:latin typeface="微软雅黑" pitchFamily="34" charset="-122"/>
                    <a:ea typeface="微软雅黑" pitchFamily="34" charset="-122"/>
                    <a:sym typeface="+mn-lt"/>
                  </a:rPr>
                  <a:t>水电煤</a:t>
                </a:r>
                <a:r>
                  <a:rPr lang="en-US" altLang="zh-CN" sz="900" b="1" dirty="0">
                    <a:latin typeface="微软雅黑" pitchFamily="34" charset="-122"/>
                    <a:ea typeface="微软雅黑" pitchFamily="34" charset="-122"/>
                    <a:sym typeface="+mn-lt"/>
                  </a:rPr>
                  <a:t>+</a:t>
                </a:r>
                <a:r>
                  <a:rPr lang="zh-CN" altLang="en-US" sz="900" b="1" dirty="0">
                    <a:latin typeface="微软雅黑" pitchFamily="34" charset="-122"/>
                    <a:ea typeface="微软雅黑" pitchFamily="34" charset="-122"/>
                    <a:sym typeface="+mn-lt"/>
                  </a:rPr>
                  <a:t>原材料</a:t>
                </a:r>
              </a:p>
            </p:txBody>
          </p:sp>
        </p:grpSp>
        <p:pic>
          <p:nvPicPr>
            <p:cNvPr id="140" name="Picture 5" descr="https://img95.699pic.com/xsj/03/sg/un.jpg!/fh/300"/>
            <p:cNvPicPr>
              <a:picLocks noChangeAspect="1" noChangeArrowheads="1"/>
            </p:cNvPicPr>
            <p:nvPr/>
          </p:nvPicPr>
          <p:blipFill>
            <a:blip r:embed="rId4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331311" y="5672126"/>
              <a:ext cx="900000" cy="90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43" name="组合 142"/>
          <p:cNvGrpSpPr/>
          <p:nvPr/>
        </p:nvGrpSpPr>
        <p:grpSpPr>
          <a:xfrm>
            <a:off x="6610836" y="3343514"/>
            <a:ext cx="2281645" cy="675000"/>
            <a:chOff x="9093107" y="4581128"/>
            <a:chExt cx="3042193" cy="900000"/>
          </a:xfrm>
        </p:grpSpPr>
        <p:grpSp>
          <p:nvGrpSpPr>
            <p:cNvPr id="144" name="组合 143"/>
            <p:cNvGrpSpPr/>
            <p:nvPr/>
          </p:nvGrpSpPr>
          <p:grpSpPr>
            <a:xfrm>
              <a:off x="9093107" y="4797152"/>
              <a:ext cx="2043010" cy="360000"/>
              <a:chOff x="9093091" y="5833974"/>
              <a:chExt cx="2396041" cy="360000"/>
            </a:xfrm>
          </p:grpSpPr>
          <p:sp>
            <p:nvSpPr>
              <p:cNvPr id="146" name="上下箭头 145"/>
              <p:cNvSpPr/>
              <p:nvPr>
                <p:custDataLst>
                  <p:tags r:id="rId4"/>
                </p:custDataLst>
              </p:nvPr>
            </p:nvSpPr>
            <p:spPr>
              <a:xfrm rot="16200000" flipH="1" flipV="1">
                <a:off x="9165091" y="5887974"/>
                <a:ext cx="108000" cy="251999"/>
              </a:xfrm>
              <a:prstGeom prst="upDownArrow">
                <a:avLst/>
              </a:prstGeom>
              <a:solidFill>
                <a:srgbClr val="1B1B1B"/>
              </a:solidFill>
              <a:ln>
                <a:noFill/>
              </a:ln>
            </p:spPr>
            <p:style>
              <a:lnRef idx="2">
                <a:srgbClr val="006EFF">
                  <a:lumMod val="75000"/>
                </a:srgbClr>
              </a:lnRef>
              <a:fillRef idx="1">
                <a:srgbClr val="006EFF"/>
              </a:fillRef>
              <a:effectRef idx="0">
                <a:srgbClr val="FFFFFF"/>
              </a:effectRef>
              <a:fontRef idx="minor">
                <a:srgbClr val="FFFFFF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148" name="文本框 51"/>
              <p:cNvSpPr txBox="1"/>
              <p:nvPr/>
            </p:nvSpPr>
            <p:spPr>
              <a:xfrm>
                <a:off x="9406241" y="5833974"/>
                <a:ext cx="2082891" cy="3600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  <a:prstDash val="dash"/>
              </a:ln>
            </p:spPr>
            <p:txBody>
              <a:bodyPr wrap="square" anchor="ctr">
                <a:noAutofit/>
              </a:bodyPr>
              <a:lstStyle/>
              <a:p>
                <a:pPr lvl="0" algn="ctr">
                  <a:buClrTx/>
                  <a:buSzTx/>
                  <a:buFontTx/>
                </a:pPr>
                <a:r>
                  <a:rPr lang="zh-CN" altLang="en-US" sz="900" b="1" dirty="0">
                    <a:latin typeface="微软雅黑" pitchFamily="34" charset="-122"/>
                    <a:ea typeface="微软雅黑" pitchFamily="34" charset="-122"/>
                    <a:sym typeface="+mn-lt"/>
                  </a:rPr>
                  <a:t>生产车间</a:t>
                </a:r>
                <a:r>
                  <a:rPr lang="en-US" altLang="zh-CN" sz="900" b="1" dirty="0">
                    <a:latin typeface="微软雅黑" pitchFamily="34" charset="-122"/>
                    <a:ea typeface="微软雅黑" pitchFamily="34" charset="-122"/>
                    <a:sym typeface="+mn-lt"/>
                  </a:rPr>
                  <a:t>+</a:t>
                </a:r>
                <a:r>
                  <a:rPr lang="zh-CN" altLang="en-US" sz="900" b="1" dirty="0">
                    <a:latin typeface="微软雅黑" pitchFamily="34" charset="-122"/>
                    <a:ea typeface="微软雅黑" pitchFamily="34" charset="-122"/>
                    <a:sym typeface="+mn-lt"/>
                  </a:rPr>
                  <a:t>调度中心</a:t>
                </a:r>
              </a:p>
            </p:txBody>
          </p:sp>
        </p:grpSp>
        <p:pic>
          <p:nvPicPr>
            <p:cNvPr id="145" name="Picture 7" descr="https://img1.baidu.com/it/u=2097565703,1095207712&amp;fm=253&amp;fmt=auto&amp;app=138&amp;f=JPEG?w=500&amp;h=514"/>
            <p:cNvPicPr>
              <a:picLocks noChangeAspect="1" noChangeArrowheads="1"/>
            </p:cNvPicPr>
            <p:nvPr/>
          </p:nvPicPr>
          <p:blipFill>
            <a:blip r:embed="rId4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259813" y="4581128"/>
              <a:ext cx="875487" cy="90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49" name="组合 148"/>
          <p:cNvGrpSpPr/>
          <p:nvPr/>
        </p:nvGrpSpPr>
        <p:grpSpPr>
          <a:xfrm>
            <a:off x="6610836" y="2749508"/>
            <a:ext cx="2209637" cy="540000"/>
            <a:chOff x="9093107" y="3789120"/>
            <a:chExt cx="2946182" cy="720000"/>
          </a:xfrm>
        </p:grpSpPr>
        <p:grpSp>
          <p:nvGrpSpPr>
            <p:cNvPr id="150" name="组合 149"/>
            <p:cNvGrpSpPr/>
            <p:nvPr/>
          </p:nvGrpSpPr>
          <p:grpSpPr>
            <a:xfrm>
              <a:off x="9093107" y="3933096"/>
              <a:ext cx="2043010" cy="360000"/>
              <a:chOff x="9093091" y="5942126"/>
              <a:chExt cx="2396041" cy="360000"/>
            </a:xfrm>
          </p:grpSpPr>
          <p:sp>
            <p:nvSpPr>
              <p:cNvPr id="152" name="上下箭头 151"/>
              <p:cNvSpPr/>
              <p:nvPr>
                <p:custDataLst>
                  <p:tags r:id="rId3"/>
                </p:custDataLst>
              </p:nvPr>
            </p:nvSpPr>
            <p:spPr>
              <a:xfrm rot="16200000" flipH="1" flipV="1">
                <a:off x="9165091" y="5996126"/>
                <a:ext cx="108000" cy="252000"/>
              </a:xfrm>
              <a:prstGeom prst="upDownArrow">
                <a:avLst/>
              </a:prstGeom>
              <a:solidFill>
                <a:srgbClr val="1B1B1B"/>
              </a:solidFill>
              <a:ln>
                <a:noFill/>
              </a:ln>
            </p:spPr>
            <p:style>
              <a:lnRef idx="2">
                <a:srgbClr val="006EFF">
                  <a:lumMod val="75000"/>
                </a:srgbClr>
              </a:lnRef>
              <a:fillRef idx="1">
                <a:srgbClr val="006EFF"/>
              </a:fillRef>
              <a:effectRef idx="0">
                <a:srgbClr val="FFFFFF"/>
              </a:effectRef>
              <a:fontRef idx="minor">
                <a:srgbClr val="FFFFFF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182" name="文本框 51"/>
              <p:cNvSpPr txBox="1"/>
              <p:nvPr/>
            </p:nvSpPr>
            <p:spPr>
              <a:xfrm>
                <a:off x="9406241" y="5942126"/>
                <a:ext cx="2082891" cy="3600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  <a:prstDash val="dash"/>
              </a:ln>
            </p:spPr>
            <p:txBody>
              <a:bodyPr wrap="square" anchor="ctr">
                <a:noAutofit/>
              </a:bodyPr>
              <a:lstStyle/>
              <a:p>
                <a:pPr lvl="0" algn="ctr">
                  <a:buClrTx/>
                  <a:buSzTx/>
                  <a:buFontTx/>
                </a:pPr>
                <a:r>
                  <a:rPr lang="zh-CN" altLang="en-US" sz="900" b="1" dirty="0">
                    <a:latin typeface="微软雅黑" pitchFamily="34" charset="-122"/>
                    <a:ea typeface="微软雅黑" pitchFamily="34" charset="-122"/>
                    <a:sym typeface="+mn-lt"/>
                  </a:rPr>
                  <a:t>智能加工设备</a:t>
                </a:r>
              </a:p>
            </p:txBody>
          </p:sp>
        </p:grpSp>
        <p:pic>
          <p:nvPicPr>
            <p:cNvPr id="151" name="Picture 9" descr="https://t8.baidu.com/it/u=2165388867,413961574&amp;fm=193"/>
            <p:cNvPicPr>
              <a:picLocks noChangeAspect="1" noChangeArrowheads="1"/>
            </p:cNvPicPr>
            <p:nvPr/>
          </p:nvPicPr>
          <p:blipFill rotWithShape="1">
            <a:blip r:embed="rId4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5228"/>
            <a:stretch>
              <a:fillRect/>
            </a:stretch>
          </p:blipFill>
          <p:spPr bwMode="auto">
            <a:xfrm>
              <a:off x="11337616" y="3789120"/>
              <a:ext cx="701673" cy="72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83" name="组合 182"/>
          <p:cNvGrpSpPr/>
          <p:nvPr/>
        </p:nvGrpSpPr>
        <p:grpSpPr>
          <a:xfrm>
            <a:off x="6610837" y="2101436"/>
            <a:ext cx="2209637" cy="540000"/>
            <a:chOff x="9093107" y="2925024"/>
            <a:chExt cx="2946182" cy="720000"/>
          </a:xfrm>
        </p:grpSpPr>
        <p:grpSp>
          <p:nvGrpSpPr>
            <p:cNvPr id="184" name="组合 183"/>
            <p:cNvGrpSpPr/>
            <p:nvPr/>
          </p:nvGrpSpPr>
          <p:grpSpPr>
            <a:xfrm>
              <a:off x="9093107" y="3213016"/>
              <a:ext cx="2043010" cy="360000"/>
              <a:chOff x="9093091" y="5993941"/>
              <a:chExt cx="2396041" cy="360000"/>
            </a:xfrm>
          </p:grpSpPr>
          <p:sp>
            <p:nvSpPr>
              <p:cNvPr id="186" name="上下箭头 185"/>
              <p:cNvSpPr/>
              <p:nvPr>
                <p:custDataLst>
                  <p:tags r:id="rId2"/>
                </p:custDataLst>
              </p:nvPr>
            </p:nvSpPr>
            <p:spPr>
              <a:xfrm rot="16200000" flipH="1" flipV="1">
                <a:off x="9165091" y="6047941"/>
                <a:ext cx="108000" cy="251999"/>
              </a:xfrm>
              <a:prstGeom prst="upDownArrow">
                <a:avLst/>
              </a:prstGeom>
              <a:solidFill>
                <a:srgbClr val="1B1B1B"/>
              </a:solidFill>
              <a:ln>
                <a:noFill/>
              </a:ln>
            </p:spPr>
            <p:style>
              <a:lnRef idx="2">
                <a:srgbClr val="006EFF">
                  <a:lumMod val="75000"/>
                </a:srgbClr>
              </a:lnRef>
              <a:fillRef idx="1">
                <a:srgbClr val="006EFF"/>
              </a:fillRef>
              <a:effectRef idx="0">
                <a:srgbClr val="FFFFFF"/>
              </a:effectRef>
              <a:fontRef idx="minor">
                <a:srgbClr val="FFFFFF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187" name="文本框 51"/>
              <p:cNvSpPr txBox="1"/>
              <p:nvPr/>
            </p:nvSpPr>
            <p:spPr>
              <a:xfrm>
                <a:off x="9406241" y="5993941"/>
                <a:ext cx="2082891" cy="3600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  <a:prstDash val="dash"/>
              </a:ln>
            </p:spPr>
            <p:txBody>
              <a:bodyPr wrap="square" anchor="ctr">
                <a:noAutofit/>
              </a:bodyPr>
              <a:lstStyle/>
              <a:p>
                <a:pPr lvl="0" algn="ctr">
                  <a:buClrTx/>
                  <a:buSzTx/>
                  <a:buFontTx/>
                </a:pPr>
                <a:r>
                  <a:rPr lang="zh-CN" altLang="en-US" sz="900" b="1" dirty="0">
                    <a:latin typeface="微软雅黑" pitchFamily="34" charset="-122"/>
                    <a:ea typeface="微软雅黑" pitchFamily="34" charset="-122"/>
                    <a:sym typeface="+mn-lt"/>
                  </a:rPr>
                  <a:t>标准化工具箱</a:t>
                </a:r>
                <a:r>
                  <a:rPr lang="en-US" altLang="zh-CN" sz="900" b="1" dirty="0">
                    <a:latin typeface="微软雅黑" pitchFamily="34" charset="-122"/>
                    <a:ea typeface="微软雅黑" pitchFamily="34" charset="-122"/>
                    <a:sym typeface="+mn-lt"/>
                  </a:rPr>
                  <a:t>+</a:t>
                </a:r>
                <a:r>
                  <a:rPr lang="zh-CN" altLang="en-US" sz="900" b="1" dirty="0">
                    <a:latin typeface="微软雅黑" pitchFamily="34" charset="-122"/>
                    <a:ea typeface="微软雅黑" pitchFamily="34" charset="-122"/>
                    <a:sym typeface="+mn-lt"/>
                  </a:rPr>
                  <a:t>零件箱</a:t>
                </a:r>
              </a:p>
            </p:txBody>
          </p:sp>
        </p:grpSp>
        <p:pic>
          <p:nvPicPr>
            <p:cNvPr id="185" name="Picture 11" descr="https://img1.baidu.com/it/u=2013894376,3873691402&amp;fm=253&amp;fmt=auto&amp;app=138&amp;f=JPEG?w=536&amp;h=500"/>
            <p:cNvPicPr>
              <a:picLocks noChangeAspect="1" noChangeArrowheads="1"/>
            </p:cNvPicPr>
            <p:nvPr/>
          </p:nvPicPr>
          <p:blipFill>
            <a:blip r:embed="rId4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267449" y="2925024"/>
              <a:ext cx="771840" cy="72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88" name="组合 187"/>
          <p:cNvGrpSpPr/>
          <p:nvPr/>
        </p:nvGrpSpPr>
        <p:grpSpPr>
          <a:xfrm>
            <a:off x="6610836" y="1237280"/>
            <a:ext cx="2281645" cy="675000"/>
            <a:chOff x="9093107" y="1772816"/>
            <a:chExt cx="3042193" cy="900000"/>
          </a:xfrm>
        </p:grpSpPr>
        <p:grpSp>
          <p:nvGrpSpPr>
            <p:cNvPr id="189" name="组合 188"/>
            <p:cNvGrpSpPr/>
            <p:nvPr/>
          </p:nvGrpSpPr>
          <p:grpSpPr>
            <a:xfrm>
              <a:off x="9093107" y="2024827"/>
              <a:ext cx="2043010" cy="360000"/>
              <a:chOff x="9093091" y="5942126"/>
              <a:chExt cx="2396041" cy="360000"/>
            </a:xfrm>
          </p:grpSpPr>
          <p:sp>
            <p:nvSpPr>
              <p:cNvPr id="191" name="上下箭头 190"/>
              <p:cNvSpPr/>
              <p:nvPr>
                <p:custDataLst>
                  <p:tags r:id="rId1"/>
                </p:custDataLst>
              </p:nvPr>
            </p:nvSpPr>
            <p:spPr>
              <a:xfrm rot="16200000" flipH="1" flipV="1">
                <a:off x="9165091" y="5996126"/>
                <a:ext cx="108000" cy="252000"/>
              </a:xfrm>
              <a:prstGeom prst="upDownArrow">
                <a:avLst/>
              </a:prstGeom>
              <a:solidFill>
                <a:srgbClr val="1B1B1B"/>
              </a:solidFill>
              <a:ln>
                <a:noFill/>
              </a:ln>
            </p:spPr>
            <p:style>
              <a:lnRef idx="2">
                <a:srgbClr val="006EFF">
                  <a:lumMod val="75000"/>
                </a:srgbClr>
              </a:lnRef>
              <a:fillRef idx="1">
                <a:srgbClr val="006EFF"/>
              </a:fillRef>
              <a:effectRef idx="0">
                <a:srgbClr val="FFFFFF"/>
              </a:effectRef>
              <a:fontRef idx="minor">
                <a:srgbClr val="FFFFFF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192" name="文本框 51"/>
              <p:cNvSpPr txBox="1"/>
              <p:nvPr/>
            </p:nvSpPr>
            <p:spPr>
              <a:xfrm>
                <a:off x="9406241" y="5942126"/>
                <a:ext cx="2082891" cy="3600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  <a:prstDash val="dash"/>
              </a:ln>
            </p:spPr>
            <p:txBody>
              <a:bodyPr wrap="square" anchor="ctr">
                <a:noAutofit/>
              </a:bodyPr>
              <a:lstStyle/>
              <a:p>
                <a:pPr lvl="0" algn="ctr">
                  <a:buClrTx/>
                  <a:buSzTx/>
                  <a:buFontTx/>
                </a:pPr>
                <a:r>
                  <a:rPr lang="zh-CN" altLang="en-US" sz="900" b="1" dirty="0">
                    <a:latin typeface="微软雅黑" pitchFamily="34" charset="-122"/>
                    <a:ea typeface="微软雅黑" pitchFamily="34" charset="-122"/>
                    <a:sym typeface="+mn-lt"/>
                  </a:rPr>
                  <a:t>场景化成品</a:t>
                </a:r>
              </a:p>
            </p:txBody>
          </p:sp>
        </p:grpSp>
        <p:pic>
          <p:nvPicPr>
            <p:cNvPr id="190" name="Picture 15" descr="https://img0.baidu.com/it/u=4217927447,2678748015&amp;fm=253&amp;fmt=auto&amp;app=138&amp;f=JPEG?w=500&amp;h=500"/>
            <p:cNvPicPr>
              <a:picLocks noChangeAspect="1" noChangeArrowheads="1"/>
            </p:cNvPicPr>
            <p:nvPr/>
          </p:nvPicPr>
          <p:blipFill>
            <a:blip r:embed="rId45" cstate="print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235300" y="1772816"/>
              <a:ext cx="900000" cy="90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diagram"/>
  <p:tag name="KSO_WM_TEMPLATE_INDEX" val="20212554"/>
  <p:tag name="KSO_WM_CHIP_INFOS" val="{&quot;type&quot;:0,&quot;layout_type&quot;:&quot;topbottom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]},&quot;slide_type&quot;:[&quot;text&quot;]}"/>
  <p:tag name="KSO_WM_SLIDE_LAYOUT_INFO" val="{&quot;backgroundInfo&quot;:[{&quot;bottom&quot;:0,&quot;bottomAbs&quot;:false,&quot;left&quot;:0,&quot;leftAbs&quot;:false,&quot;right&quot;:0,&quot;rightAbs&quot;:false,&quot;top&quot;:0.444444448,&quot;topAbs&quot;:false,&quot;type&quot;:&quot;bottomTop&quot;},{&quot;bottom&quot;:0,&quot;bottomAbs&quot;:false,&quot;left&quot;:0,&quot;leftAbs&quot;:false,&quot;right&quot;:0,&quot;rightAbs&quot;:false,&quot;top&quot;:0,&quot;topAbs&quot;:false,&quot;type&quot;:&quot;general&quot;}],&quot;id&quot;:&quot;2022-11-17T17:36:38&quot;,&quot;maxSize&quot;:{&quot;size1&quot;:26.7},&quot;minSize&quot;:{&quot;size1&quot;:20},&quot;normalSize&quot;:{&quot;size1&quot;:20},&quot;subLayout&quot;:[{&quot;id&quot;:&quot;2022-11-17T17:36:38&quot;,&quot;margin&quot;:{&quot;bottom&quot;:0,&quot;left&quot;:1.6929999589920044,&quot;right&quot;:1.6929999589920044,&quot;top&quot;:1.6929999589920044},&quot;type&quot;:0},{&quot;id&quot;:&quot;2022-11-17T17:36:38&quot;,&quot;margin&quot;:{&quot;bottom&quot;:2.5399999618530273,&quot;left&quot;:2.5399999618530273,&quot;right&quot;:2.5399999618530273,&quot;top&quot;:2.117000102996826},&quot;type&quot;:0}],&quot;type&quot;:0}"/>
  <p:tag name="KSO_WM_SLIDE_BACKGROUND" val="[&quot;bottomTop&quot;,&quot;general&quot;]"/>
  <p:tag name="KSO_WM_SLIDE_RATIO" val="1.777778"/>
  <p:tag name="KSO_WM_SLIDE_ID" val="diagram20212554_1"/>
  <p:tag name="KSO_WM_TEMPLATE_SUBCATEGORY" val="21"/>
  <p:tag name="KSO_WM_TEMPLATE_MASTER_TYPE" val="0"/>
  <p:tag name="KSO_WM_TEMPLATE_COLOR_TYPE" val="1"/>
  <p:tag name="KSO_WM_SLIDE_TYPE" val="text"/>
  <p:tag name="KSO_WM_SLIDE_SUBTYPE" val="picTxt"/>
  <p:tag name="KSO_WM_SLIDE_ITEM_CNT" val="0"/>
  <p:tag name="KSO_WM_SLIDE_INDEX" val="1"/>
  <p:tag name="KSO_WM_SLIDE_SIZE" val="960*491"/>
  <p:tag name="KSO_WM_SLIDE_POSITION" val="0*48"/>
  <p:tag name="KSO_WM_TAG_VERSION" val="1.0"/>
  <p:tag name="KSO_WM_SLIDE_LAYOUT" val="a_d"/>
  <p:tag name="KSO_WM_SLIDE_LAYOUT_CNT" val="1_1"/>
  <p:tag name="KSO_WM_CHIP_FILLPROP" val="[[{&quot;text_align&quot;:&quot;lt&quot;,&quot;text_direction&quot;:&quot;horizontal&quot;,&quot;support_big_font&quot;:false,&quot;picture_toward&quot;:0,&quot;picture_dockside&quot;:[],&quot;fill_id&quot;:&quot;fbc1d1c81b9c4bca8f09873cfc4ac6db&quot;,&quot;fill_align&quot;:&quot;lt&quot;,&quot;chip_types&quot;:[&quot;header&quot;]},{&quot;text_align&quot;:&quot;lm&quot;,&quot;text_direction&quot;:&quot;horizontal&quot;,&quot;support_features&quot;:[&quot;collage&quot;,&quot;carousel&quot;],&quot;support_big_font&quot;:false,&quot;picture_toward&quot;:0,&quot;picture_dockside&quot;:[],&quot;fill_id&quot;:&quot;862a40b1085942b3ac37b2627f08a9a8&quot;,&quot;fill_align&quot;:&quot;cm&quot;,&quot;chip_types&quot;:[&quot;diagram&quot;,&quot;pictext&quot;,&quot;text&quot;,&quot;picture&quot;,&quot;chart&quot;,&quot;table&quot;,&quot;video&quot;]}],[{&quot;text_align&quot;:&quot;ct&quot;,&quot;text_direction&quot;:&quot;horizontal&quot;,&quot;support_big_font&quot;:false,&quot;picture_toward&quot;:0,&quot;picture_dockside&quot;:[],&quot;fill_id&quot;:&quot;fbc1d1c81b9c4bca8f09873cfc4ac6db&quot;,&quot;fill_align&quot;:&quot;ct&quot;,&quot;chip_types&quot;:[&quot;header&quot;]},{&quot;text_align&quot;:&quot;lm&quot;,&quot;text_direction&quot;:&quot;horizontal&quot;,&quot;support_features&quot;:[&quot;collage&quot;,&quot;carousel&quot;],&quot;support_big_font&quot;:false,&quot;picture_toward&quot;:0,&quot;picture_dockside&quot;:[],&quot;fill_id&quot;:&quot;862a40b1085942b3ac37b2627f08a9a8&quot;,&quot;fill_align&quot;:&quot;cm&quot;,&quot;chip_types&quot;:[&quot;diagram&quot;,&quot;pictext&quot;,&quot;text&quot;,&quot;picture&quot;,&quot;chart&quot;,&quot;table&quot;,&quot;video&quot;]}]]"/>
  <p:tag name="KSO_WM_CHIP_GROUPID" val="5eda18a25860357932c55e72"/>
  <p:tag name="KSO_WM_CHIP_XID" val="5eda18ef5860357932c55e83"/>
  <p:tag name="KSO_WM_CHIP_DECFILLPROP" val="[]"/>
  <p:tag name="KSO_WM_SLIDE_BK_DARK_LIGHT" val="2"/>
  <p:tag name="KSO_WM_SLIDE_BACKGROUND_TYPE" val="bottomTop"/>
  <p:tag name="KSO_WM_SLIDE_SUPPORT_FEATURE_TYPE" val="3"/>
  <p:tag name="KSO_WM_TEMPLATE_ASSEMBLE_XID" val="637600a50c9383becde15bb7"/>
  <p:tag name="KSO_WM_TEMPLATE_ASSEMBLE_GROUPID" val="637600a50c9383becde15bb7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diagram"/>
  <p:tag name="KSO_WM_TEMPLATE_INDEX" val="20212554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230810152443"/>
  <p:tag name="MH_LIBRARY" val="GRAPHIC"/>
  <p:tag name="MH_TYPE" val="Other"/>
  <p:tag name="MH_ORDER" val="1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230810152443"/>
  <p:tag name="MH_LIBRARY" val="GRAPHIC"/>
  <p:tag name="MH_TYPE" val="Other"/>
  <p:tag name="MH_ORDER" val="2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230810152443"/>
  <p:tag name="MH_LIBRARY" val="GRAPHIC"/>
  <p:tag name="MH_TYPE" val="Title"/>
  <p:tag name="MH_ORDER" val="2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230810152443"/>
  <p:tag name="MH_LIBRARY" val="GRAPHIC"/>
  <p:tag name="MH_TYPE" val="Text"/>
  <p:tag name="MH_ORDER" val="1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230810152443"/>
  <p:tag name="MH_LIBRARY" val="GRAPHIC"/>
  <p:tag name="MH_TYPE" val="Other"/>
  <p:tag name="MH_ORDER" val="4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230810152443"/>
  <p:tag name="MH_LIBRARY" val="GRAPHIC"/>
  <p:tag name="MH_TYPE" val="Text"/>
  <p:tag name="MH_ORDER" val="1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230810152443"/>
  <p:tag name="MH_LIBRARY" val="GRAPHIC"/>
  <p:tag name="MH_TYPE" val="Other"/>
  <p:tag name="MH_ORDER" val="3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80211143126"/>
  <p:tag name="MH_LIBRARY" val="GRAPHIC"/>
  <p:tag name="MH_TYPE" val="Title"/>
  <p:tag name="MH_ORDER" val="1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80211143126"/>
  <p:tag name="MH_LIBRARY" val="GRAPHIC"/>
  <p:tag name="MH_TYPE" val="Title"/>
  <p:tag name="MH_ORDER" val="1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80211143126"/>
  <p:tag name="MH_LIBRARY" val="GRAPHIC"/>
  <p:tag name="MH_TYPE" val="Title"/>
  <p:tag name="MH_ORDER" val="1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230810152443"/>
  <p:tag name="MH_LIBRARY" val="GRAPHIC"/>
  <p:tag name="MH_TYPE" val="Text"/>
  <p:tag name="MH_ORDER" val="2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230810152443"/>
  <p:tag name="MH_LIBRARY" val="GRAPHIC"/>
  <p:tag name="MH_TYPE" val="Text"/>
  <p:tag name="MH_ORDER" val="2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230810152443"/>
  <p:tag name="MH_LIBRARY" val="GRAPHIC"/>
  <p:tag name="MH_TYPE" val="Text"/>
  <p:tag name="MH_ORDER" val="2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230810152443"/>
  <p:tag name="MH_LIBRARY" val="GRAPHIC"/>
  <p:tag name="MH_TYPE" val="Text"/>
  <p:tag name="MH_ORDER" val="2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230810152443"/>
  <p:tag name="MH_LIBRARY" val="GRAPHIC"/>
  <p:tag name="MH_TYPE" val="Text"/>
  <p:tag name="MH_ORDER" val="2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230810152443"/>
  <p:tag name="MH_LIBRARY" val="GRAPHIC"/>
  <p:tag name="MH_TYPE" val="Text"/>
  <p:tag name="MH_ORDER" val="2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230810152443"/>
  <p:tag name="MH_LIBRARY" val="GRAPHIC"/>
  <p:tag name="MH_TYPE" val="Text"/>
  <p:tag name="MH_ORDER" val="2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230810152443"/>
  <p:tag name="MH_LIBRARY" val="GRAPHIC"/>
  <p:tag name="MH_TYPE" val="Text"/>
  <p:tag name="MH_ORDER" val="2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230810152443"/>
  <p:tag name="MH_LIBRARY" val="GRAPHIC"/>
  <p:tag name="MH_TYPE" val="Text"/>
  <p:tag name="MH_ORDER" val="2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230810152443"/>
  <p:tag name="MH_LIBRARY" val="GRAPHIC"/>
  <p:tag name="MH_TYPE" val="Title"/>
  <p:tag name="MH_ORDER" val="1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230810152443"/>
  <p:tag name="MH_LIBRARY" val="GRAPHIC"/>
  <p:tag name="MH_TYPE" val="SubTitle"/>
  <p:tag name="MH_ORDER" val="1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230810152443"/>
  <p:tag name="MH_LIBRARY" val="GRAPHIC"/>
  <p:tag name="MH_TYPE" val="SubTitle"/>
  <p:tag name="MH_ORDER" val="5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230810152443"/>
  <p:tag name="MH_LIBRARY" val="GRAPHIC"/>
  <p:tag name="MH_TYPE" val="Text"/>
  <p:tag name="MH_ORDER" val="2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230810152443"/>
  <p:tag name="MH_LIBRARY" val="GRAPHIC"/>
  <p:tag name="MH_TYPE" val="Text"/>
  <p:tag name="MH_ORDER" val="2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230810152443"/>
  <p:tag name="MH_LIBRARY" val="GRAPHIC"/>
  <p:tag name="MH_TYPE" val="SubTitle"/>
  <p:tag name="MH_ORDER" val="3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230810152443"/>
  <p:tag name="MH_LIBRARY" val="GRAPHIC"/>
  <p:tag name="MH_TYPE" val="Text"/>
  <p:tag name="MH_ORDER" val="2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230810152443"/>
  <p:tag name="MH_LIBRARY" val="GRAPHIC"/>
  <p:tag name="MH_TYPE" val="SubTitle"/>
  <p:tag name="MH_ORDER" val="4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230810152443"/>
  <p:tag name="MH_LIBRARY" val="GRAPHIC"/>
  <p:tag name="MH_TYPE" val="SubTitle"/>
  <p:tag name="MH_ORDER" val="2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230810152443"/>
  <p:tag name="MH_LIBRARY" val="GRAPHIC"/>
  <p:tag name="MH_TYPE" val="SubTitle"/>
  <p:tag name="MH_ORDER" val="6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230810152443"/>
  <p:tag name="MH_LIBRARY" val="GRAPHIC"/>
  <p:tag name="MH_TYPE" val="Text"/>
  <p:tag name="MH_ORDER" val="2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230810152443"/>
  <p:tag name="MH_LIBRARY" val="GRAPHIC"/>
  <p:tag name="MH_TYPE" val="Text"/>
  <p:tag name="MH_ORDER" val="2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230810152443"/>
  <p:tag name="MH_LIBRARY" val="GRAPHIC"/>
  <p:tag name="MH_TYPE" val="Text"/>
  <p:tag name="MH_ORDER" val="2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主题5">
  <a:themeElements>
    <a:clrScheme name="水天一色">
      <a:dk1>
        <a:srgbClr val="000000"/>
      </a:dk1>
      <a:lt1>
        <a:srgbClr val="FFFFFF"/>
      </a:lt1>
      <a:dk2>
        <a:srgbClr val="D0D9E8"/>
      </a:dk2>
      <a:lt2>
        <a:srgbClr val="B6CDE8"/>
      </a:lt2>
      <a:accent1>
        <a:srgbClr val="94B9E5"/>
      </a:accent1>
      <a:accent2>
        <a:srgbClr val="6C99DA"/>
      </a:accent2>
      <a:accent3>
        <a:srgbClr val="4F78C9"/>
      </a:accent3>
      <a:accent4>
        <a:srgbClr val="3B539D"/>
      </a:accent4>
      <a:accent5>
        <a:srgbClr val="273677"/>
      </a:accent5>
      <a:accent6>
        <a:srgbClr val="212A4D"/>
      </a:accent6>
      <a:hlink>
        <a:srgbClr val="866054"/>
      </a:hlink>
      <a:folHlink>
        <a:srgbClr val="422F28"/>
      </a:folHlink>
    </a:clrScheme>
    <a:fontScheme name="Temp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>
          <a:gradFill flip="none" rotWithShape="1">
            <a:gsLst>
              <a:gs pos="0">
                <a:schemeClr val="accent3">
                  <a:lumMod val="89000"/>
                </a:schemeClr>
              </a:gs>
              <a:gs pos="23000">
                <a:schemeClr val="accent3">
                  <a:lumMod val="89000"/>
                </a:schemeClr>
              </a:gs>
              <a:gs pos="69000">
                <a:schemeClr val="accent3">
                  <a:lumMod val="75000"/>
                </a:schemeClr>
              </a:gs>
              <a:gs pos="97000">
                <a:schemeClr val="accent3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prstDash val="dash"/>
        </a:ln>
      </a:spPr>
      <a:bodyPr wrap="none">
        <a:spAutoFit/>
      </a:bodyPr>
      <a:lstStyle>
        <a:defPPr>
          <a:defRPr dirty="0" smtClean="0"/>
        </a:defPPr>
      </a:lstStyle>
    </a:spDef>
    <a:txDef>
      <a:spPr/>
      <a:bodyPr spcFirstLastPara="0" vert="horz" wrap="square" lIns="57150" tIns="57150" rIns="57150" bIns="57150" numCol="1" spcCol="1270" anchor="ctr" anchorCtr="0">
        <a:noAutofit/>
      </a:bodyPr>
      <a:lstStyle>
        <a:defPPr defTabSz="666750">
          <a:lnSpc>
            <a:spcPct val="150000"/>
          </a:lnSpc>
          <a:spcBef>
            <a:spcPct val="0"/>
          </a:spcBef>
          <a:spcAft>
            <a:spcPct val="35000"/>
          </a:spcAft>
          <a:defRPr sz="2400" dirty="0" smtClean="0"/>
        </a:defPPr>
      </a:lstStyle>
      <a:style>
        <a:lnRef idx="2">
          <a:schemeClr val="accent1"/>
        </a:lnRef>
        <a:fillRef idx="1">
          <a:schemeClr val="lt1"/>
        </a:fillRef>
        <a:effectRef idx="0">
          <a:schemeClr val="accent1"/>
        </a:effectRef>
        <a:fontRef idx="minor">
          <a:schemeClr val="dk1"/>
        </a:fontRef>
      </a:style>
    </a:txDef>
  </a:objectDefaults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主题5">
  <a:themeElements>
    <a:clrScheme name="水天一色">
      <a:dk1>
        <a:srgbClr val="000000"/>
      </a:dk1>
      <a:lt1>
        <a:srgbClr val="FFFFFF"/>
      </a:lt1>
      <a:dk2>
        <a:srgbClr val="D0D9E8"/>
      </a:dk2>
      <a:lt2>
        <a:srgbClr val="B6CDE8"/>
      </a:lt2>
      <a:accent1>
        <a:srgbClr val="94B9E5"/>
      </a:accent1>
      <a:accent2>
        <a:srgbClr val="6C99DA"/>
      </a:accent2>
      <a:accent3>
        <a:srgbClr val="4F78C9"/>
      </a:accent3>
      <a:accent4>
        <a:srgbClr val="3B539D"/>
      </a:accent4>
      <a:accent5>
        <a:srgbClr val="273677"/>
      </a:accent5>
      <a:accent6>
        <a:srgbClr val="212A4D"/>
      </a:accent6>
      <a:hlink>
        <a:srgbClr val="866054"/>
      </a:hlink>
      <a:folHlink>
        <a:srgbClr val="422F28"/>
      </a:folHlink>
    </a:clrScheme>
    <a:fontScheme name="Temp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>
          <a:gradFill flip="none" rotWithShape="1">
            <a:gsLst>
              <a:gs pos="0">
                <a:schemeClr val="accent3">
                  <a:lumMod val="89000"/>
                </a:schemeClr>
              </a:gs>
              <a:gs pos="23000">
                <a:schemeClr val="accent3">
                  <a:lumMod val="89000"/>
                </a:schemeClr>
              </a:gs>
              <a:gs pos="69000">
                <a:schemeClr val="accent3">
                  <a:lumMod val="75000"/>
                </a:schemeClr>
              </a:gs>
              <a:gs pos="97000">
                <a:schemeClr val="accent3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prstDash val="dash"/>
        </a:ln>
      </a:spPr>
      <a:bodyPr wrap="none">
        <a:spAutoFit/>
      </a:bodyPr>
      <a:lstStyle>
        <a:defPPr>
          <a:defRPr dirty="0" smtClean="0"/>
        </a:defPPr>
      </a:lstStyle>
    </a:spDef>
    <a:txDef>
      <a:spPr/>
      <a:bodyPr spcFirstLastPara="0" vert="horz" wrap="square" lIns="57150" tIns="57150" rIns="57150" bIns="57150" numCol="1" spcCol="1270" anchor="ctr" anchorCtr="0">
        <a:noAutofit/>
      </a:bodyPr>
      <a:lstStyle>
        <a:defPPr defTabSz="666750">
          <a:lnSpc>
            <a:spcPct val="150000"/>
          </a:lnSpc>
          <a:spcBef>
            <a:spcPct val="0"/>
          </a:spcBef>
          <a:spcAft>
            <a:spcPct val="35000"/>
          </a:spcAft>
          <a:defRPr sz="2400" dirty="0" smtClean="0"/>
        </a:defPPr>
      </a:lstStyle>
      <a:style>
        <a:lnRef idx="2">
          <a:schemeClr val="accent1"/>
        </a:lnRef>
        <a:fillRef idx="1">
          <a:schemeClr val="lt1"/>
        </a:fillRef>
        <a:effectRef idx="0">
          <a:schemeClr val="accent1"/>
        </a:effectRef>
        <a:fontRef idx="minor">
          <a:schemeClr val="dk1"/>
        </a:fontRef>
      </a:style>
    </a:txDef>
  </a:objectDefaults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</TotalTime>
  <Words>2301</Words>
  <Application>Microsoft Office PowerPoint</Application>
  <PresentationFormat>全屏显示(16:9)</PresentationFormat>
  <Paragraphs>545</Paragraphs>
  <Slides>8</Slides>
  <Notes>7</Notes>
  <HiddenSlides>3</HiddenSlides>
  <MMClips>0</MMClips>
  <ScaleCrop>false</ScaleCrop>
  <HeadingPairs>
    <vt:vector size="4" baseType="variant">
      <vt:variant>
        <vt:lpstr>主题</vt:lpstr>
      </vt:variant>
      <vt:variant>
        <vt:i4>2</vt:i4>
      </vt:variant>
      <vt:variant>
        <vt:lpstr>幻灯片标题</vt:lpstr>
      </vt:variant>
      <vt:variant>
        <vt:i4>8</vt:i4>
      </vt:variant>
    </vt:vector>
  </HeadingPairs>
  <TitlesOfParts>
    <vt:vector size="10" baseType="lpstr">
      <vt:lpstr>主题5</vt:lpstr>
      <vt:lpstr>1_主题5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KuangBingzhe</dc:creator>
  <cp:lastModifiedBy>KuangBingzhe</cp:lastModifiedBy>
  <cp:revision>26</cp:revision>
  <dcterms:created xsi:type="dcterms:W3CDTF">2025-11-20T12:29:52Z</dcterms:created>
  <dcterms:modified xsi:type="dcterms:W3CDTF">2025-11-24T10:47:20Z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81377380C26E52C881901E69DE7713E2_42</vt:lpwstr>
  </property>
  <property fmtid="{D5CDD505-2E9C-101B-9397-08002B2CF9AE}" pid="3" name="KSOProductBuildVer">
    <vt:lpwstr>2052-5.5.1.7991</vt:lpwstr>
  </property>
</Properties>
</file>