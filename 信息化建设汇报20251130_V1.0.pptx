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3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.xml" ContentType="application/vnd.openxmlformats-officedocument.presentationml.notesSlide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3.xml" ContentType="application/vnd.openxmlformats-officedocument.presentationml.notesSlide+xml"/>
  <Override PartName="/ppt/tags/tag55.xml" ContentType="application/vnd.openxmlformats-officedocument.presentationml.tags+xml"/>
  <Override PartName="/ppt/notesSlides/notesSlide4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5.xml" ContentType="application/vnd.openxmlformats-officedocument.presentationml.notesSlide+xml"/>
  <Override PartName="/ppt/tags/tag13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24"/>
  </p:notesMasterIdLst>
  <p:sldIdLst>
    <p:sldId id="311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3" r:id="rId13"/>
    <p:sldId id="294" r:id="rId14"/>
    <p:sldId id="295" r:id="rId15"/>
    <p:sldId id="296" r:id="rId16"/>
    <p:sldId id="298" r:id="rId17"/>
    <p:sldId id="301" r:id="rId18"/>
    <p:sldId id="302" r:id="rId19"/>
    <p:sldId id="304" r:id="rId20"/>
    <p:sldId id="312" r:id="rId21"/>
    <p:sldId id="315" r:id="rId22"/>
    <p:sldId id="314" r:id="rId2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41" userDrawn="1">
          <p15:clr>
            <a:srgbClr val="A4A3A4"/>
          </p15:clr>
        </p15:guide>
        <p15:guide id="2" pos="28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STA-ZhR" initials="G" lastIdx="3" clrIdx="0"/>
  <p:cmAuthor id="1" name="幸全" initials="幸全" lastIdx="1" clrIdx="0"/>
  <p:cmAuthor id="2" name="作者" initials="A" lastIdx="0" clrIdx="1"/>
  <p:cmAuthor id="3" name="jing xing" initials="jx" lastIdx="5" clrIdx="2"/>
  <p:cmAuthor id="4" name="淑娴 曾" initials="淑曾" lastIdx="4" clrIdx="3"/>
  <p:cmAuthor id="5" name="郭" initials="郭" lastIdx="12" clrIdx="4"/>
  <p:cmAuthor id="6" name="ming qiu" initials="m" lastIdx="17" clrIdx="1"/>
  <p:cmAuthor id="7" name="1206988966@qq.com" initials="1" lastIdx="1" clrIdx="2"/>
  <p:cmAuthor id="8" name="姜伟光" initials="姜" lastIdx="1" clrIdx="0"/>
  <p:cmAuthor id="9" name="雷 景皓" initials="雷" lastIdx="1" clrIdx="8"/>
  <p:cmAuthor id="10" name="李超（IT）" initials="L" lastIdx="1" clrIdx="9"/>
  <p:cmAuthor id="767" name="未知用户232" initials="未" lastIdx="1" clrIdx="0"/>
  <p:cmAuthor id="11" name="cbw" initials="c" lastIdx="1" clrIdx="10"/>
  <p:cmAuthor id="12" name="82778" initials="8" lastIdx="2" clrIdx="11"/>
  <p:cmAuthor id="769" name="未知用户226" initials="未" lastIdx="1" clrIdx="0"/>
  <p:cmAuthor id="13" name="yang li" initials="yl" lastIdx="2" clrIdx="13"/>
  <p:cmAuthor id="14" name="李岩（IT）" initials="李" lastIdx="2" clrIdx="13"/>
  <p:cmAuthor id="771" name="lp" initials="l" lastIdx="1" clrIdx="0"/>
  <p:cmAuthor id="15" name="13686" initials="1" lastIdx="1" clrIdx="14"/>
  <p:cmAuthor id="772" name="张正明" initials="张" lastIdx="1" clrIdx="0"/>
  <p:cmAuthor id="16" name="16598" initials="1" lastIdx="1" clrIdx="15"/>
  <p:cmAuthor id="773" name="FANG SUN" initials="F" lastIdx="2" clrIdx="4"/>
  <p:cmAuthor id="17" name="李 里" initials="李" lastIdx="1" clrIdx="17"/>
  <p:cmAuthor id="18" name="li kai" initials="lk" lastIdx="1" clrIdx="18"/>
  <p:cmAuthor id="19" name="10025093" initials="1" lastIdx="51" clrIdx="14"/>
  <p:cmAuthor id="776" name="未知用户416" initials="未" lastIdx="1" clrIdx="0"/>
  <p:cmAuthor id="20" name="hujianmin2" initials="h" lastIdx="1" clrIdx="19"/>
  <p:cmAuthor id="777" name="未知用户404" initials="未" lastIdx="15" clrIdx="0"/>
  <p:cmAuthor id="21" name="cmcc" initials="c" lastIdx="2" clrIdx="21"/>
  <p:cmAuthor id="778" name="未知用户408" initials="未" lastIdx="1" clrIdx="1"/>
  <p:cmAuthor id="22" name="KeFan Lee" initials="KL" lastIdx="1" clrIdx="22"/>
  <p:cmAuthor id="779" name="未知用户409" initials="未" lastIdx="7" clrIdx="0"/>
  <p:cmAuthor id="23" name="Saku Uchikawa" initials="S" lastIdx="11" clrIdx="0"/>
  <p:cmAuthor id="1411828" name="徐琳00159163" initials="徐琳00159163" lastIdx="1" clrIdx="37"/>
  <p:cmAuthor id="780" name="未知用户412" initials="未" lastIdx="0" clrIdx="1"/>
  <p:cmAuthor id="24" name="00065088" initials="0" lastIdx="2" clrIdx="19"/>
  <p:cmAuthor id="1411829" name="任涛10036216" initials="任涛10036216" lastIdx="1" clrIdx="41"/>
  <p:cmAuthor id="781" name="未知用户413" initials="未" lastIdx="1" clrIdx="0"/>
  <p:cmAuthor id="25" name="10066351" initials="1" lastIdx="2" clrIdx="0"/>
  <p:cmAuthor id="782" name="未知用户414" initials="未" lastIdx="1" clrIdx="0"/>
  <p:cmAuthor id="26" name="蔡建楠" initials="蔡" lastIdx="15" clrIdx="17"/>
  <p:cmAuthor id="783" name="未知用户415" initials="未" lastIdx="1" clrIdx="0"/>
  <p:cmAuthor id="191251535" name="沈霄雷" initials="沈" lastIdx="833089" clrIdx="0"/>
  <p:cmAuthor id="27" name="10270945" initials="1" lastIdx="1" clrIdx="25"/>
  <p:cmAuthor id="191251536" name="crespo lee" initials="cl" lastIdx="32" clrIdx="36"/>
  <p:cmAuthor id="785" name="未知用户217" initials="未" lastIdx="0" clrIdx="0"/>
  <p:cmAuthor id="28" name="gaojunling" initials="g" lastIdx="1" clrIdx="26"/>
  <p:cmAuthor id="191251537" name="sammi" initials="s" lastIdx="0" clrIdx="12"/>
  <p:cmAuthor id="29" name="zk_liuxuan" initials="z" lastIdx="1" clrIdx="27"/>
  <p:cmAuthor id="191251538" name="王元" initials="R" lastIdx="1" clrIdx="39"/>
  <p:cmAuthor id="787" name="未知用户371" initials="未" lastIdx="1" clrIdx="0"/>
  <p:cmAuthor id="30" name="10056791" initials="ZTE" lastIdx="1" clrIdx="29"/>
  <p:cmAuthor id="191251539" name="370369741@qq.com" initials="3" lastIdx="1" clrIdx="40"/>
  <p:cmAuthor id="788" name="未知用户370" initials="未" lastIdx="1" clrIdx="0"/>
  <p:cmAuthor id="31" name="issuser" initials="i" lastIdx="1" clrIdx="33"/>
  <p:cmAuthor id="191251540" name="韩剑侠" initials="P" lastIdx="1" clrIdx="41"/>
  <p:cmAuthor id="789" name="未知用户347" initials="未" lastIdx="10" clrIdx="0"/>
  <p:cmAuthor id="32" name="10130117" initials="1" lastIdx="1" clrIdx="0"/>
  <p:cmAuthor id="191251541" name="孙 笑庆" initials="孙" lastIdx="3" clrIdx="16"/>
  <p:cmAuthor id="33" name="Author" initials="A" lastIdx="0" clrIdx="30"/>
  <p:cmAuthor id="191251542" name="yang.yuan" initials="y" lastIdx="0" clrIdx="17"/>
  <p:cmAuthor id="791" name="未知用户286" initials="未" lastIdx="1" clrIdx="0"/>
  <p:cmAuthor id="34" name="610007" initials="6" lastIdx="0" clrIdx="32"/>
  <p:cmAuthor id="191251543" name="王娟" initials="1" lastIdx="1" clrIdx="31"/>
  <p:cmAuthor id="792" name="未知用户373" initials="未" lastIdx="2" clrIdx="0"/>
  <p:cmAuthor id="35" name="Administrator" initials="A" lastIdx="1" clrIdx="35"/>
  <p:cmAuthor id="36" name="黄晓平" initials="黄" lastIdx="0" clrIdx="0"/>
  <p:cmAuthor id="793" name="未知用户350" initials="未" lastIdx="1" clrIdx="0"/>
  <p:cmAuthor id="37" name="陈 宇毅" initials="陈" lastIdx="1" clrIdx="37"/>
  <p:cmAuthor id="794" name="未知用户218" initials="未" lastIdx="0" clrIdx="0"/>
  <p:cmAuthor id="38" name="关全全10258021" initials="关" lastIdx="1" clrIdx="36"/>
  <p:cmAuthor id="795" name="未知用户351" initials="未" lastIdx="1" clrIdx="0"/>
  <p:cmAuthor id="39" name="王凯10177225" initials="王" lastIdx="2" clrIdx="31"/>
  <p:cmAuthor id="796" name="未知用户352" initials="未" lastIdx="1" clrIdx="1"/>
  <p:cmAuthor id="40" name="黄珂10009187" initials="黄" lastIdx="1" clrIdx="37"/>
  <p:cmAuthor id="797" name="未知用户353" initials="未" lastIdx="7" clrIdx="0"/>
  <p:cmAuthor id="41" name="赵欣" initials="赵" lastIdx="4" clrIdx="37"/>
  <p:cmAuthor id="798" name="未知用户354" initials="未" lastIdx="3" clrIdx="0"/>
  <p:cmAuthor id="1483810881" name="WPS_1679281038" initials="W" lastIdx="1" clrIdx="2"/>
  <p:cmAuthor id="42" name="小延魔法师" initials="小" lastIdx="1126286" clrIdx="0"/>
  <p:cmAuthor id="799" name="未知用户355" initials="未" lastIdx="1" clrIdx="0"/>
  <p:cmAuthor id="43" name="10133177" initials="1" lastIdx="1" clrIdx="39"/>
  <p:cmAuthor id="800" name="未知用户356" initials="未" lastIdx="0" clrIdx="0"/>
  <p:cmAuthor id="44" name="IrisH" initials="I" lastIdx="1" clrIdx="43"/>
  <p:cmAuthor id="801" name="未知用户378" initials="未" lastIdx="1" clrIdx="0"/>
  <p:cmAuthor id="45" name="caipeiyuan@sd.cmcc" initials="caipeiyuan" lastIdx="1" clrIdx="44"/>
  <p:cmAuthor id="802" name="未知用户357" initials="未" lastIdx="9" clrIdx="0"/>
  <p:cmAuthor id="46" name="yuange" initials="y" lastIdx="1" clrIdx="45"/>
  <p:cmAuthor id="803" name="未知用户362" initials="未" lastIdx="1" clrIdx="0"/>
  <p:cmAuthor id="47" name="luoli" initials="L" lastIdx="1" clrIdx="46"/>
  <p:cmAuthor id="804" name="未知用户363" initials="未" lastIdx="0" clrIdx="0"/>
  <p:cmAuthor id="48" name="未知的使用者80" initials="" lastIdx="0" clrIdx="0"/>
  <p:cmAuthor id="805" name="未知用户374" initials="未" lastIdx="1" clrIdx="0"/>
  <p:cmAuthor id="49" name="未知用户51" initials="" lastIdx="1" clrIdx="1"/>
  <p:cmAuthor id="806" name="未知用户375" initials="未" lastIdx="1" clrIdx="0"/>
  <p:cmAuthor id="50" name="sizhao@cmsr.cmcc" initials="S" lastIdx="1" clrIdx="49"/>
  <p:cmAuthor id="807" name="未知用户369" initials="未" lastIdx="2" clrIdx="0"/>
  <p:cmAuthor id="51" name="MLOONG" initials="M" lastIdx="1" clrIdx="0"/>
  <p:cmAuthor id="808" name="未知用户376" initials="未" lastIdx="22" clrIdx="0"/>
  <p:cmAuthor id="52" name="未知的使用者83" initials="" lastIdx="1" clrIdx="0"/>
  <p:cmAuthor id="809" name="未知用户377" initials="未" lastIdx="1" clrIdx="0"/>
  <p:cmAuthor id="53" name="未知的使用者118" initials="" lastIdx="1" clrIdx="0"/>
  <p:cmAuthor id="810" name="未知用户372" initials="未" lastIdx="1" clrIdx="1"/>
  <p:cmAuthor id="54" name="未知的使用者84" initials="" lastIdx="1" clrIdx="1"/>
  <p:cmAuthor id="55" name="未知的使用者70" initials="" lastIdx="1" clrIdx="0"/>
  <p:cmAuthor id="56" name="未知的使用者85" initials="" lastIdx="1" clrIdx="0"/>
  <p:cmAuthor id="57" name="未知的使用者40" initials="" lastIdx="1" clrIdx="0"/>
  <p:cmAuthor id="814" name="未知用户466" initials="未" lastIdx="3" clrIdx="0"/>
  <p:cmAuthor id="58" name="未知的使用者87" initials="" lastIdx="1" clrIdx="0"/>
  <p:cmAuthor id="815" name="未知用户460" initials="未" lastIdx="1" clrIdx="0"/>
  <p:cmAuthor id="59" name="曾红" initials="" lastIdx="0" clrIdx="0"/>
  <p:cmAuthor id="816" name="未知用户454" initials="未" lastIdx="2" clrIdx="0"/>
  <p:cmAuthor id="60" name="未知的使用者90" initials="" lastIdx="8" clrIdx="0"/>
  <p:cmAuthor id="817" name="未知用户461" initials="未" lastIdx="0" clrIdx="0"/>
  <p:cmAuthor id="61" name="未知的使用者29" initials="" lastIdx="1" clrIdx="0"/>
  <p:cmAuthor id="818" name="未知用户455" initials="未" lastIdx="1" clrIdx="0"/>
  <p:cmAuthor id="62" name="未知的使用者91" initials="" lastIdx="1" clrIdx="0"/>
  <p:cmAuthor id="819" name="未知用户462" initials="未" lastIdx="10" clrIdx="0"/>
  <p:cmAuthor id="63" name="未知的使用者98" initials="" lastIdx="1" clrIdx="0"/>
  <p:cmAuthor id="820" name="未知用户465" initials="未" lastIdx="1" clrIdx="5"/>
  <p:cmAuthor id="64" name="CHRISYU" initials="" lastIdx="1" clrIdx="0"/>
  <p:cmAuthor id="821" name="未知用户457" initials="未" lastIdx="1" clrIdx="0"/>
  <p:cmAuthor id="65" name="未知的使用者113" initials="" lastIdx="1" clrIdx="2"/>
  <p:cmAuthor id="822" name="未知用户450" initials="未" lastIdx="0" clrIdx="0"/>
  <p:cmAuthor id="66" name="liucunri" initials="" lastIdx="1" clrIdx="0"/>
  <p:cmAuthor id="823" name="未知用户463" initials="未" lastIdx="1" clrIdx="18"/>
  <p:cmAuthor id="67" name="未知用户9" initials="" lastIdx="1" clrIdx="0"/>
  <p:cmAuthor id="824" name="未知用户467" initials="未" lastIdx="0" clrIdx="0"/>
  <p:cmAuthor id="68" name="Unknown User48" initials="" lastIdx="8" clrIdx="0"/>
  <p:cmAuthor id="825" name="未知用户468" initials="未" lastIdx="1" clrIdx="0"/>
  <p:cmAuthor id="69" name="未知用户103" initials="" lastIdx="1" clrIdx="0"/>
  <p:cmAuthor id="826" name="未知用户469" initials="未" lastIdx="1" clrIdx="0"/>
  <p:cmAuthor id="70" name="Unknown User52" initials="" lastIdx="1" clrIdx="0"/>
  <p:cmAuthor id="827" name="未知用户458" initials="未" lastIdx="2" clrIdx="0"/>
  <p:cmAuthor id="71" name="未知的使用者42" initials="" lastIdx="1" clrIdx="0"/>
  <p:cmAuthor id="828" name="未知用户470" initials="未" lastIdx="1" clrIdx="0"/>
  <p:cmAuthor id="72" name="Unknown User50" initials="" lastIdx="1" clrIdx="0"/>
  <p:cmAuthor id="829" name="未知用户471" initials="未" lastIdx="1" clrIdx="0"/>
  <p:cmAuthor id="73" name="未知的使用者120" initials="" lastIdx="1" clrIdx="0"/>
  <p:cmAuthor id="830" name="未知用户472" initials="未" lastIdx="1" clrIdx="0"/>
  <p:cmAuthor id="74" name="px" initials="" lastIdx="3" clrIdx="1"/>
  <p:cmAuthor id="831" name="未知用户473" initials="未" lastIdx="4" clrIdx="0"/>
  <p:cmAuthor id="75" name="Sky123.Org" initials="" lastIdx="1" clrIdx="0"/>
  <p:cmAuthor id="833" name="未知用户453" initials="未" lastIdx="1" clrIdx="0"/>
  <p:cmAuthor id="77" name="elfinhsu" initials="" lastIdx="1" clrIdx="0"/>
  <p:cmAuthor id="834" name="未知用户474" initials="未" lastIdx="0" clrIdx="0"/>
  <p:cmAuthor id="78" name="但佳" initials="但" lastIdx="1" clrIdx="1"/>
  <p:cmAuthor id="835" name="未知用户475" initials="未" lastIdx="0" clrIdx="0"/>
  <p:cmAuthor id="79" name="微软用户" initials="" lastIdx="1" clrIdx="0"/>
  <p:cmAuthor id="836" name="未知用户476" initials="未" lastIdx="1" clrIdx="0"/>
  <p:cmAuthor id="80" name="未知的使用者73" initials="" lastIdx="1" clrIdx="0"/>
  <p:cmAuthor id="837" name="未知用户459" initials="未" lastIdx="1" clrIdx="1"/>
  <p:cmAuthor id="81" name="未知的使用者24" initials="" lastIdx="8" clrIdx="0"/>
  <p:cmAuthor id="838" name="未知用户489" initials="未" lastIdx="1" clrIdx="0"/>
  <p:cmAuthor id="82" name="未知用户16" initials="" lastIdx="1" clrIdx="0"/>
  <p:cmAuthor id="839" name="未知用户488" initials="未" lastIdx="10" clrIdx="0"/>
  <p:cmAuthor id="83" name="Mary Feil-Jacobs" initials="" lastIdx="43" clrIdx="1"/>
  <p:cmAuthor id="840" name="未知用户490" initials="未" lastIdx="1" clrIdx="0"/>
  <p:cmAuthor id="84" name="LiuHui" initials="" lastIdx="1" clrIdx="0"/>
  <p:cmAuthor id="841" name="未知用户477" initials="未" lastIdx="2" clrIdx="0"/>
  <p:cmAuthor id="85" name="未知的使用者45" initials="" lastIdx="1" clrIdx="0"/>
  <p:cmAuthor id="842" name="未知用户478" initials="未" lastIdx="1" clrIdx="0"/>
  <p:cmAuthor id="86" name="王鹏凯" initials="" lastIdx="1" clrIdx="0"/>
  <p:cmAuthor id="843" name="未知用户479" initials="未" lastIdx="0" clrIdx="8"/>
  <p:cmAuthor id="87" name="未知用户104" initials="" lastIdx="1" clrIdx="0"/>
  <p:cmAuthor id="844" name="未知用户480" initials="未" lastIdx="1" clrIdx="0"/>
  <p:cmAuthor id="88" name="未知用户5" initials="" lastIdx="1" clrIdx="0"/>
  <p:cmAuthor id="845" name="未知用户481" initials="未" lastIdx="10" clrIdx="0"/>
  <p:cmAuthor id="89" name="未知的使用者10" initials="" lastIdx="3" clrIdx="1"/>
  <p:cmAuthor id="846" name="未知用户482" initials="未" lastIdx="1" clrIdx="0"/>
  <p:cmAuthor id="90" name="未知的使用者93" initials="" lastIdx="1" clrIdx="1"/>
  <p:cmAuthor id="847" name="未知用户483" initials="未" lastIdx="1" clrIdx="0"/>
  <p:cmAuthor id="91" name="范作霖" initials="范" lastIdx="1" clrIdx="22"/>
  <p:cmAuthor id="848" name="未知用户484" initials="未" lastIdx="1" clrIdx="0"/>
  <p:cmAuthor id="92" name="LeeElva" initials="" lastIdx="1" clrIdx="0"/>
  <p:cmAuthor id="849" name="未知用户485" initials="未" lastIdx="1" clrIdx="0"/>
  <p:cmAuthor id="93" name="未知用户99" initials="" lastIdx="1" clrIdx="2"/>
  <p:cmAuthor id="850" name="未知用户486" initials="未" lastIdx="0" clrIdx="0"/>
  <p:cmAuthor id="94" name="未知的使用者34" initials="" lastIdx="1" clrIdx="0"/>
  <p:cmAuthor id="851" name="未知用户452" initials="未" lastIdx="2" clrIdx="0"/>
  <p:cmAuthor id="95" name="未知的使用者115" initials="" lastIdx="1" clrIdx="1"/>
  <p:cmAuthor id="852" name="未知用户456" initials="未" lastIdx="1" clrIdx="0"/>
  <p:cmAuthor id="96" name="未知用户57" initials="" lastIdx="1" clrIdx="0"/>
  <p:cmAuthor id="853" name="未知用户464" initials="未" lastIdx="0" clrIdx="0"/>
  <p:cmAuthor id="97" name="lianghb" initials="" lastIdx="19" clrIdx="0"/>
  <p:cmAuthor id="854" name="未知用户487" initials="未" lastIdx="0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861" name="seki" initials="s" lastIdx="1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353158055" name="韩雨" initials="韩" lastIdx="0" clrIdx="0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未知用户183" initials="未知用户183" lastIdx="1" clrIdx="49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shinin" initials="s" lastIdx="2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Unknown User67" initials="U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焱恺 彭" initials="焱" lastIdx="1" clrIdx="95"/>
  <p:cmAuthor id="212" name="Daniel Wuu" initials="" lastIdx="1" clrIdx="0"/>
  <p:cmAuthor id="213" name="未知用户56" initials="" lastIdx="1" clrIdx="0"/>
  <p:cmAuthor id="214" name="未知的使用者14" initials="" lastIdx="2" clrIdx="0"/>
  <p:cmAuthor id="215" name="LiWei" initials="L" lastIdx="1" clrIdx="0"/>
  <p:cmAuthor id="216" name="方朝军/产品推动室/产品开发推广部/总公司" initials="方" lastIdx="2" clrIdx="0"/>
  <p:cmAuthor id="441412215" name="tonghailan" initials="t" lastIdx="1126972" clrIdx="1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29" name="未知的使用者168" initials="未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234608236" name="G" initials="G" lastIdx="1" clrIdx="5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9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alpha" initials="a" lastIdx="1" clrIdx="0"/>
  <p:cmAuthor id="323" name="87189" initials="8" lastIdx="1" clrIdx="322"/>
  <p:cmAuthor id="324" name="22015" initials="2" lastIdx="1" clrIdx="323"/>
  <p:cmAuthor id="325" name="Unknown User23" initials="U" lastIdx="1" clrIdx="0"/>
  <p:cmAuthor id="326" name="未知的使用者75" initials="未" lastIdx="1" clrIdx="0"/>
  <p:cmAuthor id="327" name="Cecilia" initials="C" lastIdx="1" clrIdx="326"/>
  <p:cmAuthor id="328" name="未知的使用者78" initials="未" lastIdx="5" clrIdx="1"/>
  <p:cmAuthor id="329" name="王林10186938" initials="王" lastIdx="1" clrIdx="41"/>
  <p:cmAuthor id="330" name="0045000519" initials="0" lastIdx="1" clrIdx="0"/>
  <p:cmAuthor id="331" name="WHF" initials="W" lastIdx="0" clrIdx="50"/>
  <p:cmAuthor id="332" name="Liu, Hongqing (NSB - CN/Shanghai)" initials="L" lastIdx="1" clrIdx="41"/>
  <p:cmAuthor id="333" name="lenovo" initials="l" lastIdx="5" clrIdx="332"/>
  <p:cmAuthor id="334" name="zhoux" initials="z" lastIdx="1" clrIdx="333"/>
  <p:cmAuthor id="335" name="flower" initials="f" lastIdx="1" clrIdx="334"/>
  <p:cmAuthor id="287643681" name="殷格非" initials="殷" lastIdx="2" clrIdx="0"/>
  <p:cmAuthor id="336" name="tonyliu" initials="t" lastIdx="4" clrIdx="335"/>
  <p:cmAuthor id="287643682" name="z r" initials="zr" lastIdx="5" clrIdx="12"/>
  <p:cmAuthor id="337" name="hwjjjjjjjj" initials="h" lastIdx="2" clrIdx="336"/>
  <p:cmAuthor id="287643683" name="lc xue" initials="lx" lastIdx="1" clrIdx="22"/>
  <p:cmAuthor id="338" name="laichenxi" initials="u" lastIdx="1" clrIdx="337"/>
  <p:cmAuthor id="287643684" name="Aqf" initials="A" lastIdx="1" clrIdx="36"/>
  <p:cmAuthor id="339" name="macos" initials="m" lastIdx="1" clrIdx="338"/>
  <p:cmAuthor id="287643685" name="13709759491@139.com" initials="1" lastIdx="1" clrIdx="49"/>
  <p:cmAuthor id="340" name="zhoupeng" initials="z" lastIdx="5" clrIdx="339"/>
  <p:cmAuthor id="287643686" name="YaoChunfen" initials="Y" lastIdx="1" clrIdx="39"/>
  <p:cmAuthor id="691587971" name="徐 正国" initials="徐" lastIdx="1" clrIdx="45"/>
  <p:cmAuthor id="287643687" name="cheng" initials="c" lastIdx="13" clrIdx="0"/>
  <p:cmAuthor id="341" name="Randolph" initials="R" lastIdx="1" clrIdx="340"/>
  <p:cmAuthor id="691587972" name="NTKO" initials="H" lastIdx="2" clrIdx="45"/>
  <p:cmAuthor id="287643688" name="方少_UbQfrimU" initials="authorId_442114952" lastIdx="0" clrIdx="0"/>
  <p:cmAuthor id="342" name="未知用户63" initials="未知用户63" lastIdx="1" clrIdx="0"/>
  <p:cmAuthor id="691587973" name="619963410@qq.com" initials="6" lastIdx="2" clrIdx="52"/>
  <p:cmAuthor id="287643689" name="叶盛_Q3A3IfEf" initials="authorId_506280334" lastIdx="0" clrIdx="0"/>
  <p:cmAuthor id="343" name="未知的使用者102" initials="未" lastIdx="5" clrIdx="1"/>
  <p:cmAuthor id="691587974" name="Xia Meng 00049798" initials="Mandy" lastIdx="11" clrIdx="53"/>
  <p:cmAuthor id="287643690" name="Harley._bEJrUJ7r" initials="authorId_432156705" lastIdx="0" clrIdx="0"/>
  <p:cmAuthor id="344" name="未知的使用者61" initials="未" lastIdx="1" clrIdx="0"/>
  <p:cmAuthor id="691587975" name="Huxiaojian" initials="H" lastIdx="0" clrIdx="518"/>
  <p:cmAuthor id="287643691" name="罗平_VB7vJb2E" initials="authorId_305049361" lastIdx="0" clrIdx="0"/>
  <p:cmAuthor id="345" name="仝德志" initials="仝" lastIdx="1" clrIdx="0"/>
  <p:cmAuthor id="691587976" name="贾云雁" initials="贾" lastIdx="2" clrIdx="330"/>
  <p:cmAuthor id="287643692" name="xixi_nUjqe22E" initials="authorId_359229261" lastIdx="0" clrIdx="0"/>
  <p:cmAuthor id="346" name="未知用户112" initials="未知用户112" lastIdx="4" clrIdx="0"/>
  <p:cmAuthor id="347" name="zhangxinyao" initials="z" lastIdx="1" clrIdx="346"/>
  <p:cmAuthor id="287643693" name="安安_zm6nYnYZ" initials="authorId_347340296" lastIdx="0" clrIdx="0"/>
  <p:cmAuthor id="348" name="X1" initials="X" lastIdx="1" clrIdx="347"/>
  <p:cmAuthor id="287643694" name="nature_emInFJF7" initials="authorId_313163542" lastIdx="0" clrIdx="0"/>
  <p:cmAuthor id="349" name="未知的使用者183" initials="未" lastIdx="5" clrIdx="1"/>
  <p:cmAuthor id="287643695" name="杨思思_VNjyvY7j" initials="authorId_430925712" lastIdx="0" clrIdx="0"/>
  <p:cmAuthor id="350" name="未知用户162" initials="未知用户162" lastIdx="1" clrIdx="1"/>
  <p:cmAuthor id="287643696" name="I_u6feq6Zr" initials="authorId_300885863" lastIdx="0" clrIdx="0"/>
  <p:cmAuthor id="351" name="未知用户163" initials="未知用户163" lastIdx="1" clrIdx="0"/>
  <p:cmAuthor id="352" name="針對所選的門市進行小範圍實驗，捕捉驅動績效的關鍵影響因子" initials="針" lastIdx="1" clrIdx="0"/>
  <p:cmAuthor id="353" name="James" initials="J" lastIdx="1" clrIdx="0"/>
  <p:cmAuthor id="354" name="未知的使用者114" initials="未" lastIdx="1" clrIdx="0"/>
  <p:cmAuthor id="355" name="未知用户164" initials="未知用户164" lastIdx="1" clrIdx="0"/>
  <p:cmAuthor id="356" name="未知的使用者184" initials="未" lastIdx="8" clrIdx="0"/>
  <p:cmAuthor id="357" name="未知的使用者185" initials="未" lastIdx="10" clrIdx="0"/>
  <p:cmAuthor id="358" name="未知的使用者186" initials="未" lastIdx="1" clrIdx="0"/>
  <p:cmAuthor id="359" name="未知的使用者175" initials="未" lastIdx="8" clrIdx="0"/>
  <p:cmAuthor id="360" name="未知的使用者176" initials="未" lastIdx="1" clrIdx="0"/>
  <p:cmAuthor id="361" name="未知的使用者187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未知的使用者181" initials="未" lastIdx="7" clrIdx="1"/>
  <p:cmAuthor id="366" name="未知的使用者170" initials="未" lastIdx="43" clrIdx="1"/>
  <p:cmAuthor id="367" name="未知的使用者190" initials="未" lastIdx="1" clrIdx="1"/>
  <p:cmAuthor id="368" name="未知的使用者191" initials="未" lastIdx="1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未知的使用者144" initials="未" lastIdx="1" clrIdx="0"/>
  <p:cmAuthor id="373" name="未知的使用者145" initials="未" lastIdx="1" clrIdx="0"/>
  <p:cmAuthor id="374" name="未知用户165" initials="未知用户165" lastIdx="1" clrIdx="0"/>
  <p:cmAuthor id="375" name="未知的使用者147" initials="未" lastIdx="1" clrIdx="0"/>
  <p:cmAuthor id="376" name="未知用户166" initials="未知用户166" lastIdx="8" clrIdx="0"/>
  <p:cmAuthor id="377" name="未知的使用者149" initials="未" lastIdx="8" clrIdx="0"/>
  <p:cmAuthor id="378" name="未知用户167" initials="未知用户167" lastIdx="1" clrIdx="0"/>
  <p:cmAuthor id="379" name="未知用户168" initials="未知用户168" lastIdx="1" clrIdx="0"/>
  <p:cmAuthor id="380" name="未知用户169" initials="未知用户169" lastIdx="1" clrIdx="1"/>
  <p:cmAuthor id="381" name="未知用户202" initials="未" lastIdx="8" clrIdx="0"/>
  <p:cmAuthor id="382" name="未知的使用者220" initials="未" lastIdx="7" clrIdx="1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205" initials="未" lastIdx="1" clrIdx="0"/>
  <p:cmAuthor id="387" name="未知的使用者157" initials="未" lastIdx="1" clrIdx="0"/>
  <p:cmAuthor id="388" name="未知的使用者204" initials="未" lastIdx="1" clrIdx="0"/>
  <p:cmAuthor id="389" name="Yoyo Wu" initials="Y" lastIdx="2" clrIdx="0"/>
  <p:cmAuthor id="390" name="zhangbin" initials="z" lastIdx="6" clrIdx="0"/>
  <p:cmAuthor id="391" name="Arno.Du(杜明星)" initials="A" lastIdx="0" clrIdx="0"/>
  <p:cmAuthor id="392" name="未知用户174" initials="未知用户174" lastIdx="1" clrIdx="0"/>
  <p:cmAuthor id="393" name="未知用户175" initials="未知用户175" lastIdx="1" clrIdx="1"/>
  <p:cmAuthor id="394" name="Unknown User27" initials="U" lastIdx="1" clrIdx="0"/>
  <p:cmAuthor id="395" name="Unknown User11" initials="U" lastIdx="0" clrIdx="1"/>
  <p:cmAuthor id="396" name="Unknown User112" initials="U" lastIdx="1" clrIdx="0"/>
  <p:cmAuthor id="397" name="Unknown User59" initials="U" lastIdx="1" clrIdx="0"/>
  <p:cmAuthor id="398" name="未知用户176" initials="未知用户176" lastIdx="1" clrIdx="0"/>
  <p:cmAuthor id="399" name="未知的使用者249" initials="未" lastIdx="43" clrIdx="1"/>
  <p:cmAuthor id="400" name="未知的使用者250" initials="未" lastIdx="1" clrIdx="0"/>
  <p:cmAuthor id="401" name="未知的使用者251" initials="未" lastIdx="1" clrIdx="0"/>
  <p:cmAuthor id="402" name="未知的使用者246" initials="未" lastIdx="1" clrIdx="1"/>
  <p:cmAuthor id="403" name="未知的使用者224" initials="未" lastIdx="1" clrIdx="0"/>
  <p:cmAuthor id="404" name="未知的使用者252" initials="未" lastIdx="1" clrIdx="0"/>
  <p:cmAuthor id="405" name="未知的使用者253" initials="未" lastIdx="1" clrIdx="0"/>
  <p:cmAuthor id="406" name="未知的使用者254" initials="未" lastIdx="1" clrIdx="0"/>
  <p:cmAuthor id="407" name="未知的使用者255" initials="未" lastIdx="1" clrIdx="0"/>
  <p:cmAuthor id="408" name="未知的使用者226" initials="未" lastIdx="8" clrIdx="0"/>
  <p:cmAuthor id="410" name="未知用户195" initials="未" lastIdx="1" clrIdx="0"/>
  <p:cmAuthor id="411" name="raymond luan" initials="r" lastIdx="0" clrIdx="0"/>
  <p:cmAuthor id="412" name="未知用户208" initials="未" lastIdx="1" clrIdx="0"/>
  <p:cmAuthor id="413" name="未知用户198" initials="未" lastIdx="1" clrIdx="0"/>
  <p:cmAuthor id="414" name="未知用户209" initials="未" lastIdx="1" clrIdx="0"/>
  <p:cmAuthor id="415" name="未知用户36" initials="未" lastIdx="1" clrIdx="0"/>
  <p:cmAuthor id="416" name="Evonlin" initials="E" lastIdx="2" clrIdx="2"/>
  <p:cmAuthor id="417" name="WANGZF" initials="W" lastIdx="4" clrIdx="2"/>
  <p:cmAuthor id="418" name="未知用户94" initials="未" lastIdx="0" clrIdx="1"/>
  <p:cmAuthor id="419" name="未知的使用者188" initials="未" lastIdx="1" clrIdx="0"/>
  <p:cmAuthor id="420" name="未知用户118" initials="未" lastIdx="1" clrIdx="0"/>
  <p:cmAuthor id="421" name="未知用户119" initials="未" lastIdx="5" clrIdx="1"/>
  <p:cmAuthor id="422" name="未知用户120" initials="未" lastIdx="8" clrIdx="0"/>
  <p:cmAuthor id="423" name="未知用户121" initials="未" lastIdx="1" clrIdx="0"/>
  <p:cmAuthor id="424" name="未知用户122" initials="未" lastIdx="1" clrIdx="0"/>
  <p:cmAuthor id="426" name="梅芬 吳" initials="梅" lastIdx="1" clrIdx="85"/>
  <p:cmAuthor id="427" name="王嘉偉" initials="王" lastIdx="2" clrIdx="0"/>
  <p:cmAuthor id="429" name="未知的使用者211" initials="" lastIdx="1" clrIdx="0"/>
  <p:cmAuthor id="430" name="未知的使用者134" initials="未" lastIdx="1" clrIdx="0"/>
  <p:cmAuthor id="431" name="未知的使用者136" initials="未" lastIdx="1" clrIdx="0"/>
  <p:cmAuthor id="432" name="未知的使用者139" initials="未" lastIdx="1" clrIdx="0"/>
  <p:cmAuthor id="433" name="未知的使用者140" initials="未" lastIdx="1" clrIdx="1"/>
  <p:cmAuthor id="434" name="未知的使用者197" initials="未" lastIdx="8" clrIdx="0"/>
  <p:cmAuthor id="435" name="王丽君" initials="王" lastIdx="4" clrIdx="0"/>
  <p:cmAuthor id="436" name="Xia Ting" initials="X" lastIdx="1" clrIdx="0"/>
  <p:cmAuthor id="437" name="未知的使用者153" initials="未" lastIdx="1" clrIdx="0"/>
  <p:cmAuthor id="438" name="未知的使用者154" initials="未" lastIdx="1" clrIdx="0"/>
  <p:cmAuthor id="439" name="未知用户10" initials="未" lastIdx="1" clrIdx="0"/>
  <p:cmAuthor id="440" name="未知用户11" initials="未" lastIdx="1" clrIdx="0"/>
  <p:cmAuthor id="441" name="未知的使用者151" initials="未" lastIdx="1" clrIdx="0"/>
  <p:cmAuthor id="442" name="未知的使用者89" initials="未" lastIdx="1" clrIdx="2"/>
  <p:cmAuthor id="443" name="未知的使用者88" initials="未" lastIdx="1" clrIdx="1"/>
  <p:cmAuthor id="444" name="未知用户89" initials="未" lastIdx="11" clrIdx="0"/>
  <p:cmAuthor id="445" name="庆芳 许" initials="庆" lastIdx="1" clrIdx="0"/>
  <p:cmAuthor id="446" name="jerrychou" initials="j" lastIdx="1" clrIdx="4"/>
  <p:cmAuthor id="447" name="不明使用者12" initials="不" lastIdx="3" clrIdx="1"/>
  <p:cmAuthor id="448" name="不明使用者1" initials="不" lastIdx="0" clrIdx="0"/>
  <p:cmAuthor id="449" name="不明使用者2" initials="不" lastIdx="2" clrIdx="0"/>
  <p:cmAuthor id="450" name="不明使用者3" initials="不" lastIdx="1" clrIdx="0"/>
  <p:cmAuthor id="451" name="不明使用者4" initials="不" lastIdx="1" clrIdx="0"/>
  <p:cmAuthor id="452" name="不明使用者6" initials="不" lastIdx="1" clrIdx="0"/>
  <p:cmAuthor id="453" name="不明使用者5" initials="不" lastIdx="11" clrIdx="0"/>
  <p:cmAuthor id="454" name="不明使用者7" initials="不" lastIdx="7" clrIdx="1"/>
  <p:cmAuthor id="455" name="不明使用者8" initials="不" lastIdx="43" clrIdx="1"/>
  <p:cmAuthor id="456" name="不明使用者9" initials="不" lastIdx="1" clrIdx="0"/>
  <p:cmAuthor id="457" name="不明使用者10" initials="不" lastIdx="0" clrIdx="0"/>
  <p:cmAuthor id="458" name="不明使用者11" initials="不" lastIdx="1" clrIdx="0"/>
  <p:cmAuthor id="459" name="未知的使用者227" initials="未" lastIdx="2" clrIdx="0"/>
  <p:cmAuthor id="460" name="未知的使用者270" initials="未" lastIdx="1" clrIdx="0"/>
  <p:cmAuthor id="461" name="未知的使用者228" initials="未" lastIdx="8" clrIdx="0"/>
  <p:cmAuthor id="462" name="未知的使用者229" initials="未" lastIdx="8" clrIdx="0"/>
  <p:cmAuthor id="463" name="未知的使用者230" initials="未" lastIdx="1" clrIdx="0"/>
  <p:cmAuthor id="464" name="未知的使用者231" initials="未" lastIdx="1" clrIdx="0"/>
  <p:cmAuthor id="465" name="未知的使用者256" initials="未" lastIdx="1" clrIdx="0"/>
  <p:cmAuthor id="466" name="未知的使用者233" initials="未" lastIdx="1" clrIdx="0"/>
  <p:cmAuthor id="467" name="未知的使用者234" initials="未" lastIdx="10" clrIdx="0"/>
  <p:cmAuthor id="468" name="未知的使用者235" initials="未" lastIdx="1" clrIdx="0"/>
  <p:cmAuthor id="469" name="未知的使用者236" initials="未" lastIdx="1" clrIdx="0"/>
  <p:cmAuthor id="470" name="未知的使用者257" initials="未" lastIdx="1" clrIdx="0"/>
  <p:cmAuthor id="471" name="未知的使用者237" initials="未" lastIdx="1" clrIdx="0"/>
  <p:cmAuthor id="472" name="未知的使用者238" initials="未" lastIdx="2" clrIdx="0"/>
  <p:cmAuthor id="473" name="未知的使用者239" initials="未" lastIdx="1" clrIdx="1"/>
  <p:cmAuthor id="474" name="未知的使用者240" initials="未" lastIdx="1" clrIdx="0"/>
  <p:cmAuthor id="475" name="未知的使用者241" initials="未" lastIdx="1" clrIdx="0"/>
  <p:cmAuthor id="476" name="未知的使用者242" initials="未" lastIdx="2" clrIdx="0"/>
  <p:cmAuthor id="477" name="未知的使用者243" initials="未" lastIdx="1" clrIdx="0"/>
  <p:cmAuthor id="478" name="未知的使用者258" initials="未" lastIdx="8" clrIdx="0"/>
  <p:cmAuthor id="479" name="未知的使用者259" initials="未" lastIdx="1" clrIdx="0"/>
  <p:cmAuthor id="480" name="未知的使用者260" initials="未" lastIdx="1" clrIdx="0"/>
  <p:cmAuthor id="481" name="未知的使用者261" initials="未" lastIdx="11" clrIdx="0"/>
  <p:cmAuthor id="482" name="未知的使用者262" initials="未" lastIdx="7" clrIdx="1"/>
  <p:cmAuthor id="483" name="未知的使用者263" initials="未" lastIdx="1" clrIdx="2"/>
  <p:cmAuthor id="484" name="未知的使用者264" initials="未" lastIdx="1" clrIdx="0"/>
  <p:cmAuthor id="485" name="未知的使用者265" initials="未" lastIdx="1" clrIdx="0"/>
  <p:cmAuthor id="2000" name="李婧宜_YBferYVR" initials="authorId_1217247658" lastIdx="0" clrIdx="0"/>
  <p:cmAuthor id="486" name="未知的使用者266" initials="未" lastIdx="1" clrIdx="1"/>
  <p:cmAuthor id="2001" name="骆倩怡_Znauj26B" initials="authorId_382814100" lastIdx="0" clrIdx="0"/>
  <p:cmAuthor id="487" name="未知的使用者267" initials="未" lastIdx="1" clrIdx="0"/>
  <p:cmAuthor id="2002" name="金宇峰_BfyebuM3" initials="authorId_1008746-10054633" lastIdx="0" clrIdx="0"/>
  <p:cmAuthor id="488" name="未知的使用者268" initials="未" lastIdx="2" clrIdx="0"/>
  <p:cmAuthor id="2003" name="administrator" initials="ad" lastIdx="3" clrIdx="23"/>
  <p:cmAuthor id="489" name="未知的使用者269" initials="未" lastIdx="7" clrIdx="1"/>
  <p:cmAuthor id="2004" name="范 斌" initials="范" lastIdx="1" clrIdx="36"/>
  <p:cmAuthor id="490" name="lillian" initials="l" lastIdx="1" clrIdx="0"/>
  <p:cmAuthor id="2005" name="毕邺" initials="党委办公室" lastIdx="2" clrIdx="37"/>
  <p:cmAuthor id="491" name="未知用户197" initials="未" lastIdx="1" clrIdx="0"/>
  <p:cmAuthor id="492" name="未知的使用者217" initials="未" lastIdx="1" clrIdx="1"/>
  <p:cmAuthor id="493" name="未知的使用者218" initials="未" lastIdx="1" clrIdx="0"/>
  <p:cmAuthor id="494" name="未知的使用者219" initials="未" lastIdx="2" clrIdx="0"/>
  <p:cmAuthor id="496" name="未知的使用者152" initials="未" lastIdx="8" clrIdx="0"/>
  <p:cmAuthor id="499" name="未知的使用者156" initials="未" lastIdx="1" clrIdx="0"/>
  <p:cmAuthor id="502" name="未知用户246" initials="未" lastIdx="1" clrIdx="0"/>
  <p:cmAuthor id="503" name="未知的使用者129" initials="未" lastIdx="1" clrIdx="0"/>
  <p:cmAuthor id="504" name="未知的使用者130" initials="未" lastIdx="8" clrIdx="0"/>
  <p:cmAuthor id="505" name="未知的使用者131" initials="未" lastIdx="2" clrIdx="0"/>
  <p:cmAuthor id="506" name="未知的使用者132" initials="未" lastIdx="8" clrIdx="0"/>
  <p:cmAuthor id="507" name="未知的使用者164" initials="未" lastIdx="8" clrIdx="0"/>
  <p:cmAuthor id="508" name="未知的使用者172" initials="未" lastIdx="1" clrIdx="0"/>
  <p:cmAuthor id="509" name="未知的使用者174" initials="未" lastIdx="1" clrIdx="0"/>
  <p:cmAuthor id="510" name="未知用户261" initials="未" lastIdx="1" clrIdx="0"/>
  <p:cmAuthor id="511" name="未知的使用者247" initials="未" lastIdx="6" clrIdx="0"/>
  <p:cmAuthor id="518" name="alexw" initials="a" lastIdx="2" clrIdx="517"/>
  <p:cmAuthor id="521" name="未知用户268" initials="未" lastIdx="1" clrIdx="0"/>
  <p:cmAuthor id="522" name="未知用户269" initials="未" lastIdx="2" clrIdx="0"/>
  <p:cmAuthor id="524" name="未知用户250" initials="未" lastIdx="0" clrIdx="0"/>
  <p:cmAuthor id="525" name="未知用户272" initials="未" lastIdx="10" clrIdx="0"/>
  <p:cmAuthor id="8535702" name="曾蓓/贝贝" initials="曾" lastIdx="0" clrIdx="0"/>
  <p:cmAuthor id="381437688" name="谢学斌" initials="谢" lastIdx="0" clrIdx="0"/>
  <p:cmAuthor id="528" name="cs" initials="x" lastIdx="3" clrIdx="527"/>
  <p:cmAuthor id="529" name="孟令坤" initials="MLK" lastIdx="9" clrIdx="528"/>
  <p:cmAuthor id="532" name="未知的使用者200" initials="未" lastIdx="1" clrIdx="0"/>
  <p:cmAuthor id="534" name="未知的使用者171" initials="未" lastIdx="3" clrIdx="1"/>
  <p:cmAuthor id="553" name="刘晖" initials="刘" lastIdx="1" clrIdx="0"/>
  <p:cmAuthor id="557" name="未知用户157" initials="未" lastIdx="8" clrIdx="0"/>
  <p:cmAuthor id="558" name="未知用户158" initials="未" lastIdx="2" clrIdx="0"/>
  <p:cmAuthor id="559" name="未知用户159" initials="未" lastIdx="1" clrIdx="0"/>
  <p:cmAuthor id="560" name="未知用户160" initials="未" lastIdx="2" clrIdx="0"/>
  <p:cmAuthor id="562" name="順天" initials="順" lastIdx="1" clrIdx="0"/>
  <p:cmAuthor id="563" name="未知用户321" initials="未" lastIdx="1" clrIdx="0"/>
  <p:cmAuthor id="564" name="未知用户319" initials="未" lastIdx="1" clrIdx="0"/>
  <p:cmAuthor id="566" name="未知用户87" initials="未" lastIdx="1" clrIdx="0"/>
  <p:cmAuthor id="567" name="未知用户88" initials="未" lastIdx="1" clrIdx="0"/>
  <p:cmAuthor id="569" name="未知用户211" initials="未" lastIdx="8" clrIdx="0"/>
  <p:cmAuthor id="570" name="未知用户110" initials="未" lastIdx="1" clrIdx="0"/>
  <p:cmAuthor id="571" name="未知用户293" initials="未" lastIdx="1" clrIdx="0"/>
  <p:cmAuthor id="572" name="未知用户201" initials="未" lastIdx="8" clrIdx="0"/>
  <p:cmAuthor id="573" name="未知用户294" initials="未" lastIdx="1" clrIdx="1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guanhh" initials="g" lastIdx="3" clrIdx="0"/>
  <p:cmAuthor id="583" name="未知用户192" initials="未" lastIdx="1" clrIdx="0"/>
  <p:cmAuthor id="584" name="未知用户203" initials="未" lastIdx="1" clrIdx="1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184" initials="未" lastIdx="1" clrIdx="1"/>
  <p:cmAuthor id="210492765" name="施普希（菜菜）" initials="施" lastIdx="0" clrIdx="0"/>
  <p:cmAuthor id="589" name="未知用户295" initials="未" lastIdx="1" clrIdx="0"/>
  <p:cmAuthor id="210492766" name="曹 朝辉" initials="曹" lastIdx="1" clrIdx="14"/>
  <p:cmAuthor id="590" name="未知用户297" initials="未" lastIdx="1" clrIdx="0"/>
  <p:cmAuthor id="210492767" name="李 嘉" initials="李" lastIdx="1" clrIdx="26"/>
  <p:cmAuthor id="591" name="未知用户181" initials="未" lastIdx="2" clrIdx="0"/>
  <p:cmAuthor id="210492768" name="gus9@chinaunicom.cn" initials="g" lastIdx="4" clrIdx="27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Microsoft Office User" initials="M" lastIdx="2" clrIdx="86"/>
  <p:cmAuthor id="597" name="catherine" initials="c" lastIdx="1" clrIdx="1"/>
  <p:cmAuthor id="600" name="未知用户287" initials="未" lastIdx="0" clrIdx="1"/>
  <p:cmAuthor id="601" name="未知用户288" initials="未" lastIdx="1" clrIdx="0"/>
  <p:cmAuthor id="602" name="未知用户229" initials="未" lastIdx="0" clrIdx="0"/>
  <p:cmAuthor id="603" name="�Ÿ�" initials="�" lastIdx="1" clrIdx="0"/>
  <p:cmAuthor id="605" name="yudi lin" initials="y" lastIdx="0" clrIdx="0"/>
  <p:cmAuthor id="607" name="liuzga" initials="l" lastIdx="1" clrIdx="3"/>
  <p:cmAuthor id="608" name="49554261@qq.com" initials="4" lastIdx="2" clrIdx="2"/>
  <p:cmAuthor id="609" name="未知用户230" initials="未" lastIdx="1" clrIdx="0"/>
  <p:cmAuthor id="610" name="未知用户241" initials="未" lastIdx="1" clrIdx="0"/>
  <p:cmAuthor id="611" name="未知用户216" initials="未" lastIdx="1" clrIdx="0"/>
  <p:cmAuthor id="612" name="未知用户266" initials="未" lastIdx="1" clrIdx="1"/>
  <p:cmAuthor id="613" name="未知用户243" initials="未" lastIdx="1" clrIdx="0"/>
  <p:cmAuthor id="614" name="未知用户196" initials="未" lastIdx="1" clrIdx="0"/>
  <p:cmAuthor id="616" name="未知用户219" initials="未" lastIdx="6" clrIdx="0"/>
  <p:cmAuthor id="617" name="未知用户222" initials="未" lastIdx="1" clrIdx="0"/>
  <p:cmAuthor id="618" name="未知用户200" initials="未" lastIdx="8" clrIdx="0"/>
  <p:cmAuthor id="619" name="未知用户213" initials="未" lastIdx="1" clrIdx="0"/>
  <p:cmAuthor id="620" name="未知用户214" initials="未" lastIdx="2" clrIdx="0"/>
  <p:cmAuthor id="621" name="未知用户215" initials="未" lastIdx="1" clrIdx="0"/>
  <p:cmAuthor id="622" name="未知用户231" initials="未" lastIdx="1" clrIdx="0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4" clrIdx="1"/>
  <p:cmAuthor id="630" name="v15194" initials="v" lastIdx="5" clrIdx="87"/>
  <p:cmAuthor id="631" name="未知用户276" initials="未" lastIdx="2" clrIdx="0"/>
  <p:cmAuthor id="632" name="未知用户263" initials="未" lastIdx="2" clrIdx="0"/>
  <p:cmAuthor id="633" name="Carol Kelly" initials="C" lastIdx="1" clrIdx="0"/>
  <p:cmAuthor id="634" name="未知的使用者155" initials="未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2" clrIdx="0"/>
  <p:cmAuthor id="641" name="91257" initials="9" lastIdx="0" clrIdx="1"/>
  <p:cmAuthor id="642" name="vicky" initials="v" lastIdx="2" clrIdx="1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708433798" name="jialuo" initials="j" lastIdx="0" clrIdx="0"/>
  <p:cmAuthor id="708433799" name="慧君 玄" initials="慧玄" lastIdx="1" clrIdx="529"/>
  <p:cmAuthor id="652" name="未知用户308" initials="未" lastIdx="3" clrIdx="0"/>
  <p:cmAuthor id="656" name="未知用户333" initials="未" lastIdx="1" clrIdx="0"/>
  <p:cmAuthor id="657" name="未知用户334" initials="未" lastIdx="1" clrIdx="0"/>
  <p:cmAuthor id="658" name="Think" initials="T" lastIdx="6" clrIdx="3"/>
  <p:cmAuthor id="659" name="未知用户341" initials="未" lastIdx="1" clrIdx="0"/>
  <p:cmAuthor id="660" name="未知用户342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yangxy" initials="y" lastIdx="1" clrIdx="88"/>
  <p:cmAuthor id="667" name="未知用户368" initials="未" lastIdx="2" clrIdx="0"/>
  <p:cmAuthor id="668" name="未知用户403" initials="未" lastIdx="1" clrIdx="0"/>
  <p:cmAuthor id="669" name="未知用户402" initials="未" lastIdx="1" clrIdx="0"/>
  <p:cmAuthor id="670" name="未知用户379" initials="未" lastIdx="10" clrIdx="0"/>
  <p:cmAuthor id="671" name="未知用户380" initials="未" lastIdx="1" clrIdx="0"/>
  <p:cmAuthor id="672" name="未知用户405" initials="未" lastIdx="2" clrIdx="0"/>
  <p:cmAuthor id="673" name="未知用户382" initials="未" lastIdx="1" clrIdx="0"/>
  <p:cmAuthor id="674" name="未知用户383" initials="未" lastIdx="1" clrIdx="0"/>
  <p:cmAuthor id="394525608" name="仇怿俊" initials="仇" lastIdx="0" clrIdx="0"/>
  <p:cmAuthor id="675" name="未知用户384" initials="未" lastIdx="1" clrIdx="1"/>
  <p:cmAuthor id="394525609" name="zhangtong@cmiot.cmcc" initials="A" lastIdx="1" clrIdx="29"/>
  <p:cmAuthor id="676" name="未知用户385" initials="未" lastIdx="7" clrIdx="0"/>
  <p:cmAuthor id="394525610" name="李 雨桐" initials="李" lastIdx="1" clrIdx="50"/>
  <p:cmAuthor id="677" name="未知用户386" initials="未" lastIdx="3" clrIdx="0"/>
  <p:cmAuthor id="394525611" name="ShanQiu LH" initials="SL" lastIdx="1" clrIdx="51"/>
  <p:cmAuthor id="678" name="未知用户387" initials="未" lastIdx="1" clrIdx="0"/>
  <p:cmAuthor id="394525612" name="goulei" initials="g" lastIdx="2" clrIdx="41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47245819" name="群智集" initials="群" lastIdx="0" clrIdx="0"/>
  <p:cmAuthor id="692" name="未知用户398" initials="未" lastIdx="1" clrIdx="0"/>
  <p:cmAuthor id="47245820" name="郏 鹏" initials="郏" lastIdx="1" clrIdx="16"/>
  <p:cmAuthor id="693" name="未知用户399" initials="未" lastIdx="1" clrIdx="0"/>
  <p:cmAuthor id="47245821" name="郏鹏" initials="M" lastIdx="1" clrIdx="17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1455940311" name="张荣胜" initials="张" lastIdx="10" clrIdx="10"/>
  <p:cmAuthor id="698" name="未知用户422" initials="未" lastIdx="10" clrIdx="0"/>
  <p:cmAuthor id="1455940312" name="荣胜 张" initials="荣张" lastIdx="1" clrIdx="11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720" name="未知用户442" initials="未" lastIdx="1" clrIdx="0"/>
  <p:cmAuthor id="29922660" name="杨强" initials="杨" lastIdx="0" clrIdx="0"/>
  <p:cmAuthor id="721" name="未知用户443" initials="未" lastIdx="1" clrIdx="1"/>
  <p:cmAuthor id="29922661" name="檀晟 陈" initials="檀晟" lastIdx="1" clrIdx="10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49837069" name="李 富岩" initials="李" lastIdx="3" clrIdx="10"/>
  <p:cmAuthor id="49837071" name="YY" initials="Y" lastIdx="1" clrIdx="176"/>
  <p:cmAuthor id="747" name="wenle369@sina.com" initials="w" lastIdx="1" clrIdx="0"/>
  <p:cmAuthor id="752" name="554154816@qq.com" initials="5" lastIdx="0" clrIdx="0"/>
  <p:cmAuthor id="755" name="未知用户418" initials="未" lastIdx="1" clrIdx="0"/>
  <p:cmAuthor id="756" name="未知用户271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066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329" autoAdjust="0"/>
  </p:normalViewPr>
  <p:slideViewPr>
    <p:cSldViewPr>
      <p:cViewPr varScale="1">
        <p:scale>
          <a:sx n="78" d="100"/>
          <a:sy n="78" d="100"/>
        </p:scale>
        <p:origin x="-936" y="-72"/>
      </p:cViewPr>
      <p:guideLst>
        <p:guide orient="horz" pos="1641"/>
        <p:guide pos="2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5CAA8-3493-41BC-A8DF-AAA15E94DAF1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F893C-66AC-4621-AFD9-87DACFB2E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2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本次汇报围绕三个部分展开。首先是信息化建设规划，明确整体目标与阶段任务，为后续建设指明方向；接着是</a:t>
            </a:r>
            <a:r>
              <a:rPr lang="en-US" altLang="zh-CN" dirty="0"/>
              <a:t>2023 - 2025</a:t>
            </a:r>
            <a:r>
              <a:rPr lang="zh-CN" altLang="en-US" dirty="0"/>
              <a:t>建设情况，展示各阶段成果与进展，体现建设成效；最后是下一步工作建议，基于现状提出合理规划，推动信息化建设持续发展。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 smtClean="0"/>
              <a:t>接下来</a:t>
            </a:r>
            <a:r>
              <a:rPr lang="zh-CN" altLang="en-US" dirty="0"/>
              <a:t>，进入第一部分</a:t>
            </a:r>
            <a:r>
              <a:rPr lang="en-US" altLang="zh-CN" dirty="0"/>
              <a:t>——</a:t>
            </a:r>
            <a:r>
              <a:rPr lang="zh-CN" altLang="en-US" dirty="0"/>
              <a:t>信息化建设规划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我们的信息化建设围绕 “服务全省科技创新与产业创新深度融合、支撑省科技厅重点工作” 核心目标，分三年逐步推进，聚焦 “服务创新生态、支持战略决策、赋能产业发展” 三大方向，同步提升业务管理与服务两大能力。</a:t>
            </a: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2023 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年重点搭建数据中台与基础服务平台，完成数据汇聚、共享与治理，上线科技成果转化线上平台和科技统计数据管理等核心功能；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思源宋体 CN Heavy" panose="02020900000000000000" charset="-122"/>
              <a:ea typeface="思源宋体 CN Heavy" panose="02020900000000000000" charset="-122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2024 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年聚焦业务中台建设，推出科技创新图谱、产业监测分析等工具，引入地图引擎与垂类模型应用；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思源宋体 CN Heavy" panose="02020900000000000000" charset="-122"/>
              <a:ea typeface="思源宋体 CN Heavy" panose="02020900000000000000" charset="-122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2025 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思源宋体 CN Heavy" panose="02020900000000000000" charset="-122"/>
                <a:ea typeface="思源宋体 CN Heavy" panose="02020900000000000000" charset="-122"/>
                <a:cs typeface="+mn-cs"/>
              </a:rPr>
              <a:t>年深化人工智能赋能，完善科技成果转化生态服务与评价体系，实现从基础建设到智能升级的完整进阶。</a:t>
            </a:r>
            <a:endParaRPr lang="zh-CN" altLang="zh-CN" sz="1200" kern="1200" dirty="0">
              <a:solidFill>
                <a:schemeClr val="tx1"/>
              </a:solidFill>
              <a:effectLst/>
              <a:latin typeface="思源宋体 CN Heavy" panose="02020900000000000000" charset="-122"/>
              <a:ea typeface="思源宋体 CN Heavy" panose="02020900000000000000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 smtClean="0"/>
              <a:t>第二部分聚焦</a:t>
            </a:r>
            <a:r>
              <a:rPr lang="zh-CN" altLang="en-US" dirty="0"/>
              <a:t>信息化建设情况。先介绍</a:t>
            </a:r>
            <a:r>
              <a:rPr lang="en-US" altLang="zh-CN" dirty="0"/>
              <a:t>2023 - 2024</a:t>
            </a:r>
            <a:r>
              <a:rPr lang="zh-CN" altLang="en-US" dirty="0"/>
              <a:t>年已建设情况，呈现过往成果；接着展示</a:t>
            </a:r>
            <a:r>
              <a:rPr lang="en-US" altLang="zh-CN" dirty="0"/>
              <a:t>2025</a:t>
            </a:r>
            <a:r>
              <a:rPr lang="zh-CN" altLang="en-US" dirty="0"/>
              <a:t>年建设全景图，</a:t>
            </a:r>
            <a:r>
              <a:rPr lang="zh-CN" altLang="en-US" dirty="0" smtClean="0"/>
              <a:t>明确方向</a:t>
            </a:r>
            <a:r>
              <a:rPr lang="zh-CN" altLang="en-US" dirty="0"/>
              <a:t>；最后公布</a:t>
            </a:r>
            <a:r>
              <a:rPr lang="en-US" altLang="zh-CN" dirty="0"/>
              <a:t>2025</a:t>
            </a:r>
            <a:r>
              <a:rPr lang="zh-CN" altLang="en-US" dirty="0"/>
              <a:t>年建设预算，为资源分配提供</a:t>
            </a:r>
            <a:r>
              <a:rPr lang="zh-CN" altLang="en-US" dirty="0" smtClean="0"/>
              <a:t>依据，</a:t>
            </a:r>
            <a:r>
              <a:rPr lang="zh-CN" altLang="en-US" dirty="0"/>
              <a:t>全面呈现信息化建设状况。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 smtClean="0"/>
              <a:t>直播活动管理</a:t>
            </a:r>
            <a:r>
              <a:rPr lang="zh-CN" altLang="en-US" dirty="0" smtClean="0"/>
              <a:t>：该功能用于管理科技成果转化相关活动的线上直播，包括创建直播、编辑直播内、实时统计在线和观看人数，并支持互动功能等，以提升活动参与度和传播效果。</a:t>
            </a:r>
          </a:p>
          <a:p>
            <a:r>
              <a:rPr lang="zh-CN" altLang="en-US" b="1" dirty="0" smtClean="0"/>
              <a:t>创新积分管理</a:t>
            </a:r>
            <a:r>
              <a:rPr lang="zh-CN" altLang="en-US" dirty="0" smtClean="0"/>
              <a:t>：该功能通过积分机制量化记录用户的创新贡献，包括积分的申领、发放、使用、兑换和交易管理，旨在激励科研人员和企业积极参与科技成果转化，优化资源配置，并支持积分奖励和全流程监管。</a:t>
            </a:r>
          </a:p>
          <a:p>
            <a:r>
              <a:rPr lang="zh-CN" altLang="en-US" b="1" dirty="0" smtClean="0"/>
              <a:t>技术经理人管理</a:t>
            </a:r>
            <a:r>
              <a:rPr lang="zh-CN" altLang="en-US" dirty="0" smtClean="0"/>
              <a:t>：该功能负责技术经纪人的注册、审核、培训和工作流程管理，包括信息维护、黑名单控制、对接服务、成果需求代理等，以提升技术转移服务的专业性和效率，促进供需匹配。</a:t>
            </a:r>
          </a:p>
          <a:p>
            <a:r>
              <a:rPr lang="zh-CN" altLang="en-US" b="1" dirty="0" smtClean="0"/>
              <a:t>先用后转池建设</a:t>
            </a:r>
            <a:r>
              <a:rPr lang="zh-CN" altLang="en-US" dirty="0" smtClean="0"/>
              <a:t>：该功能构建一个允许企业先试用科技成果再决定正式转化的机制，涵盖申请登记、试用过程记录、转化意向管理和转化交易流程，旨在降低企业转化风险，加速技术应用。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CF893C-66AC-4621-AFD9-87DACFB2E20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479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 smtClean="0"/>
              <a:t>第二部分聚焦</a:t>
            </a:r>
            <a:r>
              <a:rPr lang="zh-CN" altLang="en-US" dirty="0"/>
              <a:t>信息化建设情况。先介绍</a:t>
            </a:r>
            <a:r>
              <a:rPr lang="en-US" altLang="zh-CN" dirty="0"/>
              <a:t>2023 - 2024</a:t>
            </a:r>
            <a:r>
              <a:rPr lang="zh-CN" altLang="en-US" dirty="0"/>
              <a:t>年已建设情况，呈现过往成果；接着展示</a:t>
            </a:r>
            <a:r>
              <a:rPr lang="en-US" altLang="zh-CN" dirty="0"/>
              <a:t>2025</a:t>
            </a:r>
            <a:r>
              <a:rPr lang="zh-CN" altLang="en-US" dirty="0"/>
              <a:t>年建设全景图，</a:t>
            </a:r>
            <a:r>
              <a:rPr lang="zh-CN" altLang="en-US" dirty="0" smtClean="0"/>
              <a:t>明确方向</a:t>
            </a:r>
            <a:r>
              <a:rPr lang="zh-CN" altLang="en-US" dirty="0"/>
              <a:t>；最后公布</a:t>
            </a:r>
            <a:r>
              <a:rPr lang="en-US" altLang="zh-CN" dirty="0"/>
              <a:t>2025</a:t>
            </a:r>
            <a:r>
              <a:rPr lang="zh-CN" altLang="en-US" dirty="0"/>
              <a:t>年建设预算，为资源分配提供</a:t>
            </a:r>
            <a:r>
              <a:rPr lang="zh-CN" altLang="en-US" dirty="0" smtClean="0"/>
              <a:t>依据，</a:t>
            </a:r>
            <a:r>
              <a:rPr lang="zh-CN" altLang="en-US" dirty="0"/>
              <a:t>全面呈现信息化建设状况。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科研成果审核备案模块：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支持</a:t>
            </a:r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科研成果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的在线填报、多级审核流程（包括单位初审和主管部门复核）、数据智能核验（通过相似度比对识别重复或矛盾数据）以及真实性分级审核，确保成果数据的规范性、准确性和可追溯性。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智能机器人公共研发服务绩效管理模块：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</a:t>
            </a:r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智能机器人公共研发服务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成效数据的在线归集、标准化填报与审核流程，支持多维度统计分析与可视化展示（如核心指标总览），并通过权限管理体系保障数据安全与操作合规。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特殊仪器设备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EDA</a:t>
            </a:r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绩效分析模块：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EDA</a:t>
            </a:r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工具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的使用数据进行采集与分析，包括统计使用时长、人员数量、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License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余量及使用趋势预测，支持多维度报表导出和可视化视图，以优化资源配置。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科研项目周期调度模块：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集成工作分工管理、周报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月报在线填报（关联任务清单）、项目进度跟踪与多维绩效评价（如自评、互评、上级评价），形成从规划到结果应用的全流程闭环管理。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CF893C-66AC-4621-AFD9-87DACFB2E20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964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microsoft.com/office/2007/relationships/hdphoto" Target="../media/hdphoto1.wd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 userDrawn="1"/>
        </p:nvSpPr>
        <p:spPr>
          <a:xfrm>
            <a:off x="6840771" y="-430727"/>
            <a:ext cx="2718263" cy="405740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5064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  <a:prstDash val="dash"/>
          </a:ln>
        </p:spPr>
        <p:txBody>
          <a:bodyPr wrap="square" lIns="68579" tIns="34289" rIns="68579" bIns="34289" rtlCol="0" anchor="ctr">
            <a:spAutoFit/>
          </a:bodyPr>
          <a:lstStyle/>
          <a:p>
            <a:pPr algn="ctr" defTabSz="685800"/>
            <a:endParaRPr kumimoji="1"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4502728" y="254075"/>
            <a:ext cx="138545" cy="288539"/>
          </a:xfrm>
          <a:prstGeom prst="rect">
            <a:avLst/>
          </a:prstGeom>
          <a:gradFill flip="none" rotWithShape="1">
            <a:gsLst>
              <a:gs pos="4000">
                <a:schemeClr val="accent3">
                  <a:lumMod val="20000"/>
                  <a:lumOff val="80000"/>
                </a:schemeClr>
              </a:gs>
              <a:gs pos="43000">
                <a:schemeClr val="accent3">
                  <a:lumMod val="20000"/>
                  <a:lumOff val="80000"/>
                  <a:alpha val="0"/>
                </a:schemeClr>
              </a:gs>
            </a:gsLst>
            <a:lin ang="3000000" scaled="0"/>
            <a:tileRect/>
          </a:gradFill>
          <a:ln>
            <a:noFill/>
            <a:prstDash val="dash"/>
          </a:ln>
        </p:spPr>
        <p:txBody>
          <a:bodyPr wrap="none" lIns="68579" tIns="34289" rIns="68579" bIns="34289" rtlCol="0" anchor="ctr">
            <a:spAutoFit/>
          </a:bodyPr>
          <a:lstStyle/>
          <a:p>
            <a:pPr algn="ctr" defTabSz="685800"/>
            <a:endParaRPr kumimoji="1" lang="zh-CN" altLang="en-US" sz="1400" dirty="0">
              <a:solidFill>
                <a:srgbClr val="0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4" y="192518"/>
            <a:ext cx="2365577" cy="511403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244437" y="-498764"/>
            <a:ext cx="0" cy="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none" lIns="42862" tIns="42862" rIns="42862" bIns="42862" numCol="1" spcCol="953" rtlCol="0" anchor="ctr" anchorCtr="0">
            <a:noAutofit/>
          </a:bodyPr>
          <a:lstStyle/>
          <a:p>
            <a:pPr defTabSz="499745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endParaRPr kumimoji="1" lang="zh-CN" altLang="en-US" dirty="0">
              <a:solidFill>
                <a:srgbClr val="00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036" y="3652059"/>
            <a:ext cx="2098964" cy="2098964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5967974" y="192519"/>
            <a:ext cx="3234995" cy="507831"/>
            <a:chOff x="7557248" y="256690"/>
            <a:chExt cx="4313326" cy="677108"/>
          </a:xfrm>
        </p:grpSpPr>
        <p:sp>
          <p:nvSpPr>
            <p:cNvPr id="16" name="文本框 15"/>
            <p:cNvSpPr txBox="1"/>
            <p:nvPr userDrawn="1"/>
          </p:nvSpPr>
          <p:spPr>
            <a:xfrm>
              <a:off x="7697584" y="256690"/>
              <a:ext cx="41729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sz="1400" dirty="0">
                  <a:solidFill>
                    <a:srgbClr val="4F78C9">
                      <a:lumMod val="75000"/>
                    </a:srgbClr>
                  </a:solidFill>
                </a:rPr>
                <a:t>      </a:t>
              </a:r>
              <a:r>
                <a:rPr lang="zh-CN" altLang="en-US" b="1" dirty="0">
                  <a:solidFill>
                    <a:srgbClr val="4F78C9">
                      <a:lumMod val="75000"/>
                    </a:srgbClr>
                  </a:solidFill>
                </a:rPr>
                <a:t>山东省创新发展研究院</a:t>
              </a:r>
              <a:endParaRPr lang="zh-CN" altLang="en-US" sz="1400" b="1" dirty="0">
                <a:solidFill>
                  <a:srgbClr val="4F78C9">
                    <a:lumMod val="75000"/>
                  </a:srgbClr>
                </a:solidFill>
              </a:endParaRPr>
            </a:p>
            <a:p>
              <a:pPr defTabSz="685800"/>
              <a:r>
                <a:rPr lang="en-US" altLang="zh-CN" sz="900" dirty="0">
                  <a:solidFill>
                    <a:srgbClr val="4F78C9">
                      <a:lumMod val="75000"/>
                    </a:srgbClr>
                  </a:solidFill>
                </a:rPr>
                <a:t>         Shandong Academy of Innovation and Development </a:t>
              </a:r>
              <a:endParaRPr lang="zh-CN" altLang="en-US" sz="900" dirty="0">
                <a:solidFill>
                  <a:srgbClr val="4F78C9">
                    <a:lumMod val="75000"/>
                  </a:srgbClr>
                </a:solidFill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backgroundMark x1="45098" y1="38095" x2="52941" y2="30952"/>
                          <a14:backgroundMark x1="56863" y1="52381" x2="56863" y2="52381"/>
                          <a14:backgroundMark x1="39216" y1="54762" x2="41176" y2="59524"/>
                        </a14:backgroundRemoval>
                      </a14:imgEffect>
                    </a14:imgLayer>
                  </a14:imgProps>
                </a:ext>
              </a:extLst>
            </a:blip>
            <a:srcRect l="19355"/>
            <a:stretch>
              <a:fillRect/>
            </a:stretch>
          </p:blipFill>
          <p:spPr>
            <a:xfrm>
              <a:off x="7557248" y="284958"/>
              <a:ext cx="603480" cy="616259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780" y="1383043"/>
            <a:ext cx="4286267" cy="250719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162" y="3261797"/>
            <a:ext cx="1641281" cy="1627717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 flipH="1">
            <a:off x="-123206" y="3621024"/>
            <a:ext cx="9450086" cy="1514010"/>
            <a:chOff x="-232666" y="4877336"/>
            <a:chExt cx="12609141" cy="1980664"/>
          </a:xfrm>
        </p:grpSpPr>
        <p:sp>
          <p:nvSpPr>
            <p:cNvPr id="17" name="任意多边形: 形状 15"/>
            <p:cNvSpPr/>
            <p:nvPr/>
          </p:nvSpPr>
          <p:spPr>
            <a:xfrm rot="496127">
              <a:off x="-232666" y="6022301"/>
              <a:ext cx="3911600" cy="686124"/>
            </a:xfrm>
            <a:custGeom>
              <a:avLst/>
              <a:gdLst>
                <a:gd name="connsiteX0" fmla="*/ 0 w 3911600"/>
                <a:gd name="connsiteY0" fmla="*/ 0 h 686124"/>
                <a:gd name="connsiteX1" fmla="*/ 178120 w 3911600"/>
                <a:gd name="connsiteY1" fmla="*/ 42556 h 686124"/>
                <a:gd name="connsiteX2" fmla="*/ 3397486 w 3911600"/>
                <a:gd name="connsiteY2" fmla="*/ 476122 h 686124"/>
                <a:gd name="connsiteX3" fmla="*/ 3911600 w 3911600"/>
                <a:gd name="connsiteY3" fmla="*/ 496817 h 686124"/>
                <a:gd name="connsiteX4" fmla="*/ 3911600 w 3911600"/>
                <a:gd name="connsiteY4" fmla="*/ 686124 h 686124"/>
                <a:gd name="connsiteX5" fmla="*/ 0 w 3911600"/>
                <a:gd name="connsiteY5" fmla="*/ 686124 h 686124"/>
                <a:gd name="connsiteX6" fmla="*/ 0 w 3911600"/>
                <a:gd name="connsiteY6" fmla="*/ 0 h 68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11600" h="686124">
                  <a:moveTo>
                    <a:pt x="0" y="0"/>
                  </a:moveTo>
                  <a:lnTo>
                    <a:pt x="178120" y="42556"/>
                  </a:lnTo>
                  <a:cubicBezTo>
                    <a:pt x="1207103" y="268543"/>
                    <a:pt x="2284871" y="416346"/>
                    <a:pt x="3397486" y="476122"/>
                  </a:cubicBezTo>
                  <a:lnTo>
                    <a:pt x="3911600" y="496817"/>
                  </a:lnTo>
                  <a:lnTo>
                    <a:pt x="3911600" y="686124"/>
                  </a:lnTo>
                  <a:lnTo>
                    <a:pt x="0" y="686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716178" dist="383667" dir="5400000" sx="90000" sy="90000" algn="t" rotWithShape="0">
                <a:schemeClr val="accent1">
                  <a:alpha val="28000"/>
                </a:schemeClr>
              </a:outerShdw>
            </a:effectLst>
          </p:spPr>
          <p:txBody>
            <a:bodyPr wrap="square" lIns="26518" tIns="13258" rIns="26518" bIns="13258" rtlCol="0" anchor="ctr">
              <a:noAutofit/>
            </a:bodyPr>
            <a:lstStyle/>
            <a:p>
              <a:pPr algn="ctr" defTabSz="457200"/>
              <a:endParaRPr lang="zh-CN" altLang="en-US" sz="1600" kern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Alibaba PuHuiTi 2.0 55 Regular" pitchFamily="18" charset="-122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 rot="21280960">
              <a:off x="6966275" y="4877336"/>
              <a:ext cx="5410200" cy="1717101"/>
            </a:xfrm>
            <a:custGeom>
              <a:avLst/>
              <a:gdLst>
                <a:gd name="connsiteX0" fmla="*/ 5410200 w 5410200"/>
                <a:gd name="connsiteY0" fmla="*/ 0 h 1717101"/>
                <a:gd name="connsiteX1" fmla="*/ 5410200 w 5410200"/>
                <a:gd name="connsiteY1" fmla="*/ 1717101 h 1717101"/>
                <a:gd name="connsiteX2" fmla="*/ 0 w 5410200"/>
                <a:gd name="connsiteY2" fmla="*/ 1717101 h 1717101"/>
                <a:gd name="connsiteX3" fmla="*/ 0 w 5410200"/>
                <a:gd name="connsiteY3" fmla="*/ 1412852 h 1717101"/>
                <a:gd name="connsiteX4" fmla="*/ 279750 w 5410200"/>
                <a:gd name="connsiteY4" fmla="*/ 1381719 h 1717101"/>
                <a:gd name="connsiteX5" fmla="*/ 5312624 w 5410200"/>
                <a:gd name="connsiteY5" fmla="*/ 44170 h 1717101"/>
                <a:gd name="connsiteX6" fmla="*/ 5410200 w 5410200"/>
                <a:gd name="connsiteY6" fmla="*/ 0 h 171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10200" h="1717101">
                  <a:moveTo>
                    <a:pt x="5410200" y="0"/>
                  </a:moveTo>
                  <a:lnTo>
                    <a:pt x="5410200" y="1717101"/>
                  </a:lnTo>
                  <a:lnTo>
                    <a:pt x="0" y="1717101"/>
                  </a:lnTo>
                  <a:lnTo>
                    <a:pt x="0" y="1412852"/>
                  </a:lnTo>
                  <a:lnTo>
                    <a:pt x="279750" y="1381719"/>
                  </a:lnTo>
                  <a:cubicBezTo>
                    <a:pt x="2094791" y="1156941"/>
                    <a:pt x="3794464" y="695521"/>
                    <a:pt x="5312624" y="44170"/>
                  </a:cubicBezTo>
                  <a:lnTo>
                    <a:pt x="5410200" y="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85800"/>
              <a:endParaRPr lang="zh-CN" altLang="en-US" sz="140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9" name="任意多边形: 形状 9"/>
            <p:cNvSpPr/>
            <p:nvPr/>
          </p:nvSpPr>
          <p:spPr>
            <a:xfrm>
              <a:off x="0" y="5140899"/>
              <a:ext cx="12192000" cy="1717101"/>
            </a:xfrm>
            <a:custGeom>
              <a:avLst/>
              <a:gdLst>
                <a:gd name="connsiteX0" fmla="*/ 12192000 w 12192000"/>
                <a:gd name="connsiteY0" fmla="*/ 0 h 1717101"/>
                <a:gd name="connsiteX1" fmla="*/ 12192000 w 12192000"/>
                <a:gd name="connsiteY1" fmla="*/ 1717101 h 1717101"/>
                <a:gd name="connsiteX2" fmla="*/ 0 w 12192000"/>
                <a:gd name="connsiteY2" fmla="*/ 1717101 h 1717101"/>
                <a:gd name="connsiteX3" fmla="*/ 0 w 12192000"/>
                <a:gd name="connsiteY3" fmla="*/ 1030977 h 1717101"/>
                <a:gd name="connsiteX4" fmla="*/ 178120 w 12192000"/>
                <a:gd name="connsiteY4" fmla="*/ 1073533 h 1717101"/>
                <a:gd name="connsiteX5" fmla="*/ 4521200 w 12192000"/>
                <a:gd name="connsiteY5" fmla="*/ 1537170 h 1717101"/>
                <a:gd name="connsiteX6" fmla="*/ 12094424 w 12192000"/>
                <a:gd name="connsiteY6" fmla="*/ 44170 h 171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717101">
                  <a:moveTo>
                    <a:pt x="12192000" y="0"/>
                  </a:moveTo>
                  <a:lnTo>
                    <a:pt x="12192000" y="1717101"/>
                  </a:lnTo>
                  <a:lnTo>
                    <a:pt x="0" y="1717101"/>
                  </a:lnTo>
                  <a:lnTo>
                    <a:pt x="0" y="1030977"/>
                  </a:lnTo>
                  <a:lnTo>
                    <a:pt x="178120" y="1073533"/>
                  </a:lnTo>
                  <a:cubicBezTo>
                    <a:pt x="1550098" y="1374849"/>
                    <a:pt x="3008803" y="1537170"/>
                    <a:pt x="4521200" y="1537170"/>
                  </a:cubicBezTo>
                  <a:cubicBezTo>
                    <a:pt x="7293929" y="1537170"/>
                    <a:pt x="9886192" y="991590"/>
                    <a:pt x="12094424" y="44170"/>
                  </a:cubicBezTo>
                  <a:close/>
                </a:path>
              </a:pathLst>
            </a:custGeom>
            <a:solidFill>
              <a:schemeClr val="bg2">
                <a:alpha val="99251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85800">
                <a:defRPr/>
              </a:pPr>
              <a:endParaRPr lang="zh-CN" altLang="en-US" sz="140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14352" y="404310"/>
            <a:ext cx="3234995" cy="507831"/>
            <a:chOff x="7557248" y="256690"/>
            <a:chExt cx="4313326" cy="677108"/>
          </a:xfrm>
        </p:grpSpPr>
        <p:sp>
          <p:nvSpPr>
            <p:cNvPr id="23" name="文本框 22"/>
            <p:cNvSpPr txBox="1"/>
            <p:nvPr userDrawn="1"/>
          </p:nvSpPr>
          <p:spPr>
            <a:xfrm>
              <a:off x="7697584" y="256690"/>
              <a:ext cx="41729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sz="1400" dirty="0">
                  <a:solidFill>
                    <a:srgbClr val="4F78C9">
                      <a:lumMod val="75000"/>
                    </a:srgbClr>
                  </a:solidFill>
                </a:rPr>
                <a:t>      </a:t>
              </a:r>
              <a:r>
                <a:rPr lang="zh-CN" altLang="en-US" b="1" dirty="0">
                  <a:solidFill>
                    <a:srgbClr val="4F78C9">
                      <a:lumMod val="75000"/>
                    </a:srgbClr>
                  </a:solidFill>
                </a:rPr>
                <a:t>山东省创新发展研究院</a:t>
              </a:r>
              <a:endParaRPr lang="zh-CN" altLang="en-US" sz="1400" b="1" dirty="0">
                <a:solidFill>
                  <a:srgbClr val="4F78C9">
                    <a:lumMod val="75000"/>
                  </a:srgbClr>
                </a:solidFill>
              </a:endParaRPr>
            </a:p>
            <a:p>
              <a:pPr defTabSz="685800"/>
              <a:r>
                <a:rPr lang="en-US" altLang="zh-CN" sz="900" dirty="0">
                  <a:solidFill>
                    <a:srgbClr val="4F78C9">
                      <a:lumMod val="75000"/>
                    </a:srgbClr>
                  </a:solidFill>
                </a:rPr>
                <a:t>         Shandong Academy of Innovation and Development </a:t>
              </a:r>
              <a:endParaRPr lang="zh-CN" altLang="en-US" sz="900" dirty="0">
                <a:solidFill>
                  <a:srgbClr val="4F78C9">
                    <a:lumMod val="75000"/>
                  </a:srgbClr>
                </a:solidFill>
              </a:endParaRPr>
            </a:p>
          </p:txBody>
        </p:sp>
        <p:pic>
          <p:nvPicPr>
            <p:cNvPr id="24" name="图片 23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backgroundMark x1="45098" y1="38095" x2="52941" y2="30952"/>
                          <a14:backgroundMark x1="56863" y1="52381" x2="56863" y2="52381"/>
                          <a14:backgroundMark x1="39216" y1="54762" x2="41176" y2="59524"/>
                        </a14:backgroundRemoval>
                      </a14:imgEffect>
                    </a14:imgLayer>
                  </a14:imgProps>
                </a:ext>
              </a:extLst>
            </a:blip>
            <a:srcRect l="19355"/>
            <a:stretch>
              <a:fillRect/>
            </a:stretch>
          </p:blipFill>
          <p:spPr>
            <a:xfrm>
              <a:off x="7557248" y="284958"/>
              <a:ext cx="603480" cy="616259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521970" y="4767264"/>
            <a:ext cx="2057400" cy="273844"/>
          </a:xfrm>
        </p:spPr>
        <p:txBody>
          <a:bodyPr wrap="square" lIns="68579" tIns="34289" rIns="68579" bIns="34289">
            <a:normAutofit/>
          </a:bodyPr>
          <a:lstStyle/>
          <a:p>
            <a:pPr defTabSz="685800"/>
            <a:fld id="{5592522B-0F24-4480-B9DD-A9474A6880D6}" type="datetimeFigureOut">
              <a:rPr lang="zh-CN" altLang="en-US" sz="1400" smtClean="0">
                <a:solidFill>
                  <a:srgbClr val="000000"/>
                </a:solidFill>
              </a:rPr>
              <a:t>2025/11/30</a:t>
            </a:fld>
            <a:endParaRPr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28950" y="4767264"/>
            <a:ext cx="3086100" cy="273844"/>
          </a:xfrm>
        </p:spPr>
        <p:txBody>
          <a:bodyPr lIns="68579" tIns="34289" rIns="68579" bIns="34289"/>
          <a:lstStyle/>
          <a:p>
            <a:pPr defTabSz="685800"/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565487" y="4767264"/>
            <a:ext cx="2057400" cy="273844"/>
          </a:xfrm>
        </p:spPr>
        <p:txBody>
          <a:bodyPr wrap="square" lIns="68579" tIns="34289" rIns="68579" bIns="34289">
            <a:normAutofit/>
          </a:bodyPr>
          <a:lstStyle/>
          <a:p>
            <a:pPr defTabSz="685800"/>
            <a:fld id="{BE5F26B5-172A-4DC2-B0B7-181CFC56B87C}" type="slidenum">
              <a:rPr lang="zh-CN" altLang="en-US" sz="1400" smtClean="0">
                <a:solidFill>
                  <a:srgbClr val="000000"/>
                </a:solidFill>
              </a:rPr>
              <a:t>‹#›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06255" y="762478"/>
            <a:ext cx="8413909" cy="12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 userDrawn="1"/>
        </p:nvSpPr>
        <p:spPr>
          <a:xfrm>
            <a:off x="4502728" y="254075"/>
            <a:ext cx="138545" cy="288539"/>
          </a:xfrm>
          <a:prstGeom prst="rect">
            <a:avLst/>
          </a:prstGeom>
          <a:gradFill flip="none" rotWithShape="1">
            <a:gsLst>
              <a:gs pos="4000">
                <a:schemeClr val="accent3">
                  <a:lumMod val="20000"/>
                  <a:lumOff val="80000"/>
                </a:schemeClr>
              </a:gs>
              <a:gs pos="43000">
                <a:schemeClr val="accent3">
                  <a:lumMod val="20000"/>
                  <a:lumOff val="80000"/>
                  <a:alpha val="0"/>
                </a:schemeClr>
              </a:gs>
            </a:gsLst>
            <a:lin ang="3000000" scaled="0"/>
            <a:tileRect/>
          </a:gradFill>
          <a:ln>
            <a:noFill/>
            <a:prstDash val="dash"/>
          </a:ln>
        </p:spPr>
        <p:txBody>
          <a:bodyPr wrap="none" lIns="68579" tIns="34289" rIns="68579" bIns="34289" rtlCol="0" anchor="ctr">
            <a:spAutoFit/>
          </a:bodyPr>
          <a:lstStyle/>
          <a:p>
            <a:pPr algn="ctr" defTabSz="685800"/>
            <a:endParaRPr kumimoji="1" lang="zh-CN" altLang="en-US" sz="1400" dirty="0">
              <a:solidFill>
                <a:srgbClr val="000000"/>
              </a:solidFill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4" y="192518"/>
            <a:ext cx="2365577" cy="511403"/>
          </a:xfrm>
          <a:prstGeom prst="rect">
            <a:avLst/>
          </a:prstGeom>
        </p:spPr>
      </p:pic>
      <p:sp>
        <p:nvSpPr>
          <p:cNvPr id="27" name="文本框 26"/>
          <p:cNvSpPr txBox="1"/>
          <p:nvPr userDrawn="1"/>
        </p:nvSpPr>
        <p:spPr>
          <a:xfrm>
            <a:off x="2244437" y="-498764"/>
            <a:ext cx="0" cy="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none" lIns="42862" tIns="42862" rIns="42862" bIns="42862" numCol="1" spcCol="953" rtlCol="0" anchor="ctr" anchorCtr="0">
            <a:noAutofit/>
          </a:bodyPr>
          <a:lstStyle/>
          <a:p>
            <a:pPr defTabSz="499745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endParaRPr kumimoji="1"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28" name="组合 27"/>
          <p:cNvGrpSpPr/>
          <p:nvPr userDrawn="1"/>
        </p:nvGrpSpPr>
        <p:grpSpPr>
          <a:xfrm>
            <a:off x="5967974" y="192519"/>
            <a:ext cx="3234995" cy="507831"/>
            <a:chOff x="7557248" y="256690"/>
            <a:chExt cx="4313326" cy="677108"/>
          </a:xfrm>
        </p:grpSpPr>
        <p:sp>
          <p:nvSpPr>
            <p:cNvPr id="29" name="文本框 28"/>
            <p:cNvSpPr txBox="1"/>
            <p:nvPr userDrawn="1"/>
          </p:nvSpPr>
          <p:spPr>
            <a:xfrm>
              <a:off x="7697584" y="256690"/>
              <a:ext cx="41729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sz="1400" dirty="0">
                  <a:solidFill>
                    <a:srgbClr val="4F78C9">
                      <a:lumMod val="75000"/>
                    </a:srgbClr>
                  </a:solidFill>
                </a:rPr>
                <a:t>      </a:t>
              </a:r>
              <a:r>
                <a:rPr lang="zh-CN" altLang="en-US" b="1" dirty="0">
                  <a:solidFill>
                    <a:srgbClr val="4F78C9">
                      <a:lumMod val="75000"/>
                    </a:srgbClr>
                  </a:solidFill>
                </a:rPr>
                <a:t>山东省创新发展研究院</a:t>
              </a:r>
              <a:endParaRPr lang="zh-CN" altLang="en-US" sz="1400" b="1" dirty="0">
                <a:solidFill>
                  <a:srgbClr val="4F78C9">
                    <a:lumMod val="75000"/>
                  </a:srgbClr>
                </a:solidFill>
              </a:endParaRPr>
            </a:p>
            <a:p>
              <a:pPr defTabSz="685800"/>
              <a:r>
                <a:rPr lang="en-US" altLang="zh-CN" sz="900" dirty="0">
                  <a:solidFill>
                    <a:srgbClr val="4F78C9">
                      <a:lumMod val="75000"/>
                    </a:srgbClr>
                  </a:solidFill>
                </a:rPr>
                <a:t>         Shandong Academy of Innovation and Development </a:t>
              </a:r>
              <a:endParaRPr lang="zh-CN" altLang="en-US" sz="900" dirty="0">
                <a:solidFill>
                  <a:srgbClr val="4F78C9">
                    <a:lumMod val="75000"/>
                  </a:srgbClr>
                </a:solidFill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backgroundMark x1="45098" y1="38095" x2="52941" y2="30952"/>
                          <a14:backgroundMark x1="56863" y1="52381" x2="56863" y2="52381"/>
                          <a14:backgroundMark x1="39216" y1="54762" x2="41176" y2="59524"/>
                        </a14:backgroundRemoval>
                      </a14:imgEffect>
                    </a14:imgLayer>
                  </a14:imgProps>
                </a:ext>
              </a:extLst>
            </a:blip>
            <a:srcRect l="19355"/>
            <a:stretch>
              <a:fillRect/>
            </a:stretch>
          </p:blipFill>
          <p:spPr>
            <a:xfrm>
              <a:off x="7557248" y="284958"/>
              <a:ext cx="603480" cy="616259"/>
            </a:xfrm>
            <a:prstGeom prst="rect">
              <a:avLst/>
            </a:prstGeom>
          </p:spPr>
        </p:pic>
      </p:grpSp>
      <p:sp>
        <p:nvSpPr>
          <p:cNvPr id="31" name="标题 30"/>
          <p:cNvSpPr>
            <a:spLocks noGrp="1"/>
          </p:cNvSpPr>
          <p:nvPr>
            <p:ph type="title"/>
          </p:nvPr>
        </p:nvSpPr>
        <p:spPr>
          <a:xfrm>
            <a:off x="703421" y="145734"/>
            <a:ext cx="8138160" cy="560546"/>
          </a:xfrm>
          <a:prstGeom prst="rect">
            <a:avLst/>
          </a:prstGeom>
        </p:spPr>
        <p:txBody>
          <a:bodyPr lIns="68579" tIns="34289" rIns="68579" bIns="34289" anchor="ctr" anchorCtr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2000" y="295804"/>
            <a:ext cx="8100000" cy="594000"/>
          </a:xfrm>
        </p:spPr>
        <p:txBody>
          <a:bodyPr lIns="68579" tIns="34289" rIns="68579" bIns="34289"/>
          <a:lstStyle>
            <a:lvl1pPr algn="ct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4735800"/>
            <a:ext cx="2025000" cy="237600"/>
          </a:xfrm>
        </p:spPr>
        <p:txBody>
          <a:bodyPr lIns="68579" tIns="34289" rIns="68579" bIns="34289"/>
          <a:lstStyle/>
          <a:p>
            <a:pPr defTabSz="685800"/>
            <a:fld id="{760FBDFE-C587-4B4C-A407-44438C67B59E}" type="datetimeFigureOut">
              <a:rPr lang="zh-CN" altLang="en-US" sz="1400" smtClean="0">
                <a:solidFill>
                  <a:srgbClr val="000000"/>
                </a:solidFill>
              </a:rPr>
              <a:t>2025/11/30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</p:spPr>
        <p:txBody>
          <a:bodyPr lIns="68579" tIns="34289" rIns="68579" bIns="34289"/>
          <a:lstStyle/>
          <a:p>
            <a:pPr defTabSz="685800"/>
            <a:endParaRPr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4735800"/>
            <a:ext cx="2025000" cy="237600"/>
          </a:xfrm>
        </p:spPr>
        <p:txBody>
          <a:bodyPr lIns="68579" tIns="34289" rIns="68579" bIns="34289"/>
          <a:lstStyle/>
          <a:p>
            <a:pPr defTabSz="685800"/>
            <a:fld id="{49AE70B2-8BF9-45C0-BB95-33D1B9D3A854}" type="slidenum">
              <a:rPr lang="zh-CN" altLang="en-US" sz="1400" smtClean="0">
                <a:solidFill>
                  <a:srgbClr val="000000"/>
                </a:solidFill>
              </a:rPr>
              <a:t>‹#›</a:t>
            </a:fld>
            <a:endParaRPr lang="zh-CN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-K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/>
          <p:cNvSpPr txBox="1"/>
          <p:nvPr userDrawn="1"/>
        </p:nvSpPr>
        <p:spPr>
          <a:xfrm>
            <a:off x="8341520" y="4933475"/>
            <a:ext cx="766763" cy="1731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defTabSz="82169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</a:t>
            </a:r>
            <a:fld id="{195FF813-92D5-41C2-A763-54D244C7EABD}" type="slidenum">
              <a:rPr lang="zh-CN" altLang="en-US" sz="1100" dirty="0" smtClean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‹#›</a:t>
            </a:fld>
            <a:endParaRPr lang="zh-CN" altLang="en-US" sz="1100" b="1" dirty="0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 userDrawn="1">
            <p:custDataLst>
              <p:tags r:id="rId1"/>
            </p:custDataLst>
          </p:nvPr>
        </p:nvCxnSpPr>
        <p:spPr>
          <a:xfrm>
            <a:off x="174784" y="523399"/>
            <a:ext cx="883443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185737" y="90726"/>
            <a:ext cx="220028" cy="3581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48" tIns="28574" rIns="57148" bIns="28574" rtlCol="0" anchor="ctr"/>
          <a:lstStyle/>
          <a:p>
            <a:pPr algn="ctr" defTabSz="685800"/>
            <a:endParaRPr lang="zh-CN" altLang="en-US" sz="1400" baseline="-25000">
              <a:solidFill>
                <a:srgbClr val="FFFFFF"/>
              </a:solidFill>
            </a:endParaRPr>
          </a:p>
        </p:txBody>
      </p:sp>
      <p:sp>
        <p:nvSpPr>
          <p:cNvPr id="5" name="矩形 4"/>
          <p:cNvSpPr/>
          <p:nvPr userDrawn="1">
            <p:custDataLst>
              <p:tags r:id="rId3"/>
            </p:custDataLst>
          </p:nvPr>
        </p:nvSpPr>
        <p:spPr>
          <a:xfrm>
            <a:off x="405765" y="90965"/>
            <a:ext cx="83344" cy="357664"/>
          </a:xfrm>
          <a:prstGeom prst="rect">
            <a:avLst/>
          </a:prstGeom>
          <a:solidFill>
            <a:srgbClr val="08BAF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48" tIns="28574" rIns="57148" bIns="28574" rtlCol="0" anchor="ctr"/>
          <a:lstStyle/>
          <a:p>
            <a:pPr algn="ctr" defTabSz="685800"/>
            <a:endParaRPr lang="en-US" altLang="zh-CN" sz="1400" baseline="-25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6955" y="816769"/>
            <a:ext cx="4127897" cy="3995738"/>
          </a:xfrm>
        </p:spPr>
        <p:txBody>
          <a:bodyPr lIns="68579" tIns="34289" rIns="68579" bIns="34289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49" y="816769"/>
            <a:ext cx="4127898" cy="3995738"/>
          </a:xfrm>
        </p:spPr>
        <p:txBody>
          <a:bodyPr lIns="68579" tIns="34289" rIns="68579" bIns="34289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06598" y="4874890"/>
            <a:ext cx="2057400" cy="158714"/>
          </a:xfrm>
          <a:prstGeom prst="rect">
            <a:avLst/>
          </a:prstGeom>
        </p:spPr>
        <p:txBody>
          <a:bodyPr lIns="68579" tIns="34289" rIns="68579" bIns="34289"/>
          <a:lstStyle/>
          <a:p>
            <a:pPr defTabSz="685800"/>
            <a:fld id="{F615E469-C0CF-4C85-82C8-A46A38D0B181}" type="datetimeFigureOut">
              <a:rPr lang="zh-CN" altLang="en-US" sz="1400" smtClean="0">
                <a:solidFill>
                  <a:srgbClr val="000000"/>
                </a:solidFill>
              </a:rPr>
              <a:t>2025/11/30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882393"/>
            <a:ext cx="3086100" cy="158714"/>
          </a:xfrm>
          <a:prstGeom prst="rect">
            <a:avLst/>
          </a:prstGeom>
        </p:spPr>
        <p:txBody>
          <a:bodyPr lIns="68579" tIns="34289" rIns="68579" bIns="34289"/>
          <a:lstStyle/>
          <a:p>
            <a:pPr defTabSz="685800"/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17088" y="153721"/>
            <a:ext cx="6398012" cy="480692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/>
          <p:cNvSpPr/>
          <p:nvPr userDrawn="1"/>
        </p:nvSpPr>
        <p:spPr bwMode="gray">
          <a:xfrm>
            <a:off x="1" y="153721"/>
            <a:ext cx="9094304" cy="480692"/>
          </a:xfrm>
          <a:prstGeom prst="rect">
            <a:avLst/>
          </a:prstGeom>
          <a:solidFill>
            <a:srgbClr val="C00000"/>
          </a:solidFill>
          <a:ln w="9525" algn="ctr">
            <a:noFill/>
            <a:round/>
          </a:ln>
        </p:spPr>
        <p:txBody>
          <a:bodyPr lIns="0" tIns="0" rIns="0" bIns="0" rtlCol="0" anchor="ctr">
            <a:normAutofit/>
          </a:bodyPr>
          <a:lstStyle/>
          <a:p>
            <a:pPr algn="ctr" defTabSz="685800">
              <a:lnSpc>
                <a:spcPct val="120000"/>
              </a:lnSpc>
            </a:pPr>
            <a:endParaRPr lang="zh-CN" altLang="en-US" sz="1500" b="1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天蝎PPT©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alphaModFix amt="5000"/>
            <a:lum bright="-24000"/>
          </a:blip>
          <a:srcRect t="15789"/>
          <a:stretch>
            <a:fillRect/>
          </a:stretch>
        </p:blipFill>
        <p:spPr>
          <a:xfrm>
            <a:off x="-110013" y="-74771"/>
            <a:ext cx="9264491" cy="51987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10" y="0"/>
            <a:ext cx="918102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10" y="0"/>
            <a:ext cx="9181020" cy="51435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8510" y="172695"/>
            <a:ext cx="9181020" cy="288539"/>
          </a:xfrm>
          <a:prstGeom prst="rect">
            <a:avLst/>
          </a:prstGeom>
          <a:gradFill flip="none" rotWithShape="1">
            <a:gsLst>
              <a:gs pos="4000">
                <a:srgbClr val="E1EEFF"/>
              </a:gs>
              <a:gs pos="71000">
                <a:schemeClr val="accent3">
                  <a:lumMod val="20000"/>
                  <a:lumOff val="80000"/>
                  <a:alpha val="0"/>
                </a:schemeClr>
              </a:gs>
            </a:gsLst>
            <a:lin ang="3000000" scaled="0"/>
            <a:tileRect/>
          </a:gradFill>
          <a:ln>
            <a:noFill/>
            <a:prstDash val="dash"/>
          </a:ln>
        </p:spPr>
        <p:txBody>
          <a:bodyPr wrap="square" lIns="68576" tIns="34289" rIns="68576" bIns="34289" rtlCol="0" anchor="ctr">
            <a:spAutoFit/>
          </a:bodyPr>
          <a:lstStyle/>
          <a:p>
            <a:pPr algn="ctr" defTabSz="685800"/>
            <a:endParaRPr kumimoji="1" lang="zh-CN" altLang="en-US" sz="1400" dirty="0">
              <a:solidFill>
                <a:srgbClr val="1B1B1B"/>
              </a:solidFill>
            </a:endParaRPr>
          </a:p>
        </p:txBody>
      </p:sp>
      <p:sp>
        <p:nvSpPr>
          <p:cNvPr id="5" name="矩形 1"/>
          <p:cNvSpPr/>
          <p:nvPr userDrawn="1"/>
        </p:nvSpPr>
        <p:spPr>
          <a:xfrm>
            <a:off x="128588" y="164783"/>
            <a:ext cx="411956" cy="411956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9" rIns="68576" bIns="34289" anchor="ctr"/>
          <a:lstStyle/>
          <a:p>
            <a:pPr algn="ctr" defTabSz="685800">
              <a:buFont typeface="Arial" panose="020B0604020202020204" pitchFamily="34" charset="0"/>
              <a:buNone/>
              <a:defRPr/>
            </a:pPr>
            <a:endParaRPr lang="zh-CN" altLang="en-US" sz="1400">
              <a:solidFill>
                <a:srgbClr val="FFFFFF"/>
              </a:solidFill>
            </a:endParaRPr>
          </a:p>
        </p:txBody>
      </p:sp>
      <p:sp>
        <p:nvSpPr>
          <p:cNvPr id="6" name="矩形 2"/>
          <p:cNvSpPr/>
          <p:nvPr userDrawn="1"/>
        </p:nvSpPr>
        <p:spPr>
          <a:xfrm>
            <a:off x="287179" y="302422"/>
            <a:ext cx="331946" cy="332899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9" rIns="68576" bIns="34289" anchor="ctr"/>
          <a:lstStyle/>
          <a:p>
            <a:pPr algn="ctr" defTabSz="685800">
              <a:buFont typeface="Arial" panose="020B0604020202020204" pitchFamily="34" charset="0"/>
              <a:buNone/>
              <a:defRPr/>
            </a:pPr>
            <a:endParaRPr lang="zh-CN" altLang="en-US" sz="1400">
              <a:gradFill>
                <a:gsLst>
                  <a:gs pos="0">
                    <a:srgbClr val="66CCFF"/>
                  </a:gs>
                  <a:gs pos="52000">
                    <a:srgbClr val="FFFFFF"/>
                  </a:gs>
                  <a:gs pos="100000">
                    <a:srgbClr val="0070C0"/>
                  </a:gs>
                </a:gsLst>
                <a:lin ang="0" scaled="1"/>
              </a:gradFill>
            </a:endParaRPr>
          </a:p>
        </p:txBody>
      </p:sp>
      <p:cxnSp>
        <p:nvCxnSpPr>
          <p:cNvPr id="2" name="直接连接符 3"/>
          <p:cNvCxnSpPr/>
          <p:nvPr userDrawn="1"/>
        </p:nvCxnSpPr>
        <p:spPr>
          <a:xfrm>
            <a:off x="672703" y="627936"/>
            <a:ext cx="8495348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543" y="33577"/>
            <a:ext cx="2136934" cy="6238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100000">
                <a:sysClr val="window" lastClr="FFFFFF"/>
              </a:gs>
              <a:gs pos="0">
                <a:srgbClr val="D9EBFB"/>
              </a:gs>
              <a:gs pos="42000">
                <a:srgbClr val="D9EBFB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rgbClr val="4CB0FC">
              <a:shade val="15000"/>
            </a:srgbClr>
          </a:lnRef>
          <a:fillRef idx="1">
            <a:srgbClr val="4CB0FC"/>
          </a:fillRef>
          <a:effectRef idx="0">
            <a:srgbClr val="4CB0FC"/>
          </a:effectRef>
          <a:fontRef idx="minor">
            <a:sysClr val="window" lastClr="FFFFFF"/>
          </a:fontRef>
        </p:style>
        <p:txBody>
          <a:bodyPr lIns="68576" tIns="34289" rIns="68576" bIns="34289" rtlCol="0" anchor="ctr"/>
          <a:lstStyle/>
          <a:p>
            <a:pPr algn="ctr" defTabSz="685800"/>
            <a:endParaRPr lang="zh-CN" altLang="en-US" sz="1400"/>
          </a:p>
        </p:txBody>
      </p:sp>
      <p:sp>
        <p:nvSpPr>
          <p:cNvPr id="9" name="任意多边形: 形状 9"/>
          <p:cNvSpPr/>
          <p:nvPr userDrawn="1">
            <p:custDataLst>
              <p:tags r:id="rId2"/>
            </p:custDataLst>
          </p:nvPr>
        </p:nvSpPr>
        <p:spPr>
          <a:xfrm>
            <a:off x="3341914" y="0"/>
            <a:ext cx="5802086" cy="3353675"/>
          </a:xfrm>
          <a:custGeom>
            <a:avLst/>
            <a:gdLst>
              <a:gd name="connsiteX0" fmla="*/ 0 w 2848191"/>
              <a:gd name="connsiteY0" fmla="*/ 0 h 1646288"/>
              <a:gd name="connsiteX1" fmla="*/ 2848191 w 2848191"/>
              <a:gd name="connsiteY1" fmla="*/ 0 h 1646288"/>
              <a:gd name="connsiteX2" fmla="*/ 2848191 w 2848191"/>
              <a:gd name="connsiteY2" fmla="*/ 1625550 h 1646288"/>
              <a:gd name="connsiteX3" fmla="*/ 2805646 w 2848191"/>
              <a:gd name="connsiteY3" fmla="*/ 1632043 h 1646288"/>
              <a:gd name="connsiteX4" fmla="*/ 2523547 w 2848191"/>
              <a:gd name="connsiteY4" fmla="*/ 1646288 h 1646288"/>
              <a:gd name="connsiteX5" fmla="*/ 97478 w 2848191"/>
              <a:gd name="connsiteY5" fmla="*/ 202352 h 164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8191" h="1646288">
                <a:moveTo>
                  <a:pt x="0" y="0"/>
                </a:moveTo>
                <a:lnTo>
                  <a:pt x="2848191" y="0"/>
                </a:lnTo>
                <a:lnTo>
                  <a:pt x="2848191" y="1625550"/>
                </a:lnTo>
                <a:lnTo>
                  <a:pt x="2805646" y="1632043"/>
                </a:lnTo>
                <a:cubicBezTo>
                  <a:pt x="2712894" y="1641463"/>
                  <a:pt x="2618784" y="1646288"/>
                  <a:pt x="2523547" y="1646288"/>
                </a:cubicBezTo>
                <a:cubicBezTo>
                  <a:pt x="1475938" y="1646288"/>
                  <a:pt x="564697" y="1062425"/>
                  <a:pt x="97478" y="202352"/>
                </a:cubicBezTo>
                <a:close/>
              </a:path>
            </a:pathLst>
          </a:custGeom>
          <a:gradFill flip="none" rotWithShape="1">
            <a:gsLst>
              <a:gs pos="86000">
                <a:sysClr val="window" lastClr="FFFFFF">
                  <a:alpha val="0"/>
                  <a:lumMod val="98000"/>
                </a:sysClr>
              </a:gs>
              <a:gs pos="28000">
                <a:sysClr val="window" lastClr="FFFFFF">
                  <a:alpha val="40000"/>
                </a:sysClr>
              </a:gs>
            </a:gsLst>
            <a:lin ang="0" scaled="1"/>
            <a:tileRect/>
          </a:gradFill>
          <a:ln>
            <a:noFill/>
          </a:ln>
        </p:spPr>
        <p:style>
          <a:lnRef idx="2">
            <a:srgbClr val="4CB0FC">
              <a:shade val="15000"/>
            </a:srgbClr>
          </a:lnRef>
          <a:fillRef idx="1">
            <a:srgbClr val="4CB0FC"/>
          </a:fillRef>
          <a:effectRef idx="0">
            <a:srgbClr val="4CB0FC"/>
          </a:effectRef>
          <a:fontRef idx="minor">
            <a:sysClr val="window" lastClr="FFFFFF"/>
          </a:fontRef>
        </p:style>
        <p:txBody>
          <a:bodyPr wrap="square" lIns="68576" tIns="34289" rIns="68576" bIns="34289" rtlCol="0" anchor="ctr">
            <a:noAutofit/>
          </a:bodyPr>
          <a:lstStyle/>
          <a:p>
            <a:pPr algn="ctr" defTabSz="685800"/>
            <a:endParaRPr lang="zh-CN" altLang="en-US" sz="1400"/>
          </a:p>
        </p:txBody>
      </p:sp>
      <p:sp>
        <p:nvSpPr>
          <p:cNvPr id="12" name="任意多边形: 形状 10"/>
          <p:cNvSpPr/>
          <p:nvPr userDrawn="1">
            <p:custDataLst>
              <p:tags r:id="rId3"/>
            </p:custDataLst>
          </p:nvPr>
        </p:nvSpPr>
        <p:spPr>
          <a:xfrm>
            <a:off x="3341914" y="0"/>
            <a:ext cx="5802086" cy="3353675"/>
          </a:xfrm>
          <a:custGeom>
            <a:avLst/>
            <a:gdLst>
              <a:gd name="connsiteX0" fmla="*/ 0 w 2848191"/>
              <a:gd name="connsiteY0" fmla="*/ 0 h 1646288"/>
              <a:gd name="connsiteX1" fmla="*/ 2848191 w 2848191"/>
              <a:gd name="connsiteY1" fmla="*/ 0 h 1646288"/>
              <a:gd name="connsiteX2" fmla="*/ 2848191 w 2848191"/>
              <a:gd name="connsiteY2" fmla="*/ 1625550 h 1646288"/>
              <a:gd name="connsiteX3" fmla="*/ 2805646 w 2848191"/>
              <a:gd name="connsiteY3" fmla="*/ 1632043 h 1646288"/>
              <a:gd name="connsiteX4" fmla="*/ 2523547 w 2848191"/>
              <a:gd name="connsiteY4" fmla="*/ 1646288 h 1646288"/>
              <a:gd name="connsiteX5" fmla="*/ 97478 w 2848191"/>
              <a:gd name="connsiteY5" fmla="*/ 202352 h 1646288"/>
              <a:gd name="connsiteX0-1" fmla="*/ 2848191 w 2893361"/>
              <a:gd name="connsiteY0-2" fmla="*/ 1625550 h 1670720"/>
              <a:gd name="connsiteX1-3" fmla="*/ 2805646 w 2893361"/>
              <a:gd name="connsiteY1-4" fmla="*/ 1632043 h 1670720"/>
              <a:gd name="connsiteX2-5" fmla="*/ 2523547 w 2893361"/>
              <a:gd name="connsiteY2-6" fmla="*/ 1646288 h 1670720"/>
              <a:gd name="connsiteX3-7" fmla="*/ 97478 w 2893361"/>
              <a:gd name="connsiteY3-8" fmla="*/ 202352 h 1670720"/>
              <a:gd name="connsiteX4-9" fmla="*/ 0 w 2893361"/>
              <a:gd name="connsiteY4-10" fmla="*/ 0 h 1670720"/>
              <a:gd name="connsiteX5-11" fmla="*/ 2848191 w 2893361"/>
              <a:gd name="connsiteY5-12" fmla="*/ 0 h 1670720"/>
              <a:gd name="connsiteX6" fmla="*/ 2893361 w 2893361"/>
              <a:gd name="connsiteY6" fmla="*/ 1670720 h 1670720"/>
              <a:gd name="connsiteX0-13" fmla="*/ 2848191 w 2848191"/>
              <a:gd name="connsiteY0-14" fmla="*/ 1625550 h 1646288"/>
              <a:gd name="connsiteX1-15" fmla="*/ 2805646 w 2848191"/>
              <a:gd name="connsiteY1-16" fmla="*/ 1632043 h 1646288"/>
              <a:gd name="connsiteX2-17" fmla="*/ 2523547 w 2848191"/>
              <a:gd name="connsiteY2-18" fmla="*/ 1646288 h 1646288"/>
              <a:gd name="connsiteX3-19" fmla="*/ 97478 w 2848191"/>
              <a:gd name="connsiteY3-20" fmla="*/ 202352 h 1646288"/>
              <a:gd name="connsiteX4-21" fmla="*/ 0 w 2848191"/>
              <a:gd name="connsiteY4-22" fmla="*/ 0 h 1646288"/>
              <a:gd name="connsiteX5-23" fmla="*/ 2848191 w 2848191"/>
              <a:gd name="connsiteY5-24" fmla="*/ 0 h 1646288"/>
              <a:gd name="connsiteX0-25" fmla="*/ 2848191 w 2848191"/>
              <a:gd name="connsiteY0-26" fmla="*/ 1625550 h 1646288"/>
              <a:gd name="connsiteX1-27" fmla="*/ 2805646 w 2848191"/>
              <a:gd name="connsiteY1-28" fmla="*/ 1632043 h 1646288"/>
              <a:gd name="connsiteX2-29" fmla="*/ 2523547 w 2848191"/>
              <a:gd name="connsiteY2-30" fmla="*/ 1646288 h 1646288"/>
              <a:gd name="connsiteX3-31" fmla="*/ 97478 w 2848191"/>
              <a:gd name="connsiteY3-32" fmla="*/ 202352 h 1646288"/>
              <a:gd name="connsiteX4-33" fmla="*/ 0 w 2848191"/>
              <a:gd name="connsiteY4-34" fmla="*/ 0 h 16462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848191" h="1646288">
                <a:moveTo>
                  <a:pt x="2848191" y="1625550"/>
                </a:moveTo>
                <a:lnTo>
                  <a:pt x="2805646" y="1632043"/>
                </a:lnTo>
                <a:cubicBezTo>
                  <a:pt x="2712894" y="1641463"/>
                  <a:pt x="2618784" y="1646288"/>
                  <a:pt x="2523547" y="1646288"/>
                </a:cubicBezTo>
                <a:cubicBezTo>
                  <a:pt x="1475938" y="1646288"/>
                  <a:pt x="564697" y="1062425"/>
                  <a:pt x="97478" y="202352"/>
                </a:cubicBezTo>
                <a:lnTo>
                  <a:pt x="0" y="0"/>
                </a:lnTo>
              </a:path>
            </a:pathLst>
          </a:custGeom>
          <a:noFill/>
          <a:ln>
            <a:gradFill flip="none" rotWithShape="1">
              <a:gsLst>
                <a:gs pos="97000">
                  <a:sysClr val="window" lastClr="FFFFFF">
                    <a:alpha val="0"/>
                  </a:sysClr>
                </a:gs>
                <a:gs pos="0">
                  <a:sysClr val="window" lastClr="FFFFFF"/>
                </a:gs>
                <a:gs pos="60000">
                  <a:sysClr val="window" lastClr="FFFFFF">
                    <a:alpha val="0"/>
                  </a:sysClr>
                </a:gs>
              </a:gsLst>
              <a:lin ang="5400000" scaled="1"/>
              <a:tileRect/>
            </a:gradFill>
          </a:ln>
        </p:spPr>
        <p:style>
          <a:lnRef idx="2">
            <a:srgbClr val="4CB0FC">
              <a:shade val="15000"/>
            </a:srgbClr>
          </a:lnRef>
          <a:fillRef idx="1">
            <a:srgbClr val="4CB0FC"/>
          </a:fillRef>
          <a:effectRef idx="0">
            <a:srgbClr val="4CB0FC"/>
          </a:effectRef>
          <a:fontRef idx="minor">
            <a:sysClr val="window" lastClr="FFFFFF"/>
          </a:fontRef>
        </p:style>
        <p:txBody>
          <a:bodyPr wrap="square" lIns="68576" tIns="34289" rIns="68576" bIns="34289" rtlCol="0" anchor="ctr">
            <a:noAutofit/>
          </a:bodyPr>
          <a:lstStyle/>
          <a:p>
            <a:pPr algn="ctr" defTabSz="685800"/>
            <a:endParaRPr lang="zh-CN" altLang="en-US" sz="1400"/>
          </a:p>
        </p:txBody>
      </p:sp>
      <p:sp>
        <p:nvSpPr>
          <p:cNvPr id="14" name="页脚占位符 5"/>
          <p:cNvSpPr>
            <a:spLocks noGrp="1"/>
          </p:cNvSpPr>
          <p:nvPr userDrawn="1">
            <p:custDataLst>
              <p:tags r:id="rId4"/>
            </p:custDataLst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68576" tIns="34289" rIns="68576" bIns="34289" rtlCol="0" anchor="ctr">
            <a:norm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rgbClr val="333333">
                    <a:tint val="75000"/>
                  </a:srgb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6" name="任意多边形: 形状 19"/>
          <p:cNvSpPr/>
          <p:nvPr userDrawn="1">
            <p:custDataLst>
              <p:tags r:id="rId5"/>
            </p:custDataLst>
          </p:nvPr>
        </p:nvSpPr>
        <p:spPr>
          <a:xfrm flipV="1">
            <a:off x="6460295" y="3597527"/>
            <a:ext cx="2683707" cy="1551215"/>
          </a:xfrm>
          <a:custGeom>
            <a:avLst/>
            <a:gdLst>
              <a:gd name="connsiteX0" fmla="*/ 0 w 2848191"/>
              <a:gd name="connsiteY0" fmla="*/ 0 h 1646288"/>
              <a:gd name="connsiteX1" fmla="*/ 2848191 w 2848191"/>
              <a:gd name="connsiteY1" fmla="*/ 0 h 1646288"/>
              <a:gd name="connsiteX2" fmla="*/ 2848191 w 2848191"/>
              <a:gd name="connsiteY2" fmla="*/ 1625550 h 1646288"/>
              <a:gd name="connsiteX3" fmla="*/ 2805646 w 2848191"/>
              <a:gd name="connsiteY3" fmla="*/ 1632043 h 1646288"/>
              <a:gd name="connsiteX4" fmla="*/ 2523547 w 2848191"/>
              <a:gd name="connsiteY4" fmla="*/ 1646288 h 1646288"/>
              <a:gd name="connsiteX5" fmla="*/ 97478 w 2848191"/>
              <a:gd name="connsiteY5" fmla="*/ 202352 h 1646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8191" h="1646288">
                <a:moveTo>
                  <a:pt x="0" y="0"/>
                </a:moveTo>
                <a:lnTo>
                  <a:pt x="2848191" y="0"/>
                </a:lnTo>
                <a:lnTo>
                  <a:pt x="2848191" y="1625550"/>
                </a:lnTo>
                <a:lnTo>
                  <a:pt x="2805646" y="1632043"/>
                </a:lnTo>
                <a:cubicBezTo>
                  <a:pt x="2712894" y="1641463"/>
                  <a:pt x="2618784" y="1646288"/>
                  <a:pt x="2523547" y="1646288"/>
                </a:cubicBezTo>
                <a:cubicBezTo>
                  <a:pt x="1475938" y="1646288"/>
                  <a:pt x="564697" y="1062425"/>
                  <a:pt x="97478" y="202352"/>
                </a:cubicBezTo>
                <a:close/>
              </a:path>
            </a:pathLst>
          </a:custGeom>
          <a:gradFill flip="none" rotWithShape="1">
            <a:gsLst>
              <a:gs pos="86000">
                <a:sysClr val="window" lastClr="FFFFFF">
                  <a:alpha val="0"/>
                  <a:lumMod val="98000"/>
                </a:sysClr>
              </a:gs>
              <a:gs pos="28000">
                <a:sysClr val="window" lastClr="FFFFFF">
                  <a:alpha val="40000"/>
                </a:sys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rgbClr val="4CB0FC">
              <a:shade val="15000"/>
            </a:srgbClr>
          </a:lnRef>
          <a:fillRef idx="1">
            <a:srgbClr val="4CB0FC"/>
          </a:fillRef>
          <a:effectRef idx="0">
            <a:srgbClr val="4CB0FC"/>
          </a:effectRef>
          <a:fontRef idx="minor">
            <a:sysClr val="window" lastClr="FFFFFF"/>
          </a:fontRef>
        </p:style>
        <p:txBody>
          <a:bodyPr wrap="square" lIns="68576" tIns="34289" rIns="68576" bIns="34289" rtlCol="0" anchor="ctr">
            <a:noAutofit/>
          </a:bodyPr>
          <a:lstStyle/>
          <a:p>
            <a:pPr algn="ctr" defTabSz="685800"/>
            <a:endParaRPr lang="zh-CN" altLang="en-US" sz="14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3844"/>
          </a:xfrm>
        </p:spPr>
        <p:txBody>
          <a:bodyPr lIns="68576" tIns="34289" rIns="68576" bIns="34289"/>
          <a:lstStyle/>
          <a:p>
            <a:pPr defTabSz="685800"/>
            <a:fld id="{82F288E0-7875-42C4-84C8-98DBBD3BF4D2}" type="datetimeFigureOut">
              <a:rPr lang="zh-CN" altLang="en-US" sz="1400" smtClean="0">
                <a:solidFill>
                  <a:srgbClr val="1B1B1B"/>
                </a:solidFill>
              </a:rPr>
              <a:t>2025/11/30</a:t>
            </a:fld>
            <a:endParaRPr lang="zh-CN" altLang="en-US" sz="1400">
              <a:solidFill>
                <a:srgbClr val="1B1B1B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3844"/>
          </a:xfrm>
        </p:spPr>
        <p:txBody>
          <a:bodyPr lIns="68576" tIns="34289" rIns="68576" bIns="34289"/>
          <a:lstStyle/>
          <a:p>
            <a:pPr defTabSz="685800"/>
            <a:endParaRPr lang="zh-CN" altLang="en-US" sz="1400">
              <a:solidFill>
                <a:srgbClr val="1B1B1B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3844"/>
          </a:xfrm>
        </p:spPr>
        <p:txBody>
          <a:bodyPr lIns="68576" tIns="34289" rIns="68576" bIns="34289"/>
          <a:lstStyle/>
          <a:p>
            <a:pPr defTabSz="685800"/>
            <a:fld id="{7D9BB5D0-35E4-459D-AEF3-FE4D7C45CC19}" type="slidenum">
              <a:rPr lang="zh-CN" altLang="en-US" sz="1400" smtClean="0">
                <a:solidFill>
                  <a:srgbClr val="1B1B1B"/>
                </a:solidFill>
              </a:rPr>
              <a:t>‹#›</a:t>
            </a:fld>
            <a:endParaRPr lang="zh-CN" altLang="en-US" sz="1400">
              <a:solidFill>
                <a:srgbClr val="1B1B1B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200366"/>
            <a:ext cx="7886700" cy="420121"/>
          </a:xfrm>
        </p:spPr>
        <p:txBody>
          <a:bodyPr lIns="68576" tIns="34289" rIns="68576" bIns="34289">
            <a:normAutofit/>
          </a:bodyPr>
          <a:lstStyle>
            <a:lvl1pPr>
              <a:defRPr sz="2400" b="1">
                <a:solidFill>
                  <a:schemeClr val="bg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3844"/>
          </a:xfrm>
        </p:spPr>
        <p:txBody>
          <a:bodyPr lIns="68576" tIns="34289" rIns="68576" bIns="34289"/>
          <a:lstStyle/>
          <a:p>
            <a:pPr defTabSz="685800"/>
            <a:fld id="{D997B5FA-0921-464F-AAE1-844C04324D75}" type="datetimeFigureOut">
              <a:rPr lang="zh-CN" altLang="en-US" sz="1400" smtClean="0">
                <a:solidFill>
                  <a:srgbClr val="1B1B1B"/>
                </a:solidFill>
              </a:rPr>
              <a:t>2025/11/30</a:t>
            </a:fld>
            <a:endParaRPr lang="zh-CN" altLang="en-US" sz="1400">
              <a:solidFill>
                <a:srgbClr val="1B1B1B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3844"/>
          </a:xfrm>
        </p:spPr>
        <p:txBody>
          <a:bodyPr lIns="68576" tIns="34289" rIns="68576" bIns="34289"/>
          <a:lstStyle/>
          <a:p>
            <a:pPr defTabSz="685800"/>
            <a:endParaRPr lang="zh-CN" altLang="en-US" sz="1400">
              <a:solidFill>
                <a:srgbClr val="1B1B1B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3844"/>
          </a:xfrm>
        </p:spPr>
        <p:txBody>
          <a:bodyPr lIns="68576" tIns="34289" rIns="68576" bIns="34289"/>
          <a:lstStyle/>
          <a:p>
            <a:pPr defTabSz="685800"/>
            <a:fld id="{565CE74E-AB26-4998-AD42-012C4C1AD076}" type="slidenum">
              <a:rPr lang="zh-CN" altLang="en-US" sz="1400" smtClean="0">
                <a:solidFill>
                  <a:srgbClr val="1B1B1B"/>
                </a:solidFill>
              </a:rPr>
              <a:t>‹#›</a:t>
            </a:fld>
            <a:endParaRPr lang="zh-CN" altLang="en-US" sz="1400">
              <a:solidFill>
                <a:srgbClr val="1B1B1B"/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20488"/>
            <a:ext cx="9144000" cy="452301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9" rIns="68576" bIns="34289" rtlCol="0" anchor="ctr"/>
          <a:lstStyle/>
          <a:p>
            <a:pPr algn="ctr" defTabSz="685800"/>
            <a:endParaRPr lang="zh-CN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tags" Target="../tags/tag1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ags" Target="../tags/tag1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41344" y="-423582"/>
            <a:ext cx="0" cy="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none" lIns="42862" tIns="42862" rIns="42862" bIns="42862" numCol="1" spcCol="953" rtlCol="0" anchor="ctr" anchorCtr="0">
            <a:noAutofit/>
          </a:bodyPr>
          <a:lstStyle/>
          <a:p>
            <a:pPr defTabSz="499745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endParaRPr kumimoji="1" lang="zh-CN" alt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6"/>
            </p:custDataLst>
          </p:nvPr>
        </p:nvSpPr>
        <p:spPr>
          <a:xfrm flipV="1"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87000">
                <a:sysClr val="window" lastClr="FFFFFF"/>
              </a:gs>
              <a:gs pos="855">
                <a:srgbClr val="D9EBFB">
                  <a:lumMod val="90000"/>
                </a:srgbClr>
              </a:gs>
              <a:gs pos="28000">
                <a:srgbClr val="D9EBFB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rgbClr val="4CB0FC">
              <a:shade val="15000"/>
            </a:srgbClr>
          </a:lnRef>
          <a:fillRef idx="1">
            <a:srgbClr val="4CB0FC"/>
          </a:fillRef>
          <a:effectRef idx="0">
            <a:srgbClr val="4CB0FC"/>
          </a:effectRef>
          <a:fontRef idx="minor">
            <a:sysClr val="window" lastClr="FFFFFF"/>
          </a:fontRef>
        </p:style>
        <p:txBody>
          <a:bodyPr lIns="68576" tIns="34289" rIns="68576" bIns="34289" rtlCol="0" anchor="ctr"/>
          <a:lstStyle/>
          <a:p>
            <a:pPr algn="ctr" defTabSz="685800"/>
            <a:endParaRPr lang="zh-CN" altLang="en-US" sz="1400"/>
          </a:p>
        </p:txBody>
      </p:sp>
      <p:sp>
        <p:nvSpPr>
          <p:cNvPr id="7" name="任意多边形 6"/>
          <p:cNvSpPr/>
          <p:nvPr userDrawn="1">
            <p:custDataLst>
              <p:tags r:id="rId7"/>
            </p:custDataLst>
          </p:nvPr>
        </p:nvSpPr>
        <p:spPr>
          <a:xfrm flipH="1">
            <a:off x="5671504" y="0"/>
            <a:ext cx="2607725" cy="51435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76" h="10800">
                <a:moveTo>
                  <a:pt x="0" y="0"/>
                </a:moveTo>
                <a:lnTo>
                  <a:pt x="3756" y="0"/>
                </a:lnTo>
                <a:lnTo>
                  <a:pt x="3879" y="173"/>
                </a:lnTo>
                <a:cubicBezTo>
                  <a:pt x="4887" y="1665"/>
                  <a:pt x="5476" y="3464"/>
                  <a:pt x="5476" y="5400"/>
                </a:cubicBezTo>
                <a:cubicBezTo>
                  <a:pt x="5476" y="7336"/>
                  <a:pt x="4887" y="9135"/>
                  <a:pt x="3879" y="10627"/>
                </a:cubicBezTo>
                <a:lnTo>
                  <a:pt x="3756" y="10800"/>
                </a:lnTo>
                <a:lnTo>
                  <a:pt x="0" y="10800"/>
                </a:lnTo>
                <a:lnTo>
                  <a:pt x="104" y="10726"/>
                </a:lnTo>
                <a:cubicBezTo>
                  <a:pt x="1724" y="9514"/>
                  <a:pt x="2774" y="7580"/>
                  <a:pt x="2774" y="5400"/>
                </a:cubicBezTo>
                <a:cubicBezTo>
                  <a:pt x="2774" y="3220"/>
                  <a:pt x="1724" y="1286"/>
                  <a:pt x="104" y="74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ysClr val="window" lastClr="FFFFFF">
                  <a:alpha val="0"/>
                </a:sysClr>
              </a:gs>
              <a:gs pos="28000">
                <a:sysClr val="window" lastClr="FFFFFF">
                  <a:alpha val="40000"/>
                </a:sysClr>
              </a:gs>
            </a:gsLst>
            <a:lin ang="10800000" scaled="1"/>
          </a:gradFill>
          <a:ln>
            <a:gradFill flip="none" rotWithShape="1">
              <a:gsLst>
                <a:gs pos="71000">
                  <a:sysClr val="window" lastClr="FFFFFF">
                    <a:alpha val="0"/>
                  </a:sysClr>
                </a:gs>
                <a:gs pos="100000">
                  <a:sysClr val="window" lastClr="FFFFFF"/>
                </a:gs>
              </a:gsLst>
              <a:lin ang="0" scaled="1"/>
              <a:tileRect/>
            </a:gradFill>
          </a:ln>
        </p:spPr>
        <p:style>
          <a:lnRef idx="2">
            <a:srgbClr val="4CB0FC">
              <a:shade val="15000"/>
            </a:srgbClr>
          </a:lnRef>
          <a:fillRef idx="1">
            <a:srgbClr val="4CB0FC"/>
          </a:fillRef>
          <a:effectRef idx="0">
            <a:srgbClr val="4CB0FC"/>
          </a:effectRef>
          <a:fontRef idx="minor">
            <a:sysClr val="window" lastClr="FFFFFF"/>
          </a:fontRef>
        </p:style>
        <p:txBody>
          <a:bodyPr vertOverflow="overflow" horzOverflow="overflow" vert="horz" wrap="square" lIns="68576" tIns="34289" rIns="68576" bIns="34289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ysClr val="window" lastClr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jpeg"/><Relationship Id="rId7" Type="http://schemas.openxmlformats.org/officeDocument/2006/relationships/image" Target="../media/image16.sv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Relationship Id="rId6" Type="http://schemas.openxmlformats.org/officeDocument/2006/relationships/image" Target="../media/image12.png"/><Relationship Id="rId5" Type="http://schemas.openxmlformats.org/officeDocument/2006/relationships/image" Target="../media/image14.sv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2" Type="http://schemas.openxmlformats.org/officeDocument/2006/relationships/tags" Target="../tags/tag24.xml"/><Relationship Id="rId16" Type="http://schemas.openxmlformats.org/officeDocument/2006/relationships/image" Target="../media/image15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notesSlide" Target="../notesSlides/notesSlide1.xml"/><Relationship Id="rId10" Type="http://schemas.openxmlformats.org/officeDocument/2006/relationships/tags" Target="../tags/tag32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26" Type="http://schemas.openxmlformats.org/officeDocument/2006/relationships/hyperlink" Target="https://dsc.kjt.shandong.gov.cn:27180/tech_statistics/index" TargetMode="External"/><Relationship Id="rId3" Type="http://schemas.openxmlformats.org/officeDocument/2006/relationships/tags" Target="../tags/tag39.xml"/><Relationship Id="rId21" Type="http://schemas.openxmlformats.org/officeDocument/2006/relationships/image" Target="../media/image15.png"/><Relationship Id="rId34" Type="http://schemas.openxmlformats.org/officeDocument/2006/relationships/hyperlink" Target="https://dsc.kjt.shandong.gov.cn/#/enterprise/talentPage/index" TargetMode="Externa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5" Type="http://schemas.openxmlformats.org/officeDocument/2006/relationships/hyperlink" Target="https://172.20.213.92:8090/#/industryMonitor/home" TargetMode="External"/><Relationship Id="rId33" Type="http://schemas.openxmlformats.org/officeDocument/2006/relationships/hyperlink" Target="https://dsc.kjt.shandong.gov.cn/#/enterprise/achievement/index" TargetMode="Externa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notesSlide" Target="../notesSlides/notesSlide3.xml"/><Relationship Id="rId29" Type="http://schemas.openxmlformats.org/officeDocument/2006/relationships/hyperlink" Target="https://dsc.kjt.shandong.gov.cn/#/enterprise/policy/index" TargetMode="Externa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openxmlformats.org/officeDocument/2006/relationships/hyperlink" Target="https://172.20.213.92:8090/#/graphServiceCenter/index" TargetMode="External"/><Relationship Id="rId32" Type="http://schemas.openxmlformats.org/officeDocument/2006/relationships/hyperlink" Target="https://dsc.kjt.shandong.gov.cn/#/enterprise/instrument/index" TargetMode="Externa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23" Type="http://schemas.openxmlformats.org/officeDocument/2006/relationships/hyperlink" Target="https://dsc.kjt.shandong.gov.cn:27180/tech_process/index" TargetMode="External"/><Relationship Id="rId28" Type="http://schemas.openxmlformats.org/officeDocument/2006/relationships/hyperlink" Target="https://dsc.kjt.shandong.gov.cn/#/enterprise/service/index" TargetMode="External"/><Relationship Id="rId10" Type="http://schemas.openxmlformats.org/officeDocument/2006/relationships/tags" Target="../tags/tag46.xml"/><Relationship Id="rId19" Type="http://schemas.openxmlformats.org/officeDocument/2006/relationships/slideLayout" Target="../slideLayouts/slideLayout8.xml"/><Relationship Id="rId31" Type="http://schemas.openxmlformats.org/officeDocument/2006/relationships/hyperlink" Target="https://dsc.kjt.shandong.gov.cn/#/enterprise/finance/newIndex" TargetMode="Externa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hyperlink" Target="https://172.20.213.92:8090/#/auxiliaryTool/index" TargetMode="External"/><Relationship Id="rId27" Type="http://schemas.openxmlformats.org/officeDocument/2006/relationships/hyperlink" Target="https://dsc.kjt.shandong.gov.cn/#/enterprise/wisdom/index" TargetMode="External"/><Relationship Id="rId30" Type="http://schemas.openxmlformats.org/officeDocument/2006/relationships/hyperlink" Target="https://dsc.kjt.shandong.gov.cn/#/enterprise/technicalManager/index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13" Type="http://schemas.openxmlformats.org/officeDocument/2006/relationships/image" Target="../media/image18.png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hyperlink" Target="https://dsc.kjt.shandong.gov.cn/#/enterprise/achievement/index" TargetMode="Externa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17.png"/><Relationship Id="rId5" Type="http://schemas.openxmlformats.org/officeDocument/2006/relationships/tags" Target="../tags/tag60.xml"/><Relationship Id="rId10" Type="http://schemas.openxmlformats.org/officeDocument/2006/relationships/image" Target="../media/image15.png"/><Relationship Id="rId4" Type="http://schemas.openxmlformats.org/officeDocument/2006/relationships/tags" Target="../tags/tag59.xml"/><Relationship Id="rId9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66.xml"/><Relationship Id="rId7" Type="http://schemas.openxmlformats.org/officeDocument/2006/relationships/image" Target="../media/image15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19.png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22.png"/><Relationship Id="rId4" Type="http://schemas.openxmlformats.org/officeDocument/2006/relationships/tags" Target="../tags/tag67.xml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70.xml"/><Relationship Id="rId7" Type="http://schemas.openxmlformats.org/officeDocument/2006/relationships/image" Target="../media/image25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73.xml"/><Relationship Id="rId7" Type="http://schemas.openxmlformats.org/officeDocument/2006/relationships/image" Target="../media/image28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76.xml"/><Relationship Id="rId7" Type="http://schemas.openxmlformats.org/officeDocument/2006/relationships/image" Target="../media/image15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10" Type="http://schemas.openxmlformats.org/officeDocument/2006/relationships/image" Target="../media/image15.png"/><Relationship Id="rId4" Type="http://schemas.openxmlformats.org/officeDocument/2006/relationships/tags" Target="../tags/tag80.xml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5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1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37.png"/><Relationship Id="rId5" Type="http://schemas.openxmlformats.org/officeDocument/2006/relationships/image" Target="../media/image36.jpe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39.png"/><Relationship Id="rId5" Type="http://schemas.openxmlformats.org/officeDocument/2006/relationships/tags" Target="../tags/tag92.xml"/><Relationship Id="rId10" Type="http://schemas.openxmlformats.org/officeDocument/2006/relationships/image" Target="../media/image38.png"/><Relationship Id="rId4" Type="http://schemas.openxmlformats.org/officeDocument/2006/relationships/tags" Target="../tags/tag91.xml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image" Target="../media/image41.png"/><Relationship Id="rId5" Type="http://schemas.openxmlformats.org/officeDocument/2006/relationships/tags" Target="../tags/tag99.xml"/><Relationship Id="rId10" Type="http://schemas.openxmlformats.org/officeDocument/2006/relationships/image" Target="../media/image40.png"/><Relationship Id="rId4" Type="http://schemas.openxmlformats.org/officeDocument/2006/relationships/tags" Target="../tags/tag98.xml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image" Target="../media/image43.png"/><Relationship Id="rId5" Type="http://schemas.openxmlformats.org/officeDocument/2006/relationships/tags" Target="../tags/tag106.xml"/><Relationship Id="rId10" Type="http://schemas.openxmlformats.org/officeDocument/2006/relationships/image" Target="../media/image42.png"/><Relationship Id="rId4" Type="http://schemas.openxmlformats.org/officeDocument/2006/relationships/tags" Target="../tags/tag105.xml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slideLayout" Target="../slideLayouts/slideLayout8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5" Type="http://schemas.openxmlformats.org/officeDocument/2006/relationships/tags" Target="../tags/tag113.xml"/><Relationship Id="rId15" Type="http://schemas.openxmlformats.org/officeDocument/2006/relationships/image" Target="../media/image44.png"/><Relationship Id="rId10" Type="http://schemas.openxmlformats.org/officeDocument/2006/relationships/tags" Target="../tags/tag118.xml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17" Type="http://schemas.openxmlformats.org/officeDocument/2006/relationships/image" Target="../media/image15.png"/><Relationship Id="rId2" Type="http://schemas.openxmlformats.org/officeDocument/2006/relationships/tags" Target="../tags/tag122.xml"/><Relationship Id="rId16" Type="http://schemas.openxmlformats.org/officeDocument/2006/relationships/notesSlide" Target="../notesSlides/notesSlide5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5" Type="http://schemas.openxmlformats.org/officeDocument/2006/relationships/slideLayout" Target="../slideLayouts/slideLayout8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tags" Target="../tags/tag1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天蝎PPT©1"/>
          <p:cNvSpPr/>
          <p:nvPr/>
        </p:nvSpPr>
        <p:spPr>
          <a:xfrm>
            <a:off x="0" y="477"/>
            <a:ext cx="9144000" cy="514302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天蝎PPT©1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 flipH="1">
            <a:off x="4588493" y="-3204"/>
            <a:ext cx="4551746" cy="5146228"/>
          </a:xfrm>
          <a:prstGeom prst="rect">
            <a:avLst/>
          </a:prstGeom>
        </p:spPr>
      </p:pic>
      <p:pic>
        <p:nvPicPr>
          <p:cNvPr id="4" name="天蝎PPT©10"/>
          <p:cNvPicPr>
            <a:picLocks noChangeAspect="1"/>
          </p:cNvPicPr>
          <p:nvPr/>
        </p:nvPicPr>
        <p:blipFill>
          <a:blip r:embed="rId4" cstate="email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2280" y="4486135"/>
            <a:ext cx="203387" cy="203387"/>
          </a:xfrm>
          <a:prstGeom prst="rect">
            <a:avLst/>
          </a:prstGeom>
        </p:spPr>
      </p:pic>
      <p:pic>
        <p:nvPicPr>
          <p:cNvPr id="5" name="天蝎PPT©12"/>
          <p:cNvPicPr>
            <a:picLocks noChangeAspect="1"/>
          </p:cNvPicPr>
          <p:nvPr/>
        </p:nvPicPr>
        <p:blipFill>
          <a:blip r:embed="rId6" cstate="email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712" y="4481297"/>
            <a:ext cx="252545" cy="2525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135" y="195739"/>
            <a:ext cx="2498884" cy="896303"/>
          </a:xfrm>
          <a:prstGeom prst="rect">
            <a:avLst/>
          </a:prstGeom>
        </p:spPr>
      </p:pic>
      <p:pic>
        <p:nvPicPr>
          <p:cNvPr id="7" name="天蝎PPT©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lum bright="78000" contrast="88000"/>
          </a:blip>
          <a:stretch>
            <a:fillRect/>
          </a:stretch>
        </p:blipFill>
        <p:spPr>
          <a:xfrm>
            <a:off x="93308" y="4035581"/>
            <a:ext cx="941492" cy="90110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7" y="0"/>
            <a:ext cx="1975961" cy="5467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29879" y="3705702"/>
            <a:ext cx="2800350" cy="509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山东省创新发展研究院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综合部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6227" y="1619726"/>
            <a:ext cx="4087654" cy="15859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>
              <a:lnSpc>
                <a:spcPts val="2520"/>
              </a:lnSpc>
            </a:pPr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信息化建设汇报</a:t>
            </a:r>
            <a:endParaRPr lang="zh-CN" altLang="en-US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ctr">
              <a:lnSpc>
                <a:spcPts val="2520"/>
              </a:lnSpc>
              <a:spcBef>
                <a:spcPts val="450"/>
              </a:spcBef>
              <a:spcAft>
                <a:spcPts val="450"/>
              </a:spcAft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2023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年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-2025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年）</a:t>
            </a:r>
          </a:p>
        </p:txBody>
      </p:sp>
      <p:sp>
        <p:nvSpPr>
          <p:cNvPr id="11" name="矩形 10"/>
          <p:cNvSpPr/>
          <p:nvPr/>
        </p:nvSpPr>
        <p:spPr>
          <a:xfrm>
            <a:off x="1060848" y="4265359"/>
            <a:ext cx="2538413" cy="538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2025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年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11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月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天蝎PPT©1"/>
          <p:cNvSpPr/>
          <p:nvPr/>
        </p:nvSpPr>
        <p:spPr>
          <a:xfrm>
            <a:off x="-38576" y="4634389"/>
            <a:ext cx="9193054" cy="49387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7" y="0"/>
            <a:ext cx="1975961" cy="546735"/>
          </a:xfrm>
          <a:prstGeom prst="rect">
            <a:avLst/>
          </a:prstGeom>
        </p:spPr>
      </p:pic>
      <p:grpSp>
        <p:nvGrpSpPr>
          <p:cNvPr id="49" name="天蝎PPT©12"/>
          <p:cNvGrpSpPr/>
          <p:nvPr/>
        </p:nvGrpSpPr>
        <p:grpSpPr>
          <a:xfrm>
            <a:off x="1926059" y="-1316225"/>
            <a:ext cx="6341165" cy="1913591"/>
            <a:chOff x="1522067" y="7738191"/>
            <a:chExt cx="8793526" cy="3637312"/>
          </a:xfrm>
        </p:grpSpPr>
        <p:sp>
          <p:nvSpPr>
            <p:cNvPr id="50" name="天蝎PPT©12-1"/>
            <p:cNvSpPr/>
            <p:nvPr userDrawn="1">
              <p:custDataLst>
                <p:tags r:id="rId12"/>
              </p:custDataLst>
            </p:nvPr>
          </p:nvSpPr>
          <p:spPr>
            <a:xfrm>
              <a:off x="1522067" y="7738192"/>
              <a:ext cx="8793526" cy="3637311"/>
            </a:xfrm>
            <a:custGeom>
              <a:avLst/>
              <a:gdLst>
                <a:gd name="connsiteX0" fmla="*/ 0 w 8793526"/>
                <a:gd name="connsiteY0" fmla="*/ 0 h 3637311"/>
                <a:gd name="connsiteX1" fmla="*/ 8793526 w 8793526"/>
                <a:gd name="connsiteY1" fmla="*/ 0 h 3637311"/>
                <a:gd name="connsiteX2" fmla="*/ 8782272 w 8793526"/>
                <a:gd name="connsiteY2" fmla="*/ 63018 h 3637311"/>
                <a:gd name="connsiteX3" fmla="*/ 4396763 w 8793526"/>
                <a:gd name="connsiteY3" fmla="*/ 3637311 h 3637311"/>
                <a:gd name="connsiteX4" fmla="*/ 11254 w 8793526"/>
                <a:gd name="connsiteY4" fmla="*/ 63018 h 3637311"/>
                <a:gd name="connsiteX5" fmla="*/ 0 w 8793526"/>
                <a:gd name="connsiteY5" fmla="*/ 0 h 363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793526" h="3637311">
                  <a:moveTo>
                    <a:pt x="0" y="0"/>
                  </a:moveTo>
                  <a:lnTo>
                    <a:pt x="8793526" y="0"/>
                  </a:lnTo>
                  <a:lnTo>
                    <a:pt x="8782272" y="63018"/>
                  </a:lnTo>
                  <a:cubicBezTo>
                    <a:pt x="8364860" y="2102863"/>
                    <a:pt x="6560006" y="3637311"/>
                    <a:pt x="4396763" y="3637311"/>
                  </a:cubicBezTo>
                  <a:cubicBezTo>
                    <a:pt x="2233520" y="3637311"/>
                    <a:pt x="428666" y="2102863"/>
                    <a:pt x="11254" y="63018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7000">
                  <a:srgbClr val="376349">
                    <a:alpha val="0"/>
                  </a:srgbClr>
                </a:gs>
                <a:gs pos="99000">
                  <a:srgbClr val="376349">
                    <a:alpha val="86253"/>
                  </a:srgbClr>
                </a:gs>
              </a:gsLst>
              <a:path path="circle">
                <a:fillToRect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1" name="天蝎PPT©12-2"/>
            <p:cNvSpPr/>
            <p:nvPr userDrawn="1">
              <p:custDataLst>
                <p:tags r:id="rId13"/>
              </p:custDataLst>
            </p:nvPr>
          </p:nvSpPr>
          <p:spPr>
            <a:xfrm>
              <a:off x="1522067" y="7738191"/>
              <a:ext cx="8793526" cy="3637311"/>
            </a:xfrm>
            <a:custGeom>
              <a:avLst/>
              <a:gdLst>
                <a:gd name="connsiteX0" fmla="*/ 0 w 8793526"/>
                <a:gd name="connsiteY0" fmla="*/ 0 h 3637311"/>
                <a:gd name="connsiteX1" fmla="*/ 8793526 w 8793526"/>
                <a:gd name="connsiteY1" fmla="*/ 0 h 3637311"/>
                <a:gd name="connsiteX2" fmla="*/ 8782272 w 8793526"/>
                <a:gd name="connsiteY2" fmla="*/ 63018 h 3637311"/>
                <a:gd name="connsiteX3" fmla="*/ 4396763 w 8793526"/>
                <a:gd name="connsiteY3" fmla="*/ 3637311 h 3637311"/>
                <a:gd name="connsiteX4" fmla="*/ 11254 w 8793526"/>
                <a:gd name="connsiteY4" fmla="*/ 63018 h 3637311"/>
                <a:gd name="connsiteX5" fmla="*/ 0 w 8793526"/>
                <a:gd name="connsiteY5" fmla="*/ 0 h 363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793526" h="3637311">
                  <a:moveTo>
                    <a:pt x="0" y="0"/>
                  </a:moveTo>
                  <a:lnTo>
                    <a:pt x="8793526" y="0"/>
                  </a:lnTo>
                  <a:lnTo>
                    <a:pt x="8782272" y="63018"/>
                  </a:lnTo>
                  <a:cubicBezTo>
                    <a:pt x="8364860" y="2102863"/>
                    <a:pt x="6560006" y="3637311"/>
                    <a:pt x="4396763" y="3637311"/>
                  </a:cubicBezTo>
                  <a:cubicBezTo>
                    <a:pt x="2233520" y="3637311"/>
                    <a:pt x="428666" y="2102863"/>
                    <a:pt x="11254" y="63018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3000">
                  <a:schemeClr val="accent1">
                    <a:alpha val="0"/>
                  </a:schemeClr>
                </a:gs>
                <a:gs pos="97000">
                  <a:schemeClr val="accent3"/>
                </a:gs>
              </a:gsLst>
              <a:path path="circle">
                <a:fillToRect/>
              </a:path>
              <a:tileRect/>
            </a:gra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8" name="MH_Others_1"/>
          <p:cNvSpPr txBox="1"/>
          <p:nvPr>
            <p:custDataLst>
              <p:tags r:id="rId1"/>
            </p:custDataLst>
          </p:nvPr>
        </p:nvSpPr>
        <p:spPr>
          <a:xfrm>
            <a:off x="298144" y="1848825"/>
            <a:ext cx="1533014" cy="55387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zh-CN" altLang="en-US" sz="3600" b="1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+mj-ea"/>
                <a:sym typeface="Arial" panose="020B0604020202020204" pitchFamily="34" charset="0"/>
              </a:rPr>
              <a:t>目  录</a:t>
            </a:r>
          </a:p>
        </p:txBody>
      </p:sp>
      <p:sp>
        <p:nvSpPr>
          <p:cNvPr id="59" name="MH_Others_2"/>
          <p:cNvSpPr txBox="1"/>
          <p:nvPr>
            <p:custDataLst>
              <p:tags r:id="rId2"/>
            </p:custDataLst>
          </p:nvPr>
        </p:nvSpPr>
        <p:spPr>
          <a:xfrm>
            <a:off x="313984" y="2626259"/>
            <a:ext cx="1517528" cy="2767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en-US" altLang="zh-CN" b="1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Arial" panose="020B0604020202020204" pitchFamily="34" charset="0"/>
              </a:rPr>
              <a:t>CONTENTS</a:t>
            </a:r>
          </a:p>
        </p:txBody>
      </p:sp>
      <p:grpSp>
        <p:nvGrpSpPr>
          <p:cNvPr id="2" name="组合 1"/>
          <p:cNvGrpSpPr/>
          <p:nvPr>
            <p:custDataLst>
              <p:tags r:id="rId3"/>
            </p:custDataLst>
          </p:nvPr>
        </p:nvGrpSpPr>
        <p:grpSpPr>
          <a:xfrm>
            <a:off x="2141696" y="1059583"/>
            <a:ext cx="5220653" cy="810101"/>
            <a:chOff x="2855595" y="1927468"/>
            <a:chExt cx="6960870" cy="1080135"/>
          </a:xfrm>
        </p:grpSpPr>
        <p:sp>
          <p:nvSpPr>
            <p:cNvPr id="73" name="矩形: 圆角 17"/>
            <p:cNvSpPr/>
            <p:nvPr>
              <p:custDataLst>
                <p:tags r:id="rId10"/>
              </p:custDataLst>
            </p:nvPr>
          </p:nvSpPr>
          <p:spPr>
            <a:xfrm>
              <a:off x="2855595" y="1927468"/>
              <a:ext cx="6960870" cy="1080135"/>
            </a:xfrm>
            <a:prstGeom prst="roundRect">
              <a:avLst>
                <a:gd name="adj" fmla="val 9181"/>
              </a:avLst>
            </a:prstGeom>
            <a:solidFill>
              <a:srgbClr val="FFFFFF"/>
            </a:solidFill>
            <a:ln>
              <a:solidFill>
                <a:schemeClr val="accent1">
                  <a:lumMod val="20000"/>
                  <a:lumOff val="80000"/>
                  <a:alpha val="50000"/>
                </a:schemeClr>
              </a:solidFill>
            </a:ln>
            <a:effectLst>
              <a:outerShdw blurRad="114300" dist="114300" dir="2700000" algn="tl" rotWithShape="0">
                <a:schemeClr val="accent1">
                  <a:alpha val="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>
                <a:latin typeface="+mn-ea"/>
                <a:sym typeface="+mn-ea"/>
              </a:endParaRPr>
            </a:p>
          </p:txBody>
        </p:sp>
        <p:sp>
          <p:nvSpPr>
            <p:cNvPr id="75" name="项标题"/>
            <p:cNvSpPr txBox="1"/>
            <p:nvPr>
              <p:custDataLst>
                <p:tags r:id="rId11"/>
              </p:custDataLst>
            </p:nvPr>
          </p:nvSpPr>
          <p:spPr>
            <a:xfrm>
              <a:off x="4369435" y="2093838"/>
              <a:ext cx="5355590" cy="81216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b="1" spc="225" dirty="0">
                  <a:solidFill>
                    <a:schemeClr val="bg2">
                      <a:lumMod val="50000"/>
                    </a:schemeClr>
                  </a:solidFill>
                  <a:latin typeface="+mn-ea"/>
                </a:rPr>
                <a:t>信息化建设规划</a:t>
              </a: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143885" y="2060183"/>
              <a:ext cx="826770" cy="824230"/>
              <a:chOff x="2796" y="1545"/>
              <a:chExt cx="1302" cy="1298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2964" y="1709"/>
                <a:ext cx="1134" cy="1134"/>
              </a:xfrm>
              <a:prstGeom prst="rect">
                <a:avLst/>
              </a:prstGeom>
              <a:noFill/>
              <a:ln w="19050">
                <a:solidFill>
                  <a:schemeClr val="bg2">
                    <a:lumMod val="2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796" y="1545"/>
                <a:ext cx="1134" cy="1134"/>
              </a:xfrm>
              <a:prstGeom prst="rect">
                <a:avLst/>
              </a:prstGeom>
              <a:solidFill>
                <a:srgbClr val="167BD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100" b="1"/>
                  <a:t>01</a:t>
                </a:r>
              </a:p>
            </p:txBody>
          </p:sp>
        </p:grpSp>
      </p:grpSp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2141696" y="1989025"/>
            <a:ext cx="5220653" cy="810101"/>
            <a:chOff x="2855595" y="3140953"/>
            <a:chExt cx="6960870" cy="1080135"/>
          </a:xfrm>
        </p:grpSpPr>
        <p:sp>
          <p:nvSpPr>
            <p:cNvPr id="78" name="矩形: 圆角 18"/>
            <p:cNvSpPr/>
            <p:nvPr>
              <p:custDataLst>
                <p:tags r:id="rId8"/>
              </p:custDataLst>
            </p:nvPr>
          </p:nvSpPr>
          <p:spPr>
            <a:xfrm>
              <a:off x="2855595" y="3140953"/>
              <a:ext cx="6960870" cy="1080135"/>
            </a:xfrm>
            <a:prstGeom prst="roundRect">
              <a:avLst>
                <a:gd name="adj" fmla="val 9181"/>
              </a:avLst>
            </a:prstGeom>
            <a:solidFill>
              <a:srgbClr val="FFFFFF"/>
            </a:solidFill>
            <a:ln>
              <a:solidFill>
                <a:schemeClr val="accent1">
                  <a:lumMod val="20000"/>
                  <a:lumOff val="80000"/>
                  <a:alpha val="50000"/>
                </a:schemeClr>
              </a:solidFill>
            </a:ln>
            <a:effectLst>
              <a:outerShdw blurRad="114300" dist="114300" dir="2700000" algn="tl" rotWithShape="0">
                <a:schemeClr val="accent1">
                  <a:alpha val="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>
                <a:latin typeface="+mn-ea"/>
                <a:sym typeface="+mn-ea"/>
              </a:endParaRPr>
            </a:p>
          </p:txBody>
        </p:sp>
        <p:sp>
          <p:nvSpPr>
            <p:cNvPr id="80" name="项标题"/>
            <p:cNvSpPr txBox="1"/>
            <p:nvPr>
              <p:custDataLst>
                <p:tags r:id="rId9"/>
              </p:custDataLst>
            </p:nvPr>
          </p:nvSpPr>
          <p:spPr>
            <a:xfrm>
              <a:off x="4369435" y="3287003"/>
              <a:ext cx="5311140" cy="81216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b="1" spc="225" dirty="0">
                  <a:solidFill>
                    <a:schemeClr val="bg2">
                      <a:lumMod val="50000"/>
                    </a:schemeClr>
                  </a:solidFill>
                  <a:latin typeface="+mn-ea"/>
                  <a:sym typeface="+mn-ea"/>
                </a:rPr>
                <a:t>2023-2025</a:t>
              </a:r>
              <a:r>
                <a:rPr lang="zh-CN" altLang="en-US" b="1" spc="225" dirty="0">
                  <a:solidFill>
                    <a:schemeClr val="bg2">
                      <a:lumMod val="50000"/>
                    </a:schemeClr>
                  </a:solidFill>
                  <a:latin typeface="+mn-ea"/>
                  <a:sym typeface="+mn-ea"/>
                </a:rPr>
                <a:t>年建设情况</a:t>
              </a: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143885" y="3323198"/>
              <a:ext cx="826770" cy="824230"/>
              <a:chOff x="2796" y="1545"/>
              <a:chExt cx="1302" cy="1298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2964" y="1709"/>
                <a:ext cx="1134" cy="1134"/>
              </a:xfrm>
              <a:prstGeom prst="rect">
                <a:avLst/>
              </a:prstGeom>
              <a:noFill/>
              <a:ln w="19050">
                <a:solidFill>
                  <a:schemeClr val="bg2">
                    <a:lumMod val="2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2796" y="1545"/>
                <a:ext cx="1134" cy="1134"/>
              </a:xfrm>
              <a:prstGeom prst="rect">
                <a:avLst/>
              </a:prstGeom>
              <a:solidFill>
                <a:srgbClr val="167BD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100" b="1"/>
                  <a:t>02</a:t>
                </a:r>
              </a:p>
            </p:txBody>
          </p:sp>
        </p:grpSp>
      </p:grpSp>
      <p:grpSp>
        <p:nvGrpSpPr>
          <p:cNvPr id="4" name="组合 3"/>
          <p:cNvGrpSpPr/>
          <p:nvPr>
            <p:custDataLst>
              <p:tags r:id="rId5"/>
            </p:custDataLst>
          </p:nvPr>
        </p:nvGrpSpPr>
        <p:grpSpPr>
          <a:xfrm>
            <a:off x="2141696" y="2918468"/>
            <a:ext cx="5220653" cy="810101"/>
            <a:chOff x="2855595" y="4405982"/>
            <a:chExt cx="6960870" cy="1080135"/>
          </a:xfrm>
        </p:grpSpPr>
        <p:sp>
          <p:nvSpPr>
            <p:cNvPr id="19" name="矩形: 圆角 18"/>
            <p:cNvSpPr/>
            <p:nvPr>
              <p:custDataLst>
                <p:tags r:id="rId6"/>
              </p:custDataLst>
            </p:nvPr>
          </p:nvSpPr>
          <p:spPr>
            <a:xfrm>
              <a:off x="2855595" y="4405982"/>
              <a:ext cx="6960870" cy="1080135"/>
            </a:xfrm>
            <a:prstGeom prst="roundRect">
              <a:avLst>
                <a:gd name="adj" fmla="val 9181"/>
              </a:avLst>
            </a:prstGeom>
            <a:solidFill>
              <a:srgbClr val="FFFFFF"/>
            </a:solidFill>
            <a:ln>
              <a:solidFill>
                <a:schemeClr val="accent1">
                  <a:lumMod val="20000"/>
                  <a:lumOff val="80000"/>
                  <a:alpha val="50000"/>
                </a:schemeClr>
              </a:solidFill>
            </a:ln>
            <a:effectLst>
              <a:outerShdw blurRad="114300" dist="114300" dir="2700000" algn="tl" rotWithShape="0">
                <a:schemeClr val="accent1">
                  <a:alpha val="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>
                <a:latin typeface="+mn-ea"/>
                <a:sym typeface="+mn-ea"/>
              </a:endParaRPr>
            </a:p>
          </p:txBody>
        </p:sp>
        <p:sp>
          <p:nvSpPr>
            <p:cNvPr id="20" name="项标题"/>
            <p:cNvSpPr txBox="1"/>
            <p:nvPr>
              <p:custDataLst>
                <p:tags r:id="rId7"/>
              </p:custDataLst>
            </p:nvPr>
          </p:nvSpPr>
          <p:spPr>
            <a:xfrm>
              <a:off x="4369435" y="4552032"/>
              <a:ext cx="5311140" cy="81216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b="1" spc="225" dirty="0">
                  <a:solidFill>
                    <a:schemeClr val="bg2">
                      <a:lumMod val="50000"/>
                    </a:schemeClr>
                  </a:solidFill>
                  <a:latin typeface="+mn-ea"/>
                  <a:sym typeface="+mn-ea"/>
                </a:rPr>
                <a:t>2026</a:t>
              </a:r>
              <a:r>
                <a:rPr lang="zh-CN" altLang="en-US" b="1" spc="225" dirty="0">
                  <a:solidFill>
                    <a:schemeClr val="bg2">
                      <a:lumMod val="50000"/>
                    </a:schemeClr>
                  </a:solidFill>
                  <a:latin typeface="+mn-ea"/>
                  <a:sym typeface="+mn-ea"/>
                </a:rPr>
                <a:t>年建设需求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3143885" y="4588227"/>
              <a:ext cx="826770" cy="824230"/>
              <a:chOff x="2796" y="1545"/>
              <a:chExt cx="1302" cy="1298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2964" y="1709"/>
                <a:ext cx="1134" cy="1134"/>
              </a:xfrm>
              <a:prstGeom prst="rect">
                <a:avLst/>
              </a:prstGeom>
              <a:noFill/>
              <a:ln w="19050">
                <a:solidFill>
                  <a:schemeClr val="bg2">
                    <a:lumMod val="2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2796" y="1545"/>
                <a:ext cx="1134" cy="1134"/>
              </a:xfrm>
              <a:prstGeom prst="rect">
                <a:avLst/>
              </a:prstGeom>
              <a:solidFill>
                <a:srgbClr val="167BD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100" b="1" dirty="0"/>
                  <a:t>03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7" y="0"/>
            <a:ext cx="1975961" cy="546735"/>
          </a:xfrm>
          <a:prstGeom prst="rect">
            <a:avLst/>
          </a:prstGeom>
        </p:spPr>
      </p:pic>
      <p:pic>
        <p:nvPicPr>
          <p:cNvPr id="2" name="图片 1" descr="a1280479-6c17-43f2-a4fd-32b7e6746a4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94447" y="2275999"/>
            <a:ext cx="3941921" cy="286750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97644" y="935831"/>
            <a:ext cx="6881336" cy="1641039"/>
            <a:chOff x="421504" y="2268310"/>
            <a:chExt cx="8717012" cy="2188209"/>
          </a:xfrm>
        </p:grpSpPr>
        <p:sp>
          <p:nvSpPr>
            <p:cNvPr id="4" name="矩形: 圆角 3"/>
            <p:cNvSpPr/>
            <p:nvPr/>
          </p:nvSpPr>
          <p:spPr>
            <a:xfrm>
              <a:off x="695400" y="2268310"/>
              <a:ext cx="3672408" cy="601013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r>
                <a:rPr lang="zh-CN" altLang="en-US" sz="3000" b="1" dirty="0">
                  <a:solidFill>
                    <a:srgbClr val="066FB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第一部分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767408" y="3029380"/>
              <a:ext cx="6084000" cy="36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21504" y="3225324"/>
              <a:ext cx="8717012" cy="12311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b="1" spc="225" dirty="0">
                  <a:solidFill>
                    <a:srgbClr val="066FBB"/>
                  </a:solidFill>
                  <a:latin typeface="+mn-ea"/>
                  <a:sym typeface="+mn-ea"/>
                </a:rPr>
                <a:t>  </a:t>
              </a:r>
              <a:r>
                <a:rPr lang="zh-CN" altLang="en-US" sz="3000" b="1" spc="225" dirty="0">
                  <a:solidFill>
                    <a:srgbClr val="066FBB"/>
                  </a:solidFill>
                  <a:latin typeface="+mn-ea"/>
                  <a:sym typeface="+mn-ea"/>
                </a:rPr>
                <a:t>信息化建设规划</a:t>
              </a:r>
            </a:p>
            <a:p>
              <a:endParaRPr lang="zh-CN" altLang="en-US" sz="2400" b="1" spc="225" dirty="0">
                <a:solidFill>
                  <a:srgbClr val="066FBB"/>
                </a:solidFill>
                <a:latin typeface="+mn-ea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7" y="0"/>
            <a:ext cx="1975961" cy="546735"/>
          </a:xfrm>
          <a:prstGeom prst="rect">
            <a:avLst/>
          </a:prstGeom>
        </p:spPr>
      </p:pic>
      <p:sp>
        <p:nvSpPr>
          <p:cNvPr id="2" name="标题 8"/>
          <p:cNvSpPr>
            <a:spLocks noGrp="1"/>
          </p:cNvSpPr>
          <p:nvPr/>
        </p:nvSpPr>
        <p:spPr>
          <a:xfrm>
            <a:off x="272891" y="190024"/>
            <a:ext cx="5718810" cy="322421"/>
          </a:xfrm>
          <a:prstGeom prst="rect">
            <a:avLst/>
          </a:prstGeom>
        </p:spPr>
        <p:txBody>
          <a:bodyPr lIns="68580" tIns="34290" rIns="68580" bIns="3429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>
                <a:solidFill>
                  <a:srgbClr val="066FBB"/>
                </a:solidFill>
                <a:latin typeface="+mj-ea"/>
                <a:cs typeface="+mj-ea"/>
                <a:sym typeface="+mn-ea"/>
              </a:rPr>
              <a:t>1.2 </a:t>
            </a:r>
            <a:r>
              <a:rPr lang="zh-CN" altLang="en-US" sz="2100" b="1" spc="225" dirty="0">
                <a:solidFill>
                  <a:srgbClr val="066FBB"/>
                </a:solidFill>
                <a:latin typeface="+mj-ea"/>
                <a:cs typeface="+mj-ea"/>
                <a:sym typeface="+mn-ea"/>
              </a:rPr>
              <a:t>信息化建设全景</a:t>
            </a:r>
            <a:endParaRPr lang="zh-CN" altLang="en-US" sz="2100" b="1" spc="225" dirty="0">
              <a:solidFill>
                <a:srgbClr val="066FBB"/>
              </a:solidFill>
              <a:latin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26020" y="1005576"/>
            <a:ext cx="7890396" cy="3618402"/>
            <a:chOff x="-202526" y="1005576"/>
            <a:chExt cx="7890396" cy="3618402"/>
          </a:xfrm>
        </p:grpSpPr>
        <p:grpSp>
          <p:nvGrpSpPr>
            <p:cNvPr id="389" name="组合 388"/>
            <p:cNvGrpSpPr/>
            <p:nvPr/>
          </p:nvGrpSpPr>
          <p:grpSpPr>
            <a:xfrm>
              <a:off x="-202526" y="4161819"/>
              <a:ext cx="459000" cy="435626"/>
              <a:chOff x="767408" y="5831709"/>
              <a:chExt cx="720000" cy="580834"/>
            </a:xfrm>
          </p:grpSpPr>
          <p:sp>
            <p:nvSpPr>
              <p:cNvPr id="390" name="矩形: 圆角 60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7408" y="5831709"/>
                <a:ext cx="720000" cy="180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/>
                <a:r>
                  <a:rPr lang="en-US" altLang="zh-CN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</a:rPr>
                  <a:t>2023</a:t>
                </a:r>
                <a:endParaRPr lang="zh-CN" altLang="en-US" sz="800" b="1" kern="0" dirty="0">
                  <a:solidFill>
                    <a:prstClr val="white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91" name="矩形: 圆角 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7408" y="6032126"/>
                <a:ext cx="720000" cy="180000"/>
              </a:xfrm>
              <a:prstGeom prst="roundRect">
                <a:avLst/>
              </a:prstGeom>
              <a:solidFill>
                <a:srgbClr val="066FBB"/>
              </a:solidFill>
              <a:ln w="9525" algn="ctr">
                <a:noFill/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en-US" altLang="zh-CN" sz="800" b="1" dirty="0">
                    <a:solidFill>
                      <a:srgbClr val="FFFFFF"/>
                    </a:solidFill>
                    <a:latin typeface="微软雅黑" panose="020B0503020204020204" pitchFamily="34" charset="-122"/>
                  </a:rPr>
                  <a:t>2024</a:t>
                </a:r>
                <a:endParaRPr lang="zh-CN" altLang="en-US" sz="800" b="1" dirty="0">
                  <a:solidFill>
                    <a:srgbClr val="FFFFFF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92" name="矩形: 圆角 60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7408" y="6232543"/>
                <a:ext cx="720000" cy="180000"/>
              </a:xfrm>
              <a:prstGeom prst="roundRect">
                <a:avLst/>
              </a:prstGeom>
              <a:solidFill>
                <a:srgbClr val="CCFF9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/>
                <a:r>
                  <a:rPr lang="en-US" altLang="zh-CN" sz="800" b="1" kern="0" dirty="0">
                    <a:solidFill>
                      <a:srgbClr val="1B1B1B"/>
                    </a:solidFill>
                    <a:latin typeface="微软雅黑" panose="020B0503020204020204" pitchFamily="34" charset="-122"/>
                  </a:rPr>
                  <a:t>2025</a:t>
                </a:r>
                <a:endParaRPr lang="zh-CN" altLang="en-US" sz="800" b="1" kern="0" dirty="0">
                  <a:solidFill>
                    <a:srgbClr val="1B1B1B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36583" y="3300674"/>
              <a:ext cx="607025" cy="1323304"/>
              <a:chOff x="1631504" y="4400899"/>
              <a:chExt cx="809366" cy="1764405"/>
            </a:xfrm>
          </p:grpSpPr>
          <p:sp>
            <p:nvSpPr>
              <p:cNvPr id="119" name="矩形 118"/>
              <p:cNvSpPr/>
              <p:nvPr/>
            </p:nvSpPr>
            <p:spPr>
              <a:xfrm>
                <a:off x="1631504" y="4400899"/>
                <a:ext cx="809366" cy="1764405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 defTabSz="914400"/>
                <a:endParaRPr lang="zh-CN" altLang="en-US" sz="1100" b="1" dirty="0">
                  <a:solidFill>
                    <a:srgbClr val="1B1B1B"/>
                  </a:solidFill>
                  <a:latin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124" name="文本框 51"/>
              <p:cNvSpPr txBox="1"/>
              <p:nvPr/>
            </p:nvSpPr>
            <p:spPr>
              <a:xfrm>
                <a:off x="1631504" y="4401060"/>
                <a:ext cx="809366" cy="1764244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sym typeface="+mn-lt"/>
                  </a:rPr>
                  <a:t>底层</a:t>
                </a:r>
                <a:endParaRPr lang="en-US" altLang="zh-CN" sz="800" b="1" dirty="0">
                  <a:solidFill>
                    <a:srgbClr val="000000"/>
                  </a:solidFill>
                  <a:latin typeface="微软雅黑" panose="020B0503020204020204" pitchFamily="34" charset="-122"/>
                  <a:sym typeface="+mn-lt"/>
                </a:endParaRPr>
              </a:p>
              <a:p>
                <a:pPr algn="ctr" defTabSz="914400"/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sym typeface="+mn-lt"/>
                  </a:rPr>
                  <a:t>能力</a:t>
                </a:r>
              </a:p>
            </p:txBody>
          </p:sp>
        </p:grpSp>
        <p:sp>
          <p:nvSpPr>
            <p:cNvPr id="298" name="矩形 297"/>
            <p:cNvSpPr/>
            <p:nvPr/>
          </p:nvSpPr>
          <p:spPr>
            <a:xfrm>
              <a:off x="1115616" y="1005576"/>
              <a:ext cx="6572254" cy="2173742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b="1">
                <a:latin typeface="微软雅黑" panose="020B0503020204020204" pitchFamily="34" charset="-122"/>
                <a:sym typeface="+mn-lt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259632" y="1491630"/>
              <a:ext cx="3060429" cy="1620216"/>
              <a:chOff x="1367355" y="1988840"/>
              <a:chExt cx="4080573" cy="2160287"/>
            </a:xfrm>
          </p:grpSpPr>
          <p:sp>
            <p:nvSpPr>
              <p:cNvPr id="336" name="矩形 335"/>
              <p:cNvSpPr/>
              <p:nvPr/>
            </p:nvSpPr>
            <p:spPr>
              <a:xfrm>
                <a:off x="1367355" y="1988840"/>
                <a:ext cx="4080572" cy="2160287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 defTabSz="914400"/>
                <a:endParaRPr lang="zh-CN" altLang="en-US" sz="1100" b="1" dirty="0">
                  <a:solidFill>
                    <a:srgbClr val="1B1B1B"/>
                  </a:solidFill>
                  <a:latin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337" name="矩形: 圆角 60">
                <a:hlinkClick r:id="rId22"/>
              </p:cNvPr>
              <p:cNvSpPr/>
              <p:nvPr/>
            </p:nvSpPr>
            <p:spPr>
              <a:xfrm>
                <a:off x="2763902" y="3385967"/>
                <a:ext cx="1104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FFFFFF"/>
                    </a:solidFill>
                    <a:latin typeface="微软雅黑" panose="020B0503020204020204" pitchFamily="34" charset="-122"/>
                    <a:sym typeface="+mn-ea"/>
                  </a:rPr>
                  <a:t>研究辅助</a:t>
                </a:r>
              </a:p>
            </p:txBody>
          </p:sp>
          <p:sp>
            <p:nvSpPr>
              <p:cNvPr id="339" name="矩形: 圆角 60">
                <a:hlinkClick r:id="rId23"/>
              </p:cNvPr>
              <p:cNvSpPr/>
              <p:nvPr/>
            </p:nvSpPr>
            <p:spPr>
              <a:xfrm>
                <a:off x="1463366" y="2986460"/>
                <a:ext cx="1104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项目过程管理</a:t>
                </a:r>
              </a:p>
            </p:txBody>
          </p:sp>
          <p:sp>
            <p:nvSpPr>
              <p:cNvPr id="341" name="矩形: 圆角 60">
                <a:hlinkClick r:id="rId24"/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2763902" y="2986460"/>
                <a:ext cx="1104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FFFFFF"/>
                    </a:solidFill>
                    <a:latin typeface="微软雅黑" panose="020B0503020204020204" pitchFamily="34" charset="-122"/>
                    <a:sym typeface="+mn-ea"/>
                  </a:rPr>
                  <a:t>科技创新图谱</a:t>
                </a:r>
              </a:p>
            </p:txBody>
          </p:sp>
          <p:sp>
            <p:nvSpPr>
              <p:cNvPr id="342" name="文本框 51"/>
              <p:cNvSpPr txBox="1"/>
              <p:nvPr/>
            </p:nvSpPr>
            <p:spPr>
              <a:xfrm>
                <a:off x="1367356" y="2166253"/>
                <a:ext cx="4080572" cy="25463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sym typeface="+mn-lt"/>
                  </a:rPr>
                  <a:t>支撑创新发展科技服务平台</a:t>
                </a:r>
              </a:p>
            </p:txBody>
          </p:sp>
          <p:sp>
            <p:nvSpPr>
              <p:cNvPr id="125" name="矩形: 圆角 60">
                <a:hlinkClick r:id="rId25"/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2763902" y="2587002"/>
                <a:ext cx="1104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FFFFFF"/>
                    </a:solidFill>
                    <a:latin typeface="微软雅黑" panose="020B0503020204020204" pitchFamily="34" charset="-122"/>
                    <a:sym typeface="+mn-ea"/>
                  </a:rPr>
                  <a:t>产业监测分析</a:t>
                </a:r>
              </a:p>
            </p:txBody>
          </p:sp>
          <p:sp>
            <p:nvSpPr>
              <p:cNvPr id="126" name="矩形: 圆角 60">
                <a:hlinkClick r:id="rId26"/>
              </p:cNvPr>
              <p:cNvSpPr/>
              <p:nvPr/>
            </p:nvSpPr>
            <p:spPr>
              <a:xfrm>
                <a:off x="1463366" y="2587002"/>
                <a:ext cx="1104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统计数据管理</a:t>
                </a: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4428072" y="1491630"/>
              <a:ext cx="3114454" cy="1620216"/>
              <a:chOff x="5591943" y="1988840"/>
              <a:chExt cx="4152605" cy="2160287"/>
            </a:xfrm>
          </p:grpSpPr>
          <p:sp>
            <p:nvSpPr>
              <p:cNvPr id="306" name="矩形 305"/>
              <p:cNvSpPr/>
              <p:nvPr>
                <p:custDataLst>
                  <p:tags r:id="rId9"/>
                </p:custDataLst>
              </p:nvPr>
            </p:nvSpPr>
            <p:spPr>
              <a:xfrm>
                <a:off x="5591944" y="1988840"/>
                <a:ext cx="4152604" cy="2160287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 defTabSz="914400"/>
                <a:endParaRPr lang="zh-CN" altLang="en-US" sz="1100" b="1" dirty="0">
                  <a:solidFill>
                    <a:srgbClr val="1B1B1B"/>
                  </a:solidFill>
                  <a:latin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315" name="文本框 51"/>
              <p:cNvSpPr txBox="1"/>
              <p:nvPr/>
            </p:nvSpPr>
            <p:spPr>
              <a:xfrm>
                <a:off x="5591943" y="2158642"/>
                <a:ext cx="4152603" cy="25463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sym typeface="+mn-lt"/>
                  </a:rPr>
                  <a:t>科技成果转化线上平台</a:t>
                </a:r>
              </a:p>
            </p:txBody>
          </p:sp>
          <p:sp>
            <p:nvSpPr>
              <p:cNvPr id="316" name="矩形: 圆角 60">
                <a:hlinkClick r:id="rId27"/>
              </p:cNvPr>
              <p:cNvSpPr/>
              <p:nvPr/>
            </p:nvSpPr>
            <p:spPr>
              <a:xfrm>
                <a:off x="7104112" y="3786929"/>
                <a:ext cx="1116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科创资源</a:t>
                </a:r>
              </a:p>
            </p:txBody>
          </p:sp>
          <p:sp>
            <p:nvSpPr>
              <p:cNvPr id="317" name="矩形: 圆角 60">
                <a:hlinkClick r:id="rId28"/>
              </p:cNvPr>
              <p:cNvSpPr/>
              <p:nvPr/>
            </p:nvSpPr>
            <p:spPr>
              <a:xfrm>
                <a:off x="5735960" y="3385967"/>
                <a:ext cx="1116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科创服务</a:t>
                </a:r>
              </a:p>
            </p:txBody>
          </p:sp>
          <p:sp>
            <p:nvSpPr>
              <p:cNvPr id="318" name="矩形: 圆角 60">
                <a:hlinkClick r:id="rId29"/>
              </p:cNvPr>
              <p:cNvSpPr/>
              <p:nvPr/>
            </p:nvSpPr>
            <p:spPr>
              <a:xfrm>
                <a:off x="5735960" y="3786929"/>
                <a:ext cx="1116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科技政策</a:t>
                </a:r>
              </a:p>
            </p:txBody>
          </p:sp>
          <p:sp>
            <p:nvSpPr>
              <p:cNvPr id="319" name="矩形: 圆角 60">
                <a:hlinkClick r:id="rId30"/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7104112" y="3385967"/>
                <a:ext cx="1116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技术经纪人</a:t>
                </a:r>
              </a:p>
            </p:txBody>
          </p:sp>
          <p:sp>
            <p:nvSpPr>
              <p:cNvPr id="324" name="矩形: 圆角 60"/>
              <p:cNvSpPr/>
              <p:nvPr/>
            </p:nvSpPr>
            <p:spPr>
              <a:xfrm>
                <a:off x="8472264" y="3786929"/>
                <a:ext cx="1116000" cy="216000"/>
              </a:xfrm>
              <a:prstGeom prst="roundRect">
                <a:avLst/>
              </a:prstGeom>
              <a:solidFill>
                <a:srgbClr val="CCFF99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sym typeface="+mn-ea"/>
                  </a:rPr>
                  <a:t>技术经理人</a:t>
                </a:r>
              </a:p>
            </p:txBody>
          </p:sp>
          <p:sp>
            <p:nvSpPr>
              <p:cNvPr id="328" name="矩形: 圆角 60"/>
              <p:cNvSpPr/>
              <p:nvPr/>
            </p:nvSpPr>
            <p:spPr>
              <a:xfrm>
                <a:off x="8472264" y="2582287"/>
                <a:ext cx="1116000" cy="216000"/>
              </a:xfrm>
              <a:prstGeom prst="roundRect">
                <a:avLst/>
              </a:prstGeom>
              <a:solidFill>
                <a:srgbClr val="CCFF99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sym typeface="+mn-ea"/>
                  </a:rPr>
                  <a:t>直播活动</a:t>
                </a:r>
              </a:p>
            </p:txBody>
          </p:sp>
          <p:sp>
            <p:nvSpPr>
              <p:cNvPr id="329" name="矩形: 圆角 60"/>
              <p:cNvSpPr/>
              <p:nvPr/>
            </p:nvSpPr>
            <p:spPr>
              <a:xfrm>
                <a:off x="8472264" y="2985967"/>
                <a:ext cx="1116000" cy="216000"/>
              </a:xfrm>
              <a:prstGeom prst="roundRect">
                <a:avLst/>
              </a:prstGeom>
              <a:solidFill>
                <a:srgbClr val="CCFF99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sym typeface="+mn-ea"/>
                  </a:rPr>
                  <a:t>创新积分</a:t>
                </a:r>
              </a:p>
            </p:txBody>
          </p:sp>
          <p:sp>
            <p:nvSpPr>
              <p:cNvPr id="334" name="矩形: 圆角 60"/>
              <p:cNvSpPr/>
              <p:nvPr>
                <p:custDataLst>
                  <p:tags r:id="rId11"/>
                </p:custDataLst>
              </p:nvPr>
            </p:nvSpPr>
            <p:spPr>
              <a:xfrm>
                <a:off x="8472264" y="3383249"/>
                <a:ext cx="1116000" cy="216000"/>
              </a:xfrm>
              <a:prstGeom prst="roundRect">
                <a:avLst/>
              </a:prstGeom>
              <a:solidFill>
                <a:srgbClr val="CCFF99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sym typeface="+mn-ea"/>
                  </a:rPr>
                  <a:t>先用后转</a:t>
                </a:r>
              </a:p>
            </p:txBody>
          </p:sp>
          <p:sp>
            <p:nvSpPr>
              <p:cNvPr id="129" name="矩形: 圆角 60">
                <a:hlinkClick r:id="rId31"/>
              </p:cNvPr>
              <p:cNvSpPr/>
              <p:nvPr/>
            </p:nvSpPr>
            <p:spPr>
              <a:xfrm>
                <a:off x="5735960" y="2986460"/>
                <a:ext cx="1116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科技金融</a:t>
                </a:r>
              </a:p>
            </p:txBody>
          </p:sp>
          <p:sp>
            <p:nvSpPr>
              <p:cNvPr id="133" name="矩形: 圆角 60">
                <a:hlinkClick r:id="rId32"/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7104112" y="2986460"/>
                <a:ext cx="1116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科研仪器</a:t>
                </a:r>
              </a:p>
            </p:txBody>
          </p:sp>
          <p:sp>
            <p:nvSpPr>
              <p:cNvPr id="140" name="矩形: 圆角 60">
                <a:hlinkClick r:id="rId33"/>
              </p:cNvPr>
              <p:cNvSpPr/>
              <p:nvPr/>
            </p:nvSpPr>
            <p:spPr>
              <a:xfrm>
                <a:off x="5735960" y="2587003"/>
                <a:ext cx="1116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交易大厅</a:t>
                </a:r>
              </a:p>
            </p:txBody>
          </p:sp>
          <p:sp>
            <p:nvSpPr>
              <p:cNvPr id="141" name="矩形: 圆角 60">
                <a:hlinkClick r:id="rId34"/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7104112" y="2587003"/>
                <a:ext cx="1116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科技人才</a:t>
                </a:r>
              </a:p>
            </p:txBody>
          </p:sp>
        </p:grpSp>
        <p:sp>
          <p:nvSpPr>
            <p:cNvPr id="154" name="矩形: 圆角 60"/>
            <p:cNvSpPr/>
            <p:nvPr>
              <p:custDataLst>
                <p:tags r:id="rId1"/>
              </p:custDataLst>
            </p:nvPr>
          </p:nvSpPr>
          <p:spPr>
            <a:xfrm>
              <a:off x="1260331" y="1113588"/>
              <a:ext cx="3059729" cy="270012"/>
            </a:xfrm>
            <a:prstGeom prst="roundRect">
              <a:avLst/>
            </a:prstGeom>
            <a:noFill/>
            <a:ln w="9525" cap="flat" cmpd="sng" algn="ctr">
              <a:solidFill>
                <a:schemeClr val="tx2"/>
              </a:solidFill>
              <a:prstDash val="dash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 defTabSz="914400"/>
              <a:r>
                <a:rPr lang="zh-CN" altLang="en-US" sz="1100" b="1" dirty="0">
                  <a:latin typeface="微软雅黑" panose="020B0503020204020204" pitchFamily="34" charset="-122"/>
                  <a:sym typeface="+mn-ea"/>
                </a:rPr>
                <a:t>对内管理</a:t>
              </a:r>
            </a:p>
          </p:txBody>
        </p:sp>
        <p:sp>
          <p:nvSpPr>
            <p:cNvPr id="155" name="矩形: 圆角 60"/>
            <p:cNvSpPr/>
            <p:nvPr>
              <p:custDataLst>
                <p:tags r:id="rId2"/>
              </p:custDataLst>
            </p:nvPr>
          </p:nvSpPr>
          <p:spPr>
            <a:xfrm>
              <a:off x="4428073" y="1113588"/>
              <a:ext cx="3114452" cy="270012"/>
            </a:xfrm>
            <a:prstGeom prst="roundRect">
              <a:avLst/>
            </a:prstGeom>
            <a:noFill/>
            <a:ln w="9525" cap="flat" cmpd="sng" algn="ctr">
              <a:solidFill>
                <a:schemeClr val="tx2"/>
              </a:solidFill>
              <a:prstDash val="dash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 defTabSz="914400"/>
              <a:r>
                <a:rPr lang="zh-CN" altLang="en-US" sz="1100" b="1" dirty="0">
                  <a:latin typeface="微软雅黑" panose="020B0503020204020204" pitchFamily="34" charset="-122"/>
                  <a:sym typeface="+mn-ea"/>
                </a:rPr>
                <a:t>对外服务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434971" y="1005576"/>
              <a:ext cx="607025" cy="2173742"/>
              <a:chOff x="1629355" y="1367560"/>
              <a:chExt cx="809366" cy="2871530"/>
            </a:xfrm>
          </p:grpSpPr>
          <p:sp>
            <p:nvSpPr>
              <p:cNvPr id="156" name="矩形 155"/>
              <p:cNvSpPr/>
              <p:nvPr/>
            </p:nvSpPr>
            <p:spPr>
              <a:xfrm>
                <a:off x="1629355" y="1367560"/>
                <a:ext cx="809366" cy="2871530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 defTabSz="914400"/>
                <a:endParaRPr lang="zh-CN" altLang="en-US" sz="1100" b="1" dirty="0">
                  <a:solidFill>
                    <a:srgbClr val="1B1B1B"/>
                  </a:solidFill>
                  <a:latin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157" name="文本框 51"/>
              <p:cNvSpPr txBox="1"/>
              <p:nvPr/>
            </p:nvSpPr>
            <p:spPr>
              <a:xfrm>
                <a:off x="1629355" y="1367560"/>
                <a:ext cx="809366" cy="2871530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sym typeface="+mn-lt"/>
                  </a:rPr>
                  <a:t>前端</a:t>
                </a:r>
                <a:endParaRPr lang="en-US" altLang="zh-CN" sz="800" b="1" dirty="0">
                  <a:solidFill>
                    <a:srgbClr val="000000"/>
                  </a:solidFill>
                  <a:latin typeface="微软雅黑" panose="020B0503020204020204" pitchFamily="34" charset="-122"/>
                  <a:sym typeface="+mn-lt"/>
                </a:endParaRPr>
              </a:p>
              <a:p>
                <a:pPr algn="ctr" defTabSz="914400"/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sym typeface="+mn-lt"/>
                  </a:rPr>
                  <a:t>应用</a:t>
                </a:r>
              </a:p>
            </p:txBody>
          </p:sp>
        </p:grpSp>
        <p:sp>
          <p:nvSpPr>
            <p:cNvPr id="261" name="矩形 260"/>
            <p:cNvSpPr/>
            <p:nvPr/>
          </p:nvSpPr>
          <p:spPr>
            <a:xfrm>
              <a:off x="1115616" y="3300795"/>
              <a:ext cx="6572254" cy="1323183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b="1">
                <a:latin typeface="微软雅黑" panose="020B0503020204020204" pitchFamily="34" charset="-122"/>
                <a:sym typeface="+mn-lt"/>
              </a:endParaRPr>
            </a:p>
          </p:txBody>
        </p:sp>
        <p:grpSp>
          <p:nvGrpSpPr>
            <p:cNvPr id="262" name="组合 261"/>
            <p:cNvGrpSpPr/>
            <p:nvPr/>
          </p:nvGrpSpPr>
          <p:grpSpPr>
            <a:xfrm>
              <a:off x="1259632" y="3407467"/>
              <a:ext cx="3060429" cy="1108499"/>
              <a:chOff x="3194378" y="3366643"/>
              <a:chExt cx="2774739" cy="1477999"/>
            </a:xfrm>
          </p:grpSpPr>
          <p:sp>
            <p:nvSpPr>
              <p:cNvPr id="271" name="矩形 270"/>
              <p:cNvSpPr/>
              <p:nvPr/>
            </p:nvSpPr>
            <p:spPr>
              <a:xfrm>
                <a:off x="3195012" y="3366643"/>
                <a:ext cx="2774105" cy="1477999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 defTabSz="914400"/>
                <a:endParaRPr lang="zh-CN" altLang="en-US" sz="1100" b="1" dirty="0">
                  <a:solidFill>
                    <a:srgbClr val="1B1B1B"/>
                  </a:solidFill>
                  <a:latin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272" name="矩形: 圆角 60"/>
              <p:cNvSpPr/>
              <p:nvPr/>
            </p:nvSpPr>
            <p:spPr>
              <a:xfrm>
                <a:off x="4728721" y="4156445"/>
                <a:ext cx="1077101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数据应用</a:t>
                </a:r>
              </a:p>
            </p:txBody>
          </p:sp>
          <p:sp>
            <p:nvSpPr>
              <p:cNvPr id="273" name="矩形: 圆角 60"/>
              <p:cNvSpPr/>
              <p:nvPr/>
            </p:nvSpPr>
            <p:spPr>
              <a:xfrm>
                <a:off x="3357713" y="3755483"/>
                <a:ext cx="1077101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数据汇聚</a:t>
                </a:r>
              </a:p>
            </p:txBody>
          </p:sp>
          <p:sp>
            <p:nvSpPr>
              <p:cNvPr id="274" name="矩形: 圆角 60"/>
              <p:cNvSpPr/>
              <p:nvPr/>
            </p:nvSpPr>
            <p:spPr>
              <a:xfrm>
                <a:off x="3357713" y="4156445"/>
                <a:ext cx="1077101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数据共享</a:t>
                </a:r>
              </a:p>
            </p:txBody>
          </p:sp>
          <p:sp>
            <p:nvSpPr>
              <p:cNvPr id="275" name="矩形: 圆角 60"/>
              <p:cNvSpPr/>
              <p:nvPr>
                <p:custDataLst>
                  <p:tags r:id="rId8"/>
                </p:custDataLst>
              </p:nvPr>
            </p:nvSpPr>
            <p:spPr>
              <a:xfrm>
                <a:off x="4728721" y="3755483"/>
                <a:ext cx="1077101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400"/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sym typeface="+mn-ea"/>
                  </a:rPr>
                  <a:t>数据治理</a:t>
                </a:r>
              </a:p>
            </p:txBody>
          </p:sp>
          <p:sp>
            <p:nvSpPr>
              <p:cNvPr id="276" name="文本框 51"/>
              <p:cNvSpPr txBox="1"/>
              <p:nvPr/>
            </p:nvSpPr>
            <p:spPr>
              <a:xfrm>
                <a:off x="3194378" y="3405852"/>
                <a:ext cx="2774738" cy="25463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sym typeface="+mn-lt"/>
                  </a:rPr>
                  <a:t>数据中台</a:t>
                </a: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4428074" y="3407467"/>
              <a:ext cx="3114452" cy="1108499"/>
              <a:chOff x="5591946" y="4543289"/>
              <a:chExt cx="4152603" cy="1477999"/>
            </a:xfrm>
          </p:grpSpPr>
          <p:sp>
            <p:nvSpPr>
              <p:cNvPr id="264" name="矩形 263"/>
              <p:cNvSpPr/>
              <p:nvPr/>
            </p:nvSpPr>
            <p:spPr>
              <a:xfrm>
                <a:off x="5591946" y="4543289"/>
                <a:ext cx="4152603" cy="1477999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 defTabSz="914400"/>
                <a:endParaRPr lang="zh-CN" altLang="en-US" sz="1100" b="1" dirty="0">
                  <a:solidFill>
                    <a:srgbClr val="1B1B1B"/>
                  </a:solidFill>
                  <a:latin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265" name="矩形: 圆角 60"/>
              <p:cNvSpPr/>
              <p:nvPr/>
            </p:nvSpPr>
            <p:spPr>
              <a:xfrm>
                <a:off x="7896082" y="5333091"/>
                <a:ext cx="1584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FFFFFF"/>
                    </a:solidFill>
                    <a:latin typeface="微软雅黑" panose="020B0503020204020204" pitchFamily="34" charset="-122"/>
                    <a:sym typeface="+mn-ea"/>
                  </a:rPr>
                  <a:t>专家协同工具</a:t>
                </a:r>
              </a:p>
            </p:txBody>
          </p:sp>
          <p:sp>
            <p:nvSpPr>
              <p:cNvPr id="266" name="矩形: 圆角 60"/>
              <p:cNvSpPr/>
              <p:nvPr/>
            </p:nvSpPr>
            <p:spPr>
              <a:xfrm>
                <a:off x="5879858" y="4932129"/>
                <a:ext cx="1584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FFFFFF"/>
                    </a:solidFill>
                    <a:latin typeface="微软雅黑" panose="020B0503020204020204" pitchFamily="34" charset="-122"/>
                    <a:sym typeface="+mn-ea"/>
                  </a:rPr>
                  <a:t>知识图谱工具</a:t>
                </a:r>
              </a:p>
            </p:txBody>
          </p:sp>
          <p:sp>
            <p:nvSpPr>
              <p:cNvPr id="267" name="矩形: 圆角 60"/>
              <p:cNvSpPr/>
              <p:nvPr/>
            </p:nvSpPr>
            <p:spPr>
              <a:xfrm>
                <a:off x="5879858" y="5333091"/>
                <a:ext cx="1584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FFFFFF"/>
                    </a:solidFill>
                    <a:latin typeface="微软雅黑" panose="020B0503020204020204" pitchFamily="34" charset="-122"/>
                    <a:sym typeface="+mn-ea"/>
                  </a:rPr>
                  <a:t>地图引擎工具</a:t>
                </a:r>
              </a:p>
            </p:txBody>
          </p:sp>
          <p:sp>
            <p:nvSpPr>
              <p:cNvPr id="268" name="矩形: 圆角 60"/>
              <p:cNvSpPr/>
              <p:nvPr>
                <p:custDataLst>
                  <p:tags r:id="rId7"/>
                </p:custDataLst>
              </p:nvPr>
            </p:nvSpPr>
            <p:spPr>
              <a:xfrm>
                <a:off x="7896082" y="4932129"/>
                <a:ext cx="1584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FFFFFF"/>
                    </a:solidFill>
                    <a:latin typeface="微软雅黑" panose="020B0503020204020204" pitchFamily="34" charset="-122"/>
                    <a:sym typeface="+mn-ea"/>
                  </a:rPr>
                  <a:t>知识管理工具</a:t>
                </a:r>
              </a:p>
            </p:txBody>
          </p:sp>
          <p:sp>
            <p:nvSpPr>
              <p:cNvPr id="269" name="文本框 51"/>
              <p:cNvSpPr txBox="1"/>
              <p:nvPr/>
            </p:nvSpPr>
            <p:spPr>
              <a:xfrm>
                <a:off x="5591946" y="4582498"/>
                <a:ext cx="4152602" cy="25463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000000"/>
                    </a:solidFill>
                    <a:latin typeface="微软雅黑" panose="020B0503020204020204" pitchFamily="34" charset="-122"/>
                    <a:sym typeface="+mn-lt"/>
                  </a:rPr>
                  <a:t>业务中台</a:t>
                </a:r>
              </a:p>
            </p:txBody>
          </p:sp>
          <p:sp>
            <p:nvSpPr>
              <p:cNvPr id="158" name="矩形: 圆角 60"/>
              <p:cNvSpPr/>
              <p:nvPr/>
            </p:nvSpPr>
            <p:spPr>
              <a:xfrm>
                <a:off x="7896082" y="5730115"/>
                <a:ext cx="1584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FFFFFF"/>
                    </a:solidFill>
                    <a:latin typeface="微软雅黑" panose="020B0503020204020204" pitchFamily="34" charset="-122"/>
                    <a:sym typeface="+mn-ea"/>
                  </a:rPr>
                  <a:t>模型工具</a:t>
                </a:r>
              </a:p>
            </p:txBody>
          </p:sp>
          <p:sp>
            <p:nvSpPr>
              <p:cNvPr id="160" name="矩形: 圆角 60"/>
              <p:cNvSpPr/>
              <p:nvPr/>
            </p:nvSpPr>
            <p:spPr>
              <a:xfrm>
                <a:off x="5879858" y="5730115"/>
                <a:ext cx="1584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400"/>
                <a:r>
                  <a:rPr lang="zh-CN" altLang="en-US" sz="800" b="1" dirty="0">
                    <a:solidFill>
                      <a:srgbClr val="FFFFFF"/>
                    </a:solidFill>
                    <a:latin typeface="微软雅黑" panose="020B0503020204020204" pitchFamily="34" charset="-122"/>
                    <a:sym typeface="+mn-ea"/>
                  </a:rPr>
                  <a:t>调研工具</a:t>
                </a:r>
              </a:p>
            </p:txBody>
          </p:sp>
        </p:grpSp>
        <p:sp>
          <p:nvSpPr>
            <p:cNvPr id="62" name="矩形: 圆角 60"/>
            <p:cNvSpPr/>
            <p:nvPr>
              <p:custDataLst>
                <p:tags r:id="rId3"/>
              </p:custDataLst>
            </p:nvPr>
          </p:nvSpPr>
          <p:spPr>
            <a:xfrm>
              <a:off x="3263261" y="1936715"/>
              <a:ext cx="936000" cy="162000"/>
            </a:xfrm>
            <a:prstGeom prst="roundRect">
              <a:avLst/>
            </a:prstGeom>
            <a:solidFill>
              <a:srgbClr val="CCFF99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zh-CN" altLang="en-US" sz="800" b="1" dirty="0">
                  <a:solidFill>
                    <a:srgbClr val="000000"/>
                  </a:solidFill>
                  <a:latin typeface="微软雅黑" panose="020B0503020204020204" pitchFamily="34" charset="-122"/>
                  <a:sym typeface="+mn-ea"/>
                </a:rPr>
                <a:t>孵化器评价</a:t>
              </a:r>
            </a:p>
          </p:txBody>
        </p:sp>
        <p:sp>
          <p:nvSpPr>
            <p:cNvPr id="63" name="矩形: 圆角 60"/>
            <p:cNvSpPr/>
            <p:nvPr>
              <p:custDataLst>
                <p:tags r:id="rId4"/>
              </p:custDataLst>
            </p:nvPr>
          </p:nvSpPr>
          <p:spPr>
            <a:xfrm>
              <a:off x="3263261" y="2239845"/>
              <a:ext cx="936000" cy="162000"/>
            </a:xfrm>
            <a:prstGeom prst="roundRect">
              <a:avLst/>
            </a:prstGeom>
            <a:solidFill>
              <a:srgbClr val="CCFF99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zh-CN" altLang="en-US" sz="800" b="1" dirty="0">
                  <a:solidFill>
                    <a:srgbClr val="000000"/>
                  </a:solidFill>
                  <a:latin typeface="微软雅黑" panose="020B0503020204020204" pitchFamily="34" charset="-122"/>
                  <a:sym typeface="+mn-ea"/>
                </a:rPr>
                <a:t>新型研发机构评价</a:t>
              </a:r>
            </a:p>
          </p:txBody>
        </p:sp>
        <p:sp>
          <p:nvSpPr>
            <p:cNvPr id="64" name="矩形: 圆角 60"/>
            <p:cNvSpPr/>
            <p:nvPr>
              <p:custDataLst>
                <p:tags r:id="rId5"/>
              </p:custDataLst>
            </p:nvPr>
          </p:nvSpPr>
          <p:spPr>
            <a:xfrm>
              <a:off x="3263261" y="2536469"/>
              <a:ext cx="936000" cy="162000"/>
            </a:xfrm>
            <a:prstGeom prst="roundRect">
              <a:avLst/>
            </a:prstGeom>
            <a:solidFill>
              <a:srgbClr val="CCFF99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zh-CN" altLang="en-US" sz="800" b="1" dirty="0">
                  <a:solidFill>
                    <a:srgbClr val="000000"/>
                  </a:solidFill>
                  <a:latin typeface="微软雅黑" panose="020B0503020204020204" pitchFamily="34" charset="-122"/>
                  <a:sym typeface="+mn-ea"/>
                </a:rPr>
                <a:t>地市创新能力评价</a:t>
              </a:r>
            </a:p>
          </p:txBody>
        </p:sp>
        <p:sp>
          <p:nvSpPr>
            <p:cNvPr id="65" name="矩形: 圆角 60"/>
            <p:cNvSpPr/>
            <p:nvPr>
              <p:custDataLst>
                <p:tags r:id="rId6"/>
              </p:custDataLst>
            </p:nvPr>
          </p:nvSpPr>
          <p:spPr>
            <a:xfrm>
              <a:off x="3263261" y="2838127"/>
              <a:ext cx="936000" cy="162000"/>
            </a:xfrm>
            <a:prstGeom prst="roundRect">
              <a:avLst/>
            </a:prstGeom>
            <a:solidFill>
              <a:srgbClr val="CCFF99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zh-CN" altLang="en-US" sz="800" b="1" dirty="0">
                  <a:solidFill>
                    <a:srgbClr val="000000"/>
                  </a:solidFill>
                  <a:latin typeface="微软雅黑" panose="020B0503020204020204" pitchFamily="34" charset="-122"/>
                  <a:sym typeface="+mn-ea"/>
                </a:rPr>
                <a:t>农业高新区绩效评价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7" y="0"/>
            <a:ext cx="1975961" cy="546735"/>
          </a:xfrm>
          <a:prstGeom prst="rect">
            <a:avLst/>
          </a:prstGeom>
        </p:spPr>
      </p:pic>
      <p:pic>
        <p:nvPicPr>
          <p:cNvPr id="2" name="图片 1" descr="a1280479-6c17-43f2-a4fd-32b7e6746a4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94447" y="2275999"/>
            <a:ext cx="3941921" cy="286750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97644" y="935831"/>
            <a:ext cx="6881336" cy="1641039"/>
            <a:chOff x="421504" y="2268310"/>
            <a:chExt cx="8717012" cy="2188209"/>
          </a:xfrm>
        </p:grpSpPr>
        <p:sp>
          <p:nvSpPr>
            <p:cNvPr id="4" name="矩形: 圆角 3"/>
            <p:cNvSpPr/>
            <p:nvPr/>
          </p:nvSpPr>
          <p:spPr>
            <a:xfrm>
              <a:off x="695400" y="2268310"/>
              <a:ext cx="3672408" cy="601013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r>
                <a:rPr lang="zh-CN" altLang="en-US" sz="3000" b="1" dirty="0">
                  <a:solidFill>
                    <a:srgbClr val="066FB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第二部分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767408" y="3029380"/>
              <a:ext cx="6084000" cy="36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21504" y="3225324"/>
              <a:ext cx="8717012" cy="12311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b="1" spc="225" dirty="0">
                  <a:solidFill>
                    <a:srgbClr val="066FBB"/>
                  </a:solidFill>
                  <a:latin typeface="+mn-ea"/>
                  <a:sym typeface="+mn-ea"/>
                </a:rPr>
                <a:t>  </a:t>
              </a:r>
              <a:r>
                <a:rPr lang="zh-CN" altLang="en-US" sz="3000" b="1" spc="225" dirty="0">
                  <a:solidFill>
                    <a:srgbClr val="066FBB"/>
                  </a:solidFill>
                  <a:latin typeface="+mn-ea"/>
                  <a:sym typeface="+mn-ea"/>
                </a:rPr>
                <a:t>信息化建设情况</a:t>
              </a:r>
            </a:p>
            <a:p>
              <a:endParaRPr lang="zh-CN" altLang="en-US" sz="2400" b="1" spc="225" dirty="0">
                <a:solidFill>
                  <a:srgbClr val="066FBB"/>
                </a:solidFill>
                <a:latin typeface="+mn-ea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79195" y="2409349"/>
            <a:ext cx="5791200" cy="12515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428625" indent="-428625">
              <a:lnSpc>
                <a:spcPts val="1875"/>
              </a:lnSpc>
              <a:spcBef>
                <a:spcPts val="900"/>
              </a:spcBef>
              <a:spcAft>
                <a:spcPts val="900"/>
              </a:spcAft>
              <a:buFont typeface="Wingdings" panose="05000000000000000000" charset="0"/>
              <a:buChar char="p"/>
            </a:pPr>
            <a:r>
              <a:rPr lang="en-US" altLang="zh-CN" b="1" spc="225" dirty="0">
                <a:solidFill>
                  <a:srgbClr val="066FBB"/>
                </a:solidFill>
                <a:latin typeface="+mn-ea"/>
                <a:sym typeface="+mn-ea"/>
              </a:rPr>
              <a:t>2023-2024</a:t>
            </a:r>
            <a:r>
              <a:rPr lang="zh-CN" altLang="en-US" b="1" spc="225" dirty="0">
                <a:solidFill>
                  <a:srgbClr val="066FBB"/>
                </a:solidFill>
                <a:latin typeface="+mn-ea"/>
                <a:sym typeface="+mn-ea"/>
              </a:rPr>
              <a:t>年已建设情况</a:t>
            </a:r>
          </a:p>
          <a:p>
            <a:pPr marL="428625" indent="-428625">
              <a:lnSpc>
                <a:spcPts val="1875"/>
              </a:lnSpc>
              <a:spcBef>
                <a:spcPts val="900"/>
              </a:spcBef>
              <a:spcAft>
                <a:spcPts val="900"/>
              </a:spcAft>
              <a:buFont typeface="Wingdings" panose="05000000000000000000" charset="0"/>
              <a:buChar char="p"/>
            </a:pPr>
            <a:r>
              <a:rPr lang="en-US" altLang="zh-CN" b="1" spc="225" dirty="0">
                <a:solidFill>
                  <a:srgbClr val="066FBB"/>
                </a:solidFill>
                <a:latin typeface="+mn-ea"/>
                <a:sym typeface="+mn-ea"/>
              </a:rPr>
              <a:t>2025</a:t>
            </a:r>
            <a:r>
              <a:rPr lang="zh-CN" altLang="en-US" b="1" spc="225" dirty="0">
                <a:solidFill>
                  <a:srgbClr val="066FBB"/>
                </a:solidFill>
                <a:latin typeface="+mn-ea"/>
                <a:sym typeface="+mn-ea"/>
              </a:rPr>
              <a:t>年建设全景图</a:t>
            </a:r>
            <a:endParaRPr lang="en-US" altLang="zh-CN" b="1" spc="225" dirty="0">
              <a:solidFill>
                <a:srgbClr val="066FBB"/>
              </a:solidFill>
              <a:latin typeface="+mn-ea"/>
              <a:sym typeface="+mn-ea"/>
            </a:endParaRPr>
          </a:p>
          <a:p>
            <a:pPr marL="428625" indent="-428625">
              <a:lnSpc>
                <a:spcPts val="1875"/>
              </a:lnSpc>
              <a:spcBef>
                <a:spcPts val="900"/>
              </a:spcBef>
              <a:spcAft>
                <a:spcPts val="900"/>
              </a:spcAft>
              <a:buFont typeface="Wingdings" panose="05000000000000000000" charset="0"/>
              <a:buChar char="p"/>
            </a:pPr>
            <a:r>
              <a:rPr lang="en-US" altLang="zh-CN" b="1" spc="225" dirty="0">
                <a:solidFill>
                  <a:srgbClr val="066FBB"/>
                </a:solidFill>
                <a:latin typeface="+mn-ea"/>
                <a:sym typeface="+mn-ea"/>
              </a:rPr>
              <a:t>2025</a:t>
            </a:r>
            <a:r>
              <a:rPr lang="zh-CN" altLang="en-US" b="1" spc="225" dirty="0">
                <a:solidFill>
                  <a:srgbClr val="066FBB"/>
                </a:solidFill>
                <a:latin typeface="+mn-ea"/>
                <a:sym typeface="+mn-ea"/>
              </a:rPr>
              <a:t>年建设预算</a:t>
            </a:r>
            <a:endParaRPr lang="en-US" altLang="zh-CN" b="1" spc="225" dirty="0">
              <a:solidFill>
                <a:srgbClr val="066FBB"/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24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>
                <a:solidFill>
                  <a:srgbClr val="066FBB"/>
                </a:solidFill>
                <a:cs typeface="+mj-ea"/>
                <a:sym typeface="+mn-ea"/>
              </a:rPr>
              <a:t>2.1 </a:t>
            </a:r>
            <a:r>
              <a:rPr lang="en-US" altLang="zh-CN" sz="2100" b="1" dirty="0">
                <a:solidFill>
                  <a:srgbClr val="066FBB"/>
                </a:solidFill>
                <a:sym typeface="+mn-ea"/>
              </a:rPr>
              <a:t>2023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年：科技成果转化线上平台（一期）</a:t>
            </a:r>
            <a:endParaRPr lang="zh-CN" altLang="en-US" sz="2100" b="1" dirty="0"/>
          </a:p>
        </p:txBody>
      </p:sp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>
            <a:off x="521550" y="1383618"/>
            <a:ext cx="3933645" cy="2628189"/>
            <a:chOff x="-5753220" y="676593"/>
            <a:chExt cx="5244860" cy="3504252"/>
          </a:xfrm>
        </p:grpSpPr>
        <p:sp>
          <p:nvSpPr>
            <p:cNvPr id="26" name="椭圆 25"/>
            <p:cNvSpPr/>
            <p:nvPr>
              <p:custDataLst>
                <p:tags r:id="rId2"/>
              </p:custDataLst>
            </p:nvPr>
          </p:nvSpPr>
          <p:spPr>
            <a:xfrm>
              <a:off x="-5753220" y="683060"/>
              <a:ext cx="432000" cy="432000"/>
            </a:xfrm>
            <a:prstGeom prst="ellipse">
              <a:avLst/>
            </a:prstGeom>
            <a:gradFill>
              <a:gsLst>
                <a:gs pos="73000">
                  <a:schemeClr val="accent1">
                    <a:alpha val="0"/>
                  </a:schemeClr>
                </a:gs>
                <a:gs pos="100000">
                  <a:schemeClr val="accent1">
                    <a:alpha val="3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685800"/>
              <a:endParaRPr lang="en-US" altLang="zh-CN" b="1">
                <a:solidFill>
                  <a:srgbClr val="4CB0FC"/>
                </a:solidFill>
                <a:cs typeface="MiSans Normal" panose="00000500000000000000" charset="-122"/>
                <a:sym typeface="MiSans Normal" panose="00000500000000000000" charset="-122"/>
              </a:endParaRPr>
            </a:p>
          </p:txBody>
        </p:sp>
        <p:sp>
          <p:nvSpPr>
            <p:cNvPr id="27" name="矩形 26"/>
            <p:cNvSpPr/>
            <p:nvPr>
              <p:custDataLst>
                <p:tags r:id="rId3"/>
              </p:custDataLst>
            </p:nvPr>
          </p:nvSpPr>
          <p:spPr>
            <a:xfrm>
              <a:off x="-5204696" y="676593"/>
              <a:ext cx="4696336" cy="369570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defTabSz="685800">
                <a:spcBef>
                  <a:spcPct val="0"/>
                </a:spcBef>
                <a:spcAft>
                  <a:spcPct val="0"/>
                </a:spcAft>
                <a:buClr>
                  <a:srgbClr val="4CB0FC"/>
                </a:buClr>
                <a:buSzPct val="70000"/>
              </a:pPr>
              <a:r>
                <a:rPr lang="zh-CN" altLang="en-US" b="1" dirty="0">
                  <a:gradFill>
                    <a:gsLst>
                      <a:gs pos="0">
                        <a:srgbClr val="4CB0FC">
                          <a:lumMod val="40000"/>
                          <a:lumOff val="60000"/>
                          <a:alpha val="100000"/>
                        </a:srgbClr>
                      </a:gs>
                      <a:gs pos="100000">
                        <a:srgbClr val="4CB0FC">
                          <a:alpha val="100000"/>
                        </a:srgbClr>
                      </a:gs>
                    </a:gsLst>
                    <a:lin ang="5400000" scaled="0"/>
                  </a:gradFill>
                  <a:cs typeface="MiSans Normal" panose="00000500000000000000" charset="-122"/>
                  <a:sym typeface="MiSans Normal" panose="00000500000000000000" charset="-122"/>
                </a:rPr>
                <a:t>基本情况</a:t>
              </a:r>
            </a:p>
          </p:txBody>
        </p:sp>
        <p:cxnSp>
          <p:nvCxnSpPr>
            <p:cNvPr id="28" name="直接连接符 27"/>
            <p:cNvCxnSpPr/>
            <p:nvPr>
              <p:custDataLst>
                <p:tags r:id="rId4"/>
              </p:custDataLst>
            </p:nvPr>
          </p:nvCxnSpPr>
          <p:spPr>
            <a:xfrm flipH="1" flipV="1">
              <a:off x="-5355192" y="996633"/>
              <a:ext cx="153035" cy="116840"/>
            </a:xfrm>
            <a:prstGeom prst="line">
              <a:avLst/>
            </a:prstGeom>
            <a:gradFill flip="none" rotWithShape="1">
              <a:gsLst>
                <a:gs pos="43000">
                  <a:srgbClr val="65B4D5">
                    <a:alpha val="16000"/>
                  </a:srgbClr>
                </a:gs>
                <a:gs pos="0">
                  <a:srgbClr val="65B4D5">
                    <a:alpha val="30000"/>
                  </a:srgbClr>
                </a:gs>
                <a:gs pos="100000">
                  <a:srgbClr val="65B4D5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solidFill>
                <a:schemeClr val="accent1">
                  <a:alpha val="6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9" name="组合 28"/>
            <p:cNvGrpSpPr/>
            <p:nvPr>
              <p:custDataLst>
                <p:tags r:id="rId5"/>
              </p:custDataLst>
            </p:nvPr>
          </p:nvGrpSpPr>
          <p:grpSpPr>
            <a:xfrm>
              <a:off x="-5325665" y="1115060"/>
              <a:ext cx="4747895" cy="3065785"/>
              <a:chOff x="9267" y="2831"/>
              <a:chExt cx="7477" cy="3258"/>
            </a:xfrm>
          </p:grpSpPr>
          <p:sp>
            <p:nvSpPr>
              <p:cNvPr id="30" name="稻壳设计师康帅7-1"/>
              <p:cNvSpPr/>
              <p:nvPr>
                <p:custDataLst>
                  <p:tags r:id="rId6"/>
                </p:custDataLst>
              </p:nvPr>
            </p:nvSpPr>
            <p:spPr>
              <a:xfrm>
                <a:off x="9267" y="2939"/>
                <a:ext cx="6773" cy="3150"/>
              </a:xfrm>
              <a:prstGeom prst="snip2DiagRect">
                <a:avLst>
                  <a:gd name="adj1" fmla="val 11218"/>
                  <a:gd name="adj2" fmla="val 0"/>
                </a:avLst>
              </a:prstGeom>
              <a:gradFill>
                <a:gsLst>
                  <a:gs pos="76000">
                    <a:schemeClr val="accent1">
                      <a:alpha val="0"/>
                    </a:schemeClr>
                  </a:gs>
                  <a:gs pos="20000">
                    <a:schemeClr val="accent1">
                      <a:alpha val="0"/>
                    </a:schemeClr>
                  </a:gs>
                  <a:gs pos="0">
                    <a:schemeClr val="accent1">
                      <a:alpha val="25000"/>
                    </a:schemeClr>
                  </a:gs>
                  <a:gs pos="100000">
                    <a:schemeClr val="accent1">
                      <a:alpha val="25000"/>
                    </a:schemeClr>
                  </a:gs>
                </a:gsLst>
                <a:lin ang="2700000" scaled="0"/>
              </a:gradFill>
              <a:ln w="6350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marL="128270" indent="-128270" defTabSz="685800">
                  <a:lnSpc>
                    <a:spcPct val="15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构建线上生态：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通过成果交易、科技智库服务、科技人才对接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、技术经纪人、科技政策等</a:t>
                </a: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八大模块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与“线上创新资源池”，高效汇聚并配置技术、人才、资本、设备等全要素，推动资源共享。</a:t>
                </a:r>
              </a:p>
              <a:p>
                <a:pPr marL="128270" indent="-128270" defTabSz="685800">
                  <a:lnSpc>
                    <a:spcPct val="15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线上线下融合：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通过</a:t>
                </a: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线上运营</a:t>
                </a:r>
                <a:r>
                  <a:rPr lang="en-US" altLang="zh-CN" sz="1000" b="1" dirty="0">
                    <a:solidFill>
                      <a:srgbClr val="333333"/>
                    </a:solidFill>
                    <a:sym typeface="+mn-ea"/>
                  </a:rPr>
                  <a:t>+</a:t>
                </a: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线下服务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相结合，并为政府、企业、高校院所及人才、金融机构、科技服务机构等多元主体提供专属工具，共同驱动成果高效转化与落地。</a:t>
                </a:r>
              </a:p>
            </p:txBody>
          </p:sp>
          <p:cxnSp>
            <p:nvCxnSpPr>
              <p:cNvPr id="33" name="稻壳设计师康帅7-14"/>
              <p:cNvCxnSpPr/>
              <p:nvPr>
                <p:custDataLst>
                  <p:tags r:id="rId7"/>
                </p:custDataLst>
              </p:nvPr>
            </p:nvCxnSpPr>
            <p:spPr>
              <a:xfrm flipV="1">
                <a:off x="16478" y="5276"/>
                <a:ext cx="266" cy="166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50" cap="rnd" cmpd="sng" algn="ctr">
                <a:solidFill>
                  <a:schemeClr val="accent1">
                    <a:alpha val="70000"/>
                  </a:schemeClr>
                </a:solidFill>
                <a:prstDash val="solid"/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</p:cxnSp>
          <p:cxnSp>
            <p:nvCxnSpPr>
              <p:cNvPr id="34" name="直接连接符 33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9462" y="2831"/>
                <a:ext cx="6555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50">
                <a:solidFill>
                  <a:schemeClr val="accent1">
                    <a:alpha val="60000"/>
                  </a:schemeClr>
                </a:solidFill>
                <a:round/>
                <a:tailEnd type="oval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44" name="组合 43"/>
          <p:cNvGrpSpPr/>
          <p:nvPr/>
        </p:nvGrpSpPr>
        <p:grpSpPr>
          <a:xfrm>
            <a:off x="4276454" y="1131590"/>
            <a:ext cx="4579977" cy="3548622"/>
            <a:chOff x="4740609" y="1235694"/>
            <a:chExt cx="3888000" cy="3012470"/>
          </a:xfrm>
        </p:grpSpPr>
        <p:pic>
          <p:nvPicPr>
            <p:cNvPr id="36" name="Picture 2"/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945"/>
            <a:stretch>
              <a:fillRect/>
            </a:stretch>
          </p:blipFill>
          <p:spPr bwMode="auto">
            <a:xfrm>
              <a:off x="4740609" y="2604321"/>
              <a:ext cx="3888000" cy="16438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1">
              <a:hlinkClick r:id="rId12"/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0609" y="1235694"/>
              <a:ext cx="3888000" cy="1729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32" y="839186"/>
            <a:ext cx="7776000" cy="2247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24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>
                <a:solidFill>
                  <a:srgbClr val="066FBB"/>
                </a:solidFill>
                <a:cs typeface="+mj-ea"/>
                <a:sym typeface="+mn-ea"/>
              </a:rPr>
              <a:t>2.1 </a:t>
            </a:r>
            <a:r>
              <a:rPr lang="en-US" altLang="zh-CN" sz="2100" b="1" dirty="0">
                <a:solidFill>
                  <a:srgbClr val="066FBB"/>
                </a:solidFill>
                <a:sym typeface="+mn-ea"/>
              </a:rPr>
              <a:t>2023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年：科技成果转化线上平台（一期）</a:t>
            </a:r>
            <a:endParaRPr lang="zh-CN" altLang="en-US" sz="2100" b="1" dirty="0"/>
          </a:p>
        </p:txBody>
      </p:sp>
      <p:sp>
        <p:nvSpPr>
          <p:cNvPr id="30" name="稻壳设计师康帅7-1"/>
          <p:cNvSpPr/>
          <p:nvPr>
            <p:custDataLst>
              <p:tags r:id="rId1"/>
            </p:custDataLst>
          </p:nvPr>
        </p:nvSpPr>
        <p:spPr>
          <a:xfrm>
            <a:off x="845550" y="1491630"/>
            <a:ext cx="3225641" cy="639045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数据展示：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对外展示科技人才总数、与人才相关的发布论文的总数、用友专利总数。</a:t>
            </a:r>
            <a:endParaRPr lang="zh-CN" altLang="en-US" sz="1000" dirty="0">
              <a:solidFill>
                <a:srgbClr val="333333"/>
              </a:solidFill>
              <a:sym typeface="+mn-ea"/>
            </a:endParaRPr>
          </a:p>
        </p:txBody>
      </p:sp>
      <p:cxnSp>
        <p:nvCxnSpPr>
          <p:cNvPr id="33" name="稻壳设计师康帅7-14"/>
          <p:cNvCxnSpPr/>
          <p:nvPr>
            <p:custDataLst>
              <p:tags r:id="rId2"/>
            </p:custDataLst>
          </p:nvPr>
        </p:nvCxnSpPr>
        <p:spPr>
          <a:xfrm flipV="1">
            <a:off x="4276455" y="3654055"/>
            <a:ext cx="126682" cy="117155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rnd" cmpd="sng" algn="ctr">
            <a:solidFill>
              <a:schemeClr val="accent1">
                <a:alpha val="70000"/>
              </a:schemeClr>
            </a:solidFill>
            <a:prstDash val="solid"/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</p:cxnSp>
      <p:grpSp>
        <p:nvGrpSpPr>
          <p:cNvPr id="5" name="组合 4"/>
          <p:cNvGrpSpPr/>
          <p:nvPr/>
        </p:nvGrpSpPr>
        <p:grpSpPr>
          <a:xfrm>
            <a:off x="4716016" y="1335403"/>
            <a:ext cx="3789724" cy="3756627"/>
            <a:chOff x="4670708" y="806843"/>
            <a:chExt cx="4105014" cy="4069163"/>
          </a:xfrm>
        </p:grpSpPr>
        <p:grpSp>
          <p:nvGrpSpPr>
            <p:cNvPr id="2" name="组合 1"/>
            <p:cNvGrpSpPr/>
            <p:nvPr/>
          </p:nvGrpSpPr>
          <p:grpSpPr>
            <a:xfrm>
              <a:off x="4670708" y="806843"/>
              <a:ext cx="4105014" cy="4069163"/>
              <a:chOff x="4023722" y="806843"/>
              <a:chExt cx="4752000" cy="4710498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23722" y="806843"/>
                <a:ext cx="4752000" cy="28325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23722" y="3639367"/>
                <a:ext cx="4752000" cy="18779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1028" name="Picture 4"/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126" r="30368"/>
            <a:stretch>
              <a:fillRect/>
            </a:stretch>
          </p:blipFill>
          <p:spPr bwMode="auto">
            <a:xfrm>
              <a:off x="4788025" y="3555186"/>
              <a:ext cx="1874090" cy="11047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矩形 7"/>
          <p:cNvSpPr/>
          <p:nvPr/>
        </p:nvSpPr>
        <p:spPr>
          <a:xfrm>
            <a:off x="4572000" y="2464873"/>
            <a:ext cx="2448272" cy="250893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  <p:cxnSp>
        <p:nvCxnSpPr>
          <p:cNvPr id="10" name="肘形连接符 9"/>
          <p:cNvCxnSpPr>
            <a:stCxn id="30" idx="0"/>
            <a:endCxn id="8" idx="1"/>
          </p:cNvCxnSpPr>
          <p:nvPr/>
        </p:nvCxnSpPr>
        <p:spPr>
          <a:xfrm>
            <a:off x="4071191" y="1811153"/>
            <a:ext cx="500809" cy="7791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稻壳设计师康帅7-1"/>
          <p:cNvSpPr/>
          <p:nvPr>
            <p:custDataLst>
              <p:tags r:id="rId3"/>
            </p:custDataLst>
          </p:nvPr>
        </p:nvSpPr>
        <p:spPr>
          <a:xfrm>
            <a:off x="846228" y="2637137"/>
            <a:ext cx="3225641" cy="639045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>
                <a:solidFill>
                  <a:srgbClr val="333333"/>
                </a:solidFill>
                <a:sym typeface="+mn-ea"/>
              </a:rPr>
              <a:t>人才推荐：</a:t>
            </a:r>
            <a:r>
              <a:rPr lang="zh-CN" altLang="en-US" sz="1000" dirty="0">
                <a:solidFill>
                  <a:srgbClr val="333333"/>
                </a:solidFill>
                <a:sym typeface="+mn-ea"/>
              </a:rPr>
              <a:t>根据用户的需求和专业背景，匹配合适的科技人才，并向用户推荐适合的合作对象或人选。</a:t>
            </a:r>
          </a:p>
        </p:txBody>
      </p:sp>
      <p:sp>
        <p:nvSpPr>
          <p:cNvPr id="37" name="矩形 36"/>
          <p:cNvSpPr/>
          <p:nvPr/>
        </p:nvSpPr>
        <p:spPr>
          <a:xfrm>
            <a:off x="4572000" y="2830696"/>
            <a:ext cx="3816424" cy="763647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  <p:cxnSp>
        <p:nvCxnSpPr>
          <p:cNvPr id="38" name="肘形连接符 37"/>
          <p:cNvCxnSpPr>
            <a:stCxn id="35" idx="0"/>
            <a:endCxn id="37" idx="1"/>
          </p:cNvCxnSpPr>
          <p:nvPr/>
        </p:nvCxnSpPr>
        <p:spPr>
          <a:xfrm>
            <a:off x="4071869" y="2956660"/>
            <a:ext cx="500131" cy="25586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稻壳设计师康帅7-1"/>
          <p:cNvSpPr/>
          <p:nvPr>
            <p:custDataLst>
              <p:tags r:id="rId4"/>
            </p:custDataLst>
          </p:nvPr>
        </p:nvSpPr>
        <p:spPr>
          <a:xfrm>
            <a:off x="846228" y="3810525"/>
            <a:ext cx="3225641" cy="639045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>
                <a:solidFill>
                  <a:srgbClr val="333333"/>
                </a:solidFill>
                <a:sym typeface="+mn-ea"/>
              </a:rPr>
              <a:t>人才政策：</a:t>
            </a:r>
            <a:r>
              <a:rPr lang="zh-CN" altLang="en-US" sz="1000" dirty="0">
                <a:solidFill>
                  <a:srgbClr val="333333"/>
                </a:solidFill>
                <a:sym typeface="+mn-ea"/>
              </a:rPr>
              <a:t>按时间倒序展示与“人才激励”相关的政策，点击“查看更多”可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显示人才政策</a:t>
            </a:r>
            <a:r>
              <a:rPr lang="zh-CN" altLang="en-US" sz="1000" dirty="0">
                <a:solidFill>
                  <a:srgbClr val="333333"/>
                </a:solidFill>
                <a:sym typeface="+mn-ea"/>
              </a:rPr>
              <a:t>详情。</a:t>
            </a:r>
          </a:p>
        </p:txBody>
      </p:sp>
      <p:sp>
        <p:nvSpPr>
          <p:cNvPr id="41" name="矩形 40"/>
          <p:cNvSpPr/>
          <p:nvPr/>
        </p:nvSpPr>
        <p:spPr>
          <a:xfrm>
            <a:off x="4572001" y="3712632"/>
            <a:ext cx="1993570" cy="1235382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  <p:cxnSp>
        <p:nvCxnSpPr>
          <p:cNvPr id="42" name="肘形连接符 41"/>
          <p:cNvCxnSpPr>
            <a:stCxn id="40" idx="0"/>
            <a:endCxn id="41" idx="1"/>
          </p:cNvCxnSpPr>
          <p:nvPr/>
        </p:nvCxnSpPr>
        <p:spPr>
          <a:xfrm>
            <a:off x="4071869" y="4130048"/>
            <a:ext cx="500132" cy="20027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2243707" y="771550"/>
            <a:ext cx="744117" cy="360040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32" y="821246"/>
            <a:ext cx="7776000" cy="2606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4680432" y="1261823"/>
            <a:ext cx="3780000" cy="3604901"/>
            <a:chOff x="4716016" y="1261823"/>
            <a:chExt cx="3780000" cy="3604901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016" y="1261823"/>
              <a:ext cx="3780000" cy="2750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8948"/>
            <a:stretch>
              <a:fillRect/>
            </a:stretch>
          </p:blipFill>
          <p:spPr bwMode="auto">
            <a:xfrm>
              <a:off x="4716016" y="3948119"/>
              <a:ext cx="3780000" cy="918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24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>
                <a:solidFill>
                  <a:srgbClr val="066FBB"/>
                </a:solidFill>
                <a:cs typeface="+mj-ea"/>
                <a:sym typeface="+mn-ea"/>
              </a:rPr>
              <a:t>2.1 </a:t>
            </a:r>
            <a:r>
              <a:rPr lang="en-US" altLang="zh-CN" sz="2100" b="1" dirty="0">
                <a:solidFill>
                  <a:srgbClr val="066FBB"/>
                </a:solidFill>
                <a:sym typeface="+mn-ea"/>
              </a:rPr>
              <a:t>2023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年：科技成果转化线上平台（一期）</a:t>
            </a:r>
            <a:endParaRPr lang="zh-CN" altLang="en-US" sz="2100" b="1" dirty="0"/>
          </a:p>
        </p:txBody>
      </p:sp>
      <p:cxnSp>
        <p:nvCxnSpPr>
          <p:cNvPr id="33" name="稻壳设计师康帅7-14"/>
          <p:cNvCxnSpPr/>
          <p:nvPr>
            <p:custDataLst>
              <p:tags r:id="rId1"/>
            </p:custDataLst>
          </p:nvPr>
        </p:nvCxnSpPr>
        <p:spPr>
          <a:xfrm flipV="1">
            <a:off x="4276455" y="3438031"/>
            <a:ext cx="126682" cy="117155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rnd" cmpd="sng" algn="ctr">
            <a:solidFill>
              <a:schemeClr val="accent1">
                <a:alpha val="70000"/>
              </a:schemeClr>
            </a:solidFill>
            <a:prstDash val="solid"/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</p:cxnSp>
      <p:sp>
        <p:nvSpPr>
          <p:cNvPr id="35" name="稻壳设计师康帅7-1"/>
          <p:cNvSpPr/>
          <p:nvPr>
            <p:custDataLst>
              <p:tags r:id="rId2"/>
            </p:custDataLst>
          </p:nvPr>
        </p:nvSpPr>
        <p:spPr>
          <a:xfrm>
            <a:off x="846228" y="1779662"/>
            <a:ext cx="3225641" cy="1186024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服务机构：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聚合展示与</a:t>
            </a:r>
            <a:r>
              <a:rPr lang="zh-CN" altLang="en-US" sz="1000" dirty="0">
                <a:solidFill>
                  <a:srgbClr val="333333"/>
                </a:solidFill>
                <a:sym typeface="+mn-ea"/>
              </a:rPr>
              <a:t>科创领域相关的服务机构，如研发服务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机构、成果</a:t>
            </a:r>
            <a:r>
              <a:rPr lang="zh-CN" altLang="en-US" sz="1000" dirty="0">
                <a:solidFill>
                  <a:srgbClr val="333333"/>
                </a:solidFill>
                <a:sym typeface="+mn-ea"/>
              </a:rPr>
              <a:t>转化服务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机构、知识产权</a:t>
            </a:r>
            <a:r>
              <a:rPr lang="zh-CN" altLang="en-US" sz="1000" dirty="0">
                <a:solidFill>
                  <a:srgbClr val="333333"/>
                </a:solidFill>
                <a:sym typeface="+mn-ea"/>
              </a:rPr>
              <a:t>服务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机构、创业</a:t>
            </a:r>
            <a:r>
              <a:rPr lang="zh-CN" altLang="en-US" sz="1000" dirty="0">
                <a:solidFill>
                  <a:srgbClr val="333333"/>
                </a:solidFill>
                <a:sym typeface="+mn-ea"/>
              </a:rPr>
              <a:t>孵化服务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机构、科技</a:t>
            </a:r>
            <a:r>
              <a:rPr lang="zh-CN" altLang="en-US" sz="1000" dirty="0">
                <a:solidFill>
                  <a:srgbClr val="333333"/>
                </a:solidFill>
                <a:sym typeface="+mn-ea"/>
              </a:rPr>
              <a:t>中介服务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机构等，后续通过运营为用户带来科创相关服务。</a:t>
            </a:r>
            <a:endParaRPr lang="zh-CN" altLang="en-US" sz="1000" dirty="0">
              <a:solidFill>
                <a:srgbClr val="333333"/>
              </a:solidFill>
              <a:sym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572000" y="2355727"/>
            <a:ext cx="3888000" cy="1592392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  <p:cxnSp>
        <p:nvCxnSpPr>
          <p:cNvPr id="38" name="肘形连接符 37"/>
          <p:cNvCxnSpPr>
            <a:stCxn id="35" idx="0"/>
            <a:endCxn id="37" idx="1"/>
          </p:cNvCxnSpPr>
          <p:nvPr/>
        </p:nvCxnSpPr>
        <p:spPr>
          <a:xfrm>
            <a:off x="4071869" y="2372674"/>
            <a:ext cx="500131" cy="77924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稻壳设计师康帅7-1"/>
          <p:cNvSpPr/>
          <p:nvPr>
            <p:custDataLst>
              <p:tags r:id="rId3"/>
            </p:custDataLst>
          </p:nvPr>
        </p:nvSpPr>
        <p:spPr>
          <a:xfrm>
            <a:off x="846228" y="3438031"/>
            <a:ext cx="3225641" cy="989076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服务商品：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根据平台上各机构可提供的科技服务，以商品的形式展示，用户可通过“预约下单”留下联系方式，待平台运营联系服务。</a:t>
            </a:r>
            <a:endParaRPr lang="zh-CN" altLang="en-US" sz="1000" dirty="0">
              <a:solidFill>
                <a:srgbClr val="333333"/>
              </a:solidFill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572000" y="4011910"/>
            <a:ext cx="3888000" cy="936103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  <p:cxnSp>
        <p:nvCxnSpPr>
          <p:cNvPr id="42" name="肘形连接符 41"/>
          <p:cNvCxnSpPr>
            <a:stCxn id="40" idx="0"/>
            <a:endCxn id="41" idx="1"/>
          </p:cNvCxnSpPr>
          <p:nvPr/>
        </p:nvCxnSpPr>
        <p:spPr>
          <a:xfrm>
            <a:off x="4071869" y="3932569"/>
            <a:ext cx="500131" cy="5473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4932040" y="771550"/>
            <a:ext cx="744117" cy="360040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24" y="823394"/>
            <a:ext cx="7776000" cy="2563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组合 20"/>
          <p:cNvGrpSpPr/>
          <p:nvPr/>
        </p:nvGrpSpPr>
        <p:grpSpPr>
          <a:xfrm>
            <a:off x="4626000" y="1165562"/>
            <a:ext cx="3780000" cy="3811750"/>
            <a:chOff x="2624495" y="1165562"/>
            <a:chExt cx="3780000" cy="381175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4495" y="1165562"/>
              <a:ext cx="3780000" cy="2331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7731"/>
            <a:stretch>
              <a:fillRect/>
            </a:stretch>
          </p:blipFill>
          <p:spPr bwMode="auto">
            <a:xfrm>
              <a:off x="2624495" y="3509391"/>
              <a:ext cx="3780000" cy="14679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24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>
                <a:solidFill>
                  <a:srgbClr val="066FBB"/>
                </a:solidFill>
                <a:cs typeface="+mj-ea"/>
                <a:sym typeface="+mn-ea"/>
              </a:rPr>
              <a:t>2.1 </a:t>
            </a:r>
            <a:r>
              <a:rPr lang="en-US" altLang="zh-CN" sz="2100" b="1" dirty="0">
                <a:solidFill>
                  <a:srgbClr val="066FBB"/>
                </a:solidFill>
                <a:sym typeface="+mn-ea"/>
              </a:rPr>
              <a:t>2023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年：科技成果转化线上平台（一期）</a:t>
            </a:r>
            <a:endParaRPr lang="zh-CN" altLang="en-US" sz="2100" b="1" dirty="0"/>
          </a:p>
        </p:txBody>
      </p:sp>
      <p:cxnSp>
        <p:nvCxnSpPr>
          <p:cNvPr id="33" name="稻壳设计师康帅7-14"/>
          <p:cNvCxnSpPr/>
          <p:nvPr>
            <p:custDataLst>
              <p:tags r:id="rId1"/>
            </p:custDataLst>
          </p:nvPr>
        </p:nvCxnSpPr>
        <p:spPr>
          <a:xfrm flipV="1">
            <a:off x="4276455" y="3438031"/>
            <a:ext cx="126682" cy="117155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rnd" cmpd="sng" algn="ctr">
            <a:solidFill>
              <a:schemeClr val="accent1">
                <a:alpha val="70000"/>
              </a:schemeClr>
            </a:solidFill>
            <a:prstDash val="solid"/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</p:cxnSp>
      <p:sp>
        <p:nvSpPr>
          <p:cNvPr id="35" name="稻壳设计师康帅7-1"/>
          <p:cNvSpPr/>
          <p:nvPr>
            <p:custDataLst>
              <p:tags r:id="rId2"/>
            </p:custDataLst>
          </p:nvPr>
        </p:nvSpPr>
        <p:spPr>
          <a:xfrm>
            <a:off x="827584" y="1779663"/>
            <a:ext cx="2736304" cy="1512167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科技政策：</a:t>
            </a:r>
            <a:r>
              <a:rPr lang="zh-CN" altLang="en-US" sz="1000" dirty="0">
                <a:solidFill>
                  <a:srgbClr val="333333"/>
                </a:solidFill>
                <a:sym typeface="+mn-ea"/>
              </a:rPr>
              <a:t>按时间倒序展示与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“科技创新”领域相关</a:t>
            </a:r>
            <a:r>
              <a:rPr lang="zh-CN" altLang="en-US" sz="1000" dirty="0">
                <a:solidFill>
                  <a:srgbClr val="333333"/>
                </a:solidFill>
                <a:sym typeface="+mn-ea"/>
              </a:rPr>
              <a:t>的政策，点击“查看更多”可显示政策详情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。</a:t>
            </a:r>
            <a:endParaRPr lang="en-US" altLang="zh-CN" sz="1000" dirty="0" smtClean="0">
              <a:solidFill>
                <a:srgbClr val="333333"/>
              </a:solidFill>
              <a:sym typeface="+mn-ea"/>
            </a:endParaRPr>
          </a:p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>
                <a:solidFill>
                  <a:srgbClr val="333333"/>
                </a:solidFill>
                <a:sym typeface="+mn-ea"/>
              </a:rPr>
              <a:t>政策</a:t>
            </a: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解读：</a:t>
            </a:r>
            <a:r>
              <a:rPr lang="zh-CN" altLang="en-US" sz="1000" dirty="0">
                <a:solidFill>
                  <a:srgbClr val="333333"/>
                </a:solidFill>
                <a:sym typeface="+mn-ea"/>
              </a:rPr>
              <a:t>按时间倒序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展示与政策相关的官媒解读。</a:t>
            </a:r>
            <a:endParaRPr lang="zh-CN" altLang="en-US" sz="1000" dirty="0">
              <a:solidFill>
                <a:srgbClr val="333333"/>
              </a:solidFill>
              <a:sym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572000" y="2355727"/>
            <a:ext cx="3888000" cy="1140881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  <p:cxnSp>
        <p:nvCxnSpPr>
          <p:cNvPr id="38" name="肘形连接符 37"/>
          <p:cNvCxnSpPr>
            <a:stCxn id="35" idx="0"/>
            <a:endCxn id="37" idx="1"/>
          </p:cNvCxnSpPr>
          <p:nvPr/>
        </p:nvCxnSpPr>
        <p:spPr>
          <a:xfrm>
            <a:off x="3563888" y="2535747"/>
            <a:ext cx="1008112" cy="39042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稻壳设计师康帅7-1"/>
          <p:cNvSpPr/>
          <p:nvPr>
            <p:custDataLst>
              <p:tags r:id="rId3"/>
            </p:custDataLst>
          </p:nvPr>
        </p:nvSpPr>
        <p:spPr>
          <a:xfrm>
            <a:off x="827584" y="3605999"/>
            <a:ext cx="2736304" cy="981975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政策图谱：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通过可视化，对外展示各辖区发布的政策分布，方便直观对比，颜色越深说明政策越多。</a:t>
            </a:r>
            <a:endParaRPr lang="zh-CN" altLang="en-US" sz="1000" dirty="0">
              <a:solidFill>
                <a:srgbClr val="333333"/>
              </a:solidFill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572000" y="3555186"/>
            <a:ext cx="2721585" cy="1392827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  <p:cxnSp>
        <p:nvCxnSpPr>
          <p:cNvPr id="42" name="肘形连接符 41"/>
          <p:cNvCxnSpPr>
            <a:stCxn id="40" idx="0"/>
            <a:endCxn id="41" idx="1"/>
          </p:cNvCxnSpPr>
          <p:nvPr/>
        </p:nvCxnSpPr>
        <p:spPr>
          <a:xfrm>
            <a:off x="3563888" y="4096987"/>
            <a:ext cx="1008112" cy="15461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6852219" y="771550"/>
            <a:ext cx="744117" cy="360040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00" y="822844"/>
            <a:ext cx="7776000" cy="2574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矩形 43"/>
          <p:cNvSpPr/>
          <p:nvPr/>
        </p:nvSpPr>
        <p:spPr>
          <a:xfrm>
            <a:off x="7788323" y="771550"/>
            <a:ext cx="744117" cy="360040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47" r="33735"/>
          <a:stretch/>
        </p:blipFill>
        <p:spPr bwMode="auto">
          <a:xfrm>
            <a:off x="756008" y="1375379"/>
            <a:ext cx="3455952" cy="3100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24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>
                <a:solidFill>
                  <a:srgbClr val="066FBB"/>
                </a:solidFill>
                <a:cs typeface="+mj-ea"/>
                <a:sym typeface="+mn-ea"/>
              </a:rPr>
              <a:t>2.1 </a:t>
            </a:r>
            <a:r>
              <a:rPr lang="en-US" altLang="zh-CN" sz="2100" b="1" dirty="0">
                <a:solidFill>
                  <a:srgbClr val="066FBB"/>
                </a:solidFill>
                <a:sym typeface="+mn-ea"/>
              </a:rPr>
              <a:t>2023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年：科技成果转化线上平台（一期）</a:t>
            </a:r>
            <a:endParaRPr lang="zh-CN" altLang="en-US" sz="2100" b="1" dirty="0"/>
          </a:p>
        </p:txBody>
      </p:sp>
      <p:cxnSp>
        <p:nvCxnSpPr>
          <p:cNvPr id="33" name="稻壳设计师康帅7-14"/>
          <p:cNvCxnSpPr/>
          <p:nvPr>
            <p:custDataLst>
              <p:tags r:id="rId1"/>
            </p:custDataLst>
          </p:nvPr>
        </p:nvCxnSpPr>
        <p:spPr>
          <a:xfrm flipV="1">
            <a:off x="2263520" y="3077991"/>
            <a:ext cx="126682" cy="117155"/>
          </a:xfrm>
          <a:prstGeom prst="line">
            <a:avLst/>
          </a:prstGeom>
          <a:gradFill flip="none" rotWithShape="1">
            <a:gsLst>
              <a:gs pos="43000">
                <a:srgbClr val="65B4D5">
                  <a:alpha val="16000"/>
                </a:srgbClr>
              </a:gs>
              <a:gs pos="0">
                <a:srgbClr val="65B4D5">
                  <a:alpha val="30000"/>
                </a:srgbClr>
              </a:gs>
              <a:gs pos="100000">
                <a:srgbClr val="65B4D5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 w="6350" cap="rnd" cmpd="sng" algn="ctr">
            <a:solidFill>
              <a:schemeClr val="accent1">
                <a:alpha val="70000"/>
              </a:schemeClr>
            </a:solidFill>
            <a:prstDash val="solid"/>
            <a:round/>
          </a:ln>
          <a:effectLst>
            <a:outerShdw blurRad="177800" algn="ctr" rotWithShape="0">
              <a:srgbClr val="65B4D5">
                <a:alpha val="89000"/>
              </a:srgbClr>
            </a:outerShdw>
          </a:effectLst>
        </p:spPr>
      </p:cxnSp>
      <p:sp>
        <p:nvSpPr>
          <p:cNvPr id="35" name="稻壳设计师康帅7-1"/>
          <p:cNvSpPr/>
          <p:nvPr>
            <p:custDataLst>
              <p:tags r:id="rId2"/>
            </p:custDataLst>
          </p:nvPr>
        </p:nvSpPr>
        <p:spPr>
          <a:xfrm>
            <a:off x="4572001" y="1923679"/>
            <a:ext cx="2145521" cy="936104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>
                <a:solidFill>
                  <a:srgbClr val="333333"/>
                </a:solidFill>
                <a:sym typeface="+mn-ea"/>
              </a:rPr>
              <a:t>科创资源</a:t>
            </a: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：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提供</a:t>
            </a: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期刊、专利、标准、商标、裁判文书、软著登记、地理标识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等海量资源供用户查询。</a:t>
            </a:r>
            <a:endParaRPr lang="en-US" altLang="zh-CN" sz="1000" dirty="0" smtClean="0">
              <a:solidFill>
                <a:srgbClr val="333333"/>
              </a:solidFill>
              <a:sym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6008" y="1419622"/>
            <a:ext cx="3527960" cy="1296143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  <p:cxnSp>
        <p:nvCxnSpPr>
          <p:cNvPr id="38" name="肘形连接符 37"/>
          <p:cNvCxnSpPr>
            <a:stCxn id="35" idx="2"/>
            <a:endCxn id="37" idx="3"/>
          </p:cNvCxnSpPr>
          <p:nvPr/>
        </p:nvCxnSpPr>
        <p:spPr>
          <a:xfrm rot="10800000">
            <a:off x="4283969" y="2067695"/>
            <a:ext cx="288033" cy="32403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r="3542"/>
          <a:stretch>
            <a:fillRect/>
          </a:stretch>
        </p:blipFill>
        <p:spPr bwMode="auto">
          <a:xfrm>
            <a:off x="6876256" y="1275606"/>
            <a:ext cx="1632318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矩形 15"/>
          <p:cNvSpPr/>
          <p:nvPr/>
        </p:nvSpPr>
        <p:spPr>
          <a:xfrm>
            <a:off x="7000156" y="1642944"/>
            <a:ext cx="1436410" cy="2945030"/>
          </a:xfrm>
          <a:prstGeom prst="rect">
            <a:avLst/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12700">
            <a:solidFill>
              <a:srgbClr val="C00000"/>
            </a:solidFill>
            <a:prstDash val="sysDash"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endParaRPr lang="zh-CN" altLang="en-US" sz="1000" b="1" dirty="0">
              <a:solidFill>
                <a:srgbClr val="333333"/>
              </a:solidFill>
            </a:endParaRPr>
          </a:p>
        </p:txBody>
      </p:sp>
      <p:sp>
        <p:nvSpPr>
          <p:cNvPr id="17" name="稻壳设计师康帅7-1"/>
          <p:cNvSpPr/>
          <p:nvPr>
            <p:custDataLst>
              <p:tags r:id="rId3"/>
            </p:custDataLst>
          </p:nvPr>
        </p:nvSpPr>
        <p:spPr>
          <a:xfrm>
            <a:off x="4572000" y="3363839"/>
            <a:ext cx="2145521" cy="648072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专利工具：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同时也提供其他专利工具供用户使用。</a:t>
            </a:r>
            <a:endParaRPr lang="zh-CN" altLang="en-US" sz="1000" dirty="0">
              <a:solidFill>
                <a:srgbClr val="333333"/>
              </a:solidFill>
              <a:sym typeface="+mn-ea"/>
            </a:endParaRPr>
          </a:p>
        </p:txBody>
      </p:sp>
      <p:cxnSp>
        <p:nvCxnSpPr>
          <p:cNvPr id="18" name="肘形连接符 17"/>
          <p:cNvCxnSpPr>
            <a:stCxn id="17" idx="0"/>
            <a:endCxn id="16" idx="1"/>
          </p:cNvCxnSpPr>
          <p:nvPr/>
        </p:nvCxnSpPr>
        <p:spPr>
          <a:xfrm flipV="1">
            <a:off x="6717521" y="3115459"/>
            <a:ext cx="282635" cy="57241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5571" y="857643"/>
            <a:ext cx="3780000" cy="4165312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22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 smtClean="0">
                <a:solidFill>
                  <a:srgbClr val="066FBB"/>
                </a:solidFill>
                <a:cs typeface="+mj-ea"/>
                <a:sym typeface="+mn-ea"/>
              </a:rPr>
              <a:t>2.1 </a:t>
            </a:r>
            <a:r>
              <a:rPr lang="en-US" altLang="zh-CN" sz="2100" b="1" dirty="0" smtClean="0">
                <a:solidFill>
                  <a:srgbClr val="066FBB"/>
                </a:solidFill>
                <a:sym typeface="+mn-ea"/>
              </a:rPr>
              <a:t>2023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年：科技统计数据服务模块</a:t>
            </a: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521549" y="1383618"/>
            <a:ext cx="3546308" cy="2628189"/>
            <a:chOff x="-5753220" y="676593"/>
            <a:chExt cx="4728410" cy="3504252"/>
          </a:xfrm>
        </p:grpSpPr>
        <p:sp>
          <p:nvSpPr>
            <p:cNvPr id="34" name="椭圆 33"/>
            <p:cNvSpPr/>
            <p:nvPr>
              <p:custDataLst>
                <p:tags r:id="rId2"/>
              </p:custDataLst>
            </p:nvPr>
          </p:nvSpPr>
          <p:spPr>
            <a:xfrm>
              <a:off x="-5753220" y="683060"/>
              <a:ext cx="432000" cy="432000"/>
            </a:xfrm>
            <a:prstGeom prst="ellipse">
              <a:avLst/>
            </a:prstGeom>
            <a:gradFill>
              <a:gsLst>
                <a:gs pos="73000">
                  <a:schemeClr val="accent1">
                    <a:alpha val="0"/>
                  </a:schemeClr>
                </a:gs>
                <a:gs pos="100000">
                  <a:schemeClr val="accent1">
                    <a:alpha val="3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685800"/>
              <a:endParaRPr lang="en-US" altLang="zh-CN" b="1">
                <a:solidFill>
                  <a:srgbClr val="4CB0FC"/>
                </a:solidFill>
                <a:cs typeface="MiSans Normal" panose="00000500000000000000" charset="-122"/>
                <a:sym typeface="MiSans Normal" panose="00000500000000000000" charset="-122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3"/>
              </p:custDataLst>
            </p:nvPr>
          </p:nvSpPr>
          <p:spPr>
            <a:xfrm>
              <a:off x="-5204696" y="676593"/>
              <a:ext cx="4179885" cy="369571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defTabSz="685800">
                <a:spcBef>
                  <a:spcPct val="0"/>
                </a:spcBef>
                <a:spcAft>
                  <a:spcPct val="0"/>
                </a:spcAft>
                <a:buClr>
                  <a:srgbClr val="4CB0FC"/>
                </a:buClr>
                <a:buSzPct val="70000"/>
              </a:pPr>
              <a:r>
                <a:rPr lang="zh-CN" altLang="en-US" b="1" dirty="0">
                  <a:gradFill>
                    <a:gsLst>
                      <a:gs pos="0">
                        <a:srgbClr val="4CB0FC">
                          <a:lumMod val="40000"/>
                          <a:lumOff val="60000"/>
                          <a:alpha val="100000"/>
                        </a:srgbClr>
                      </a:gs>
                      <a:gs pos="100000">
                        <a:srgbClr val="4CB0FC">
                          <a:alpha val="100000"/>
                        </a:srgbClr>
                      </a:gs>
                    </a:gsLst>
                    <a:lin ang="5400000" scaled="0"/>
                  </a:gradFill>
                  <a:cs typeface="MiSans Normal" panose="00000500000000000000" charset="-122"/>
                  <a:sym typeface="MiSans Normal" panose="00000500000000000000" charset="-122"/>
                </a:rPr>
                <a:t>基本情况</a:t>
              </a:r>
            </a:p>
          </p:txBody>
        </p:sp>
        <p:cxnSp>
          <p:nvCxnSpPr>
            <p:cNvPr id="39" name="直接连接符 38"/>
            <p:cNvCxnSpPr/>
            <p:nvPr>
              <p:custDataLst>
                <p:tags r:id="rId4"/>
              </p:custDataLst>
            </p:nvPr>
          </p:nvCxnSpPr>
          <p:spPr>
            <a:xfrm flipH="1" flipV="1">
              <a:off x="-5355192" y="996633"/>
              <a:ext cx="153035" cy="116840"/>
            </a:xfrm>
            <a:prstGeom prst="line">
              <a:avLst/>
            </a:prstGeom>
            <a:gradFill flip="none" rotWithShape="1">
              <a:gsLst>
                <a:gs pos="43000">
                  <a:srgbClr val="65B4D5">
                    <a:alpha val="16000"/>
                  </a:srgbClr>
                </a:gs>
                <a:gs pos="0">
                  <a:srgbClr val="65B4D5">
                    <a:alpha val="30000"/>
                  </a:srgbClr>
                </a:gs>
                <a:gs pos="100000">
                  <a:srgbClr val="65B4D5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solidFill>
                <a:schemeClr val="accent1">
                  <a:alpha val="6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3" name="组合 42"/>
            <p:cNvGrpSpPr/>
            <p:nvPr>
              <p:custDataLst>
                <p:tags r:id="rId5"/>
              </p:custDataLst>
            </p:nvPr>
          </p:nvGrpSpPr>
          <p:grpSpPr>
            <a:xfrm>
              <a:off x="-5325665" y="1115060"/>
              <a:ext cx="4300855" cy="3065785"/>
              <a:chOff x="9267" y="2831"/>
              <a:chExt cx="6773" cy="3258"/>
            </a:xfrm>
          </p:grpSpPr>
          <p:sp>
            <p:nvSpPr>
              <p:cNvPr id="44" name="稻壳设计师康帅7-1"/>
              <p:cNvSpPr/>
              <p:nvPr>
                <p:custDataLst>
                  <p:tags r:id="rId6"/>
                </p:custDataLst>
              </p:nvPr>
            </p:nvSpPr>
            <p:spPr>
              <a:xfrm>
                <a:off x="9267" y="2939"/>
                <a:ext cx="6773" cy="3150"/>
              </a:xfrm>
              <a:prstGeom prst="snip2DiagRect">
                <a:avLst>
                  <a:gd name="adj1" fmla="val 11218"/>
                  <a:gd name="adj2" fmla="val 0"/>
                </a:avLst>
              </a:prstGeom>
              <a:gradFill>
                <a:gsLst>
                  <a:gs pos="76000">
                    <a:schemeClr val="accent1">
                      <a:alpha val="0"/>
                    </a:schemeClr>
                  </a:gs>
                  <a:gs pos="20000">
                    <a:schemeClr val="accent1">
                      <a:alpha val="0"/>
                    </a:schemeClr>
                  </a:gs>
                  <a:gs pos="0">
                    <a:schemeClr val="accent1">
                      <a:alpha val="25000"/>
                    </a:schemeClr>
                  </a:gs>
                  <a:gs pos="100000">
                    <a:schemeClr val="accent1">
                      <a:alpha val="25000"/>
                    </a:schemeClr>
                  </a:gs>
                </a:gsLst>
                <a:lin ang="2700000" scaled="0"/>
              </a:gradFill>
              <a:ln w="6350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marL="128270" indent="-128270" defTabSz="685800">
                  <a:lnSpc>
                    <a:spcPct val="15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一站式采集、汇聚、共享与应用：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通过建设数据采集、数据中心、统计服务门户、数据分析</a:t>
                </a: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四大模块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，实现多源异构数据汇聚、治理与融合，构建科技统计资源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库。</a:t>
                </a:r>
              </a:p>
              <a:p>
                <a:pPr marL="128270" indent="-128270" defTabSz="685800">
                  <a:lnSpc>
                    <a:spcPct val="15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多维度统计、分析：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支持数据直报、历史补录、数据共享与开放，提供多维度监测分析，服务政策制定与创新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评价。</a:t>
                </a:r>
                <a:endParaRPr lang="zh-CN" altLang="en-US" sz="1000" dirty="0">
                  <a:solidFill>
                    <a:srgbClr val="333333"/>
                  </a:solidFill>
                  <a:sym typeface="+mn-ea"/>
                </a:endParaRPr>
              </a:p>
            </p:txBody>
          </p:sp>
          <p:cxnSp>
            <p:nvCxnSpPr>
              <p:cNvPr id="46" name="直接连接符 45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9462" y="2831"/>
                <a:ext cx="6555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50">
                <a:solidFill>
                  <a:schemeClr val="accent1">
                    <a:alpha val="60000"/>
                  </a:schemeClr>
                </a:solidFill>
                <a:round/>
                <a:tailEnd type="oval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824448" y="1078412"/>
            <a:ext cx="3780000" cy="3437554"/>
            <a:chOff x="4675571" y="938988"/>
            <a:chExt cx="3780000" cy="3437554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571" y="2765970"/>
              <a:ext cx="3780000" cy="16105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571" y="938988"/>
              <a:ext cx="3780000" cy="1826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30" name="稻壳设计师康帅7-1"/>
          <p:cNvSpPr/>
          <p:nvPr>
            <p:custDataLst>
              <p:tags r:id="rId1"/>
            </p:custDataLst>
          </p:nvPr>
        </p:nvSpPr>
        <p:spPr>
          <a:xfrm>
            <a:off x="2886326" y="3228848"/>
            <a:ext cx="1376259" cy="1287118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统计年鉴：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中国科技年鉴、山东科技年鉴等数据上传、统计与展示。</a:t>
            </a:r>
            <a:endParaRPr lang="zh-CN" altLang="en-US" sz="1000" dirty="0">
              <a:solidFill>
                <a:srgbClr val="333333"/>
              </a:solidFill>
              <a:sym typeface="+mn-ea"/>
            </a:endParaRPr>
          </a:p>
        </p:txBody>
      </p:sp>
      <p:cxnSp>
        <p:nvCxnSpPr>
          <p:cNvPr id="10" name="肘形连接符 9"/>
          <p:cNvCxnSpPr>
            <a:stCxn id="30" idx="0"/>
            <a:endCxn id="2051" idx="1"/>
          </p:cNvCxnSpPr>
          <p:nvPr/>
        </p:nvCxnSpPr>
        <p:spPr>
          <a:xfrm flipV="1">
            <a:off x="4262585" y="3710680"/>
            <a:ext cx="561863" cy="16172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 smtClean="0">
                <a:solidFill>
                  <a:srgbClr val="066FBB"/>
                </a:solidFill>
                <a:cs typeface="+mj-ea"/>
                <a:sym typeface="+mn-ea"/>
              </a:rPr>
              <a:t>2.1 </a:t>
            </a:r>
            <a:r>
              <a:rPr lang="en-US" altLang="zh-CN" sz="2100" b="1" dirty="0" smtClean="0">
                <a:solidFill>
                  <a:srgbClr val="066FBB"/>
                </a:solidFill>
                <a:sym typeface="+mn-ea"/>
              </a:rPr>
              <a:t>2023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年：科技统计数据服务模块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10" r="12819"/>
          <a:stretch>
            <a:fillRect/>
          </a:stretch>
        </p:blipFill>
        <p:spPr bwMode="auto">
          <a:xfrm>
            <a:off x="756645" y="1078412"/>
            <a:ext cx="3507009" cy="1921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稻壳设计师康帅7-1"/>
          <p:cNvSpPr/>
          <p:nvPr>
            <p:custDataLst>
              <p:tags r:id="rId2"/>
            </p:custDataLst>
          </p:nvPr>
        </p:nvSpPr>
        <p:spPr>
          <a:xfrm>
            <a:off x="756645" y="3228848"/>
            <a:ext cx="1376259" cy="1287118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学术报告：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软科学报告、调研报告等按发文时间、发文部门进行上传、查询。</a:t>
            </a:r>
            <a:endParaRPr lang="zh-CN" altLang="en-US" sz="1000" dirty="0">
              <a:solidFill>
                <a:srgbClr val="333333"/>
              </a:solidFill>
              <a:sym typeface="+mn-ea"/>
            </a:endParaRPr>
          </a:p>
        </p:txBody>
      </p:sp>
      <p:cxnSp>
        <p:nvCxnSpPr>
          <p:cNvPr id="32" name="肘形连接符 31"/>
          <p:cNvCxnSpPr>
            <a:stCxn id="31" idx="0"/>
            <a:endCxn id="2052" idx="2"/>
          </p:cNvCxnSpPr>
          <p:nvPr/>
        </p:nvCxnSpPr>
        <p:spPr>
          <a:xfrm flipV="1">
            <a:off x="2132904" y="3000168"/>
            <a:ext cx="377246" cy="87223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35" name="稻壳设计师康帅7-1"/>
          <p:cNvSpPr/>
          <p:nvPr>
            <p:custDataLst>
              <p:tags r:id="rId1"/>
            </p:custDataLst>
          </p:nvPr>
        </p:nvSpPr>
        <p:spPr>
          <a:xfrm>
            <a:off x="827583" y="843558"/>
            <a:ext cx="2936697" cy="1728192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>
                <a:solidFill>
                  <a:srgbClr val="333333"/>
                </a:solidFill>
                <a:sym typeface="+mn-ea"/>
              </a:rPr>
              <a:t>区域</a:t>
            </a: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指标：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支持用户动态、多维度在线查询、对比分析各地科技创新核心数据。通过可视化图表（如雷达图、柱状图） 直观呈现区域优势与短板，将海量统计数据转化为可交互的“创新画像”，为政策制定、资源调配和绩效评估提供“数据驾驶舱” 支撑。 </a:t>
            </a:r>
            <a:endParaRPr lang="zh-CN" altLang="en-US" sz="1000" dirty="0">
              <a:solidFill>
                <a:srgbClr val="333333"/>
              </a:solidFill>
              <a:sym typeface="+mn-ea"/>
            </a:endParaRPr>
          </a:p>
        </p:txBody>
      </p:sp>
      <p:cxnSp>
        <p:nvCxnSpPr>
          <p:cNvPr id="38" name="肘形连接符 37"/>
          <p:cNvCxnSpPr>
            <a:stCxn id="35" idx="0"/>
            <a:endCxn id="3075" idx="1"/>
          </p:cNvCxnSpPr>
          <p:nvPr/>
        </p:nvCxnSpPr>
        <p:spPr>
          <a:xfrm>
            <a:off x="3764280" y="1707654"/>
            <a:ext cx="807720" cy="10399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 smtClean="0">
                <a:solidFill>
                  <a:srgbClr val="066FBB"/>
                </a:solidFill>
                <a:cs typeface="+mj-ea"/>
                <a:sym typeface="+mn-ea"/>
              </a:rPr>
              <a:t>2.1 </a:t>
            </a:r>
            <a:r>
              <a:rPr lang="en-US" altLang="zh-CN" sz="2100" b="1" dirty="0" smtClean="0">
                <a:solidFill>
                  <a:srgbClr val="066FBB"/>
                </a:solidFill>
                <a:sym typeface="+mn-ea"/>
              </a:rPr>
              <a:t>2023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年：科技统计数据服务模块</a:t>
            </a:r>
          </a:p>
        </p:txBody>
      </p:sp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147814"/>
            <a:ext cx="3780000" cy="168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稻壳设计师康帅7-1"/>
          <p:cNvSpPr/>
          <p:nvPr>
            <p:custDataLst>
              <p:tags r:id="rId2"/>
            </p:custDataLst>
          </p:nvPr>
        </p:nvSpPr>
        <p:spPr>
          <a:xfrm>
            <a:off x="5434422" y="3219822"/>
            <a:ext cx="2881994" cy="1296144"/>
          </a:xfrm>
          <a:prstGeom prst="snip2DiagRect">
            <a:avLst>
              <a:gd name="adj1" fmla="val 11218"/>
              <a:gd name="adj2" fmla="val 0"/>
            </a:avLst>
          </a:prstGeom>
          <a:gradFill>
            <a:gsLst>
              <a:gs pos="76000">
                <a:schemeClr val="accent1">
                  <a:alpha val="0"/>
                </a:schemeClr>
              </a:gs>
              <a:gs pos="2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  <a:gs pos="100000">
                <a:schemeClr val="accent1">
                  <a:alpha val="25000"/>
                </a:schemeClr>
              </a:gs>
            </a:gsLst>
            <a:lin ang="2700000" scaled="0"/>
          </a:gradFill>
          <a:ln w="63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79705" defTabSz="685800">
              <a:lnSpc>
                <a:spcPct val="150000"/>
              </a:lnSpc>
              <a:spcAft>
                <a:spcPts val="900"/>
              </a:spcAft>
            </a:pPr>
            <a:r>
              <a:rPr lang="zh-CN" altLang="en-US" sz="1000" b="1" dirty="0">
                <a:solidFill>
                  <a:srgbClr val="333333"/>
                </a:solidFill>
                <a:sym typeface="+mn-ea"/>
              </a:rPr>
              <a:t>科技创新统计一张图</a:t>
            </a:r>
            <a:r>
              <a:rPr lang="zh-CN" altLang="en-US" sz="1000" b="1" dirty="0" smtClean="0">
                <a:solidFill>
                  <a:srgbClr val="333333"/>
                </a:solidFill>
                <a:sym typeface="+mn-ea"/>
              </a:rPr>
              <a:t>：</a:t>
            </a:r>
            <a:r>
              <a:rPr lang="zh-CN" altLang="en-US" sz="1000" dirty="0" smtClean="0">
                <a:solidFill>
                  <a:srgbClr val="333333"/>
                </a:solidFill>
                <a:sym typeface="+mn-ea"/>
              </a:rPr>
              <a:t>整合科技创新领域供给端、需求端、服务端信息</a:t>
            </a:r>
            <a:r>
              <a:rPr lang="zh-CN" altLang="en-US" sz="1000" dirty="0">
                <a:solidFill>
                  <a:srgbClr val="333333"/>
                </a:solidFill>
                <a:sym typeface="+mn-ea"/>
              </a:rPr>
              <a:t>，全景式呈现科技创新资源现状、创新资源分布和综合创新实力横向对比，为用户提供各类创新资源的多维度评估、多指标统计。 </a:t>
            </a:r>
          </a:p>
        </p:txBody>
      </p:sp>
      <p:cxnSp>
        <p:nvCxnSpPr>
          <p:cNvPr id="50" name="肘形连接符 49"/>
          <p:cNvCxnSpPr>
            <a:stCxn id="49" idx="2"/>
            <a:endCxn id="46" idx="3"/>
          </p:cNvCxnSpPr>
          <p:nvPr/>
        </p:nvCxnSpPr>
        <p:spPr>
          <a:xfrm rot="10800000" flipV="1">
            <a:off x="4607584" y="3867893"/>
            <a:ext cx="826838" cy="12057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835521"/>
            <a:ext cx="3780000" cy="1952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22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 smtClean="0">
                <a:solidFill>
                  <a:srgbClr val="066FBB"/>
                </a:solidFill>
                <a:cs typeface="+mj-ea"/>
                <a:sym typeface="+mn-ea"/>
              </a:rPr>
              <a:t>2.1 </a:t>
            </a:r>
            <a:r>
              <a:rPr lang="en-US" altLang="zh-CN" sz="2100" b="1" dirty="0" smtClean="0">
                <a:solidFill>
                  <a:srgbClr val="066FBB"/>
                </a:solidFill>
                <a:sym typeface="+mn-ea"/>
              </a:rPr>
              <a:t>2023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年：科技项目全过程管理服务模块</a:t>
            </a: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467544" y="1275606"/>
            <a:ext cx="3546308" cy="2664181"/>
            <a:chOff x="-5753220" y="676593"/>
            <a:chExt cx="4728410" cy="3552242"/>
          </a:xfrm>
        </p:grpSpPr>
        <p:sp>
          <p:nvSpPr>
            <p:cNvPr id="34" name="椭圆 33"/>
            <p:cNvSpPr/>
            <p:nvPr>
              <p:custDataLst>
                <p:tags r:id="rId2"/>
              </p:custDataLst>
            </p:nvPr>
          </p:nvSpPr>
          <p:spPr>
            <a:xfrm>
              <a:off x="-5753220" y="683060"/>
              <a:ext cx="432000" cy="432000"/>
            </a:xfrm>
            <a:prstGeom prst="ellipse">
              <a:avLst/>
            </a:prstGeom>
            <a:gradFill>
              <a:gsLst>
                <a:gs pos="73000">
                  <a:schemeClr val="accent1">
                    <a:alpha val="0"/>
                  </a:schemeClr>
                </a:gs>
                <a:gs pos="100000">
                  <a:schemeClr val="accent1">
                    <a:alpha val="3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685800"/>
              <a:endParaRPr lang="en-US" altLang="zh-CN" b="1">
                <a:solidFill>
                  <a:srgbClr val="4CB0FC"/>
                </a:solidFill>
                <a:cs typeface="MiSans Normal" panose="00000500000000000000" charset="-122"/>
                <a:sym typeface="MiSans Normal" panose="00000500000000000000" charset="-122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3"/>
              </p:custDataLst>
            </p:nvPr>
          </p:nvSpPr>
          <p:spPr>
            <a:xfrm>
              <a:off x="-5204696" y="676593"/>
              <a:ext cx="4165281" cy="369571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defTabSz="685800">
                <a:spcBef>
                  <a:spcPct val="0"/>
                </a:spcBef>
                <a:spcAft>
                  <a:spcPct val="0"/>
                </a:spcAft>
                <a:buClr>
                  <a:srgbClr val="4CB0FC"/>
                </a:buClr>
                <a:buSzPct val="70000"/>
              </a:pPr>
              <a:r>
                <a:rPr lang="zh-CN" altLang="en-US" b="1" dirty="0">
                  <a:gradFill>
                    <a:gsLst>
                      <a:gs pos="0">
                        <a:srgbClr val="4CB0FC">
                          <a:lumMod val="40000"/>
                          <a:lumOff val="60000"/>
                          <a:alpha val="100000"/>
                        </a:srgbClr>
                      </a:gs>
                      <a:gs pos="100000">
                        <a:srgbClr val="4CB0FC">
                          <a:alpha val="100000"/>
                        </a:srgbClr>
                      </a:gs>
                    </a:gsLst>
                    <a:lin ang="5400000" scaled="0"/>
                  </a:gradFill>
                  <a:cs typeface="MiSans Normal" panose="00000500000000000000" charset="-122"/>
                  <a:sym typeface="MiSans Normal" panose="00000500000000000000" charset="-122"/>
                </a:rPr>
                <a:t>基本情况</a:t>
              </a:r>
            </a:p>
          </p:txBody>
        </p:sp>
        <p:cxnSp>
          <p:nvCxnSpPr>
            <p:cNvPr id="39" name="直接连接符 38"/>
            <p:cNvCxnSpPr/>
            <p:nvPr>
              <p:custDataLst>
                <p:tags r:id="rId4"/>
              </p:custDataLst>
            </p:nvPr>
          </p:nvCxnSpPr>
          <p:spPr>
            <a:xfrm flipH="1" flipV="1">
              <a:off x="-5355192" y="996633"/>
              <a:ext cx="153035" cy="116840"/>
            </a:xfrm>
            <a:prstGeom prst="line">
              <a:avLst/>
            </a:prstGeom>
            <a:gradFill flip="none" rotWithShape="1">
              <a:gsLst>
                <a:gs pos="43000">
                  <a:srgbClr val="65B4D5">
                    <a:alpha val="16000"/>
                  </a:srgbClr>
                </a:gs>
                <a:gs pos="0">
                  <a:srgbClr val="65B4D5">
                    <a:alpha val="30000"/>
                  </a:srgbClr>
                </a:gs>
                <a:gs pos="100000">
                  <a:srgbClr val="65B4D5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solidFill>
                <a:schemeClr val="accent1">
                  <a:alpha val="6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3" name="组合 42"/>
            <p:cNvGrpSpPr/>
            <p:nvPr>
              <p:custDataLst>
                <p:tags r:id="rId5"/>
              </p:custDataLst>
            </p:nvPr>
          </p:nvGrpSpPr>
          <p:grpSpPr>
            <a:xfrm>
              <a:off x="-5325665" y="1115060"/>
              <a:ext cx="4300855" cy="3113775"/>
              <a:chOff x="9267" y="2831"/>
              <a:chExt cx="6773" cy="3309"/>
            </a:xfrm>
          </p:grpSpPr>
          <p:sp>
            <p:nvSpPr>
              <p:cNvPr id="44" name="稻壳设计师康帅7-1"/>
              <p:cNvSpPr/>
              <p:nvPr>
                <p:custDataLst>
                  <p:tags r:id="rId6"/>
                </p:custDataLst>
              </p:nvPr>
            </p:nvSpPr>
            <p:spPr>
              <a:xfrm>
                <a:off x="9267" y="2939"/>
                <a:ext cx="6773" cy="3201"/>
              </a:xfrm>
              <a:prstGeom prst="snip2DiagRect">
                <a:avLst>
                  <a:gd name="adj1" fmla="val 11218"/>
                  <a:gd name="adj2" fmla="val 0"/>
                </a:avLst>
              </a:prstGeom>
              <a:gradFill>
                <a:gsLst>
                  <a:gs pos="76000">
                    <a:schemeClr val="accent1">
                      <a:alpha val="0"/>
                    </a:schemeClr>
                  </a:gs>
                  <a:gs pos="20000">
                    <a:schemeClr val="accent1">
                      <a:alpha val="0"/>
                    </a:schemeClr>
                  </a:gs>
                  <a:gs pos="0">
                    <a:schemeClr val="accent1">
                      <a:alpha val="25000"/>
                    </a:schemeClr>
                  </a:gs>
                  <a:gs pos="100000">
                    <a:schemeClr val="accent1">
                      <a:alpha val="25000"/>
                    </a:schemeClr>
                  </a:gs>
                </a:gsLst>
                <a:lin ang="2700000" scaled="0"/>
              </a:gradFill>
              <a:ln w="6350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marL="128270" indent="-128270" defTabSz="685800">
                  <a:lnSpc>
                    <a:spcPct val="15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在线</a:t>
                </a: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管理：</a:t>
                </a:r>
                <a:r>
                  <a:rPr lang="zh-CN" altLang="en-US" sz="1000" kern="100" dirty="0" smtClean="0">
                    <a:latin typeface="+mn-ea"/>
                    <a:cs typeface="宋体" panose="02010600030101010101" pitchFamily="2" charset="-122"/>
                    <a:sym typeface="+mn-ea"/>
                  </a:rPr>
                  <a:t>针对</a:t>
                </a:r>
                <a:r>
                  <a:rPr lang="zh-CN" altLang="en-US" sz="1000" kern="100" dirty="0">
                    <a:latin typeface="+mn-ea"/>
                    <a:cs typeface="宋体" panose="02010600030101010101" pitchFamily="2" charset="-122"/>
                    <a:sym typeface="+mn-ea"/>
                  </a:rPr>
                  <a:t>项目申报、管理、审核评审、验收、成果登记、公示、项目后评价</a:t>
                </a:r>
                <a:r>
                  <a:rPr lang="zh-CN" altLang="en-US" sz="1000" kern="100" dirty="0" smtClean="0">
                    <a:latin typeface="+mn-ea"/>
                    <a:cs typeface="宋体" panose="02010600030101010101" pitchFamily="2" charset="-122"/>
                    <a:sym typeface="+mn-ea"/>
                  </a:rPr>
                  <a:t>等管理功能，达到</a:t>
                </a:r>
                <a:r>
                  <a:rPr lang="zh-CN" altLang="en-US" sz="1000" kern="100" dirty="0">
                    <a:latin typeface="+mn-ea"/>
                    <a:cs typeface="宋体" panose="02010600030101010101" pitchFamily="2" charset="-122"/>
                    <a:sym typeface="+mn-ea"/>
                  </a:rPr>
                  <a:t>项目申报流程规范化</a:t>
                </a:r>
                <a:r>
                  <a:rPr lang="zh-CN" altLang="en-US" sz="1000" kern="100" dirty="0" smtClean="0">
                    <a:latin typeface="+mn-ea"/>
                    <a:cs typeface="宋体" panose="02010600030101010101" pitchFamily="2" charset="-122"/>
                    <a:sym typeface="+mn-ea"/>
                  </a:rPr>
                  <a:t>、评审标准化、项目</a:t>
                </a:r>
                <a:r>
                  <a:rPr lang="zh-CN" altLang="en-US" sz="1000" kern="100" dirty="0">
                    <a:latin typeface="+mn-ea"/>
                    <a:cs typeface="宋体" panose="02010600030101010101" pitchFamily="2" charset="-122"/>
                    <a:sym typeface="+mn-ea"/>
                  </a:rPr>
                  <a:t>效果跟踪长期化</a:t>
                </a:r>
                <a:r>
                  <a:rPr lang="zh-CN" altLang="en-US" sz="1000" kern="100" dirty="0" smtClean="0">
                    <a:latin typeface="+mn-ea"/>
                    <a:cs typeface="宋体" panose="02010600030101010101" pitchFamily="2" charset="-122"/>
                    <a:sym typeface="+mn-ea"/>
                  </a:rPr>
                  <a:t>。</a:t>
                </a:r>
                <a:endParaRPr lang="en-US" altLang="zh-CN" sz="1000" kern="100" dirty="0" smtClean="0">
                  <a:latin typeface="+mn-ea"/>
                  <a:cs typeface="宋体" panose="02010600030101010101" pitchFamily="2" charset="-122"/>
                  <a:sym typeface="+mn-ea"/>
                </a:endParaRPr>
              </a:p>
              <a:p>
                <a:pPr marL="128270" indent="-128270" defTabSz="685800">
                  <a:lnSpc>
                    <a:spcPct val="15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在线展示：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通过项目进度和成果产出的透明化管理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，将项目的各状态：</a:t>
                </a: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“</a:t>
                </a: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立项</a:t>
                </a:r>
                <a:r>
                  <a:rPr lang="en-US" altLang="zh-CN" sz="1000" b="1" dirty="0">
                    <a:solidFill>
                      <a:srgbClr val="333333"/>
                    </a:solidFill>
                    <a:sym typeface="+mn-ea"/>
                  </a:rPr>
                  <a:t>-</a:t>
                </a: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中期验收</a:t>
                </a:r>
                <a:r>
                  <a:rPr lang="en-US" altLang="zh-CN" sz="1000" b="1" dirty="0">
                    <a:solidFill>
                      <a:srgbClr val="333333"/>
                    </a:solidFill>
                    <a:sym typeface="+mn-ea"/>
                  </a:rPr>
                  <a:t>-</a:t>
                </a: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结题验收</a:t>
                </a:r>
                <a:r>
                  <a:rPr lang="en-US" altLang="zh-CN" sz="1000" b="1" dirty="0">
                    <a:solidFill>
                      <a:srgbClr val="333333"/>
                    </a:solidFill>
                    <a:sym typeface="+mn-ea"/>
                  </a:rPr>
                  <a:t>-</a:t>
                </a: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后评估管理</a:t>
                </a: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”在线展示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，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加强过程监控与风险控制能力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。</a:t>
                </a:r>
                <a:endParaRPr lang="en-US" altLang="zh-CN" sz="1000" dirty="0" smtClean="0">
                  <a:solidFill>
                    <a:srgbClr val="333333"/>
                  </a:solidFill>
                  <a:sym typeface="+mn-ea"/>
                </a:endParaRPr>
              </a:p>
              <a:p>
                <a:pPr marL="128270" indent="-128270" defTabSz="685800">
                  <a:lnSpc>
                    <a:spcPct val="15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endParaRPr lang="zh-CN" altLang="en-US" sz="1000" dirty="0">
                  <a:solidFill>
                    <a:srgbClr val="333333"/>
                  </a:solidFill>
                  <a:sym typeface="+mn-ea"/>
                </a:endParaRPr>
              </a:p>
            </p:txBody>
          </p:sp>
          <p:cxnSp>
            <p:nvCxnSpPr>
              <p:cNvPr id="46" name="直接连接符 45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9462" y="2831"/>
                <a:ext cx="6555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50">
                <a:solidFill>
                  <a:schemeClr val="accent1">
                    <a:alpha val="60000"/>
                  </a:schemeClr>
                </a:solidFill>
                <a:round/>
                <a:tailEnd type="oval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2216" y="933290"/>
            <a:ext cx="4104000" cy="1991632"/>
          </a:xfrm>
          <a:prstGeom prst="rect">
            <a:avLst/>
          </a:prstGeom>
          <a:ln>
            <a:noFill/>
          </a:ln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216" y="3075980"/>
            <a:ext cx="4104000" cy="182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22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 smtClean="0">
                <a:solidFill>
                  <a:srgbClr val="066FBB"/>
                </a:solidFill>
                <a:cs typeface="+mj-ea"/>
                <a:sym typeface="+mn-ea"/>
              </a:rPr>
              <a:t>2.1 </a:t>
            </a:r>
            <a:r>
              <a:rPr lang="en-US" altLang="zh-CN" sz="2100" b="1" dirty="0" smtClean="0">
                <a:solidFill>
                  <a:srgbClr val="066FBB"/>
                </a:solidFill>
                <a:sym typeface="+mn-ea"/>
              </a:rPr>
              <a:t>2024</a:t>
            </a:r>
            <a:r>
              <a:rPr lang="zh-CN" altLang="en-US" sz="2100" b="1" dirty="0" smtClean="0">
                <a:solidFill>
                  <a:srgbClr val="066FBB"/>
                </a:solidFill>
                <a:sym typeface="+mn-ea"/>
              </a:rPr>
              <a:t>年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：产业监测分析模块</a:t>
            </a:r>
          </a:p>
        </p:txBody>
      </p:sp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467544" y="843588"/>
            <a:ext cx="3546308" cy="2376234"/>
            <a:chOff x="-5753220" y="676593"/>
            <a:chExt cx="4728410" cy="3168313"/>
          </a:xfrm>
        </p:grpSpPr>
        <p:sp>
          <p:nvSpPr>
            <p:cNvPr id="18" name="椭圆 17"/>
            <p:cNvSpPr/>
            <p:nvPr>
              <p:custDataLst>
                <p:tags r:id="rId2"/>
              </p:custDataLst>
            </p:nvPr>
          </p:nvSpPr>
          <p:spPr>
            <a:xfrm>
              <a:off x="-5753220" y="683060"/>
              <a:ext cx="432000" cy="432000"/>
            </a:xfrm>
            <a:prstGeom prst="ellipse">
              <a:avLst/>
            </a:prstGeom>
            <a:gradFill>
              <a:gsLst>
                <a:gs pos="73000">
                  <a:schemeClr val="accent1">
                    <a:alpha val="0"/>
                  </a:schemeClr>
                </a:gs>
                <a:gs pos="100000">
                  <a:schemeClr val="accent1">
                    <a:alpha val="3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685800"/>
              <a:endParaRPr lang="en-US" altLang="zh-CN" b="1">
                <a:solidFill>
                  <a:srgbClr val="4CB0FC"/>
                </a:solidFill>
                <a:cs typeface="MiSans Normal" panose="00000500000000000000" charset="-122"/>
                <a:sym typeface="MiSans Normal" panose="00000500000000000000" charset="-122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3"/>
              </p:custDataLst>
            </p:nvPr>
          </p:nvSpPr>
          <p:spPr>
            <a:xfrm>
              <a:off x="-5204696" y="676593"/>
              <a:ext cx="4165281" cy="369571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defTabSz="685800">
                <a:spcBef>
                  <a:spcPct val="0"/>
                </a:spcBef>
                <a:spcAft>
                  <a:spcPct val="0"/>
                </a:spcAft>
                <a:buClr>
                  <a:srgbClr val="4CB0FC"/>
                </a:buClr>
                <a:buSzPct val="70000"/>
              </a:pPr>
              <a:r>
                <a:rPr lang="zh-CN" altLang="en-US" b="1" dirty="0">
                  <a:gradFill>
                    <a:gsLst>
                      <a:gs pos="0">
                        <a:srgbClr val="4CB0FC">
                          <a:lumMod val="40000"/>
                          <a:lumOff val="60000"/>
                          <a:alpha val="100000"/>
                        </a:srgbClr>
                      </a:gs>
                      <a:gs pos="100000">
                        <a:srgbClr val="4CB0FC">
                          <a:alpha val="100000"/>
                        </a:srgbClr>
                      </a:gs>
                    </a:gsLst>
                    <a:lin ang="5400000" scaled="0"/>
                  </a:gradFill>
                  <a:cs typeface="MiSans Normal" panose="00000500000000000000" charset="-122"/>
                  <a:sym typeface="MiSans Normal" panose="00000500000000000000" charset="-122"/>
                </a:rPr>
                <a:t>基本情况</a:t>
              </a:r>
            </a:p>
          </p:txBody>
        </p:sp>
        <p:cxnSp>
          <p:nvCxnSpPr>
            <p:cNvPr id="20" name="直接连接符 19"/>
            <p:cNvCxnSpPr/>
            <p:nvPr>
              <p:custDataLst>
                <p:tags r:id="rId4"/>
              </p:custDataLst>
            </p:nvPr>
          </p:nvCxnSpPr>
          <p:spPr>
            <a:xfrm flipH="1" flipV="1">
              <a:off x="-5355192" y="996633"/>
              <a:ext cx="153035" cy="116840"/>
            </a:xfrm>
            <a:prstGeom prst="line">
              <a:avLst/>
            </a:prstGeom>
            <a:gradFill flip="none" rotWithShape="1">
              <a:gsLst>
                <a:gs pos="43000">
                  <a:srgbClr val="65B4D5">
                    <a:alpha val="16000"/>
                  </a:srgbClr>
                </a:gs>
                <a:gs pos="0">
                  <a:srgbClr val="65B4D5">
                    <a:alpha val="30000"/>
                  </a:srgbClr>
                </a:gs>
                <a:gs pos="100000">
                  <a:srgbClr val="65B4D5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solidFill>
                <a:schemeClr val="accent1">
                  <a:alpha val="6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1" name="组合 20"/>
            <p:cNvGrpSpPr/>
            <p:nvPr>
              <p:custDataLst>
                <p:tags r:id="rId5"/>
              </p:custDataLst>
            </p:nvPr>
          </p:nvGrpSpPr>
          <p:grpSpPr>
            <a:xfrm>
              <a:off x="-5325665" y="1115060"/>
              <a:ext cx="4300855" cy="2729846"/>
              <a:chOff x="9267" y="2831"/>
              <a:chExt cx="6773" cy="2901"/>
            </a:xfrm>
          </p:grpSpPr>
          <p:sp>
            <p:nvSpPr>
              <p:cNvPr id="24" name="稻壳设计师康帅7-1"/>
              <p:cNvSpPr/>
              <p:nvPr>
                <p:custDataLst>
                  <p:tags r:id="rId6"/>
                </p:custDataLst>
              </p:nvPr>
            </p:nvSpPr>
            <p:spPr>
              <a:xfrm>
                <a:off x="9267" y="2939"/>
                <a:ext cx="6773" cy="2793"/>
              </a:xfrm>
              <a:prstGeom prst="snip2DiagRect">
                <a:avLst>
                  <a:gd name="adj1" fmla="val 11218"/>
                  <a:gd name="adj2" fmla="val 0"/>
                </a:avLst>
              </a:prstGeom>
              <a:gradFill>
                <a:gsLst>
                  <a:gs pos="76000">
                    <a:schemeClr val="accent1">
                      <a:alpha val="0"/>
                    </a:schemeClr>
                  </a:gs>
                  <a:gs pos="20000">
                    <a:schemeClr val="accent1">
                      <a:alpha val="0"/>
                    </a:schemeClr>
                  </a:gs>
                  <a:gs pos="0">
                    <a:schemeClr val="accent1">
                      <a:alpha val="25000"/>
                    </a:schemeClr>
                  </a:gs>
                  <a:gs pos="100000">
                    <a:schemeClr val="accent1">
                      <a:alpha val="25000"/>
                    </a:schemeClr>
                  </a:gs>
                </a:gsLst>
                <a:lin ang="2700000" scaled="0"/>
              </a:gradFill>
              <a:ln w="6350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marL="128270" indent="-128270" defTabSz="685800">
                  <a:lnSpc>
                    <a:spcPct val="15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产业监测</a:t>
                </a: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分析：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通过建设</a:t>
                </a: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科技企业、科技政策、专家人才、科技园区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四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大模块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，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实时跟踪和分析区域科技产业的发展态势、企业创新与产业链布局，帮助精准掌握产业现状与未来趋势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。</a:t>
                </a:r>
              </a:p>
              <a:p>
                <a:pPr marL="128270" indent="-128270" defTabSz="685800">
                  <a:lnSpc>
                    <a:spcPct val="15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核心作用</a:t>
                </a: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：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在于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支撑科学决策，优化基础设施与政策资源配置，从而有效推动区域产业向高质量、可持续方向升级发展。</a:t>
                </a:r>
              </a:p>
            </p:txBody>
          </p:sp>
          <p:cxnSp>
            <p:nvCxnSpPr>
              <p:cNvPr id="25" name="直接连接符 24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9462" y="2831"/>
                <a:ext cx="6555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50">
                <a:solidFill>
                  <a:schemeClr val="accent1">
                    <a:alpha val="60000"/>
                  </a:schemeClr>
                </a:solidFill>
                <a:round/>
                <a:tailEnd type="oval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240" y="1059582"/>
            <a:ext cx="4482224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44" y="3399839"/>
            <a:ext cx="8118920" cy="147616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22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 smtClean="0">
                <a:solidFill>
                  <a:srgbClr val="066FBB"/>
                </a:solidFill>
                <a:cs typeface="+mj-ea"/>
                <a:sym typeface="+mn-ea"/>
              </a:rPr>
              <a:t>2.1 </a:t>
            </a:r>
            <a:r>
              <a:rPr lang="en-US" altLang="zh-CN" sz="2100" b="1" dirty="0" smtClean="0">
                <a:solidFill>
                  <a:srgbClr val="066FBB"/>
                </a:solidFill>
                <a:sym typeface="+mn-ea"/>
              </a:rPr>
              <a:t>2024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年：科技创新图谱模块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0"/>
          <a:stretch>
            <a:fillRect/>
          </a:stretch>
        </p:blipFill>
        <p:spPr bwMode="auto">
          <a:xfrm>
            <a:off x="4248464" y="844227"/>
            <a:ext cx="4500000" cy="18572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0"/>
          <a:stretch>
            <a:fillRect/>
          </a:stretch>
        </p:blipFill>
        <p:spPr bwMode="auto">
          <a:xfrm>
            <a:off x="4248464" y="3003798"/>
            <a:ext cx="4500000" cy="18596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0" name="组合 59"/>
          <p:cNvGrpSpPr/>
          <p:nvPr>
            <p:custDataLst>
              <p:tags r:id="rId1"/>
            </p:custDataLst>
          </p:nvPr>
        </p:nvGrpSpPr>
        <p:grpSpPr>
          <a:xfrm>
            <a:off x="611553" y="1311625"/>
            <a:ext cx="3384383" cy="2196266"/>
            <a:chOff x="-5753220" y="676593"/>
            <a:chExt cx="4512512" cy="2928356"/>
          </a:xfrm>
        </p:grpSpPr>
        <p:sp>
          <p:nvSpPr>
            <p:cNvPr id="61" name="椭圆 60"/>
            <p:cNvSpPr/>
            <p:nvPr>
              <p:custDataLst>
                <p:tags r:id="rId2"/>
              </p:custDataLst>
            </p:nvPr>
          </p:nvSpPr>
          <p:spPr>
            <a:xfrm>
              <a:off x="-5753220" y="683060"/>
              <a:ext cx="432000" cy="432000"/>
            </a:xfrm>
            <a:prstGeom prst="ellipse">
              <a:avLst/>
            </a:prstGeom>
            <a:gradFill>
              <a:gsLst>
                <a:gs pos="73000">
                  <a:schemeClr val="accent1">
                    <a:alpha val="0"/>
                  </a:schemeClr>
                </a:gs>
                <a:gs pos="100000">
                  <a:schemeClr val="accent1">
                    <a:alpha val="3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685800"/>
              <a:endParaRPr lang="en-US" altLang="zh-CN" b="1">
                <a:solidFill>
                  <a:srgbClr val="4CB0FC"/>
                </a:solidFill>
                <a:cs typeface="MiSans Normal" panose="00000500000000000000" charset="-122"/>
                <a:sym typeface="MiSans Normal" panose="00000500000000000000" charset="-122"/>
              </a:endParaRPr>
            </a:p>
          </p:txBody>
        </p:sp>
        <p:sp>
          <p:nvSpPr>
            <p:cNvPr id="62" name="矩形 61"/>
            <p:cNvSpPr/>
            <p:nvPr>
              <p:custDataLst>
                <p:tags r:id="rId3"/>
              </p:custDataLst>
            </p:nvPr>
          </p:nvSpPr>
          <p:spPr>
            <a:xfrm>
              <a:off x="-5204696" y="676593"/>
              <a:ext cx="3963988" cy="369571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defTabSz="685800">
                <a:spcBef>
                  <a:spcPct val="0"/>
                </a:spcBef>
                <a:spcAft>
                  <a:spcPct val="0"/>
                </a:spcAft>
                <a:buClr>
                  <a:srgbClr val="4CB0FC"/>
                </a:buClr>
                <a:buSzPct val="70000"/>
              </a:pPr>
              <a:r>
                <a:rPr lang="zh-CN" altLang="en-US" b="1" dirty="0">
                  <a:gradFill>
                    <a:gsLst>
                      <a:gs pos="0">
                        <a:srgbClr val="4CB0FC">
                          <a:lumMod val="40000"/>
                          <a:lumOff val="60000"/>
                          <a:alpha val="100000"/>
                        </a:srgbClr>
                      </a:gs>
                      <a:gs pos="100000">
                        <a:srgbClr val="4CB0FC">
                          <a:alpha val="100000"/>
                        </a:srgbClr>
                      </a:gs>
                    </a:gsLst>
                    <a:lin ang="5400000" scaled="0"/>
                  </a:gradFill>
                  <a:cs typeface="MiSans Normal" panose="00000500000000000000" charset="-122"/>
                  <a:sym typeface="MiSans Normal" panose="00000500000000000000" charset="-122"/>
                </a:rPr>
                <a:t>基本情况</a:t>
              </a:r>
            </a:p>
          </p:txBody>
        </p:sp>
        <p:cxnSp>
          <p:nvCxnSpPr>
            <p:cNvPr id="63" name="直接连接符 62"/>
            <p:cNvCxnSpPr/>
            <p:nvPr>
              <p:custDataLst>
                <p:tags r:id="rId4"/>
              </p:custDataLst>
            </p:nvPr>
          </p:nvCxnSpPr>
          <p:spPr>
            <a:xfrm flipH="1" flipV="1">
              <a:off x="-5355192" y="996633"/>
              <a:ext cx="153035" cy="116840"/>
            </a:xfrm>
            <a:prstGeom prst="line">
              <a:avLst/>
            </a:prstGeom>
            <a:gradFill flip="none" rotWithShape="1">
              <a:gsLst>
                <a:gs pos="43000">
                  <a:srgbClr val="65B4D5">
                    <a:alpha val="16000"/>
                  </a:srgbClr>
                </a:gs>
                <a:gs pos="0">
                  <a:srgbClr val="65B4D5">
                    <a:alpha val="30000"/>
                  </a:srgbClr>
                </a:gs>
                <a:gs pos="100000">
                  <a:srgbClr val="65B4D5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solidFill>
                <a:schemeClr val="accent1">
                  <a:alpha val="6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4" name="组合 63"/>
            <p:cNvGrpSpPr/>
            <p:nvPr>
              <p:custDataLst>
                <p:tags r:id="rId5"/>
              </p:custDataLst>
            </p:nvPr>
          </p:nvGrpSpPr>
          <p:grpSpPr>
            <a:xfrm>
              <a:off x="-5325665" y="1115059"/>
              <a:ext cx="4059555" cy="2489890"/>
              <a:chOff x="9267" y="2831"/>
              <a:chExt cx="6393" cy="2646"/>
            </a:xfrm>
          </p:grpSpPr>
          <p:sp>
            <p:nvSpPr>
              <p:cNvPr id="65" name="稻壳设计师康帅7-1"/>
              <p:cNvSpPr/>
              <p:nvPr>
                <p:custDataLst>
                  <p:tags r:id="rId6"/>
                </p:custDataLst>
              </p:nvPr>
            </p:nvSpPr>
            <p:spPr>
              <a:xfrm>
                <a:off x="9267" y="2939"/>
                <a:ext cx="6282" cy="2538"/>
              </a:xfrm>
              <a:prstGeom prst="snip2DiagRect">
                <a:avLst>
                  <a:gd name="adj1" fmla="val 11218"/>
                  <a:gd name="adj2" fmla="val 0"/>
                </a:avLst>
              </a:prstGeom>
              <a:gradFill>
                <a:gsLst>
                  <a:gs pos="76000">
                    <a:schemeClr val="accent1">
                      <a:alpha val="0"/>
                    </a:schemeClr>
                  </a:gs>
                  <a:gs pos="20000">
                    <a:schemeClr val="accent1">
                      <a:alpha val="0"/>
                    </a:schemeClr>
                  </a:gs>
                  <a:gs pos="0">
                    <a:schemeClr val="accent1">
                      <a:alpha val="25000"/>
                    </a:schemeClr>
                  </a:gs>
                  <a:gs pos="100000">
                    <a:schemeClr val="accent1">
                      <a:alpha val="25000"/>
                    </a:schemeClr>
                  </a:gs>
                </a:gsLst>
                <a:lin ang="2700000" scaled="0"/>
              </a:gradFill>
              <a:ln w="6350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marL="128270" indent="-128270" defTabSz="685800">
                  <a:lnSpc>
                    <a:spcPct val="15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建设内容：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通过建设</a:t>
                </a: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产业图谱、人才图谱、</a:t>
                </a: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企业</a:t>
                </a: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图谱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等多类型图谱，内置智能搜索与数据分析工具，提升信息检索和潜在联系发现能力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。</a:t>
                </a:r>
                <a:endParaRPr lang="en-US" altLang="zh-CN" sz="1000" b="1" dirty="0" smtClean="0">
                  <a:solidFill>
                    <a:srgbClr val="333333"/>
                  </a:solidFill>
                  <a:sym typeface="+mn-ea"/>
                </a:endParaRPr>
              </a:p>
              <a:p>
                <a:pPr marL="128270" indent="-128270" defTabSz="685800">
                  <a:lnSpc>
                    <a:spcPct val="15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图谱管理与数据分析：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为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用户提供全流程图谱管理和分析能力，推动跨领域知识共享和数字化智能化发展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。</a:t>
                </a:r>
                <a:endParaRPr lang="zh-CN" altLang="en-US" sz="1000" dirty="0">
                  <a:solidFill>
                    <a:srgbClr val="333333"/>
                  </a:solidFill>
                  <a:sym typeface="+mn-ea"/>
                </a:endParaRPr>
              </a:p>
            </p:txBody>
          </p:sp>
          <p:cxnSp>
            <p:nvCxnSpPr>
              <p:cNvPr id="66" name="直接连接符 65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9462" y="2831"/>
                <a:ext cx="619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50">
                <a:solidFill>
                  <a:schemeClr val="accent1">
                    <a:alpha val="60000"/>
                  </a:schemeClr>
                </a:solidFill>
                <a:round/>
                <a:tailEnd type="oval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22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 smtClean="0">
                <a:solidFill>
                  <a:srgbClr val="066FBB"/>
                </a:solidFill>
                <a:cs typeface="+mj-ea"/>
                <a:sym typeface="+mn-ea"/>
              </a:rPr>
              <a:t>2.1 </a:t>
            </a:r>
            <a:r>
              <a:rPr lang="en-US" altLang="zh-CN" sz="2100" b="1" dirty="0" smtClean="0">
                <a:solidFill>
                  <a:srgbClr val="066FBB"/>
                </a:solidFill>
                <a:sym typeface="+mn-ea"/>
              </a:rPr>
              <a:t>2024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年：研究辅助模块</a:t>
            </a:r>
          </a:p>
        </p:txBody>
      </p:sp>
      <p:grpSp>
        <p:nvGrpSpPr>
          <p:cNvPr id="59" name="组合 58"/>
          <p:cNvGrpSpPr/>
          <p:nvPr>
            <p:custDataLst>
              <p:tags r:id="rId1"/>
            </p:custDataLst>
          </p:nvPr>
        </p:nvGrpSpPr>
        <p:grpSpPr>
          <a:xfrm>
            <a:off x="683568" y="3507854"/>
            <a:ext cx="3384201" cy="994375"/>
            <a:chOff x="-5753220" y="676593"/>
            <a:chExt cx="4405195" cy="1325833"/>
          </a:xfrm>
        </p:grpSpPr>
        <p:sp>
          <p:nvSpPr>
            <p:cNvPr id="60" name="椭圆 59"/>
            <p:cNvSpPr/>
            <p:nvPr>
              <p:custDataLst>
                <p:tags r:id="rId7"/>
              </p:custDataLst>
            </p:nvPr>
          </p:nvSpPr>
          <p:spPr>
            <a:xfrm>
              <a:off x="-5753220" y="683060"/>
              <a:ext cx="432000" cy="432000"/>
            </a:xfrm>
            <a:prstGeom prst="ellipse">
              <a:avLst/>
            </a:prstGeom>
            <a:gradFill>
              <a:gsLst>
                <a:gs pos="73000">
                  <a:schemeClr val="accent1">
                    <a:alpha val="0"/>
                  </a:schemeClr>
                </a:gs>
                <a:gs pos="100000">
                  <a:schemeClr val="accent1">
                    <a:alpha val="3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685800"/>
              <a:endParaRPr lang="en-US" altLang="zh-CN" b="1">
                <a:solidFill>
                  <a:srgbClr val="4CB0FC"/>
                </a:solidFill>
                <a:cs typeface="MiSans Normal" panose="00000500000000000000" charset="-122"/>
                <a:sym typeface="MiSans Normal" panose="00000500000000000000" charset="-122"/>
              </a:endParaRPr>
            </a:p>
          </p:txBody>
        </p:sp>
        <p:sp>
          <p:nvSpPr>
            <p:cNvPr id="61" name="矩形 60"/>
            <p:cNvSpPr/>
            <p:nvPr>
              <p:custDataLst>
                <p:tags r:id="rId8"/>
              </p:custDataLst>
            </p:nvPr>
          </p:nvSpPr>
          <p:spPr>
            <a:xfrm>
              <a:off x="-5204696" y="676593"/>
              <a:ext cx="3856671" cy="369571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defTabSz="685800">
                <a:spcBef>
                  <a:spcPct val="0"/>
                </a:spcBef>
                <a:spcAft>
                  <a:spcPct val="0"/>
                </a:spcAft>
                <a:buClr>
                  <a:srgbClr val="4CB0FC"/>
                </a:buClr>
                <a:buSzPct val="70000"/>
              </a:pPr>
              <a:r>
                <a:rPr lang="zh-CN" altLang="en-US" b="1" dirty="0">
                  <a:gradFill>
                    <a:gsLst>
                      <a:gs pos="0">
                        <a:srgbClr val="4CB0FC">
                          <a:lumMod val="40000"/>
                          <a:lumOff val="60000"/>
                          <a:alpha val="100000"/>
                        </a:srgbClr>
                      </a:gs>
                      <a:gs pos="100000">
                        <a:srgbClr val="4CB0FC">
                          <a:alpha val="100000"/>
                        </a:srgbClr>
                      </a:gs>
                    </a:gsLst>
                    <a:lin ang="5400000" scaled="0"/>
                  </a:gradFill>
                  <a:cs typeface="MiSans Normal" panose="00000500000000000000" charset="-122"/>
                  <a:sym typeface="MiSans Normal" panose="00000500000000000000" charset="-122"/>
                </a:rPr>
                <a:t>基本情况</a:t>
              </a:r>
            </a:p>
          </p:txBody>
        </p:sp>
        <p:cxnSp>
          <p:nvCxnSpPr>
            <p:cNvPr id="62" name="直接连接符 61"/>
            <p:cNvCxnSpPr/>
            <p:nvPr>
              <p:custDataLst>
                <p:tags r:id="rId9"/>
              </p:custDataLst>
            </p:nvPr>
          </p:nvCxnSpPr>
          <p:spPr>
            <a:xfrm flipH="1" flipV="1">
              <a:off x="-5355192" y="996633"/>
              <a:ext cx="153035" cy="116840"/>
            </a:xfrm>
            <a:prstGeom prst="line">
              <a:avLst/>
            </a:prstGeom>
            <a:gradFill flip="none" rotWithShape="1">
              <a:gsLst>
                <a:gs pos="43000">
                  <a:srgbClr val="65B4D5">
                    <a:alpha val="16000"/>
                  </a:srgbClr>
                </a:gs>
                <a:gs pos="0">
                  <a:srgbClr val="65B4D5">
                    <a:alpha val="30000"/>
                  </a:srgbClr>
                </a:gs>
                <a:gs pos="100000">
                  <a:srgbClr val="65B4D5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solidFill>
                <a:schemeClr val="accent1">
                  <a:alpha val="6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3" name="组合 62"/>
            <p:cNvGrpSpPr/>
            <p:nvPr>
              <p:custDataLst>
                <p:tags r:id="rId10"/>
              </p:custDataLst>
            </p:nvPr>
          </p:nvGrpSpPr>
          <p:grpSpPr>
            <a:xfrm>
              <a:off x="-5325665" y="1115061"/>
              <a:ext cx="3977640" cy="887365"/>
              <a:chOff x="9267" y="2831"/>
              <a:chExt cx="6264" cy="943"/>
            </a:xfrm>
          </p:grpSpPr>
          <p:sp>
            <p:nvSpPr>
              <p:cNvPr id="64" name="稻壳设计师康帅7-1"/>
              <p:cNvSpPr/>
              <p:nvPr>
                <p:custDataLst>
                  <p:tags r:id="rId11"/>
                </p:custDataLst>
              </p:nvPr>
            </p:nvSpPr>
            <p:spPr>
              <a:xfrm>
                <a:off x="9267" y="2939"/>
                <a:ext cx="6264" cy="835"/>
              </a:xfrm>
              <a:prstGeom prst="snip2DiagRect">
                <a:avLst>
                  <a:gd name="adj1" fmla="val 11218"/>
                  <a:gd name="adj2" fmla="val 0"/>
                </a:avLst>
              </a:prstGeom>
              <a:gradFill>
                <a:gsLst>
                  <a:gs pos="76000">
                    <a:schemeClr val="accent1">
                      <a:alpha val="0"/>
                    </a:schemeClr>
                  </a:gs>
                  <a:gs pos="20000">
                    <a:schemeClr val="accent1">
                      <a:alpha val="0"/>
                    </a:schemeClr>
                  </a:gs>
                  <a:gs pos="0">
                    <a:schemeClr val="accent1">
                      <a:alpha val="25000"/>
                    </a:schemeClr>
                  </a:gs>
                  <a:gs pos="100000">
                    <a:schemeClr val="accent1">
                      <a:alpha val="25000"/>
                    </a:schemeClr>
                  </a:gs>
                </a:gsLst>
                <a:lin ang="2700000" scaled="0"/>
              </a:gradFill>
              <a:ln w="6350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:ln>
            </p:spPr>
            <p:txBody>
              <a:bodyPr wrap="square" lIns="0" tIns="0" rIns="0" bIns="0" rtlCol="0" anchor="t" anchorCtr="0">
                <a:noAutofit/>
              </a:bodyPr>
              <a:lstStyle/>
              <a:p>
                <a:pPr marL="128270" indent="-128270" defTabSz="685800">
                  <a:lnSpc>
                    <a:spcPct val="15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工具集合：</a:t>
                </a:r>
                <a:r>
                  <a:rPr lang="zh-CN" altLang="en-US" sz="1000" dirty="0">
                    <a:solidFill>
                      <a:srgbClr val="333333"/>
                    </a:solidFill>
                    <a:sym typeface="+mn-ea"/>
                  </a:rPr>
                  <a:t>集成</a:t>
                </a:r>
                <a:r>
                  <a:rPr lang="zh-CN" altLang="en-US" sz="1000" b="1" dirty="0">
                    <a:solidFill>
                      <a:srgbClr val="333333"/>
                    </a:solidFill>
                    <a:sym typeface="+mn-ea"/>
                  </a:rPr>
                  <a:t>检索</a:t>
                </a:r>
                <a:r>
                  <a:rPr lang="zh-CN" altLang="en-US" sz="1000" b="1" dirty="0" smtClean="0">
                    <a:solidFill>
                      <a:srgbClr val="333333"/>
                    </a:solidFill>
                    <a:sym typeface="+mn-ea"/>
                  </a:rPr>
                  <a:t>、调查问卷、文字识别、语音识别、在线笔记、辅助写作、政策对比</a:t>
                </a:r>
                <a:r>
                  <a:rPr lang="zh-CN" altLang="en-US" sz="1000" dirty="0" smtClean="0">
                    <a:solidFill>
                      <a:srgbClr val="333333"/>
                    </a:solidFill>
                    <a:sym typeface="+mn-ea"/>
                  </a:rPr>
                  <a:t>等工具。</a:t>
                </a:r>
                <a:endParaRPr lang="zh-CN" altLang="en-US" sz="1000" dirty="0">
                  <a:solidFill>
                    <a:srgbClr val="333333"/>
                  </a:solidFill>
                  <a:sym typeface="+mn-ea"/>
                </a:endParaRPr>
              </a:p>
            </p:txBody>
          </p:sp>
          <p:cxnSp>
            <p:nvCxnSpPr>
              <p:cNvPr id="65" name="直接连接符 64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9462" y="2831"/>
                <a:ext cx="6051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6350">
                <a:solidFill>
                  <a:schemeClr val="accent1">
                    <a:alpha val="60000"/>
                  </a:schemeClr>
                </a:solidFill>
                <a:round/>
                <a:tailEnd type="oval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62" y="699542"/>
            <a:ext cx="7829685" cy="2436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9" name="组合 48"/>
          <p:cNvGrpSpPr/>
          <p:nvPr/>
        </p:nvGrpSpPr>
        <p:grpSpPr>
          <a:xfrm>
            <a:off x="4283968" y="2931790"/>
            <a:ext cx="3964569" cy="2000048"/>
            <a:chOff x="-5762476" y="3438208"/>
            <a:chExt cx="5266801" cy="2666730"/>
          </a:xfrm>
        </p:grpSpPr>
        <p:sp>
          <p:nvSpPr>
            <p:cNvPr id="50" name="椭圆 49"/>
            <p:cNvSpPr/>
            <p:nvPr>
              <p:custDataLst>
                <p:tags r:id="rId2"/>
              </p:custDataLst>
            </p:nvPr>
          </p:nvSpPr>
          <p:spPr>
            <a:xfrm>
              <a:off x="-5762476" y="3441937"/>
              <a:ext cx="432000" cy="432000"/>
            </a:xfrm>
            <a:prstGeom prst="ellipse">
              <a:avLst/>
            </a:prstGeom>
            <a:gradFill>
              <a:gsLst>
                <a:gs pos="73000">
                  <a:schemeClr val="accent2">
                    <a:alpha val="0"/>
                  </a:schemeClr>
                </a:gs>
                <a:gs pos="100000">
                  <a:schemeClr val="accent2">
                    <a:alpha val="3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gradFill>
                <a:gsLst>
                  <a:gs pos="0">
                    <a:schemeClr val="accent2">
                      <a:alpha val="100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defTabSz="685800"/>
              <a:endParaRPr lang="en-US" altLang="zh-CN" b="1">
                <a:solidFill>
                  <a:srgbClr val="658AFC"/>
                </a:solidFill>
                <a:cs typeface="MiSans Normal" panose="00000500000000000000" charset="-122"/>
                <a:sym typeface="MiSans Normal" panose="00000500000000000000" charset="-122"/>
              </a:endParaRPr>
            </a:p>
          </p:txBody>
        </p:sp>
        <p:sp>
          <p:nvSpPr>
            <p:cNvPr id="51" name="稻壳设计师康帅7-1"/>
            <p:cNvSpPr/>
            <p:nvPr>
              <p:custDataLst>
                <p:tags r:id="rId3"/>
              </p:custDataLst>
            </p:nvPr>
          </p:nvSpPr>
          <p:spPr>
            <a:xfrm>
              <a:off x="-5325983" y="3944939"/>
              <a:ext cx="4830308" cy="2159999"/>
            </a:xfrm>
            <a:prstGeom prst="snip2DiagRect">
              <a:avLst>
                <a:gd name="adj1" fmla="val 11218"/>
                <a:gd name="adj2" fmla="val 0"/>
              </a:avLst>
            </a:prstGeom>
            <a:gradFill>
              <a:gsLst>
                <a:gs pos="76000">
                  <a:schemeClr val="accent2">
                    <a:alpha val="0"/>
                  </a:schemeClr>
                </a:gs>
                <a:gs pos="20000">
                  <a:schemeClr val="accent2">
                    <a:alpha val="0"/>
                  </a:schemeClr>
                </a:gs>
                <a:gs pos="0">
                  <a:schemeClr val="accent2">
                    <a:alpha val="25000"/>
                  </a:schemeClr>
                </a:gs>
                <a:gs pos="100000">
                  <a:schemeClr val="accent2">
                    <a:alpha val="25000"/>
                  </a:schemeClr>
                </a:gs>
              </a:gsLst>
              <a:lin ang="2700000" scaled="0"/>
            </a:gradFill>
            <a:ln w="6350">
              <a:gradFill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txBody>
            <a:bodyPr wrap="square" lIns="0" tIns="0" rIns="0" bIns="0" rtlCol="0" anchor="t" anchorCtr="0">
              <a:noAutofit/>
            </a:bodyPr>
            <a:lstStyle/>
            <a:p>
              <a:pPr marL="128270" indent="-128270" defTabSz="685800">
                <a:lnSpc>
                  <a:spcPct val="150000"/>
                </a:lnSpc>
                <a:spcAft>
                  <a:spcPts val="900"/>
                </a:spcAft>
                <a:buFont typeface="Wingdings" panose="05000000000000000000" pitchFamily="2" charset="2"/>
                <a:buChar char="p"/>
              </a:pPr>
              <a:r>
                <a:rPr lang="zh-CN" altLang="en-US" sz="1000" b="1" dirty="0">
                  <a:solidFill>
                    <a:srgbClr val="333333"/>
                  </a:solidFill>
                  <a:sym typeface="+mn-ea"/>
                </a:rPr>
                <a:t>调查问卷：</a:t>
              </a:r>
              <a:r>
                <a:rPr lang="zh-CN" altLang="en-US" sz="1000" dirty="0">
                  <a:solidFill>
                    <a:srgbClr val="333333"/>
                  </a:solidFill>
                  <a:sym typeface="+mn-ea"/>
                </a:rPr>
                <a:t>支持在线创建、投放，快速收集市场与用户反馈。</a:t>
              </a:r>
            </a:p>
            <a:p>
              <a:pPr marL="128270" indent="-128270" defTabSz="685800">
                <a:lnSpc>
                  <a:spcPct val="150000"/>
                </a:lnSpc>
                <a:spcAft>
                  <a:spcPts val="900"/>
                </a:spcAft>
                <a:buFont typeface="Wingdings" panose="05000000000000000000" pitchFamily="2" charset="2"/>
                <a:buChar char="p"/>
              </a:pPr>
              <a:r>
                <a:rPr lang="zh-CN" altLang="en-US" sz="1000" b="1" dirty="0">
                  <a:solidFill>
                    <a:srgbClr val="333333"/>
                  </a:solidFill>
                  <a:sym typeface="+mn-ea"/>
                </a:rPr>
                <a:t>文字识别：</a:t>
              </a:r>
              <a:r>
                <a:rPr lang="zh-CN" altLang="en-US" sz="1000" dirty="0">
                  <a:solidFill>
                    <a:srgbClr val="333333"/>
                  </a:solidFill>
                  <a:sym typeface="+mn-ea"/>
                </a:rPr>
                <a:t>自动识别并提取图片的文字信息，并转化为文本。</a:t>
              </a:r>
            </a:p>
            <a:p>
              <a:pPr marL="128270" indent="-128270" defTabSz="685800">
                <a:lnSpc>
                  <a:spcPct val="150000"/>
                </a:lnSpc>
                <a:spcAft>
                  <a:spcPts val="900"/>
                </a:spcAft>
                <a:buFont typeface="Wingdings" panose="05000000000000000000" pitchFamily="2" charset="2"/>
                <a:buChar char="p"/>
              </a:pPr>
              <a:r>
                <a:rPr lang="zh-CN" altLang="en-US" sz="1000" b="1" dirty="0">
                  <a:solidFill>
                    <a:srgbClr val="333333"/>
                  </a:solidFill>
                  <a:sym typeface="+mn-ea"/>
                </a:rPr>
                <a:t>语音识别：</a:t>
              </a:r>
              <a:r>
                <a:rPr lang="zh-CN" altLang="en-US" sz="1000" dirty="0">
                  <a:solidFill>
                    <a:srgbClr val="333333"/>
                  </a:solidFill>
                  <a:sym typeface="+mn-ea"/>
                </a:rPr>
                <a:t>将用户的实时语音或音频文件转换为文字内容。</a:t>
              </a:r>
            </a:p>
            <a:p>
              <a:pPr marL="128270" indent="-128270" defTabSz="685800">
                <a:lnSpc>
                  <a:spcPct val="150000"/>
                </a:lnSpc>
                <a:spcAft>
                  <a:spcPts val="900"/>
                </a:spcAft>
                <a:buFont typeface="Wingdings" panose="05000000000000000000" pitchFamily="2" charset="2"/>
                <a:buChar char="p"/>
              </a:pPr>
              <a:r>
                <a:rPr lang="zh-CN" altLang="en-US" sz="1000" b="1" dirty="0">
                  <a:solidFill>
                    <a:srgbClr val="333333"/>
                  </a:solidFill>
                  <a:sym typeface="+mn-ea"/>
                </a:rPr>
                <a:t>辅助写作：</a:t>
              </a:r>
              <a:r>
                <a:rPr lang="zh-CN" altLang="en-US" sz="1000" dirty="0">
                  <a:solidFill>
                    <a:srgbClr val="333333"/>
                  </a:solidFill>
                  <a:sym typeface="+mn-ea"/>
                </a:rPr>
                <a:t>基于模板与素材库，为用户在撰写报告、文档时提供推荐与润色建议，提升内容生成效率与质量。</a:t>
              </a:r>
            </a:p>
          </p:txBody>
        </p:sp>
        <p:sp>
          <p:nvSpPr>
            <p:cNvPr id="52" name="矩形 51"/>
            <p:cNvSpPr/>
            <p:nvPr>
              <p:custDataLst>
                <p:tags r:id="rId4"/>
              </p:custDataLst>
            </p:nvPr>
          </p:nvSpPr>
          <p:spPr>
            <a:xfrm>
              <a:off x="-5204696" y="3438208"/>
              <a:ext cx="4689372" cy="369571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defTabSz="685800">
                <a:spcBef>
                  <a:spcPct val="0"/>
                </a:spcBef>
                <a:spcAft>
                  <a:spcPct val="0"/>
                </a:spcAft>
                <a:buClr>
                  <a:srgbClr val="4CB0FC"/>
                </a:buClr>
                <a:buSzPct val="70000"/>
              </a:pPr>
              <a:r>
                <a:rPr lang="zh-CN" altLang="en-US" b="1" dirty="0">
                  <a:gradFill>
                    <a:gsLst>
                      <a:gs pos="0">
                        <a:srgbClr val="658AFC">
                          <a:lumMod val="40000"/>
                          <a:lumOff val="60000"/>
                          <a:alpha val="100000"/>
                        </a:srgbClr>
                      </a:gs>
                      <a:gs pos="100000">
                        <a:srgbClr val="658AFC">
                          <a:alpha val="100000"/>
                        </a:srgbClr>
                      </a:gs>
                    </a:gsLst>
                    <a:lin ang="5400000" scaled="0"/>
                  </a:gradFill>
                  <a:cs typeface="MiSans Normal" panose="00000500000000000000" charset="-122"/>
                  <a:sym typeface="MiSans Normal" panose="00000500000000000000" charset="-122"/>
                </a:rPr>
                <a:t>特色功能</a:t>
              </a:r>
            </a:p>
          </p:txBody>
        </p:sp>
        <p:cxnSp>
          <p:nvCxnSpPr>
            <p:cNvPr id="53" name="直接连接符 52"/>
            <p:cNvCxnSpPr/>
            <p:nvPr>
              <p:custDataLst>
                <p:tags r:id="rId5"/>
              </p:custDataLst>
            </p:nvPr>
          </p:nvCxnSpPr>
          <p:spPr>
            <a:xfrm flipH="1" flipV="1">
              <a:off x="-5355192" y="3758248"/>
              <a:ext cx="153035" cy="116840"/>
            </a:xfrm>
            <a:prstGeom prst="line">
              <a:avLst/>
            </a:prstGeom>
            <a:gradFill flip="none" rotWithShape="1">
              <a:gsLst>
                <a:gs pos="43000">
                  <a:srgbClr val="65B4D5">
                    <a:alpha val="16000"/>
                  </a:srgbClr>
                </a:gs>
                <a:gs pos="0">
                  <a:srgbClr val="65B4D5">
                    <a:alpha val="30000"/>
                  </a:srgbClr>
                </a:gs>
                <a:gs pos="100000">
                  <a:srgbClr val="65B4D5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solidFill>
                <a:schemeClr val="accent2">
                  <a:alpha val="60000"/>
                </a:schemeClr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直接连接符 56"/>
            <p:cNvCxnSpPr/>
            <p:nvPr>
              <p:custDataLst>
                <p:tags r:id="rId6"/>
              </p:custDataLst>
            </p:nvPr>
          </p:nvCxnSpPr>
          <p:spPr>
            <a:xfrm>
              <a:off x="-5202158" y="3876359"/>
              <a:ext cx="4686833" cy="0"/>
            </a:xfrm>
            <a:prstGeom prst="line">
              <a:avLst/>
            </a:prstGeom>
            <a:gradFill flip="none" rotWithShape="1">
              <a:gsLst>
                <a:gs pos="43000">
                  <a:srgbClr val="65B4D5">
                    <a:alpha val="16000"/>
                  </a:srgbClr>
                </a:gs>
                <a:gs pos="0">
                  <a:srgbClr val="65B4D5">
                    <a:alpha val="30000"/>
                  </a:srgbClr>
                </a:gs>
                <a:gs pos="100000">
                  <a:srgbClr val="65B4D5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solidFill>
                <a:schemeClr val="accent2">
                  <a:alpha val="60000"/>
                </a:schemeClr>
              </a:solidFill>
              <a:round/>
              <a:tailEnd type="oval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22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 smtClean="0">
                <a:solidFill>
                  <a:srgbClr val="066FBB"/>
                </a:solidFill>
                <a:cs typeface="+mj-ea"/>
                <a:sym typeface="+mn-ea"/>
              </a:rPr>
              <a:t>2.2 </a:t>
            </a:r>
            <a:r>
              <a:rPr lang="en-US" altLang="zh-CN" sz="2100" b="1" dirty="0" smtClean="0">
                <a:solidFill>
                  <a:srgbClr val="066FBB"/>
                </a:solidFill>
                <a:sym typeface="+mn-ea"/>
              </a:rPr>
              <a:t>2025</a:t>
            </a:r>
            <a:r>
              <a:rPr lang="zh-CN" altLang="en-US" sz="2100" b="1" dirty="0">
                <a:solidFill>
                  <a:srgbClr val="066FBB"/>
                </a:solidFill>
                <a:sym typeface="+mn-ea"/>
              </a:rPr>
              <a:t>年建设全景图</a:t>
            </a:r>
          </a:p>
          <a:p>
            <a:endParaRPr lang="zh-CN" altLang="en-US" sz="2100" b="1" dirty="0">
              <a:solidFill>
                <a:srgbClr val="066FBB"/>
              </a:solidFill>
              <a:sym typeface="+mn-ea"/>
            </a:endParaRPr>
          </a:p>
        </p:txBody>
      </p:sp>
      <p:sp>
        <p:nvSpPr>
          <p:cNvPr id="4" name="文本框 5"/>
          <p:cNvSpPr txBox="1"/>
          <p:nvPr/>
        </p:nvSpPr>
        <p:spPr>
          <a:xfrm>
            <a:off x="575789" y="681992"/>
            <a:ext cx="7968139" cy="1338826"/>
          </a:xfrm>
          <a:prstGeom prst="rect">
            <a:avLst/>
          </a:prstGeom>
        </p:spPr>
        <p:txBody>
          <a:bodyPr wrap="square" lIns="68576" tIns="34289" rIns="68576" bIns="34289">
            <a:spAutoFit/>
          </a:bodyPr>
          <a:lstStyle/>
          <a:p>
            <a:pPr marL="213995" indent="-213995" algn="just" defTabSz="200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sz="1100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2025年山东省大数据批复的信息化建设项目，规划通过构建</a:t>
            </a:r>
            <a:r>
              <a:rPr sz="1100" b="1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科技成果转化创新生态服务与评价</a:t>
            </a:r>
            <a:r>
              <a:rPr sz="1100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两大模块，覆盖技术标准、智能交互、评价管理等多维度功能，</a:t>
            </a:r>
            <a:r>
              <a:rPr sz="1100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既服务科技大市场，</a:t>
            </a:r>
            <a:r>
              <a:rPr sz="1100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又为相关处室提供精准评价支撑，将全面助力山东科技成果转化生态的数字化升级与效能提升</a:t>
            </a:r>
            <a:r>
              <a:rPr sz="1100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。</a:t>
            </a:r>
            <a:endParaRPr lang="en-US" sz="1100" dirty="0">
              <a:solidFill>
                <a:srgbClr val="333333"/>
              </a:solidFill>
              <a:cs typeface="微软雅黑" panose="020B0503020204020204" pitchFamily="34" charset="-122"/>
              <a:sym typeface="+mn-ea"/>
            </a:endParaRPr>
          </a:p>
          <a:p>
            <a:pPr marL="213995" indent="-213995" algn="just" defTabSz="200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100" b="1" dirty="0" smtClean="0">
                <a:solidFill>
                  <a:srgbClr val="333333"/>
                </a:solidFill>
                <a:sym typeface="+mn-ea"/>
              </a:rPr>
              <a:t>项目建设总预算</a:t>
            </a:r>
            <a:r>
              <a:rPr lang="zh-CN" altLang="en-US" sz="1100" b="1" dirty="0" smtClean="0">
                <a:solidFill>
                  <a:srgbClr val="333333"/>
                </a:solidFill>
                <a:sym typeface="+mn-ea"/>
              </a:rPr>
              <a:t>为</a:t>
            </a:r>
            <a:r>
              <a:rPr lang="en-US" altLang="zh-CN" sz="1100" dirty="0" smtClean="0">
                <a:solidFill>
                  <a:srgbClr val="333333"/>
                </a:solidFill>
                <a:sym typeface="+mn-ea"/>
              </a:rPr>
              <a:t>460</a:t>
            </a:r>
            <a:r>
              <a:rPr lang="zh-CN" altLang="en-US" sz="1100" dirty="0" smtClean="0">
                <a:solidFill>
                  <a:srgbClr val="333333"/>
                </a:solidFill>
                <a:sym typeface="+mn-ea"/>
              </a:rPr>
              <a:t>万</a:t>
            </a:r>
            <a:r>
              <a:rPr lang="zh-CN" altLang="en-US" sz="1100" dirty="0" smtClean="0">
                <a:solidFill>
                  <a:srgbClr val="333333"/>
                </a:solidFill>
                <a:sym typeface="+mn-ea"/>
              </a:rPr>
              <a:t>元。</a:t>
            </a:r>
            <a:r>
              <a:rPr lang="zh-CN" altLang="en-US" sz="1100" dirty="0" smtClean="0">
                <a:solidFill>
                  <a:srgbClr val="333333"/>
                </a:solidFill>
                <a:sym typeface="+mn-ea"/>
              </a:rPr>
              <a:t>其中软件开发费用</a:t>
            </a:r>
            <a:r>
              <a:rPr lang="en-US" altLang="zh-CN" sz="1100" dirty="0" smtClean="0">
                <a:solidFill>
                  <a:srgbClr val="333333"/>
                </a:solidFill>
                <a:sym typeface="+mn-ea"/>
              </a:rPr>
              <a:t>366</a:t>
            </a:r>
            <a:r>
              <a:rPr lang="zh-CN" altLang="en-US" sz="1100" dirty="0" smtClean="0">
                <a:solidFill>
                  <a:srgbClr val="333333"/>
                </a:solidFill>
                <a:sym typeface="+mn-ea"/>
              </a:rPr>
              <a:t>万元，监理、第三</a:t>
            </a:r>
            <a:r>
              <a:rPr lang="zh-CN" altLang="en-US" sz="1100" dirty="0">
                <a:solidFill>
                  <a:srgbClr val="333333"/>
                </a:solidFill>
                <a:sym typeface="+mn-ea"/>
              </a:rPr>
              <a:t>方软件测试、等保密</a:t>
            </a:r>
            <a:r>
              <a:rPr lang="zh-CN" altLang="en-US" sz="1100" dirty="0" smtClean="0">
                <a:solidFill>
                  <a:srgbClr val="333333"/>
                </a:solidFill>
                <a:sym typeface="+mn-ea"/>
              </a:rPr>
              <a:t>评等</a:t>
            </a:r>
            <a:r>
              <a:rPr lang="en-US" altLang="zh-CN" sz="1100" dirty="0" smtClean="0">
                <a:solidFill>
                  <a:srgbClr val="333333"/>
                </a:solidFill>
                <a:sym typeface="+mn-ea"/>
              </a:rPr>
              <a:t>22</a:t>
            </a:r>
            <a:r>
              <a:rPr lang="zh-CN" altLang="en-US" sz="1100" dirty="0" smtClean="0">
                <a:solidFill>
                  <a:srgbClr val="333333"/>
                </a:solidFill>
                <a:sym typeface="+mn-ea"/>
              </a:rPr>
              <a:t>万元</a:t>
            </a:r>
            <a:r>
              <a:rPr lang="zh-CN" altLang="en-US" sz="1100" dirty="0" smtClean="0">
                <a:solidFill>
                  <a:srgbClr val="333333"/>
                </a:solidFill>
                <a:sym typeface="+mn-ea"/>
              </a:rPr>
              <a:t>，过往年度</a:t>
            </a:r>
            <a:r>
              <a:rPr lang="zh-CN" altLang="en-US" sz="1100" dirty="0">
                <a:solidFill>
                  <a:srgbClr val="333333"/>
                </a:solidFill>
                <a:sym typeface="+mn-ea"/>
              </a:rPr>
              <a:t>项目的等</a:t>
            </a:r>
            <a:r>
              <a:rPr lang="zh-CN" altLang="en-US" sz="1100" dirty="0" smtClean="0">
                <a:solidFill>
                  <a:srgbClr val="333333"/>
                </a:solidFill>
                <a:sym typeface="+mn-ea"/>
              </a:rPr>
              <a:t>保、密</a:t>
            </a:r>
            <a:r>
              <a:rPr lang="zh-CN" altLang="en-US" sz="1100" dirty="0">
                <a:solidFill>
                  <a:srgbClr val="333333"/>
                </a:solidFill>
                <a:sym typeface="+mn-ea"/>
              </a:rPr>
              <a:t>评费用</a:t>
            </a:r>
            <a:r>
              <a:rPr lang="en-US" altLang="zh-CN" sz="1100" dirty="0" smtClean="0">
                <a:solidFill>
                  <a:srgbClr val="333333"/>
                </a:solidFill>
                <a:sym typeface="+mn-ea"/>
              </a:rPr>
              <a:t>72</a:t>
            </a:r>
            <a:r>
              <a:rPr lang="zh-CN" altLang="en-US" sz="1100" dirty="0" smtClean="0">
                <a:solidFill>
                  <a:srgbClr val="333333"/>
                </a:solidFill>
                <a:sym typeface="+mn-ea"/>
              </a:rPr>
              <a:t>万元。</a:t>
            </a:r>
            <a:endParaRPr lang="zh-CN" altLang="en-US" sz="1100" dirty="0">
              <a:solidFill>
                <a:srgbClr val="333333"/>
              </a:solidFill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2593" y="2049079"/>
            <a:ext cx="8279030" cy="2754919"/>
            <a:chOff x="572593" y="2049079"/>
            <a:chExt cx="8279030" cy="2754919"/>
          </a:xfrm>
        </p:grpSpPr>
        <p:sp>
          <p:nvSpPr>
            <p:cNvPr id="5" name="矩形 4"/>
            <p:cNvSpPr/>
            <p:nvPr>
              <p:custDataLst>
                <p:tags r:id="rId1"/>
              </p:custDataLst>
            </p:nvPr>
          </p:nvSpPr>
          <p:spPr>
            <a:xfrm>
              <a:off x="1169623" y="2049079"/>
              <a:ext cx="3850610" cy="270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68576" tIns="34289" rIns="68576" bIns="34289" numCol="1" spcCol="0" rtlCol="0" fromWordArt="0" anchor="ctr" anchorCtr="0" forceAA="0" compatLnSpc="1">
              <a:noAutofit/>
            </a:bodyPr>
            <a:lstStyle/>
            <a:p>
              <a:pPr algn="ctr" defTabSz="685800"/>
              <a:r>
                <a:rPr lang="zh-CN" altLang="en-US" sz="1100" b="1" kern="0" dirty="0">
                  <a:solidFill>
                    <a:prstClr val="white"/>
                  </a:solidFill>
                  <a:sym typeface="+mn-ea"/>
                </a:rPr>
                <a:t>科技成果转化创新生态服务模块</a:t>
              </a:r>
            </a:p>
          </p:txBody>
        </p:sp>
        <p:sp>
          <p:nvSpPr>
            <p:cNvPr id="6" name="矩形 5"/>
            <p:cNvSpPr/>
            <p:nvPr>
              <p:custDataLst>
                <p:tags r:id="rId2"/>
              </p:custDataLst>
            </p:nvPr>
          </p:nvSpPr>
          <p:spPr>
            <a:xfrm>
              <a:off x="5109148" y="2054318"/>
              <a:ext cx="3742475" cy="270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68576" tIns="34289" rIns="68576" bIns="34289" numCol="1" spcCol="0" rtlCol="0" fromWordArt="0" anchor="ctr" anchorCtr="0" forceAA="0" compatLnSpc="1">
              <a:noAutofit/>
            </a:bodyPr>
            <a:lstStyle/>
            <a:p>
              <a:pPr algn="ctr" defTabSz="685800"/>
              <a:r>
                <a:rPr lang="zh-CN" altLang="en-US" sz="1100" b="1" kern="0" dirty="0">
                  <a:solidFill>
                    <a:prstClr val="white"/>
                  </a:solidFill>
                  <a:sym typeface="+mn-ea"/>
                </a:rPr>
                <a:t>科技创新评价模块</a:t>
              </a: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573455" y="2499794"/>
              <a:ext cx="8278165" cy="1728194"/>
              <a:chOff x="764605" y="3021840"/>
              <a:chExt cx="11037553" cy="2304258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764605" y="3021840"/>
                <a:ext cx="650875" cy="2304257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FFFFFF">
                    <a:lumMod val="85000"/>
                  </a:srgb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685800"/>
                <a:r>
                  <a:rPr lang="zh-CN" altLang="en-US" sz="1100" b="1" dirty="0">
                    <a:solidFill>
                      <a:srgbClr val="1B1B1B"/>
                    </a:solidFill>
                    <a:sym typeface="+mn-ea"/>
                  </a:rPr>
                  <a:t>功能</a:t>
                </a:r>
                <a:endParaRPr lang="en-US" altLang="zh-CN" sz="1100" b="1" dirty="0">
                  <a:solidFill>
                    <a:srgbClr val="1B1B1B"/>
                  </a:solidFill>
                  <a:sym typeface="+mn-ea"/>
                </a:endParaRPr>
              </a:p>
              <a:p>
                <a:pPr algn="ctr" defTabSz="685800"/>
                <a:r>
                  <a:rPr lang="zh-CN" altLang="en-US" sz="1100" b="1" dirty="0">
                    <a:solidFill>
                      <a:srgbClr val="1B1B1B"/>
                    </a:solidFill>
                    <a:sym typeface="+mn-ea"/>
                  </a:rPr>
                  <a:t>规划</a:t>
                </a:r>
              </a:p>
            </p:txBody>
          </p:sp>
          <p:grpSp>
            <p:nvGrpSpPr>
              <p:cNvPr id="9" name="组合 8"/>
              <p:cNvGrpSpPr/>
              <p:nvPr/>
            </p:nvGrpSpPr>
            <p:grpSpPr>
              <a:xfrm>
                <a:off x="1560410" y="3021840"/>
                <a:ext cx="10241748" cy="2304258"/>
                <a:chOff x="1560410" y="3021840"/>
                <a:chExt cx="10241748" cy="2304258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1560410" y="3021841"/>
                  <a:ext cx="5133233" cy="2304257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rgbClr val="FFFFFF">
                      <a:lumMod val="85000"/>
                    </a:srgbClr>
                  </a:solidFill>
                  <a:prstDash val="solid"/>
                </a:ln>
              </p:spPr>
              <p:style>
                <a:lnRef idx="2">
                  <a:srgbClr val="006EFF">
                    <a:shade val="50000"/>
                  </a:srgbClr>
                </a:lnRef>
                <a:fillRef idx="1">
                  <a:srgbClr val="006EFF"/>
                </a:fillRef>
                <a:effectRef idx="0">
                  <a:srgbClr val="006EFF"/>
                </a:effectRef>
                <a:fontRef idx="minor">
                  <a:srgbClr val="FFFFFF"/>
                </a:fontRef>
              </p:style>
              <p:txBody>
                <a:bodyPr vertOverflow="overflow" horzOverflow="overflow" vert="horz" wrap="square" lIns="91440" tIns="45720" rIns="91440" bIns="45720" numCol="1" spcCol="0" rtlCol="0" fromWordArt="0" anchor="t" anchorCtr="0" forceAA="0" compatLnSpc="1">
                  <a:noAutofit/>
                </a:bodyPr>
                <a:lstStyle/>
                <a:p>
                  <a:pPr algn="ctr" defTabSz="685800"/>
                  <a:endParaRPr lang="zh-CN" altLang="en-US" sz="1100" b="1" dirty="0">
                    <a:solidFill>
                      <a:srgbClr val="1B1B1B"/>
                    </a:solidFill>
                    <a:sym typeface="+mn-lt"/>
                  </a:endParaRPr>
                </a:p>
              </p:txBody>
            </p:sp>
            <p:sp>
              <p:nvSpPr>
                <p:cNvPr id="11" name="矩形: 圆角 60"/>
                <p:cNvSpPr/>
                <p:nvPr/>
              </p:nvSpPr>
              <p:spPr>
                <a:xfrm>
                  <a:off x="4316332" y="3429000"/>
                  <a:ext cx="2127818" cy="311388"/>
                </a:xfrm>
                <a:prstGeom prst="roundRect">
                  <a:avLst/>
                </a:prstGeom>
                <a:solidFill>
                  <a:schemeClr val="bg2">
                    <a:lumMod val="25000"/>
                  </a:schemeClr>
                </a:solidFill>
                <a:ln w="9525" algn="ctr">
                  <a:noFill/>
                  <a:round/>
                </a:ln>
              </p:spPr>
              <p:txBody>
                <a:bodyPr vert="horz" wrap="square" lIns="0" tIns="0" rIns="0" bIns="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kern="0" dirty="0">
                      <a:solidFill>
                        <a:prstClr val="white"/>
                      </a:solidFill>
                      <a:sym typeface="+mn-ea"/>
                    </a:rPr>
                    <a:t>创新积分管理</a:t>
                  </a:r>
                </a:p>
              </p:txBody>
            </p:sp>
            <p:sp>
              <p:nvSpPr>
                <p:cNvPr id="12" name="矩形: 圆角 60"/>
                <p:cNvSpPr/>
                <p:nvPr/>
              </p:nvSpPr>
              <p:spPr>
                <a:xfrm>
                  <a:off x="4316332" y="4051678"/>
                  <a:ext cx="2127818" cy="311388"/>
                </a:xfrm>
                <a:prstGeom prst="roundRect">
                  <a:avLst/>
                </a:prstGeom>
                <a:solidFill>
                  <a:schemeClr val="bg2">
                    <a:lumMod val="25000"/>
                  </a:schemeClr>
                </a:solidFill>
                <a:ln w="9525" algn="ctr">
                  <a:solidFill>
                    <a:srgbClr val="BCE2F5"/>
                  </a:solidFill>
                  <a:round/>
                </a:ln>
              </p:spPr>
              <p:txBody>
                <a:bodyPr vert="horz" wrap="square" lIns="0" tIns="0" rIns="0" bIns="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dirty="0">
                      <a:solidFill>
                        <a:prstClr val="white"/>
                      </a:solidFill>
                      <a:sym typeface="+mn-ea"/>
                    </a:rPr>
                    <a:t>先用后转池建设</a:t>
                  </a:r>
                </a:p>
              </p:txBody>
            </p:sp>
            <p:sp>
              <p:nvSpPr>
                <p:cNvPr id="13" name="矩形 1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6812192" y="3021840"/>
                  <a:ext cx="4989966" cy="2304255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rgbClr val="FFFFFF">
                      <a:lumMod val="85000"/>
                    </a:srgbClr>
                  </a:solidFill>
                  <a:prstDash val="solid"/>
                </a:ln>
              </p:spPr>
              <p:style>
                <a:lnRef idx="2">
                  <a:srgbClr val="006EFF">
                    <a:shade val="50000"/>
                  </a:srgbClr>
                </a:lnRef>
                <a:fillRef idx="1">
                  <a:srgbClr val="006EFF"/>
                </a:fillRef>
                <a:effectRef idx="0">
                  <a:srgbClr val="006EFF"/>
                </a:effectRef>
                <a:fontRef idx="minor">
                  <a:srgbClr val="FFFFFF"/>
                </a:fontRef>
              </p:style>
              <p:txBody>
                <a:bodyPr vertOverflow="overflow" horzOverflow="overflow" vert="horz" wrap="square" lIns="91440" tIns="45720" rIns="91440" bIns="45720" numCol="1" spcCol="0" rtlCol="0" fromWordArt="0" anchor="t" anchorCtr="0" forceAA="0" compatLnSpc="1">
                  <a:noAutofit/>
                </a:bodyPr>
                <a:lstStyle/>
                <a:p>
                  <a:pPr algn="ctr" defTabSz="685800"/>
                  <a:endParaRPr lang="zh-CN" altLang="en-US" sz="1100" b="1" dirty="0">
                    <a:solidFill>
                      <a:srgbClr val="1B1B1B"/>
                    </a:solidFill>
                    <a:sym typeface="+mn-lt"/>
                  </a:endParaRPr>
                </a:p>
              </p:txBody>
            </p:sp>
            <p:sp>
              <p:nvSpPr>
                <p:cNvPr id="14" name="矩形: 圆角 60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777763" y="4051678"/>
                  <a:ext cx="2127818" cy="311388"/>
                </a:xfrm>
                <a:prstGeom prst="roundRect">
                  <a:avLst/>
                </a:prstGeom>
                <a:solidFill>
                  <a:schemeClr val="bg2">
                    <a:lumMod val="25000"/>
                  </a:schemeClr>
                </a:solidFill>
                <a:ln w="9525" algn="ctr">
                  <a:solidFill>
                    <a:srgbClr val="0053BF"/>
                  </a:solidFill>
                  <a:round/>
                </a:ln>
              </p:spPr>
              <p:txBody>
                <a:bodyPr vert="horz" wrap="square" lIns="0" tIns="0" rIns="0" bIns="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dirty="0">
                      <a:solidFill>
                        <a:prstClr val="white"/>
                      </a:solidFill>
                      <a:sym typeface="+mn-ea"/>
                    </a:rPr>
                    <a:t>技术经理人管理</a:t>
                  </a:r>
                </a:p>
              </p:txBody>
            </p:sp>
            <p:sp>
              <p:nvSpPr>
                <p:cNvPr id="15" name="矩形: 圆角 60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7828081" y="3174083"/>
                  <a:ext cx="2958185" cy="311388"/>
                </a:xfrm>
                <a:prstGeom prst="roundRect">
                  <a:avLst/>
                </a:prstGeom>
                <a:solidFill>
                  <a:srgbClr val="007A3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vert="horz" wrap="square" lIns="91440" tIns="45720" rIns="91440" bIns="4572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kern="0" dirty="0">
                      <a:solidFill>
                        <a:prstClr val="white"/>
                      </a:solidFill>
                      <a:sym typeface="+mn-ea"/>
                    </a:rPr>
                    <a:t>孵化器评价</a:t>
                  </a:r>
                </a:p>
              </p:txBody>
            </p:sp>
            <p:sp>
              <p:nvSpPr>
                <p:cNvPr id="16" name="矩形: 圆角 60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4316332" y="4701788"/>
                  <a:ext cx="2127818" cy="311388"/>
                </a:xfrm>
                <a:prstGeom prst="roundRect">
                  <a:avLst/>
                </a:prstGeom>
                <a:solidFill>
                  <a:schemeClr val="bg2">
                    <a:lumMod val="25000"/>
                  </a:schemeClr>
                </a:solidFill>
                <a:ln w="9525" algn="ctr">
                  <a:solidFill>
                    <a:srgbClr val="BCE2F5"/>
                  </a:solidFill>
                  <a:round/>
                </a:ln>
              </p:spPr>
              <p:txBody>
                <a:bodyPr vert="horz" wrap="square" lIns="0" tIns="0" rIns="0" bIns="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dirty="0">
                      <a:solidFill>
                        <a:prstClr val="white"/>
                      </a:solidFill>
                      <a:sym typeface="+mn-ea"/>
                    </a:rPr>
                    <a:t>移动端</a:t>
                  </a:r>
                </a:p>
              </p:txBody>
            </p:sp>
            <p:sp>
              <p:nvSpPr>
                <p:cNvPr id="17" name="矩形: 圆角 60"/>
                <p:cNvSpPr/>
                <p:nvPr/>
              </p:nvSpPr>
              <p:spPr>
                <a:xfrm>
                  <a:off x="1777763" y="3429000"/>
                  <a:ext cx="2127818" cy="311388"/>
                </a:xfrm>
                <a:prstGeom prst="roundRect">
                  <a:avLst/>
                </a:prstGeom>
                <a:solidFill>
                  <a:schemeClr val="bg2">
                    <a:lumMod val="25000"/>
                  </a:schemeClr>
                </a:solidFill>
                <a:ln w="9525" algn="ctr">
                  <a:noFill/>
                  <a:round/>
                </a:ln>
              </p:spPr>
              <p:txBody>
                <a:bodyPr vert="horz" wrap="square" lIns="0" tIns="0" rIns="0" bIns="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dirty="0" smtClean="0">
                      <a:solidFill>
                        <a:srgbClr val="FFFFFF"/>
                      </a:solidFill>
                      <a:sym typeface="+mn-ea"/>
                    </a:rPr>
                    <a:t>直播活动</a:t>
                  </a:r>
                  <a:r>
                    <a:rPr lang="zh-CN" altLang="en-US" sz="800" b="1" dirty="0">
                      <a:solidFill>
                        <a:srgbClr val="FFFFFF"/>
                      </a:solidFill>
                      <a:sym typeface="+mn-ea"/>
                    </a:rPr>
                    <a:t>管理</a:t>
                  </a:r>
                </a:p>
              </p:txBody>
            </p:sp>
            <p:sp>
              <p:nvSpPr>
                <p:cNvPr id="18" name="矩形: 圆角 60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7828081" y="3612880"/>
                  <a:ext cx="2958185" cy="311388"/>
                </a:xfrm>
                <a:prstGeom prst="roundRect">
                  <a:avLst/>
                </a:prstGeom>
                <a:solidFill>
                  <a:srgbClr val="007A3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vert="horz" wrap="square" lIns="91440" tIns="45720" rIns="91440" bIns="4572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kern="0" dirty="0">
                      <a:solidFill>
                        <a:prstClr val="white"/>
                      </a:solidFill>
                      <a:sym typeface="+mn-ea"/>
                    </a:rPr>
                    <a:t>新型研发机构评价</a:t>
                  </a:r>
                </a:p>
              </p:txBody>
            </p:sp>
            <p:sp>
              <p:nvSpPr>
                <p:cNvPr id="19" name="矩形: 圆角 60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7828081" y="4051678"/>
                  <a:ext cx="2958185" cy="311388"/>
                </a:xfrm>
                <a:prstGeom prst="roundRect">
                  <a:avLst/>
                </a:prstGeom>
                <a:solidFill>
                  <a:srgbClr val="007A3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vert="horz" wrap="square" lIns="91440" tIns="45720" rIns="91440" bIns="4572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kern="0" dirty="0">
                      <a:solidFill>
                        <a:prstClr val="white"/>
                      </a:solidFill>
                      <a:sym typeface="+mn-ea"/>
                    </a:rPr>
                    <a:t>地市创新能力评价</a:t>
                  </a:r>
                </a:p>
              </p:txBody>
            </p:sp>
            <p:sp>
              <p:nvSpPr>
                <p:cNvPr id="20" name="矩形: 圆角 60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777763" y="4701788"/>
                  <a:ext cx="2127818" cy="311388"/>
                </a:xfrm>
                <a:prstGeom prst="roundRect">
                  <a:avLst/>
                </a:prstGeom>
                <a:solidFill>
                  <a:schemeClr val="bg2">
                    <a:lumMod val="25000"/>
                  </a:schemeClr>
                </a:solidFill>
                <a:ln w="9525" algn="ctr">
                  <a:solidFill>
                    <a:srgbClr val="BCE2F5"/>
                  </a:solidFill>
                  <a:round/>
                </a:ln>
              </p:spPr>
              <p:txBody>
                <a:bodyPr vert="horz" wrap="square" lIns="0" tIns="0" rIns="0" bIns="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dirty="0">
                      <a:solidFill>
                        <a:prstClr val="white"/>
                      </a:solidFill>
                      <a:sym typeface="+mn-ea"/>
                    </a:rPr>
                    <a:t>国产化适配</a:t>
                  </a:r>
                </a:p>
              </p:txBody>
            </p:sp>
            <p:sp>
              <p:nvSpPr>
                <p:cNvPr id="21" name="矩形: 圆角 60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7828081" y="4490475"/>
                  <a:ext cx="2958185" cy="311388"/>
                </a:xfrm>
                <a:prstGeom prst="roundRect">
                  <a:avLst/>
                </a:prstGeom>
                <a:solidFill>
                  <a:srgbClr val="007A3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vert="horz" wrap="square" lIns="91440" tIns="45720" rIns="91440" bIns="4572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kern="0" dirty="0">
                      <a:solidFill>
                        <a:prstClr val="white"/>
                      </a:solidFill>
                      <a:sym typeface="+mn-ea"/>
                    </a:rPr>
                    <a:t>农业高新区绩效评价</a:t>
                  </a:r>
                </a:p>
              </p:txBody>
            </p:sp>
            <p:sp>
              <p:nvSpPr>
                <p:cNvPr id="24" name="矩形: 圆角 60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7828080" y="4942163"/>
                  <a:ext cx="2958185" cy="311388"/>
                </a:xfrm>
                <a:prstGeom prst="roundRect">
                  <a:avLst/>
                </a:prstGeom>
                <a:solidFill>
                  <a:srgbClr val="167D4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vert="horz" wrap="square" lIns="91440" tIns="45720" rIns="91440" bIns="4572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kern="0" dirty="0">
                      <a:solidFill>
                        <a:prstClr val="white"/>
                      </a:solidFill>
                      <a:sym typeface="+mn-ea"/>
                    </a:rPr>
                    <a:t>基础通用支撑功能管理</a:t>
                  </a:r>
                </a:p>
              </p:txBody>
            </p:sp>
          </p:grpSp>
        </p:grpSp>
        <p:grpSp>
          <p:nvGrpSpPr>
            <p:cNvPr id="25" name="组合 24"/>
            <p:cNvGrpSpPr/>
            <p:nvPr/>
          </p:nvGrpSpPr>
          <p:grpSpPr>
            <a:xfrm>
              <a:off x="572593" y="4335998"/>
              <a:ext cx="8279027" cy="468000"/>
              <a:chOff x="763458" y="5470113"/>
              <a:chExt cx="11038702" cy="624000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763458" y="5470113"/>
                <a:ext cx="650875" cy="624000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FFFFFF">
                    <a:lumMod val="85000"/>
                  </a:srgb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685800"/>
                <a:r>
                  <a:rPr lang="zh-CN" altLang="en-US" sz="1100" b="1" dirty="0">
                    <a:solidFill>
                      <a:srgbClr val="1B1B1B"/>
                    </a:solidFill>
                    <a:sym typeface="+mn-ea"/>
                  </a:rPr>
                  <a:t>服务</a:t>
                </a:r>
                <a:endParaRPr lang="en-US" altLang="zh-CN" sz="1100" b="1" dirty="0">
                  <a:solidFill>
                    <a:srgbClr val="1B1B1B"/>
                  </a:solidFill>
                  <a:sym typeface="+mn-ea"/>
                </a:endParaRPr>
              </a:p>
              <a:p>
                <a:pPr algn="ctr" defTabSz="685800"/>
                <a:r>
                  <a:rPr lang="zh-CN" altLang="en-US" sz="1100" b="1" dirty="0">
                    <a:solidFill>
                      <a:srgbClr val="1B1B1B"/>
                    </a:solidFill>
                    <a:sym typeface="+mn-ea"/>
                  </a:rPr>
                  <a:t>用户</a:t>
                </a: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1560410" y="5470113"/>
                <a:ext cx="10241750" cy="624000"/>
                <a:chOff x="1560410" y="5470113"/>
                <a:chExt cx="10241750" cy="624000"/>
              </a:xfrm>
            </p:grpSpPr>
            <p:sp>
              <p:nvSpPr>
                <p:cNvPr id="28" name="矩形 27"/>
                <p:cNvSpPr/>
                <p:nvPr/>
              </p:nvSpPr>
              <p:spPr>
                <a:xfrm>
                  <a:off x="1560410" y="5470113"/>
                  <a:ext cx="5133233" cy="624000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rgbClr val="FFFFFF">
                      <a:lumMod val="85000"/>
                    </a:srgbClr>
                  </a:solidFill>
                  <a:prstDash val="solid"/>
                </a:ln>
              </p:spPr>
              <p:style>
                <a:lnRef idx="2">
                  <a:srgbClr val="006EFF">
                    <a:shade val="50000"/>
                  </a:srgbClr>
                </a:lnRef>
                <a:fillRef idx="1">
                  <a:srgbClr val="006EFF"/>
                </a:fillRef>
                <a:effectRef idx="0">
                  <a:srgbClr val="006EFF"/>
                </a:effectRef>
                <a:fontRef idx="minor">
                  <a:srgbClr val="FFFFFF"/>
                </a:fontRef>
              </p:style>
              <p:txBody>
                <a:bodyPr vertOverflow="overflow" horzOverflow="overflow" vert="horz" wrap="square" lIns="91440" tIns="45720" rIns="91440" bIns="45720" numCol="1" spcCol="0" rtlCol="0" fromWordArt="0" anchor="t" anchorCtr="0" forceAA="0" compatLnSpc="1">
                  <a:noAutofit/>
                </a:bodyPr>
                <a:lstStyle/>
                <a:p>
                  <a:pPr algn="ctr" defTabSz="685800"/>
                  <a:endParaRPr lang="zh-CN" altLang="en-US" sz="1100" b="1" dirty="0">
                    <a:solidFill>
                      <a:srgbClr val="1B1B1B"/>
                    </a:solidFill>
                    <a:sym typeface="+mn-lt"/>
                  </a:endParaRPr>
                </a:p>
              </p:txBody>
            </p:sp>
            <p:sp>
              <p:nvSpPr>
                <p:cNvPr id="29" name="矩形 28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6812194" y="5470113"/>
                  <a:ext cx="4989966" cy="624000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rgbClr val="FFFFFF">
                      <a:lumMod val="85000"/>
                    </a:srgbClr>
                  </a:solidFill>
                  <a:prstDash val="solid"/>
                </a:ln>
              </p:spPr>
              <p:style>
                <a:lnRef idx="2">
                  <a:srgbClr val="006EFF">
                    <a:shade val="50000"/>
                  </a:srgbClr>
                </a:lnRef>
                <a:fillRef idx="1">
                  <a:srgbClr val="006EFF"/>
                </a:fillRef>
                <a:effectRef idx="0">
                  <a:srgbClr val="006EFF"/>
                </a:effectRef>
                <a:fontRef idx="minor">
                  <a:srgbClr val="FFFFFF"/>
                </a:fontRef>
              </p:style>
              <p:txBody>
                <a:bodyPr vertOverflow="overflow" horzOverflow="overflow" vert="horz" wrap="square" lIns="91440" tIns="45720" rIns="91440" bIns="45720" numCol="1" spcCol="0" rtlCol="0" fromWordArt="0" anchor="t" anchorCtr="0" forceAA="0" compatLnSpc="1">
                  <a:noAutofit/>
                </a:bodyPr>
                <a:lstStyle/>
                <a:p>
                  <a:pPr algn="ctr" defTabSz="685800"/>
                  <a:endParaRPr lang="zh-CN" altLang="en-US" sz="1100" b="1" dirty="0">
                    <a:solidFill>
                      <a:srgbClr val="1B1B1B"/>
                    </a:solidFill>
                    <a:sym typeface="+mn-lt"/>
                  </a:endParaRPr>
                </a:p>
              </p:txBody>
            </p:sp>
            <p:sp>
              <p:nvSpPr>
                <p:cNvPr id="30" name="矩形: 圆角 6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777762" y="5614129"/>
                  <a:ext cx="4666386" cy="311388"/>
                </a:xfrm>
                <a:prstGeom prst="roundRect">
                  <a:avLst/>
                </a:prstGeom>
                <a:solidFill>
                  <a:schemeClr val="bg2">
                    <a:lumMod val="25000"/>
                  </a:schemeClr>
                </a:solidFill>
                <a:ln w="9525" algn="ctr">
                  <a:solidFill>
                    <a:srgbClr val="BCE2F5"/>
                  </a:solidFill>
                  <a:round/>
                </a:ln>
              </p:spPr>
              <p:txBody>
                <a:bodyPr vert="horz" wrap="square" lIns="0" tIns="0" rIns="0" bIns="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dirty="0">
                      <a:solidFill>
                        <a:prstClr val="white"/>
                      </a:solidFill>
                      <a:sym typeface="+mn-ea"/>
                    </a:rPr>
                    <a:t>服务科技成果转化</a:t>
                  </a:r>
                </a:p>
              </p:txBody>
            </p:sp>
            <p:sp>
              <p:nvSpPr>
                <p:cNvPr id="31" name="矩形: 圆角 60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7828082" y="5614129"/>
                  <a:ext cx="2958185" cy="311388"/>
                </a:xfrm>
                <a:prstGeom prst="roundRect">
                  <a:avLst/>
                </a:prstGeom>
                <a:solidFill>
                  <a:srgbClr val="007A37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vert="horz" wrap="square" lIns="91440" tIns="45720" rIns="91440" bIns="45720" numCol="1" spcCol="0" rtlCol="0" fromWordArt="0" anchor="ctr" anchorCtr="0" forceAA="0" compatLnSpc="0">
                  <a:noAutofit/>
                </a:bodyPr>
                <a:lstStyle/>
                <a:p>
                  <a:pPr algn="ctr" defTabSz="685800"/>
                  <a:r>
                    <a:rPr lang="zh-CN" altLang="en-US" sz="800" b="1" kern="0" dirty="0">
                      <a:solidFill>
                        <a:prstClr val="white"/>
                      </a:solidFill>
                      <a:sym typeface="+mn-ea"/>
                    </a:rPr>
                    <a:t>服务相关处室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7" y="0"/>
            <a:ext cx="1975961" cy="546735"/>
          </a:xfrm>
          <a:prstGeom prst="rect">
            <a:avLst/>
          </a:prstGeom>
        </p:spPr>
      </p:pic>
      <p:pic>
        <p:nvPicPr>
          <p:cNvPr id="2" name="图片 1" descr="a1280479-6c17-43f2-a4fd-32b7e6746a4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94447" y="2275999"/>
            <a:ext cx="3941921" cy="286750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97644" y="935830"/>
            <a:ext cx="6881336" cy="1639730"/>
            <a:chOff x="421504" y="2268310"/>
            <a:chExt cx="8717012" cy="2186463"/>
          </a:xfrm>
        </p:grpSpPr>
        <p:sp>
          <p:nvSpPr>
            <p:cNvPr id="4" name="矩形: 圆角 3"/>
            <p:cNvSpPr/>
            <p:nvPr/>
          </p:nvSpPr>
          <p:spPr>
            <a:xfrm>
              <a:off x="695400" y="2268310"/>
              <a:ext cx="3672408" cy="601013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r>
                <a:rPr lang="zh-CN" altLang="en-US" sz="3000" b="1" dirty="0" smtClean="0">
                  <a:solidFill>
                    <a:srgbClr val="066FB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第三部分</a:t>
              </a:r>
              <a:endParaRPr lang="zh-CN" altLang="en-US" sz="3000" b="1" dirty="0">
                <a:solidFill>
                  <a:srgbClr val="066FB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67408" y="3029380"/>
              <a:ext cx="6084000" cy="36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21504" y="3225325"/>
              <a:ext cx="8717012" cy="1229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b="1" spc="225" dirty="0">
                  <a:solidFill>
                    <a:srgbClr val="066FBB"/>
                  </a:solidFill>
                  <a:latin typeface="+mn-ea"/>
                  <a:sym typeface="+mn-ea"/>
                </a:rPr>
                <a:t>  </a:t>
              </a:r>
              <a:r>
                <a:rPr lang="en-US" altLang="zh-CN" sz="3000" b="1" spc="225" dirty="0" smtClean="0">
                  <a:solidFill>
                    <a:srgbClr val="066FBB"/>
                  </a:solidFill>
                  <a:latin typeface="+mn-ea"/>
                  <a:sym typeface="+mn-ea"/>
                </a:rPr>
                <a:t>2026</a:t>
              </a:r>
              <a:r>
                <a:rPr lang="zh-CN" altLang="en-US" sz="3000" b="1" spc="225" dirty="0" smtClean="0">
                  <a:solidFill>
                    <a:srgbClr val="066FBB"/>
                  </a:solidFill>
                  <a:latin typeface="+mn-ea"/>
                  <a:sym typeface="+mn-ea"/>
                </a:rPr>
                <a:t>年信息化建设需求</a:t>
              </a:r>
              <a:endParaRPr lang="zh-CN" altLang="en-US" sz="3000" b="1" spc="225" dirty="0">
                <a:solidFill>
                  <a:srgbClr val="066FBB"/>
                </a:solidFill>
                <a:latin typeface="+mn-ea"/>
                <a:sym typeface="+mn-ea"/>
              </a:endParaRPr>
            </a:p>
            <a:p>
              <a:endParaRPr lang="zh-CN" altLang="en-US" sz="2400" b="1" spc="225" dirty="0">
                <a:solidFill>
                  <a:srgbClr val="066FBB"/>
                </a:solidFill>
                <a:latin typeface="+mn-ea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038" y="1"/>
            <a:ext cx="1975961" cy="546735"/>
          </a:xfrm>
          <a:prstGeom prst="rect">
            <a:avLst/>
          </a:prstGeom>
        </p:spPr>
      </p:pic>
      <p:sp>
        <p:nvSpPr>
          <p:cNvPr id="5" name="标题 8"/>
          <p:cNvSpPr>
            <a:spLocks noGrp="1"/>
          </p:cNvSpPr>
          <p:nvPr/>
        </p:nvSpPr>
        <p:spPr>
          <a:xfrm>
            <a:off x="272892" y="190025"/>
            <a:ext cx="6982778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 spc="225" dirty="0" smtClean="0">
                <a:solidFill>
                  <a:srgbClr val="066FBB"/>
                </a:solidFill>
                <a:cs typeface="+mj-ea"/>
                <a:sym typeface="+mn-ea"/>
              </a:rPr>
              <a:t>3.1 </a:t>
            </a:r>
            <a:r>
              <a:rPr lang="en-US" altLang="zh-CN" sz="2100" b="1" dirty="0" smtClean="0">
                <a:solidFill>
                  <a:srgbClr val="066FBB"/>
                </a:solidFill>
                <a:sym typeface="+mn-ea"/>
              </a:rPr>
              <a:t>2026</a:t>
            </a:r>
            <a:r>
              <a:rPr lang="zh-CN" altLang="en-US" sz="2100" b="1" dirty="0" smtClean="0">
                <a:solidFill>
                  <a:srgbClr val="066FBB"/>
                </a:solidFill>
                <a:sym typeface="+mn-ea"/>
              </a:rPr>
              <a:t>年信息化建设需求</a:t>
            </a:r>
            <a:endParaRPr lang="zh-CN" altLang="en-US" sz="2100" b="1" dirty="0">
              <a:solidFill>
                <a:srgbClr val="066FBB"/>
              </a:solidFill>
              <a:sym typeface="+mn-ea"/>
            </a:endParaRPr>
          </a:p>
          <a:p>
            <a:endParaRPr lang="zh-CN" altLang="en-US" sz="2100" b="1" dirty="0">
              <a:solidFill>
                <a:srgbClr val="066FBB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5789" y="915566"/>
            <a:ext cx="7968139" cy="2529280"/>
          </a:xfrm>
          <a:prstGeom prst="rect">
            <a:avLst/>
          </a:prstGeom>
        </p:spPr>
        <p:txBody>
          <a:bodyPr wrap="square" lIns="68576" tIns="34289" rIns="68576" bIns="34289">
            <a:spAutoFit/>
          </a:bodyPr>
          <a:lstStyle/>
          <a:p>
            <a:pPr marL="213995" indent="-213995" algn="just" defTabSz="200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1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建设内容：</a:t>
            </a:r>
            <a:r>
              <a:rPr lang="zh-CN" altLang="en-US" sz="1200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将</a:t>
            </a:r>
            <a:r>
              <a:rPr lang="zh-CN" altLang="en-US" sz="1200" b="1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科研成果审核</a:t>
            </a:r>
            <a:r>
              <a:rPr lang="zh-CN" altLang="en-US" sz="1200" b="1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备案</a:t>
            </a:r>
            <a:r>
              <a:rPr lang="zh-CN" altLang="en-US" sz="1200" b="1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模块</a:t>
            </a:r>
            <a:r>
              <a:rPr lang="zh-CN" altLang="en-US" sz="1200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1200" b="1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智能机器人公共研发服务绩效</a:t>
            </a:r>
            <a:r>
              <a:rPr lang="zh-CN" altLang="en-US" sz="1200" b="1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管理</a:t>
            </a:r>
            <a:r>
              <a:rPr lang="zh-CN" altLang="en-US" sz="1200" b="1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模块</a:t>
            </a:r>
            <a:r>
              <a:rPr lang="zh-CN" altLang="en-US" sz="1200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1200" b="1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特殊仪器设备</a:t>
            </a:r>
            <a:r>
              <a:rPr lang="en-US" altLang="zh-CN" sz="1200" b="1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EDA</a:t>
            </a:r>
            <a:r>
              <a:rPr lang="zh-CN" altLang="en-US" sz="1200" b="1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绩效</a:t>
            </a:r>
            <a:r>
              <a:rPr lang="zh-CN" altLang="en-US" sz="1200" b="1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分析</a:t>
            </a:r>
            <a:r>
              <a:rPr lang="zh-CN" altLang="en-US" sz="1200" b="1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模块</a:t>
            </a:r>
            <a:r>
              <a:rPr lang="zh-CN" altLang="en-US" sz="1200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、</a:t>
            </a:r>
            <a:r>
              <a:rPr lang="zh-CN" altLang="en-US" sz="1200" b="1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科研项目周期</a:t>
            </a:r>
            <a:r>
              <a:rPr lang="zh-CN" altLang="en-US" sz="1200" b="1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调度</a:t>
            </a:r>
            <a:r>
              <a:rPr lang="zh-CN" altLang="en-US" sz="1200" b="1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模块</a:t>
            </a:r>
            <a:r>
              <a:rPr lang="zh-CN" altLang="en-US" sz="1200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等</a:t>
            </a:r>
            <a:r>
              <a:rPr lang="zh-CN" altLang="en-US" sz="1200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整合到山东省创新发展研究院支撑创新发展科技服务平台（</a:t>
            </a:r>
            <a:r>
              <a:rPr lang="en-US" altLang="zh-CN" sz="1200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2024</a:t>
            </a:r>
            <a:r>
              <a:rPr lang="zh-CN" altLang="en-US" sz="1200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年）。</a:t>
            </a:r>
            <a:endParaRPr lang="en-US" altLang="zh-CN" sz="1200" dirty="0" smtClean="0">
              <a:solidFill>
                <a:srgbClr val="333333"/>
              </a:solidFill>
              <a:cs typeface="微软雅黑" panose="020B0503020204020204" pitchFamily="34" charset="-122"/>
              <a:sym typeface="+mn-ea"/>
            </a:endParaRPr>
          </a:p>
          <a:p>
            <a:pPr marL="213995" indent="-213995" algn="just" defTabSz="200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endParaRPr lang="en-US" altLang="zh-CN" sz="1200" dirty="0" smtClean="0">
              <a:solidFill>
                <a:srgbClr val="333333"/>
              </a:solidFill>
              <a:cs typeface="微软雅黑" panose="020B0503020204020204" pitchFamily="34" charset="-122"/>
              <a:sym typeface="+mn-ea"/>
            </a:endParaRPr>
          </a:p>
          <a:p>
            <a:pPr marL="213995" indent="-213995" algn="just" defTabSz="200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1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建设目标：</a:t>
            </a:r>
            <a:r>
              <a:rPr lang="zh-CN" altLang="en-US" sz="1200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最终</a:t>
            </a:r>
            <a:r>
              <a:rPr lang="zh-CN" altLang="en-US" sz="1200" dirty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构建一个统一服务平台，实现业务统一管理、数据统一治理的一平台思路。集约部署资源的同时，也为用户应用上提供便利。围绕升级统计分析内容，标准化统计数据共享助力服务内部处室、外部企业、高校等机构科技创新提升，有效服务产业创新发展</a:t>
            </a:r>
            <a:r>
              <a:rPr lang="zh-CN" altLang="en-US" sz="1200" dirty="0" smtClean="0">
                <a:solidFill>
                  <a:srgbClr val="333333"/>
                </a:solidFill>
                <a:cs typeface="微软雅黑" panose="020B0503020204020204" pitchFamily="34" charset="-122"/>
                <a:sym typeface="+mn-ea"/>
              </a:rPr>
              <a:t>。</a:t>
            </a:r>
            <a:endParaRPr lang="en-US" altLang="zh-CN" sz="1200" dirty="0" smtClean="0">
              <a:solidFill>
                <a:srgbClr val="333333"/>
              </a:solidFill>
              <a:cs typeface="微软雅黑" panose="020B0503020204020204" pitchFamily="34" charset="-122"/>
              <a:sym typeface="+mn-ea"/>
            </a:endParaRPr>
          </a:p>
          <a:p>
            <a:pPr marL="213995" indent="-213995" algn="just" defTabSz="200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endParaRPr lang="en-US" altLang="zh-CN" sz="1200" dirty="0" smtClean="0">
              <a:solidFill>
                <a:srgbClr val="333333"/>
              </a:solidFill>
              <a:cs typeface="微软雅黑" panose="020B0503020204020204" pitchFamily="34" charset="-122"/>
              <a:sym typeface="+mn-ea"/>
            </a:endParaRPr>
          </a:p>
          <a:p>
            <a:pPr marL="213995" indent="-213995" algn="just" defTabSz="200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p"/>
            </a:pPr>
            <a:r>
              <a:rPr lang="zh-CN" altLang="en-US" sz="1200" b="1" dirty="0">
                <a:solidFill>
                  <a:srgbClr val="333333"/>
                </a:solidFill>
                <a:sym typeface="+mn-ea"/>
              </a:rPr>
              <a:t>项目</a:t>
            </a:r>
            <a:r>
              <a:rPr lang="zh-CN" altLang="en-US" sz="1200" b="1" dirty="0" smtClean="0">
                <a:solidFill>
                  <a:srgbClr val="333333"/>
                </a:solidFill>
                <a:sym typeface="+mn-ea"/>
              </a:rPr>
              <a:t>建设</a:t>
            </a:r>
            <a:r>
              <a:rPr lang="zh-CN" altLang="en-US" sz="1200" b="1" u="sng" dirty="0" smtClean="0">
                <a:solidFill>
                  <a:srgbClr val="333333"/>
                </a:solidFill>
                <a:sym typeface="+mn-ea"/>
              </a:rPr>
              <a:t>初步</a:t>
            </a:r>
            <a:r>
              <a:rPr lang="zh-CN" altLang="en-US" sz="1200" b="1" dirty="0" smtClean="0">
                <a:solidFill>
                  <a:srgbClr val="333333"/>
                </a:solidFill>
                <a:sym typeface="+mn-ea"/>
              </a:rPr>
              <a:t>预算为</a:t>
            </a:r>
            <a:r>
              <a:rPr lang="en-US" altLang="zh-CN" sz="1200" dirty="0" smtClean="0">
                <a:solidFill>
                  <a:srgbClr val="333333"/>
                </a:solidFill>
                <a:sym typeface="+mn-ea"/>
              </a:rPr>
              <a:t>103.43</a:t>
            </a:r>
            <a:r>
              <a:rPr lang="zh-CN" altLang="en-US" sz="1200" dirty="0" smtClean="0">
                <a:solidFill>
                  <a:srgbClr val="333333"/>
                </a:solidFill>
                <a:sym typeface="+mn-ea"/>
              </a:rPr>
              <a:t>万</a:t>
            </a:r>
            <a:r>
              <a:rPr lang="zh-CN" altLang="en-US" sz="1200" dirty="0">
                <a:solidFill>
                  <a:srgbClr val="333333"/>
                </a:solidFill>
                <a:sym typeface="+mn-ea"/>
              </a:rPr>
              <a:t>元。其中软件开发</a:t>
            </a:r>
            <a:r>
              <a:rPr lang="zh-CN" altLang="en-US" sz="1200" dirty="0" smtClean="0">
                <a:solidFill>
                  <a:srgbClr val="333333"/>
                </a:solidFill>
                <a:sym typeface="+mn-ea"/>
              </a:rPr>
              <a:t>费用</a:t>
            </a:r>
            <a:r>
              <a:rPr lang="en-US" altLang="zh-CN" sz="1200" dirty="0" smtClean="0">
                <a:solidFill>
                  <a:srgbClr val="333333"/>
                </a:solidFill>
                <a:sym typeface="+mn-ea"/>
              </a:rPr>
              <a:t>81.36</a:t>
            </a:r>
            <a:r>
              <a:rPr lang="zh-CN" altLang="en-US" sz="1200" dirty="0" smtClean="0">
                <a:solidFill>
                  <a:srgbClr val="333333"/>
                </a:solidFill>
                <a:sym typeface="+mn-ea"/>
              </a:rPr>
              <a:t>万</a:t>
            </a:r>
            <a:r>
              <a:rPr lang="zh-CN" altLang="en-US" sz="1200" dirty="0">
                <a:solidFill>
                  <a:srgbClr val="333333"/>
                </a:solidFill>
                <a:sym typeface="+mn-ea"/>
              </a:rPr>
              <a:t>元，监理、第三方软件测试、等保密评</a:t>
            </a:r>
            <a:r>
              <a:rPr lang="zh-CN" altLang="en-US" sz="1200" dirty="0" smtClean="0">
                <a:solidFill>
                  <a:srgbClr val="333333"/>
                </a:solidFill>
                <a:sym typeface="+mn-ea"/>
              </a:rPr>
              <a:t>等</a:t>
            </a:r>
            <a:r>
              <a:rPr lang="en-US" altLang="zh-CN" sz="1200" dirty="0" smtClean="0">
                <a:solidFill>
                  <a:srgbClr val="333333"/>
                </a:solidFill>
                <a:sym typeface="+mn-ea"/>
              </a:rPr>
              <a:t>22.07</a:t>
            </a:r>
            <a:r>
              <a:rPr lang="zh-CN" altLang="en-US" sz="1200" dirty="0" smtClean="0">
                <a:solidFill>
                  <a:srgbClr val="333333"/>
                </a:solidFill>
                <a:sym typeface="+mn-ea"/>
              </a:rPr>
              <a:t>万元（以上均为估算费用）。</a:t>
            </a:r>
            <a:endParaRPr lang="zh-CN" altLang="en-US" sz="1200" dirty="0">
              <a:solidFill>
                <a:srgbClr val="333333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67544" y="1653649"/>
            <a:ext cx="4806534" cy="1272920"/>
            <a:chOff x="1343472" y="2987877"/>
            <a:chExt cx="6408712" cy="1697227"/>
          </a:xfrm>
        </p:grpSpPr>
        <p:sp>
          <p:nvSpPr>
            <p:cNvPr id="3" name="矩形 2"/>
            <p:cNvSpPr/>
            <p:nvPr/>
          </p:nvSpPr>
          <p:spPr>
            <a:xfrm>
              <a:off x="1343472" y="2987877"/>
              <a:ext cx="4752528" cy="8240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defTabSz="685800"/>
              <a:r>
                <a:rPr lang="zh-CN" altLang="en-US" sz="3300" b="1" dirty="0">
                  <a:solidFill>
                    <a:srgbClr val="006EFF">
                      <a:lumMod val="75000"/>
                    </a:srgbClr>
                  </a:solidFill>
                  <a:sym typeface="Arial" panose="020B0604020202020204" pitchFamily="34" charset="0"/>
                </a:rPr>
                <a:t>汇报完毕</a:t>
              </a:r>
            </a:p>
          </p:txBody>
        </p:sp>
        <p:sp>
          <p:nvSpPr>
            <p:cNvPr id="4" name="矩形 3"/>
            <p:cNvSpPr/>
            <p:nvPr/>
          </p:nvSpPr>
          <p:spPr>
            <a:xfrm>
              <a:off x="1343472" y="3861048"/>
              <a:ext cx="6408712" cy="824056"/>
            </a:xfrm>
            <a:prstGeom prst="rect">
              <a:avLst/>
            </a:prstGeom>
            <a:noFill/>
            <a:ln>
              <a:noFill/>
            </a:ln>
            <a:effectLst>
              <a:reflection blurRad="6350" stA="50000" endA="300" endPos="5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defTabSz="685800"/>
              <a:r>
                <a:rPr lang="zh-CN" altLang="en-US" sz="4500" b="1" dirty="0">
                  <a:solidFill>
                    <a:srgbClr val="1B1B1B"/>
                  </a:solidFill>
                  <a:sym typeface="Arial" panose="020B0604020202020204" pitchFamily="34" charset="0"/>
                </a:rPr>
                <a:t>敬请领导批评指正！</a:t>
              </a:r>
            </a:p>
          </p:txBody>
        </p:sp>
      </p:grpSp>
      <p:pic>
        <p:nvPicPr>
          <p:cNvPr id="5" name="图片 4" descr="ac163073-2cb1-40a4-8eda-9579efe65c9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83994" y="2356011"/>
            <a:ext cx="3860006" cy="28074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eb1ebef5-ac4b-409f-920a-9985e985694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eb1ebef5-ac4b-409f-920a-9985e985694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53512"/>
  <p:tag name="MH" val="20160830110146"/>
  <p:tag name="MH_LIBRARY" val="CONTENTS"/>
  <p:tag name="MH_TYPE" val="OTHERS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553512"/>
  <p:tag name="MH" val="20160830110146"/>
  <p:tag name="MH_LIBRARY" val="CONTENTS"/>
  <p:tag name="MH_TYPE" val="OTHERS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1563779527559,&quot;left&quot;:168.63748031496064,&quot;top&quot;:83.43173228346457,&quot;width&quot;:411.075039370078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1563779527559,&quot;left&quot;:168.63748031496064,&quot;top&quot;:83.43173228346457,&quot;width&quot;:411.075039370078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0.1563779527559,&quot;left&quot;:168.63748031496064,&quot;top&quot;:83.43173228346457,&quot;width&quot;:411.075039370078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35_3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35"/>
  <p:tag name="KSO_WM_TEMPLATE_CATEGORY" val="custom"/>
  <p:tag name="KSO_WM_DIAGRAM_MAX_ITEMCNT" val="6"/>
  <p:tag name="KSO_WM_DIAGRAM_MIN_ITEMCNT" val="2"/>
  <p:tag name="KSO_WM_DIAGRAM_VIRTUALLY_FRAME" val="{&quot;height&quot;:210.1563779527559,&quot;left&quot;:168.63748031496064,&quot;top&quot;:83.43173228346457,&quot;width&quot;:411.07503937007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.5},&quot;type&quot;:1},&quot;shadow&quot;:{&quot;brightness&quot;:0,&quot;colorType&quot;:1,&quot;foreColorIndex&quot;:5,&quot;transparency&quot;:0.94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35_3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35"/>
  <p:tag name="KSO_WM_TEMPLATE_CATEGORY" val="custom"/>
  <p:tag name="KSO_WM_UNIT_SUBTYPE" val="a"/>
  <p:tag name="KSO_WM_UNIT_VALUE" val="54"/>
  <p:tag name="KSO_WM_DIAGRAM_MAX_ITEMCNT" val="6"/>
  <p:tag name="KSO_WM_DIAGRAM_MIN_ITEMCNT" val="2"/>
  <p:tag name="KSO_WM_DIAGRAM_VIRTUALLY_FRAME" val="{&quot;height&quot;:210.1563779527559,&quot;left&quot;:168.63748031496064,&quot;top&quot;:83.43173228346457,&quot;width&quot;:411.075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35_3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35"/>
  <p:tag name="KSO_WM_TEMPLATE_CATEGORY" val="custom"/>
  <p:tag name="KSO_WM_DIAGRAM_MAX_ITEMCNT" val="6"/>
  <p:tag name="KSO_WM_DIAGRAM_MIN_ITEMCNT" val="2"/>
  <p:tag name="KSO_WM_DIAGRAM_VIRTUALLY_FRAME" val="{&quot;height&quot;:210.1563779527559,&quot;left&quot;:168.63748031496064,&quot;top&quot;:83.43173228346457,&quot;width&quot;:411.07503937007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.5},&quot;type&quot;:1},&quot;shadow&quot;:{&quot;brightness&quot;:0,&quot;colorType&quot;:1,&quot;foreColorIndex&quot;:5,&quot;transparency&quot;:0.94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35_3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35"/>
  <p:tag name="KSO_WM_TEMPLATE_CATEGORY" val="custom"/>
  <p:tag name="KSO_WM_UNIT_SUBTYPE" val="a"/>
  <p:tag name="KSO_WM_UNIT_VALUE" val="54"/>
  <p:tag name="KSO_WM_DIAGRAM_MAX_ITEMCNT" val="6"/>
  <p:tag name="KSO_WM_DIAGRAM_MIN_ITEMCNT" val="2"/>
  <p:tag name="KSO_WM_DIAGRAM_VIRTUALLY_FRAME" val="{&quot;height&quot;:210.1563779527559,&quot;left&quot;:168.63748031496064,&quot;top&quot;:83.43173228346457,&quot;width&quot;:411.075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35_3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35"/>
  <p:tag name="KSO_WM_TEMPLATE_CATEGORY" val="custom"/>
  <p:tag name="KSO_WM_DIAGRAM_MAX_ITEMCNT" val="6"/>
  <p:tag name="KSO_WM_DIAGRAM_MIN_ITEMCNT" val="2"/>
  <p:tag name="KSO_WM_DIAGRAM_VIRTUALLY_FRAME" val="{&quot;height&quot;:210.1563779527559,&quot;left&quot;:168.63748031496064,&quot;top&quot;:83.43173228346457,&quot;width&quot;:411.07503937007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.800000011920929,&quot;colorType&quot;:1,&quot;foreColorIndex&quot;:5,&quot;transparency&quot;:0.5},&quot;type&quot;:1},&quot;shadow&quot;:{&quot;brightness&quot;:0,&quot;colorType&quot;:1,&quot;foreColorIndex&quot;:5,&quot;transparency&quot;:0.94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35_3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35"/>
  <p:tag name="KSO_WM_TEMPLATE_CATEGORY" val="custom"/>
  <p:tag name="KSO_WM_UNIT_SUBTYPE" val="a"/>
  <p:tag name="KSO_WM_UNIT_VALUE" val="54"/>
  <p:tag name="KSO_WM_DIAGRAM_MAX_ITEMCNT" val="6"/>
  <p:tag name="KSO_WM_DIAGRAM_MIN_ITEMCNT" val="2"/>
  <p:tag name="KSO_WM_DIAGRAM_VIRTUALLY_FRAME" val="{&quot;height&quot;:210.1563779527559,&quot;left&quot;:168.63748031496064,&quot;top&quot;:83.43173228346457,&quot;width&quot;:411.07503937007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.47"/>
  <p:tag name="KSO_WM_UNIT_FILL_FORE_SCHEMECOLOR_INDEX_1_TRANS" val="1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.13747"/>
  <p:tag name="KSO_WM_UNIT_FILL_GRADIENT_TYPE" val="2"/>
  <p:tag name="KSO_WM_UNIT_FILL_GRADIENT_ANGLE" val="0"/>
  <p:tag name="KSO_WM_UNIT_FILL_GRADIENT_DIRECTION" val="-2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.43"/>
  <p:tag name="KSO_WM_UNIT_FILL_FORE_SCHEMECOLOR_INDEX_1_TRANS" val="1"/>
  <p:tag name="KSO_WM_UNIT_FILL_FORE_SCHEMECOLOR_INDEX_2_BRIGHTNESS" val="0"/>
  <p:tag name="KSO_WM_UNIT_FILL_FORE_SCHEMECOLOR_INDEX_2" val="5"/>
  <p:tag name="KSO_WM_UNIT_FILL_FORE_SCHEMECOLOR_INDEX_2_POS" val="0.98"/>
  <p:tag name="KSO_WM_UNIT_FILL_FORE_SCHEMECOLOR_INDEX_2_TRANS" val="0.27236"/>
  <p:tag name="KSO_WM_UNIT_FILL_GRADIENT_TYPE" val="2"/>
  <p:tag name="KSO_WM_UNIT_FILL_GRADIENT_ANGLE" val="0"/>
  <p:tag name="KSO_WM_UNIT_FILL_GRADIENT_DIRECTION" val="-2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5642b197-5beb-45ab-84e7-8d5de7954062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5642b197-5beb-45ab-84e7-8d5de7954062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0.60346456692906,&quot;left&quot;:37.879291338582675,&quot;top&quot;:60.212913385826766,&quot;width&quot;:850.3550393700787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1"/>
  <p:tag name="KSO_WM_UNIT_ID" val="diagram20234862_1*l_h_i*1_1_1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1,&quot;foreColorIndex&quot;:5,&quot;pos&quot;:0.7300000190734863,&quot;transparency&quot;:1},{&quot;brightness&quot;:0,&quot;colorType&quot;:1,&quot;foreColorIndex&quot;:5,&quot;pos&quot;:1,&quot;transparency&quot;:0.649999976158142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4862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ID" val="diagram20234862_1*l_h_a*1_1_1"/>
  <p:tag name="KSO_WM_UNIT_INDEX" val="1_1_1"/>
  <p:tag name="KSO_WM_BEAUTIFY_FLAG" val="#wm#"/>
  <p:tag name="KSO_WM_DIAGRAM_GROUP_CODE" val="l1-1"/>
  <p:tag name="KSO_WM_UNIT_PRESET_TEXT" val="此处添加项标题"/>
  <p:tag name="KSO_WM_UNIT_TEXT_FILL_FORE_SCHEMECOLOR_INDEX" val="3"/>
  <p:tag name="KSO_WM_UNIT_TEXT_FILL_TYPE" val="3"/>
  <p:tag name="KSO_WM_UNIT_TEXT_TYPE" val="1"/>
  <p:tag name="KSO_WM_DIAGRAM_USE_COLOR_VALUE" val="{&quot;color_scheme&quot;:1,&quot;color_type&quot;:1,&quot;theme_color_indexes&quot;:[5,6,5,6,5,6]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862_1*l_h_i*1_1_4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750061035156,&quot;left&quot;:54.87503937007874,&quot;top&quot;:90.00003326656315,&quot;width&quot;:850.3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862_1*l_h_i*1_1_3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30000001192092896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62_1*l_h_i*1_1_2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862_1*l_h_i*1_1_3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30000001192092896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862_1*l_h_i*1_1_3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30000001192092896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862_1*l_h_i*1_1_3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30000001192092896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862_1*l_h_i*1_1_3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30000001192092896},&quot;type&quot;:1},&quot;shadow&quot;:{&quot;brightness&quot;:0,&quot;colorType&quot;:2,&quot;rgb&quot;:&quot;#65b4d5&quot;,&quot;transparency&quot;:0.1099999994039535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0.60346456692906,&quot;left&quot;:37.879291338582675,&quot;top&quot;:60.212913385826766,&quot;width&quot;:850.3550393700787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1"/>
  <p:tag name="KSO_WM_UNIT_ID" val="diagram20234862_1*l_h_i*1_1_1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1,&quot;foreColorIndex&quot;:5,&quot;pos&quot;:0.7300000190734863,&quot;transparency&quot;:1},{&quot;brightness&quot;:0,&quot;colorType&quot;:1,&quot;foreColorIndex&quot;:5,&quot;pos&quot;:1,&quot;transparency&quot;:0.649999976158142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4862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ID" val="diagram20234862_1*l_h_a*1_1_1"/>
  <p:tag name="KSO_WM_UNIT_INDEX" val="1_1_1"/>
  <p:tag name="KSO_WM_BEAUTIFY_FLAG" val="#wm#"/>
  <p:tag name="KSO_WM_DIAGRAM_GROUP_CODE" val="l1-1"/>
  <p:tag name="KSO_WM_UNIT_PRESET_TEXT" val="此处添加项标题"/>
  <p:tag name="KSO_WM_UNIT_TEXT_FILL_FORE_SCHEMECOLOR_INDEX" val="3"/>
  <p:tag name="KSO_WM_UNIT_TEXT_FILL_TYPE" val="3"/>
  <p:tag name="KSO_WM_UNIT_TEXT_TYPE" val="1"/>
  <p:tag name="KSO_WM_DIAGRAM_USE_COLOR_VALUE" val="{&quot;color_scheme&quot;:1,&quot;color_type&quot;:1,&quot;theme_color_indexes&quot;:[5,6,5,6,5,6]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862_1*l_h_i*1_1_4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750061035156,&quot;left&quot;:54.87503937007874,&quot;top&quot;:90.00003326656315,&quot;width&quot;:850.3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62_1*l_h_i*1_1_2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0.60346456692906,&quot;left&quot;:37.879291338582675,&quot;top&quot;:60.212913385826766,&quot;width&quot;:850.3550393700787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1"/>
  <p:tag name="KSO_WM_UNIT_ID" val="diagram20234862_1*l_h_i*1_1_1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1,&quot;foreColorIndex&quot;:5,&quot;pos&quot;:0.7300000190734863,&quot;transparency&quot;:1},{&quot;brightness&quot;:0,&quot;colorType&quot;:1,&quot;foreColorIndex&quot;:5,&quot;pos&quot;:1,&quot;transparency&quot;:0.649999976158142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4862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ID" val="diagram20234862_1*l_h_a*1_1_1"/>
  <p:tag name="KSO_WM_UNIT_INDEX" val="1_1_1"/>
  <p:tag name="KSO_WM_BEAUTIFY_FLAG" val="#wm#"/>
  <p:tag name="KSO_WM_DIAGRAM_GROUP_CODE" val="l1-1"/>
  <p:tag name="KSO_WM_UNIT_PRESET_TEXT" val="此处添加项标题"/>
  <p:tag name="KSO_WM_UNIT_TEXT_FILL_FORE_SCHEMECOLOR_INDEX" val="3"/>
  <p:tag name="KSO_WM_UNIT_TEXT_FILL_TYPE" val="3"/>
  <p:tag name="KSO_WM_UNIT_TEXT_TYPE" val="1"/>
  <p:tag name="KSO_WM_DIAGRAM_USE_COLOR_VALUE" val="{&quot;color_scheme&quot;:1,&quot;color_type&quot;:1,&quot;theme_color_indexes&quot;:[5,6,5,6,5,6]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862_1*l_h_i*1_1_4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750061035156,&quot;left&quot;:54.87503937007874,&quot;top&quot;:90.00003326656315,&quot;width&quot;:850.3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62_1*l_h_i*1_1_2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0.60346456692906,&quot;left&quot;:37.879291338582675,&quot;top&quot;:60.212913385826766,&quot;width&quot;:850.3550393700787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1"/>
  <p:tag name="KSO_WM_UNIT_ID" val="diagram20234862_1*l_h_i*1_1_1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1,&quot;foreColorIndex&quot;:5,&quot;pos&quot;:0.7300000190734863,&quot;transparency&quot;:1},{&quot;brightness&quot;:0,&quot;colorType&quot;:1,&quot;foreColorIndex&quot;:5,&quot;pos&quot;:1,&quot;transparency&quot;:0.649999976158142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4862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ID" val="diagram20234862_1*l_h_a*1_1_1"/>
  <p:tag name="KSO_WM_UNIT_INDEX" val="1_1_1"/>
  <p:tag name="KSO_WM_BEAUTIFY_FLAG" val="#wm#"/>
  <p:tag name="KSO_WM_DIAGRAM_GROUP_CODE" val="l1-1"/>
  <p:tag name="KSO_WM_UNIT_PRESET_TEXT" val="此处添加项标题"/>
  <p:tag name="KSO_WM_UNIT_TEXT_FILL_FORE_SCHEMECOLOR_INDEX" val="3"/>
  <p:tag name="KSO_WM_UNIT_TEXT_FILL_TYPE" val="3"/>
  <p:tag name="KSO_WM_UNIT_TEXT_TYPE" val="1"/>
  <p:tag name="KSO_WM_DIAGRAM_USE_COLOR_VALUE" val="{&quot;color_scheme&quot;:1,&quot;color_type&quot;:1,&quot;theme_color_indexes&quot;:[5,6,5,6,5,6]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862_1*l_h_i*1_1_4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750061035156,&quot;left&quot;:54.87503937007874,&quot;top&quot;:90.00003326656315,&quot;width&quot;:850.3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62_1*l_h_i*1_1_2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0.60346456692906,&quot;left&quot;:37.879291338582675,&quot;top&quot;:60.212913385826766,&quot;width&quot;:850.3550393700787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1"/>
  <p:tag name="KSO_WM_UNIT_ID" val="diagram20234862_1*l_h_i*1_1_1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1,&quot;foreColorIndex&quot;:5,&quot;pos&quot;:0.7300000190734863,&quot;transparency&quot;:1},{&quot;brightness&quot;:0,&quot;colorType&quot;:1,&quot;foreColorIndex&quot;:5,&quot;pos&quot;:1,&quot;transparency&quot;:0.649999976158142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4862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ID" val="diagram20234862_1*l_h_a*1_1_1"/>
  <p:tag name="KSO_WM_UNIT_INDEX" val="1_1_1"/>
  <p:tag name="KSO_WM_BEAUTIFY_FLAG" val="#wm#"/>
  <p:tag name="KSO_WM_DIAGRAM_GROUP_CODE" val="l1-1"/>
  <p:tag name="KSO_WM_UNIT_PRESET_TEXT" val="此处添加项标题"/>
  <p:tag name="KSO_WM_UNIT_TEXT_FILL_FORE_SCHEMECOLOR_INDEX" val="3"/>
  <p:tag name="KSO_WM_UNIT_TEXT_FILL_TYPE" val="3"/>
  <p:tag name="KSO_WM_UNIT_TEXT_TYPE" val="1"/>
  <p:tag name="KSO_WM_DIAGRAM_USE_COLOR_VALUE" val="{&quot;color_scheme&quot;:1,&quot;color_type&quot;:1,&quot;theme_color_indexes&quot;:[5,6,5,6,5,6]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862_1*l_h_i*1_1_4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750061035156,&quot;left&quot;:54.87503937007874,&quot;top&quot;:90.00003326656315,&quot;width&quot;:850.3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62_1*l_h_i*1_1_2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70.60346456692906,&quot;left&quot;:37.879291338582675,&quot;top&quot;:60.212913385826766,&quot;width&quot;:850.3550393700787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1"/>
  <p:tag name="KSO_WM_UNIT_ID" val="diagram20234862_1*l_h_i*1_2_1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382.6750061035156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300000190734863,&quot;transparency&quot;:1},{&quot;brightness&quot;:0,&quot;colorType&quot;:1,&quot;foreColorIndex&quot;:5,&quot;pos&quot;:1,&quot;transparency&quot;:0.649999976158142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862_1*l_h_f*1_2_1"/>
  <p:tag name="KSO_WM_TEMPLATE_CATEGORY" val="diagram"/>
  <p:tag name="KSO_WM_TEMPLATE_INDEX" val="202348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4862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82.6750061035156,&quot;left&quot;:54.87503937007874,&quot;top&quot;:90.00003326656315,&quot;width&quot;:850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ID" val="diagram20234862_1*l_h_a*1_2_1"/>
  <p:tag name="KSO_WM_UNIT_INDEX" val="1_2_1"/>
  <p:tag name="KSO_WM_BEAUTIFY_FLAG" val="#wm#"/>
  <p:tag name="KSO_WM_DIAGRAM_GROUP_CODE" val="l1-1"/>
  <p:tag name="KSO_WM_UNIT_PRESET_TEXT" val="此处添加项标题"/>
  <p:tag name="KSO_WM_UNIT_TEXT_FILL_FORE_SCHEMECOLOR_INDEX" val="3"/>
  <p:tag name="KSO_WM_UNIT_TEXT_FILL_TYPE" val="3"/>
  <p:tag name="KSO_WM_UNIT_TEXT_TYPE" val="1"/>
  <p:tag name="KSO_WM_DIAGRAM_USE_COLOR_VALUE" val="{&quot;color_scheme&quot;:1,&quot;color_type&quot;:1,&quot;theme_color_indexes&quot;:[5,6,5,6,5,6]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4"/>
  <p:tag name="KSO_WM_UNIT_ID" val="diagram20234862_1*l_h_i*1_2_4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382.6750061035156,&quot;left&quot;:54.87503937007874,&quot;top&quot;:90.00003326656315,&quot;width&quot;:850.35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4862_1*l_h_i*1_2_2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382.6750061035156,&quot;left&quot;:54.87503937007874,&quot;top&quot;:90.00003326656315,&quot;width&quot;:850.35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1"/>
  <p:tag name="KSO_WM_UNIT_ID" val="diagram20234862_1*l_h_i*1_1_11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1,&quot;foreColorIndex&quot;:5,&quot;pos&quot;:0.7300000190734863,&quot;transparency&quot;:1},{&quot;brightness&quot;:0,&quot;colorType&quot;:1,&quot;foreColorIndex&quot;:5,&quot;pos&quot;:1,&quot;transparency&quot;:0.649999976158142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TEMPLATE_CATEGORY" val="diagram"/>
  <p:tag name="KSO_WM_TEMPLATE_INDEX" val="20234862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1"/>
  <p:tag name="KSO_WM_UNIT_ID" val="diagram20234862_1*l_h_a*1_1_1"/>
  <p:tag name="KSO_WM_UNIT_INDEX" val="1_1_1"/>
  <p:tag name="KSO_WM_BEAUTIFY_FLAG" val="#wm#"/>
  <p:tag name="KSO_WM_DIAGRAM_GROUP_CODE" val="l1-1"/>
  <p:tag name="KSO_WM_UNIT_PRESET_TEXT" val="此处添加项标题"/>
  <p:tag name="KSO_WM_UNIT_TEXT_FILL_FORE_SCHEMECOLOR_INDEX" val="3"/>
  <p:tag name="KSO_WM_UNIT_TEXT_FILL_TYPE" val="3"/>
  <p:tag name="KSO_WM_UNIT_TEXT_TYPE" val="1"/>
  <p:tag name="KSO_WM_DIAGRAM_USE_COLOR_VALUE" val="{&quot;color_scheme&quot;:1,&quot;color_type&quot;:1,&quot;theme_color_indexes&quot;:[5,6,5,6,5,6]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862_1*l_h_i*1_1_4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6750061035156,&quot;left&quot;:54.87503937007874,&quot;top&quot;:90.00003326656315,&quot;width&quot;:850.35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2_1*l_h_f*1_1_1"/>
  <p:tag name="KSO_WM_TEMPLATE_CATEGORY" val="diagram"/>
  <p:tag name="KSO_WM_TEMPLATE_INDEX" val="20234862"/>
  <p:tag name="KSO_WM_UNIT_LAYERLEVEL" val="1_1_1"/>
  <p:tag name="KSO_WM_TAG_VERSION" val="3.0"/>
  <p:tag name="KSO_WM_UNIT_VALUE" val="93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文本具体内容，简明扼要地阐述您的观点。根据需要可酌情增减正文内容文字，以便观者准确地理解您传达的思想。单击此处添加你的文本具体内容，可酌情增减正文内容"/>
  <p:tag name="KSO_WM_UNIT_FILL_TYPE" val="3"/>
  <p:tag name="KSO_WM_UNIT_TEXT_FILL_FORE_SCHEMECOLOR_INDEX" val="1"/>
  <p:tag name="KSO_WM_UNIT_TEXT_FILL_TYPE" val="1"/>
  <p:tag name="KSO_WM_DIAGRAM_MAX_ITEMCNT" val="2"/>
  <p:tag name="KSO_WM_DIAGRAM_MIN_ITEMCNT" val="2"/>
  <p:tag name="KSO_WM_DIAGRAM_VIRTUALLY_FRAME" val="{&quot;height&quot;:360.07501220703125,&quot;left&quot;:54.87503937007874,&quot;top&quot;:90.00003326656315,&quot;width&quot;:850.35}"/>
  <p:tag name="KSO_WM_DIAGRAM_COLOR_MATCH_VALUE" val="{&quot;shape&quot;:{&quot;fill&quot;:{&quot;gradient&quot;:[{&quot;brightness&quot;:0,&quot;colorType&quot;:1,&quot;foreColorIndex&quot;:5,&quot;pos&quot;:0.7599999904632568,&quot;transparency&quot;:1},{&quot;brightness&quot;:0,&quot;colorType&quot;:1,&quot;foreColorIndex&quot;:5,&quot;pos&quot;:0.20000000298023224,&quot;transparency&quot;:1},{&quot;brightness&quot;:0,&quot;colorType&quot;:1,&quot;foreColorIndex&quot;:5,&quot;pos&quot;:0,&quot;transparency&quot;:0.75},{&quot;brightness&quot;:0,&quot;colorType&quot;:1,&quot;foreColorIndex&quot;:5,&quot;pos&quot;:1,&quot;transparency&quot;:0.75}],&quot;type&quot;:3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DIAGRAM_USE_COLOR_VALUE" val="{&quot;color_scheme&quot;:1,&quot;color_type&quot;:1,&quot;theme_color_indexes&quot;:[5,6,5,6,5,6]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62_1*l_h_i*1_1_2"/>
  <p:tag name="KSO_WM_TEMPLATE_CATEGORY" val="diagram"/>
  <p:tag name="KSO_WM_TEMPLATE_INDEX" val="2023486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2"/>
  <p:tag name="KSO_WM_DIAGRAM_MIN_ITEMCNT" val="2"/>
  <p:tag name="KSO_WM_DIAGRAM_VIRTUALLY_FRAME" val="{&quot;height&quot;:470.60346456692906,&quot;left&quot;:37.879291338582675,&quot;top&quot;:60.212913385826766,&quot;width&quot;:850.3550393700787}"/>
  <p:tag name="KSO_WM_DIAGRAM_COLOR_MATCH_VALUE" val="{&quot;shape&quot;:{&quot;fill&quot;:{&quot;gradient&quot;:[{&quot;brightness&quot;:0,&quot;colorType&quot;:2,&quot;pos&quot;:0.4300000071525574,&quot;rgb&quot;:&quot;#65b4d5&quot;,&quot;transparency&quot;:0.8399999737739563},{&quot;brightness&quot;:0,&quot;colorType&quot;:2,&quot;pos&quot;:0,&quot;rgb&quot;:&quot;#65b4d5&quot;,&quot;transparency&quot;:0.699999988079071},{&quot;brightness&quot;:0,&quot;colorType&quot;:2,&quot;pos&quot;:1,&quot;rgb&quot;:&quot;#65b4d5&quot;,&quot;transparency&quot;:1}],&quot;type&quot;:3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5642b197-5beb-45ab-84e7-8d5de7954062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ID" val="{a4f1801d-d771-41d4-8e73-29cb8da4edf4}"/>
</p:tagLst>
</file>

<file path=ppt/theme/theme1.xml><?xml version="1.0" encoding="utf-8"?>
<a:theme xmlns:a="http://schemas.openxmlformats.org/drawingml/2006/main" name="主题5">
  <a:themeElements>
    <a:clrScheme name="水天一色">
      <a:dk1>
        <a:srgbClr val="000000"/>
      </a:dk1>
      <a:lt1>
        <a:srgbClr val="FFFFFF"/>
      </a:lt1>
      <a:dk2>
        <a:srgbClr val="D0D9E8"/>
      </a:dk2>
      <a:lt2>
        <a:srgbClr val="B6CDE8"/>
      </a:lt2>
      <a:accent1>
        <a:srgbClr val="94B9E5"/>
      </a:accent1>
      <a:accent2>
        <a:srgbClr val="6C99DA"/>
      </a:accent2>
      <a:accent3>
        <a:srgbClr val="4F78C9"/>
      </a:accent3>
      <a:accent4>
        <a:srgbClr val="3B539D"/>
      </a:accent4>
      <a:accent5>
        <a:srgbClr val="273677"/>
      </a:accent5>
      <a:accent6>
        <a:srgbClr val="212A4D"/>
      </a:accent6>
      <a:hlink>
        <a:srgbClr val="866054"/>
      </a:hlink>
      <a:folHlink>
        <a:srgbClr val="422F28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prstDash val="dash"/>
        </a:ln>
      </a:spPr>
      <a:bodyPr wrap="none">
        <a:spAutoFit/>
      </a:bodyPr>
      <a:lstStyle>
        <a:defPPr>
          <a:defRPr dirty="0" smtClean="0"/>
        </a:defPPr>
      </a:lstStyle>
    </a:spDef>
    <a:txDef>
      <a:spPr/>
      <a:bodyPr spcFirstLastPara="0" vert="horz" wrap="square" lIns="57150" tIns="57150" rIns="57150" bIns="57150" numCol="1" spcCol="1270" anchor="ctr" anchorCtr="0">
        <a:noAutofit/>
      </a:bodyPr>
      <a:lstStyle>
        <a:defPPr defTabSz="666750">
          <a:lnSpc>
            <a:spcPct val="150000"/>
          </a:lnSpc>
          <a:spcBef>
            <a:spcPct val="0"/>
          </a:spcBef>
          <a:spcAft>
            <a:spcPct val="35000"/>
          </a:spcAft>
          <a:defRPr sz="2400" dirty="0" smtClean="0"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">
      <a:dk1>
        <a:srgbClr val="1B1B1B"/>
      </a:dk1>
      <a:lt1>
        <a:srgbClr val="FFFFFF"/>
      </a:lt1>
      <a:dk2>
        <a:srgbClr val="006EFF"/>
      </a:dk2>
      <a:lt2>
        <a:srgbClr val="FFFFFF"/>
      </a:lt2>
      <a:accent1>
        <a:srgbClr val="006EFF"/>
      </a:accent1>
      <a:accent2>
        <a:srgbClr val="00BAE2"/>
      </a:accent2>
      <a:accent3>
        <a:srgbClr val="006EFF"/>
      </a:accent3>
      <a:accent4>
        <a:srgbClr val="00BAE2"/>
      </a:accent4>
      <a:accent5>
        <a:srgbClr val="183A6A"/>
      </a:accent5>
      <a:accent6>
        <a:srgbClr val="0B1E37"/>
      </a:accent6>
      <a:hlink>
        <a:srgbClr val="F33B48"/>
      </a:hlink>
      <a:folHlink>
        <a:srgbClr val="FFC000"/>
      </a:folHlink>
    </a:clrScheme>
    <a:fontScheme name="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D64D4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>
              <a:alpha val="1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2283</Words>
  <Application>Microsoft Office PowerPoint</Application>
  <PresentationFormat>全屏显示(16:9)</PresentationFormat>
  <Paragraphs>162</Paragraphs>
  <Slides>21</Slides>
  <Notes>7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3" baseType="lpstr">
      <vt:lpstr>主题5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KuangBingzhe</dc:creator>
  <cp:lastModifiedBy>KuangBingzhe</cp:lastModifiedBy>
  <cp:revision>74</cp:revision>
  <dcterms:created xsi:type="dcterms:W3CDTF">2025-11-20T12:29:00Z</dcterms:created>
  <dcterms:modified xsi:type="dcterms:W3CDTF">2025-11-30T11:06:12Z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81377380C26E52C881901E69DE7713E2_42</vt:lpwstr>
  </property>
  <property fmtid="{D5CDD505-2E9C-101B-9397-08002B2CF9AE}" pid="3" name="KSOProductBuildVer">
    <vt:lpwstr>2052-12.1.0.23542</vt:lpwstr>
  </property>
</Properties>
</file>