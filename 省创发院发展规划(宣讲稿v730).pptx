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showSpecialPlsOnTitleSld="0">
  <p:sldMasterIdLst>
    <p:sldMasterId id="2147483648" r:id="rId1"/>
  </p:sldMasterIdLst>
  <p:notesMasterIdLst>
    <p:notesMasterId r:id="rId4"/>
  </p:notesMasterIdLst>
  <p:handoutMasterIdLst>
    <p:handoutMasterId r:id="rId41"/>
  </p:handoutMasterIdLst>
  <p:sldIdLst>
    <p:sldId id="3092" r:id="rId3"/>
    <p:sldId id="3094" r:id="rId5"/>
    <p:sldId id="3095" r:id="rId6"/>
    <p:sldId id="3087" r:id="rId7"/>
    <p:sldId id="3152" r:id="rId8"/>
    <p:sldId id="3096" r:id="rId9"/>
    <p:sldId id="3097" r:id="rId10"/>
    <p:sldId id="3149" r:id="rId11"/>
    <p:sldId id="3101" r:id="rId12"/>
    <p:sldId id="3102" r:id="rId13"/>
    <p:sldId id="3103" r:id="rId14"/>
    <p:sldId id="3104" r:id="rId15"/>
    <p:sldId id="3106" r:id="rId16"/>
    <p:sldId id="3107" r:id="rId17"/>
    <p:sldId id="3052" r:id="rId18"/>
    <p:sldId id="3058" r:id="rId19"/>
    <p:sldId id="2978" r:id="rId20"/>
    <p:sldId id="3108" r:id="rId21"/>
    <p:sldId id="3042" r:id="rId22"/>
    <p:sldId id="2973" r:id="rId23"/>
    <p:sldId id="3038" r:id="rId24"/>
    <p:sldId id="3059" r:id="rId25"/>
    <p:sldId id="3003" r:id="rId26"/>
    <p:sldId id="3046" r:id="rId27"/>
    <p:sldId id="3048" r:id="rId28"/>
    <p:sldId id="3109" r:id="rId29"/>
    <p:sldId id="3110" r:id="rId30"/>
    <p:sldId id="3118" r:id="rId31"/>
    <p:sldId id="2949" r:id="rId32"/>
    <p:sldId id="2970" r:id="rId33"/>
    <p:sldId id="3112" r:id="rId34"/>
    <p:sldId id="3113" r:id="rId35"/>
    <p:sldId id="2988" r:id="rId36"/>
    <p:sldId id="3151" r:id="rId37"/>
    <p:sldId id="3153" r:id="rId38"/>
    <p:sldId id="3154" r:id="rId39"/>
    <p:sldId id="3119" r:id="rId40"/>
  </p:sldIdLst>
  <p:sldSz cx="12192000" cy="6858000"/>
  <p:notesSz cx="9926320" cy="6797675"/>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5" userDrawn="1">
          <p15:clr>
            <a:srgbClr val="A4A3A4"/>
          </p15:clr>
        </p15:guide>
        <p15:guide id="2" pos="382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jk" initials="t" lastIdx="2" clrIdx="0"/>
  <p:cmAuthor id="1" name="Microsoft" initials="M" lastIdx="11" clrIdx="1"/>
  <p:cmAuthor id="2" name="作者" initials="A" lastIdx="0" clrIdx="1"/>
  <p:cmAuthor id="3" name="Lenovo" initials="L" lastIdx="25" clrIdx="2"/>
  <p:cmAuthor id="4" name="zs" initials="z" lastIdx="3" clrIdx="3"/>
  <p:cmAuthor id="5" name="闫峰" initials="yanfeng" lastIdx="1"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ADD"/>
    <a:srgbClr val="6BB6DB"/>
    <a:srgbClr val="66E2F1"/>
    <a:srgbClr val="0066CC"/>
    <a:srgbClr val="A20000"/>
    <a:srgbClr val="B1DF67"/>
    <a:srgbClr val="99CC00"/>
    <a:srgbClr val="660066"/>
    <a:srgbClr val="6600CC"/>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42" autoAdjust="0"/>
    <p:restoredTop sz="76631" autoAdjust="0"/>
  </p:normalViewPr>
  <p:slideViewPr>
    <p:cSldViewPr snapToGrid="0" showGuides="1">
      <p:cViewPr varScale="1">
        <p:scale>
          <a:sx n="84" d="100"/>
          <a:sy n="84" d="100"/>
        </p:scale>
        <p:origin x="1056" y="96"/>
      </p:cViewPr>
      <p:guideLst>
        <p:guide orient="horz" pos="2155"/>
        <p:guide pos="3822"/>
      </p:guideLst>
    </p:cSldViewPr>
  </p:slideViewPr>
  <p:outlineViewPr>
    <p:cViewPr>
      <p:scale>
        <a:sx n="33" d="100"/>
        <a:sy n="33" d="100"/>
      </p:scale>
      <p:origin x="0" y="-6528"/>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48" d="100"/>
          <a:sy n="48" d="100"/>
        </p:scale>
        <p:origin x="-2982" y="-108"/>
      </p:cViewPr>
      <p:guideLst>
        <p:guide orient="horz" pos="2136"/>
        <p:guide pos="3112"/>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222.xml"/><Relationship Id="rId45" Type="http://schemas.openxmlformats.org/officeDocument/2006/relationships/commentAuthors" Target="commentAuthors.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4" y="1"/>
            <a:ext cx="4301543" cy="339884"/>
          </a:xfrm>
          <a:prstGeom prst="rect">
            <a:avLst/>
          </a:prstGeom>
        </p:spPr>
        <p:txBody>
          <a:bodyPr vert="horz" lIns="91431" tIns="45716" rIns="91431" bIns="45716" rtlCol="0"/>
          <a:lstStyle>
            <a:lvl1pPr algn="l">
              <a:defRPr sz="1200"/>
            </a:lvl1pPr>
          </a:lstStyle>
          <a:p>
            <a:endParaRPr lang="zh-CN" altLang="en-US"/>
          </a:p>
        </p:txBody>
      </p:sp>
      <p:sp>
        <p:nvSpPr>
          <p:cNvPr id="3" name="日期占位符 2"/>
          <p:cNvSpPr>
            <a:spLocks noGrp="1"/>
          </p:cNvSpPr>
          <p:nvPr>
            <p:ph type="dt" sz="quarter" idx="1"/>
          </p:nvPr>
        </p:nvSpPr>
        <p:spPr>
          <a:xfrm>
            <a:off x="5622802" y="1"/>
            <a:ext cx="4301543" cy="339884"/>
          </a:xfrm>
          <a:prstGeom prst="rect">
            <a:avLst/>
          </a:prstGeom>
        </p:spPr>
        <p:txBody>
          <a:bodyPr vert="horz" lIns="91431" tIns="45716" rIns="91431" bIns="45716" rtlCol="0"/>
          <a:lstStyle>
            <a:lvl1pPr algn="r">
              <a:defRPr sz="1200"/>
            </a:lvl1pPr>
          </a:lstStyle>
          <a:p>
            <a:fld id="{06A4CA17-9FF8-48B0-B577-35B5E7FC1C1F}" type="datetimeFigureOut">
              <a:rPr lang="zh-CN" altLang="en-US" smtClean="0"/>
            </a:fld>
            <a:endParaRPr lang="zh-CN" altLang="en-US"/>
          </a:p>
        </p:txBody>
      </p:sp>
      <p:sp>
        <p:nvSpPr>
          <p:cNvPr id="4" name="页脚占位符 3"/>
          <p:cNvSpPr>
            <a:spLocks noGrp="1"/>
          </p:cNvSpPr>
          <p:nvPr>
            <p:ph type="ftr" sz="quarter" idx="2"/>
          </p:nvPr>
        </p:nvSpPr>
        <p:spPr>
          <a:xfrm>
            <a:off x="4" y="6456612"/>
            <a:ext cx="4301543" cy="339884"/>
          </a:xfrm>
          <a:prstGeom prst="rect">
            <a:avLst/>
          </a:prstGeom>
        </p:spPr>
        <p:txBody>
          <a:bodyPr vert="horz" lIns="91431" tIns="45716" rIns="91431" bIns="45716"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802" y="6456612"/>
            <a:ext cx="4301543" cy="339884"/>
          </a:xfrm>
          <a:prstGeom prst="rect">
            <a:avLst/>
          </a:prstGeom>
        </p:spPr>
        <p:txBody>
          <a:bodyPr vert="horz" lIns="91431" tIns="45716" rIns="91431" bIns="45716" rtlCol="0" anchor="b"/>
          <a:lstStyle>
            <a:lvl1pPr algn="r">
              <a:defRPr sz="1200"/>
            </a:lvl1pPr>
          </a:lstStyle>
          <a:p>
            <a:fld id="{6AE56512-26D1-440D-96CD-4AD98E1DA88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4" y="0"/>
            <a:ext cx="4301543" cy="341064"/>
          </a:xfrm>
          <a:prstGeom prst="rect">
            <a:avLst/>
          </a:prstGeom>
        </p:spPr>
        <p:txBody>
          <a:bodyPr vert="horz" lIns="91431" tIns="45716" rIns="91431" bIns="45716" rtlCol="0"/>
          <a:lstStyle>
            <a:lvl1pPr algn="l">
              <a:defRPr sz="1200"/>
            </a:lvl1pPr>
          </a:lstStyle>
          <a:p>
            <a:endParaRPr lang="zh-CN" altLang="en-US"/>
          </a:p>
        </p:txBody>
      </p:sp>
      <p:sp>
        <p:nvSpPr>
          <p:cNvPr id="3" name="日期占位符 2"/>
          <p:cNvSpPr>
            <a:spLocks noGrp="1"/>
          </p:cNvSpPr>
          <p:nvPr>
            <p:ph type="dt" idx="1"/>
          </p:nvPr>
        </p:nvSpPr>
        <p:spPr>
          <a:xfrm>
            <a:off x="5622802" y="0"/>
            <a:ext cx="4301543" cy="341064"/>
          </a:xfrm>
          <a:prstGeom prst="rect">
            <a:avLst/>
          </a:prstGeom>
        </p:spPr>
        <p:txBody>
          <a:bodyPr vert="horz" lIns="91431" tIns="45716" rIns="91431" bIns="45716" rtlCol="0"/>
          <a:lstStyle>
            <a:lvl1pPr algn="r">
              <a:defRPr sz="1200"/>
            </a:lvl1pPr>
          </a:lstStyle>
          <a:p>
            <a:fld id="{E86D8963-CFCD-4740-AF60-049850373CD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925763" y="850900"/>
            <a:ext cx="4075112" cy="2292350"/>
          </a:xfrm>
          <a:prstGeom prst="rect">
            <a:avLst/>
          </a:prstGeom>
          <a:noFill/>
          <a:ln w="12700">
            <a:solidFill>
              <a:prstClr val="black"/>
            </a:solidFill>
          </a:ln>
        </p:spPr>
        <p:txBody>
          <a:bodyPr vert="horz" lIns="91431" tIns="45716" rIns="91431" bIns="45716" rtlCol="0" anchor="ctr"/>
          <a:lstStyle/>
          <a:p>
            <a:endParaRPr lang="zh-CN" altLang="en-US"/>
          </a:p>
        </p:txBody>
      </p:sp>
      <p:sp>
        <p:nvSpPr>
          <p:cNvPr id="5" name="备注占位符 4"/>
          <p:cNvSpPr>
            <a:spLocks noGrp="1"/>
          </p:cNvSpPr>
          <p:nvPr>
            <p:ph type="body" sz="quarter" idx="3"/>
          </p:nvPr>
        </p:nvSpPr>
        <p:spPr>
          <a:xfrm>
            <a:off x="992665" y="3271381"/>
            <a:ext cx="7941310" cy="2676585"/>
          </a:xfrm>
          <a:prstGeom prst="rect">
            <a:avLst/>
          </a:prstGeom>
        </p:spPr>
        <p:txBody>
          <a:bodyPr vert="horz" lIns="91431" tIns="45716" rIns="91431" bIns="45716"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4" y="6456614"/>
            <a:ext cx="4301543" cy="341064"/>
          </a:xfrm>
          <a:prstGeom prst="rect">
            <a:avLst/>
          </a:prstGeom>
        </p:spPr>
        <p:txBody>
          <a:bodyPr vert="horz" lIns="91431" tIns="45716" rIns="91431" bIns="457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622802" y="6456614"/>
            <a:ext cx="4301543" cy="341064"/>
          </a:xfrm>
          <a:prstGeom prst="rect">
            <a:avLst/>
          </a:prstGeom>
        </p:spPr>
        <p:txBody>
          <a:bodyPr vert="horz" lIns="91431" tIns="45716" rIns="91431" bIns="45716" rtlCol="0" anchor="b"/>
          <a:lstStyle>
            <a:lvl1pPr algn="r">
              <a:defRPr sz="1200"/>
            </a:lvl1pPr>
          </a:lstStyle>
          <a:p>
            <a:fld id="{E9E6FDB6-6D2B-46C1-9FA1-D82906A37C3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9E6FDB6-6D2B-46C1-9FA1-D82906A37C3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microsoft.com/office/2007/relationships/hdphoto" Target="../media/image7.wdp"/><Relationship Id="rId4" Type="http://schemas.openxmlformats.org/officeDocument/2006/relationships/image" Target="../media/image3.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7" name="椭圆 16"/>
          <p:cNvSpPr/>
          <p:nvPr userDrawn="1"/>
        </p:nvSpPr>
        <p:spPr>
          <a:xfrm>
            <a:off x="9121026" y="-1703118"/>
            <a:ext cx="3624351" cy="2798618"/>
          </a:xfrm>
          <a:prstGeom prst="ellipse">
            <a:avLst/>
          </a:prstGeom>
          <a:gradFill flip="none" rotWithShape="1">
            <a:gsLst>
              <a:gs pos="0">
                <a:schemeClr val="accent2">
                  <a:lumMod val="20000"/>
                  <a:lumOff val="80000"/>
                  <a:alpha val="5064"/>
                </a:schemeClr>
              </a:gs>
              <a:gs pos="100000">
                <a:schemeClr val="accent3">
                  <a:lumMod val="40000"/>
                  <a:lumOff val="60000"/>
                </a:schemeClr>
              </a:gs>
            </a:gsLst>
            <a:path path="circle">
              <a:fillToRect t="100000" r="100000"/>
            </a:path>
            <a:tileRect l="-100000" b="-100000"/>
          </a:gradFill>
          <a:ln>
            <a:noFill/>
            <a:prstDash val="dash"/>
          </a:ln>
        </p:spPr>
        <p:txBody>
          <a:bodyPr wrap="square" rtlCol="0" anchor="ctr">
            <a:spAutoFit/>
          </a:bodyPr>
          <a:lstStyle/>
          <a:p>
            <a:pPr algn="ctr"/>
            <a:endParaRPr kumimoji="1" lang="zh-CN" altLang="en-US" dirty="0"/>
          </a:p>
        </p:txBody>
      </p:sp>
      <p:sp>
        <p:nvSpPr>
          <p:cNvPr id="4" name="矩形 3"/>
          <p:cNvSpPr/>
          <p:nvPr userDrawn="1"/>
        </p:nvSpPr>
        <p:spPr>
          <a:xfrm>
            <a:off x="0" y="-16625"/>
            <a:ext cx="12192000" cy="1095500"/>
          </a:xfrm>
          <a:prstGeom prst="rect">
            <a:avLst/>
          </a:prstGeom>
          <a:gradFill flip="none" rotWithShape="1">
            <a:gsLst>
              <a:gs pos="4000">
                <a:schemeClr val="accent3">
                  <a:lumMod val="20000"/>
                  <a:lumOff val="80000"/>
                </a:schemeClr>
              </a:gs>
              <a:gs pos="43000">
                <a:schemeClr val="accent3">
                  <a:lumMod val="20000"/>
                  <a:lumOff val="80000"/>
                  <a:alpha val="0"/>
                </a:schemeClr>
              </a:gs>
            </a:gsLst>
            <a:lin ang="3000000" scaled="0"/>
            <a:tileRect/>
          </a:gradFill>
          <a:ln>
            <a:noFill/>
            <a:prstDash val="dash"/>
          </a:ln>
        </p:spPr>
        <p:txBody>
          <a:bodyPr wrap="none" rtlCol="0" anchor="ctr">
            <a:spAutoFit/>
          </a:bodyPr>
          <a:lstStyle/>
          <a:p>
            <a:pPr algn="ctr"/>
            <a:endParaRPr kumimoji="1" lang="zh-CN" altLang="en-US" dirty="0"/>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0127" y="256690"/>
            <a:ext cx="3154103" cy="681870"/>
          </a:xfrm>
          <a:prstGeom prst="rect">
            <a:avLst/>
          </a:prstGeom>
        </p:spPr>
      </p:pic>
      <p:sp>
        <p:nvSpPr>
          <p:cNvPr id="5" name="文本框 4"/>
          <p:cNvSpPr txBox="1"/>
          <p:nvPr userDrawn="1"/>
        </p:nvSpPr>
        <p:spPr>
          <a:xfrm>
            <a:off x="2992582" y="-665018"/>
            <a:ext cx="0" cy="0"/>
          </a:xfrm>
          <a:prstGeom prst="rect">
            <a:avLst/>
          </a:prstGeom>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endParaRPr kumimoji="1" lang="zh-CN" altLang="en-US" sz="2400" dirty="0"/>
          </a:p>
        </p:txBody>
      </p: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393382" y="4869411"/>
            <a:ext cx="2798618" cy="2798618"/>
          </a:xfrm>
          <a:prstGeom prst="rect">
            <a:avLst/>
          </a:prstGeom>
        </p:spPr>
      </p:pic>
      <p:grpSp>
        <p:nvGrpSpPr>
          <p:cNvPr id="6" name="组合 5"/>
          <p:cNvGrpSpPr/>
          <p:nvPr userDrawn="1"/>
        </p:nvGrpSpPr>
        <p:grpSpPr>
          <a:xfrm>
            <a:off x="7557248" y="256690"/>
            <a:ext cx="4313326" cy="646331"/>
            <a:chOff x="7557248" y="256690"/>
            <a:chExt cx="4313326" cy="646331"/>
          </a:xfrm>
        </p:grpSpPr>
        <p:sp>
          <p:nvSpPr>
            <p:cNvPr id="16" name="文本框 15"/>
            <p:cNvSpPr txBox="1"/>
            <p:nvPr userDrawn="1"/>
          </p:nvSpPr>
          <p:spPr>
            <a:xfrm>
              <a:off x="7697584" y="256690"/>
              <a:ext cx="4172990" cy="646331"/>
            </a:xfrm>
            <a:prstGeom prst="rect">
              <a:avLst/>
            </a:prstGeom>
            <a:noFill/>
          </p:spPr>
          <p:txBody>
            <a:bodyPr wrap="square" rtlCol="0">
              <a:spAutoFit/>
            </a:bodyPr>
            <a:lstStyle/>
            <a:p>
              <a:r>
                <a:rPr lang="zh-CN" altLang="en-US" dirty="0">
                  <a:solidFill>
                    <a:schemeClr val="accent3">
                      <a:lumMod val="75000"/>
                    </a:schemeClr>
                  </a:solidFill>
                </a:rPr>
                <a:t>      </a:t>
              </a:r>
              <a:r>
                <a:rPr lang="zh-CN" altLang="en-US" sz="2400" b="1" dirty="0">
                  <a:solidFill>
                    <a:schemeClr val="accent3">
                      <a:lumMod val="75000"/>
                    </a:schemeClr>
                  </a:solidFill>
                </a:rPr>
                <a:t>山东省创新发展研究院</a:t>
              </a:r>
              <a:endParaRPr lang="zh-CN" altLang="en-US" b="1" dirty="0">
                <a:solidFill>
                  <a:schemeClr val="accent3">
                    <a:lumMod val="75000"/>
                  </a:schemeClr>
                </a:solidFill>
              </a:endParaRPr>
            </a:p>
            <a:p>
              <a:r>
                <a:rPr lang="en-US" altLang="zh-CN" sz="1200" dirty="0">
                  <a:solidFill>
                    <a:schemeClr val="accent3">
                      <a:lumMod val="75000"/>
                    </a:schemeClr>
                  </a:solidFill>
                </a:rPr>
                <a:t>         Shandong Academy</a:t>
              </a:r>
              <a:r>
                <a:rPr lang="en-US" altLang="zh-CN" sz="1200" baseline="0" dirty="0">
                  <a:solidFill>
                    <a:schemeClr val="accent3">
                      <a:lumMod val="75000"/>
                    </a:schemeClr>
                  </a:solidFill>
                </a:rPr>
                <a:t> of Innovation and Development</a:t>
              </a:r>
              <a:r>
                <a:rPr lang="en-US" altLang="zh-CN" sz="1200" dirty="0">
                  <a:solidFill>
                    <a:schemeClr val="accent3">
                      <a:lumMod val="75000"/>
                    </a:schemeClr>
                  </a:solidFill>
                </a:rPr>
                <a:t> </a:t>
              </a:r>
              <a:endParaRPr lang="zh-CN" altLang="en-US" sz="1200" dirty="0">
                <a:solidFill>
                  <a:schemeClr val="accent3">
                    <a:lumMod val="75000"/>
                  </a:schemeClr>
                </a:solidFill>
              </a:endParaRPr>
            </a:p>
          </p:txBody>
        </p:sp>
        <p:pic>
          <p:nvPicPr>
            <p:cNvPr id="2" name="图片 1"/>
            <p:cNvPicPr>
              <a:picLocks noChangeAspect="1"/>
            </p:cNvPicPr>
            <p:nvPr userDrawn="1"/>
          </p:nvPicPr>
          <p:blipFill rotWithShape="1">
            <a:blip r:embed="rId4">
              <a:extLst>
                <a:ext uri="{BEBA8EAE-BF5A-486C-A8C5-ECC9F3942E4B}">
                  <a14:imgProps xmlns:a14="http://schemas.microsoft.com/office/drawing/2010/main">
                    <a14:imgLayer r:embed="rId5">
                      <a14:imgEffect>
                        <a14:backgroundRemoval t="10000" b="90000" l="10000" r="90000">
                          <a14:backgroundMark x1="45098" y1="38095" x2="52941" y2="30952"/>
                          <a14:backgroundMark x1="56863" y1="52381" x2="56863" y2="52381"/>
                          <a14:backgroundMark x1="39216" y1="54762" x2="41176" y2="59524"/>
                        </a14:backgroundRemoval>
                      </a14:imgEffect>
                    </a14:imgLayer>
                  </a14:imgProps>
                </a:ext>
              </a:extLst>
            </a:blip>
            <a:srcRect l="19355"/>
            <a:stretch>
              <a:fillRect/>
            </a:stretch>
          </p:blipFill>
          <p:spPr>
            <a:xfrm>
              <a:off x="7557248" y="284958"/>
              <a:ext cx="603480" cy="616259"/>
            </a:xfrm>
            <a:prstGeom prst="rect">
              <a:avLst/>
            </a:prstGeom>
          </p:spPr>
        </p:pic>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3" name="图片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1705" y="1844055"/>
            <a:ext cx="5715022" cy="3342921"/>
          </a:xfrm>
          <a:prstGeom prst="rect">
            <a:avLst/>
          </a:prstGeom>
        </p:spPr>
      </p:pic>
      <p:pic>
        <p:nvPicPr>
          <p:cNvPr id="15" name="图片 1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89547" y="4349061"/>
            <a:ext cx="2188375" cy="2170289"/>
          </a:xfrm>
          <a:prstGeom prst="rect">
            <a:avLst/>
          </a:prstGeom>
        </p:spPr>
      </p:pic>
      <p:grpSp>
        <p:nvGrpSpPr>
          <p:cNvPr id="16" name="组合 15"/>
          <p:cNvGrpSpPr/>
          <p:nvPr userDrawn="1"/>
        </p:nvGrpSpPr>
        <p:grpSpPr>
          <a:xfrm flipH="1">
            <a:off x="-164274" y="4828032"/>
            <a:ext cx="12600114" cy="2018680"/>
            <a:chOff x="-232666" y="4877336"/>
            <a:chExt cx="12609141" cy="1980664"/>
          </a:xfrm>
        </p:grpSpPr>
        <p:sp>
          <p:nvSpPr>
            <p:cNvPr id="17" name="任意多边形: 形状 15"/>
            <p:cNvSpPr/>
            <p:nvPr/>
          </p:nvSpPr>
          <p:spPr>
            <a:xfrm rot="496127">
              <a:off x="-232666" y="6022301"/>
              <a:ext cx="3911600" cy="686124"/>
            </a:xfrm>
            <a:custGeom>
              <a:avLst/>
              <a:gdLst>
                <a:gd name="connsiteX0" fmla="*/ 0 w 3911600"/>
                <a:gd name="connsiteY0" fmla="*/ 0 h 686124"/>
                <a:gd name="connsiteX1" fmla="*/ 178120 w 3911600"/>
                <a:gd name="connsiteY1" fmla="*/ 42556 h 686124"/>
                <a:gd name="connsiteX2" fmla="*/ 3397486 w 3911600"/>
                <a:gd name="connsiteY2" fmla="*/ 476122 h 686124"/>
                <a:gd name="connsiteX3" fmla="*/ 3911600 w 3911600"/>
                <a:gd name="connsiteY3" fmla="*/ 496817 h 686124"/>
                <a:gd name="connsiteX4" fmla="*/ 3911600 w 3911600"/>
                <a:gd name="connsiteY4" fmla="*/ 686124 h 686124"/>
                <a:gd name="connsiteX5" fmla="*/ 0 w 3911600"/>
                <a:gd name="connsiteY5" fmla="*/ 686124 h 686124"/>
                <a:gd name="connsiteX6" fmla="*/ 0 w 3911600"/>
                <a:gd name="connsiteY6" fmla="*/ 0 h 686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1600" h="686124">
                  <a:moveTo>
                    <a:pt x="0" y="0"/>
                  </a:moveTo>
                  <a:lnTo>
                    <a:pt x="178120" y="42556"/>
                  </a:lnTo>
                  <a:cubicBezTo>
                    <a:pt x="1207103" y="268543"/>
                    <a:pt x="2284871" y="416346"/>
                    <a:pt x="3397486" y="476122"/>
                  </a:cubicBezTo>
                  <a:lnTo>
                    <a:pt x="3911600" y="496817"/>
                  </a:lnTo>
                  <a:lnTo>
                    <a:pt x="3911600" y="686124"/>
                  </a:lnTo>
                  <a:lnTo>
                    <a:pt x="0" y="686124"/>
                  </a:lnTo>
                  <a:lnTo>
                    <a:pt x="0" y="0"/>
                  </a:lnTo>
                  <a:close/>
                </a:path>
              </a:pathLst>
            </a:custGeom>
            <a:solidFill>
              <a:schemeClr val="bg1">
                <a:alpha val="30000"/>
              </a:schemeClr>
            </a:solidFill>
            <a:ln w="12700" cap="flat" cmpd="sng" algn="ctr">
              <a:noFill/>
              <a:prstDash val="solid"/>
              <a:miter lim="800000"/>
            </a:ln>
            <a:effectLst>
              <a:outerShdw blurRad="716178" dist="383667" dir="5400000" sx="90000" sy="90000" algn="t" rotWithShape="0">
                <a:schemeClr val="accent1">
                  <a:alpha val="28000"/>
                </a:schemeClr>
              </a:outerShdw>
            </a:effectLst>
          </p:spPr>
          <p:txBody>
            <a:bodyPr wrap="square" lIns="26518" tIns="13258" rIns="26518" bIns="13258" rtlCol="0" anchor="ctr">
              <a:noAutofit/>
            </a:bodyPr>
            <a:lstStyle/>
            <a:p>
              <a:pPr algn="ctr" defTabSz="609600"/>
              <a:endParaRPr lang="zh-CN" altLang="en-US" sz="2175" kern="0">
                <a:solidFill>
                  <a:prstClr val="white"/>
                </a:solidFill>
                <a:latin typeface="思源黑体 CN Regular" panose="020B0500000000000000" pitchFamily="34" charset="-122"/>
                <a:ea typeface="思源黑体 CN Regular" panose="020B0500000000000000" pitchFamily="34" charset="-122"/>
                <a:cs typeface="Alibaba PuHuiTi 2.0 55 Regular" pitchFamily="18" charset="-122"/>
              </a:endParaRPr>
            </a:p>
          </p:txBody>
        </p:sp>
        <p:sp>
          <p:nvSpPr>
            <p:cNvPr id="18" name="任意多边形: 形状 17"/>
            <p:cNvSpPr/>
            <p:nvPr/>
          </p:nvSpPr>
          <p:spPr>
            <a:xfrm rot="21280960">
              <a:off x="6966275" y="4877336"/>
              <a:ext cx="5410200" cy="1717101"/>
            </a:xfrm>
            <a:custGeom>
              <a:avLst/>
              <a:gdLst>
                <a:gd name="connsiteX0" fmla="*/ 5410200 w 5410200"/>
                <a:gd name="connsiteY0" fmla="*/ 0 h 1717101"/>
                <a:gd name="connsiteX1" fmla="*/ 5410200 w 5410200"/>
                <a:gd name="connsiteY1" fmla="*/ 1717101 h 1717101"/>
                <a:gd name="connsiteX2" fmla="*/ 0 w 5410200"/>
                <a:gd name="connsiteY2" fmla="*/ 1717101 h 1717101"/>
                <a:gd name="connsiteX3" fmla="*/ 0 w 5410200"/>
                <a:gd name="connsiteY3" fmla="*/ 1412852 h 1717101"/>
                <a:gd name="connsiteX4" fmla="*/ 279750 w 5410200"/>
                <a:gd name="connsiteY4" fmla="*/ 1381719 h 1717101"/>
                <a:gd name="connsiteX5" fmla="*/ 5312624 w 5410200"/>
                <a:gd name="connsiteY5" fmla="*/ 44170 h 1717101"/>
                <a:gd name="connsiteX6" fmla="*/ 5410200 w 5410200"/>
                <a:gd name="connsiteY6" fmla="*/ 0 h 171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10200" h="1717101">
                  <a:moveTo>
                    <a:pt x="5410200" y="0"/>
                  </a:moveTo>
                  <a:lnTo>
                    <a:pt x="5410200" y="1717101"/>
                  </a:lnTo>
                  <a:lnTo>
                    <a:pt x="0" y="1717101"/>
                  </a:lnTo>
                  <a:lnTo>
                    <a:pt x="0" y="1412852"/>
                  </a:lnTo>
                  <a:lnTo>
                    <a:pt x="279750" y="1381719"/>
                  </a:lnTo>
                  <a:cubicBezTo>
                    <a:pt x="2094791" y="1156941"/>
                    <a:pt x="3794464" y="695521"/>
                    <a:pt x="5312624" y="44170"/>
                  </a:cubicBezTo>
                  <a:lnTo>
                    <a:pt x="5410200" y="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latin typeface="思源黑体 CN Regular" panose="020B0500000000000000" pitchFamily="34" charset="-122"/>
                <a:ea typeface="思源黑体 CN Regular" panose="020B0500000000000000" pitchFamily="34" charset="-122"/>
              </a:endParaRPr>
            </a:p>
          </p:txBody>
        </p:sp>
        <p:sp>
          <p:nvSpPr>
            <p:cNvPr id="19" name="任意多边形: 形状 9"/>
            <p:cNvSpPr/>
            <p:nvPr/>
          </p:nvSpPr>
          <p:spPr>
            <a:xfrm>
              <a:off x="0" y="5140899"/>
              <a:ext cx="12192000" cy="1717101"/>
            </a:xfrm>
            <a:custGeom>
              <a:avLst/>
              <a:gdLst>
                <a:gd name="connsiteX0" fmla="*/ 12192000 w 12192000"/>
                <a:gd name="connsiteY0" fmla="*/ 0 h 1717101"/>
                <a:gd name="connsiteX1" fmla="*/ 12192000 w 12192000"/>
                <a:gd name="connsiteY1" fmla="*/ 1717101 h 1717101"/>
                <a:gd name="connsiteX2" fmla="*/ 0 w 12192000"/>
                <a:gd name="connsiteY2" fmla="*/ 1717101 h 1717101"/>
                <a:gd name="connsiteX3" fmla="*/ 0 w 12192000"/>
                <a:gd name="connsiteY3" fmla="*/ 1030977 h 1717101"/>
                <a:gd name="connsiteX4" fmla="*/ 178120 w 12192000"/>
                <a:gd name="connsiteY4" fmla="*/ 1073533 h 1717101"/>
                <a:gd name="connsiteX5" fmla="*/ 4521200 w 12192000"/>
                <a:gd name="connsiteY5" fmla="*/ 1537170 h 1717101"/>
                <a:gd name="connsiteX6" fmla="*/ 12094424 w 12192000"/>
                <a:gd name="connsiteY6" fmla="*/ 44170 h 171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717101">
                  <a:moveTo>
                    <a:pt x="12192000" y="0"/>
                  </a:moveTo>
                  <a:lnTo>
                    <a:pt x="12192000" y="1717101"/>
                  </a:lnTo>
                  <a:lnTo>
                    <a:pt x="0" y="1717101"/>
                  </a:lnTo>
                  <a:lnTo>
                    <a:pt x="0" y="1030977"/>
                  </a:lnTo>
                  <a:lnTo>
                    <a:pt x="178120" y="1073533"/>
                  </a:lnTo>
                  <a:cubicBezTo>
                    <a:pt x="1550098" y="1374849"/>
                    <a:pt x="3008803" y="1537170"/>
                    <a:pt x="4521200" y="1537170"/>
                  </a:cubicBezTo>
                  <a:cubicBezTo>
                    <a:pt x="7293929" y="1537170"/>
                    <a:pt x="9886192" y="991590"/>
                    <a:pt x="12094424" y="44170"/>
                  </a:cubicBezTo>
                  <a:close/>
                </a:path>
              </a:pathLst>
            </a:custGeom>
            <a:solidFill>
              <a:schemeClr val="bg2">
                <a:alpha val="99251"/>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endParaRPr>
            </a:p>
          </p:txBody>
        </p:sp>
      </p:grpSp>
      <p:grpSp>
        <p:nvGrpSpPr>
          <p:cNvPr id="22" name="组合 21"/>
          <p:cNvGrpSpPr/>
          <p:nvPr userDrawn="1"/>
        </p:nvGrpSpPr>
        <p:grpSpPr>
          <a:xfrm>
            <a:off x="685801" y="539078"/>
            <a:ext cx="4313326" cy="646331"/>
            <a:chOff x="7557248" y="256690"/>
            <a:chExt cx="4313326" cy="646331"/>
          </a:xfrm>
        </p:grpSpPr>
        <p:sp>
          <p:nvSpPr>
            <p:cNvPr id="23" name="文本框 22"/>
            <p:cNvSpPr txBox="1"/>
            <p:nvPr userDrawn="1"/>
          </p:nvSpPr>
          <p:spPr>
            <a:xfrm>
              <a:off x="7697584" y="256690"/>
              <a:ext cx="4172990" cy="646331"/>
            </a:xfrm>
            <a:prstGeom prst="rect">
              <a:avLst/>
            </a:prstGeom>
            <a:noFill/>
          </p:spPr>
          <p:txBody>
            <a:bodyPr wrap="square" rtlCol="0">
              <a:spAutoFit/>
            </a:bodyPr>
            <a:lstStyle/>
            <a:p>
              <a:r>
                <a:rPr lang="zh-CN" altLang="en-US" dirty="0">
                  <a:solidFill>
                    <a:schemeClr val="accent3">
                      <a:lumMod val="75000"/>
                    </a:schemeClr>
                  </a:solidFill>
                </a:rPr>
                <a:t>      </a:t>
              </a:r>
              <a:r>
                <a:rPr lang="zh-CN" altLang="en-US" sz="2400" b="1" dirty="0">
                  <a:solidFill>
                    <a:schemeClr val="accent3">
                      <a:lumMod val="75000"/>
                    </a:schemeClr>
                  </a:solidFill>
                </a:rPr>
                <a:t>山东省创新发展研究院</a:t>
              </a:r>
              <a:endParaRPr lang="zh-CN" altLang="en-US" b="1" dirty="0">
                <a:solidFill>
                  <a:schemeClr val="accent3">
                    <a:lumMod val="75000"/>
                  </a:schemeClr>
                </a:solidFill>
              </a:endParaRPr>
            </a:p>
            <a:p>
              <a:r>
                <a:rPr lang="en-US" altLang="zh-CN" sz="1200" dirty="0">
                  <a:solidFill>
                    <a:schemeClr val="accent3">
                      <a:lumMod val="75000"/>
                    </a:schemeClr>
                  </a:solidFill>
                </a:rPr>
                <a:t>         Shandong Academy</a:t>
              </a:r>
              <a:r>
                <a:rPr lang="en-US" altLang="zh-CN" sz="1200" baseline="0" dirty="0">
                  <a:solidFill>
                    <a:schemeClr val="accent3">
                      <a:lumMod val="75000"/>
                    </a:schemeClr>
                  </a:solidFill>
                </a:rPr>
                <a:t> of Innovation and Development</a:t>
              </a:r>
              <a:r>
                <a:rPr lang="en-US" altLang="zh-CN" sz="1200" dirty="0">
                  <a:solidFill>
                    <a:schemeClr val="accent3">
                      <a:lumMod val="75000"/>
                    </a:schemeClr>
                  </a:solidFill>
                </a:rPr>
                <a:t> </a:t>
              </a:r>
              <a:endParaRPr lang="zh-CN" altLang="en-US" sz="1200" dirty="0">
                <a:solidFill>
                  <a:schemeClr val="accent3">
                    <a:lumMod val="75000"/>
                  </a:schemeClr>
                </a:solidFill>
              </a:endParaRPr>
            </a:p>
          </p:txBody>
        </p:sp>
        <p:pic>
          <p:nvPicPr>
            <p:cNvPr id="24" name="图片 23"/>
            <p:cNvPicPr>
              <a:picLocks noChangeAspect="1"/>
            </p:cNvPicPr>
            <p:nvPr userDrawn="1"/>
          </p:nvPicPr>
          <p:blipFill rotWithShape="1">
            <a:blip r:embed="rId4">
              <a:extLst>
                <a:ext uri="{BEBA8EAE-BF5A-486C-A8C5-ECC9F3942E4B}">
                  <a14:imgProps xmlns:a14="http://schemas.microsoft.com/office/drawing/2010/main">
                    <a14:imgLayer r:embed="rId5">
                      <a14:imgEffect>
                        <a14:backgroundRemoval t="10000" b="90000" l="10000" r="90000">
                          <a14:backgroundMark x1="45098" y1="38095" x2="52941" y2="30952"/>
                          <a14:backgroundMark x1="56863" y1="52381" x2="56863" y2="52381"/>
                          <a14:backgroundMark x1="39216" y1="54762" x2="41176" y2="59524"/>
                        </a14:backgroundRemoval>
                      </a14:imgEffect>
                    </a14:imgLayer>
                  </a14:imgProps>
                </a:ext>
              </a:extLst>
            </a:blip>
            <a:srcRect l="19355"/>
            <a:stretch>
              <a:fillRect/>
            </a:stretch>
          </p:blipFill>
          <p:spPr>
            <a:xfrm>
              <a:off x="7557248" y="284958"/>
              <a:ext cx="603480" cy="616259"/>
            </a:xfrm>
            <a:prstGeom prst="rect">
              <a:avLst/>
            </a:prstGeom>
          </p:spPr>
        </p:pic>
      </p:gr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文本框 3"/>
          <p:cNvSpPr txBox="1"/>
          <p:nvPr userDrawn="1"/>
        </p:nvSpPr>
        <p:spPr>
          <a:xfrm>
            <a:off x="1788459" y="-564776"/>
            <a:ext cx="0" cy="0"/>
          </a:xfrm>
          <a:prstGeom prst="rect">
            <a:avLst/>
          </a:prstGeom>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endParaRPr kumimoji="1" lang="zh-CN" altLang="en-US" sz="24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3.xml"/><Relationship Id="rId18" Type="http://schemas.openxmlformats.org/officeDocument/2006/relationships/slideLayout" Target="../slideLayouts/slideLayout1.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5" Type="http://schemas.openxmlformats.org/officeDocument/2006/relationships/notesSlide" Target="../notesSlides/notesSlide5.xml"/><Relationship Id="rId24" Type="http://schemas.openxmlformats.org/officeDocument/2006/relationships/slideLayout" Target="../slideLayouts/slideLayout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19.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6.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9" Type="http://schemas.openxmlformats.org/officeDocument/2006/relationships/notesSlide" Target="../notesSlides/notesSlide6.xml"/><Relationship Id="rId48" Type="http://schemas.openxmlformats.org/officeDocument/2006/relationships/slideLayout" Target="../slideLayouts/slideLayout1.xml"/><Relationship Id="rId47" Type="http://schemas.openxmlformats.org/officeDocument/2006/relationships/tags" Target="../tags/tag87.xml"/><Relationship Id="rId46" Type="http://schemas.openxmlformats.org/officeDocument/2006/relationships/tags" Target="../tags/tag86.xml"/><Relationship Id="rId45" Type="http://schemas.openxmlformats.org/officeDocument/2006/relationships/tags" Target="../tags/tag85.xml"/><Relationship Id="rId44" Type="http://schemas.openxmlformats.org/officeDocument/2006/relationships/tags" Target="../tags/tag84.xml"/><Relationship Id="rId43" Type="http://schemas.openxmlformats.org/officeDocument/2006/relationships/tags" Target="../tags/tag83.xml"/><Relationship Id="rId42" Type="http://schemas.openxmlformats.org/officeDocument/2006/relationships/tags" Target="../tags/tag82.xml"/><Relationship Id="rId41" Type="http://schemas.openxmlformats.org/officeDocument/2006/relationships/tags" Target="../tags/tag81.xml"/><Relationship Id="rId40" Type="http://schemas.openxmlformats.org/officeDocument/2006/relationships/tags" Target="../tags/tag80.xml"/><Relationship Id="rId4" Type="http://schemas.openxmlformats.org/officeDocument/2006/relationships/tags" Target="../tags/tag44.xml"/><Relationship Id="rId39" Type="http://schemas.openxmlformats.org/officeDocument/2006/relationships/tags" Target="../tags/tag79.xml"/><Relationship Id="rId38" Type="http://schemas.openxmlformats.org/officeDocument/2006/relationships/tags" Target="../tags/tag78.xml"/><Relationship Id="rId37" Type="http://schemas.openxmlformats.org/officeDocument/2006/relationships/tags" Target="../tags/tag77.xml"/><Relationship Id="rId36" Type="http://schemas.openxmlformats.org/officeDocument/2006/relationships/tags" Target="../tags/tag76.xml"/><Relationship Id="rId35" Type="http://schemas.openxmlformats.org/officeDocument/2006/relationships/tags" Target="../tags/tag75.xml"/><Relationship Id="rId34" Type="http://schemas.openxmlformats.org/officeDocument/2006/relationships/tags" Target="../tags/tag74.xml"/><Relationship Id="rId33" Type="http://schemas.openxmlformats.org/officeDocument/2006/relationships/tags" Target="../tags/tag73.xml"/><Relationship Id="rId32" Type="http://schemas.openxmlformats.org/officeDocument/2006/relationships/tags" Target="../tags/tag72.xml"/><Relationship Id="rId31" Type="http://schemas.openxmlformats.org/officeDocument/2006/relationships/tags" Target="../tags/tag71.xml"/><Relationship Id="rId30" Type="http://schemas.openxmlformats.org/officeDocument/2006/relationships/tags" Target="../tags/tag70.xml"/><Relationship Id="rId3" Type="http://schemas.openxmlformats.org/officeDocument/2006/relationships/tags" Target="../tags/tag43.xml"/><Relationship Id="rId29" Type="http://schemas.openxmlformats.org/officeDocument/2006/relationships/tags" Target="../tags/tag69.xml"/><Relationship Id="rId28" Type="http://schemas.openxmlformats.org/officeDocument/2006/relationships/tags" Target="../tags/tag68.xml"/><Relationship Id="rId27" Type="http://schemas.openxmlformats.org/officeDocument/2006/relationships/tags" Target="../tags/tag67.xml"/><Relationship Id="rId26" Type="http://schemas.openxmlformats.org/officeDocument/2006/relationships/tags" Target="../tags/tag66.xml"/><Relationship Id="rId25" Type="http://schemas.openxmlformats.org/officeDocument/2006/relationships/tags" Target="../tags/tag65.xml"/><Relationship Id="rId24" Type="http://schemas.openxmlformats.org/officeDocument/2006/relationships/tags" Target="../tags/tag64.xml"/><Relationship Id="rId23" Type="http://schemas.openxmlformats.org/officeDocument/2006/relationships/tags" Target="../tags/tag63.xml"/><Relationship Id="rId22" Type="http://schemas.openxmlformats.org/officeDocument/2006/relationships/tags" Target="../tags/tag62.xml"/><Relationship Id="rId21" Type="http://schemas.openxmlformats.org/officeDocument/2006/relationships/tags" Target="../tags/tag61.xml"/><Relationship Id="rId20" Type="http://schemas.openxmlformats.org/officeDocument/2006/relationships/tags" Target="../tags/tag60.xml"/><Relationship Id="rId2" Type="http://schemas.openxmlformats.org/officeDocument/2006/relationships/tags" Target="../tags/tag42.xml"/><Relationship Id="rId19" Type="http://schemas.openxmlformats.org/officeDocument/2006/relationships/tags" Target="../tags/tag59.xml"/><Relationship Id="rId18" Type="http://schemas.openxmlformats.org/officeDocument/2006/relationships/tags" Target="../tags/tag58.xml"/><Relationship Id="rId17" Type="http://schemas.openxmlformats.org/officeDocument/2006/relationships/tags" Target="../tags/tag57.xml"/><Relationship Id="rId16" Type="http://schemas.openxmlformats.org/officeDocument/2006/relationships/tags" Target="../tags/tag56.xml"/><Relationship Id="rId15" Type="http://schemas.openxmlformats.org/officeDocument/2006/relationships/tags" Target="../tags/tag55.xml"/><Relationship Id="rId14" Type="http://schemas.openxmlformats.org/officeDocument/2006/relationships/tags" Target="../tags/tag54.xml"/><Relationship Id="rId13" Type="http://schemas.openxmlformats.org/officeDocument/2006/relationships/tags" Target="../tags/tag53.xml"/><Relationship Id="rId12" Type="http://schemas.openxmlformats.org/officeDocument/2006/relationships/tags" Target="../tags/tag5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tags" Target="../tags/tag4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88.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tags" Target="../tags/tag91.xml"/><Relationship Id="rId2" Type="http://schemas.openxmlformats.org/officeDocument/2006/relationships/tags" Target="../tags/tag90.xml"/><Relationship Id="rId18" Type="http://schemas.openxmlformats.org/officeDocument/2006/relationships/slideLayout" Target="../slideLayouts/slideLayout1.xml"/><Relationship Id="rId17" Type="http://schemas.openxmlformats.org/officeDocument/2006/relationships/tags" Target="../tags/tag105.xml"/><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8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tags" Target="../tags/tag106.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 Type="http://schemas.openxmlformats.org/officeDocument/2006/relationships/tags" Target="../tags/tag107.xml"/></Relationships>
</file>

<file path=ppt/slides/_rels/slide16.xml.rels><?xml version="1.0" encoding="UTF-8" standalone="yes"?>
<Relationships xmlns="http://schemas.openxmlformats.org/package/2006/relationships"><Relationship Id="rId9" Type="http://schemas.openxmlformats.org/officeDocument/2006/relationships/tags" Target="../tags/tag122.xml"/><Relationship Id="rId8" Type="http://schemas.openxmlformats.org/officeDocument/2006/relationships/tags" Target="../tags/tag121.xml"/><Relationship Id="rId7" Type="http://schemas.openxmlformats.org/officeDocument/2006/relationships/tags" Target="../tags/tag120.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tags" Target="../tags/tag116.xml"/><Relationship Id="rId2" Type="http://schemas.openxmlformats.org/officeDocument/2006/relationships/tags" Target="../tags/tag115.xml"/><Relationship Id="rId14" Type="http://schemas.openxmlformats.org/officeDocument/2006/relationships/notesSlide" Target="../notesSlides/notesSlide15.xml"/><Relationship Id="rId13" Type="http://schemas.openxmlformats.org/officeDocument/2006/relationships/slideLayout" Target="../slideLayouts/slideLayout1.xml"/><Relationship Id="rId12" Type="http://schemas.openxmlformats.org/officeDocument/2006/relationships/tags" Target="../tags/tag125.xml"/><Relationship Id="rId11" Type="http://schemas.openxmlformats.org/officeDocument/2006/relationships/tags" Target="../tags/tag124.xml"/><Relationship Id="rId10" Type="http://schemas.openxmlformats.org/officeDocument/2006/relationships/tags" Target="../tags/tag123.xml"/><Relationship Id="rId1" Type="http://schemas.openxmlformats.org/officeDocument/2006/relationships/tags" Target="../tags/tag114.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tags" Target="../tags/tag126.xml"/></Relationships>
</file>

<file path=ppt/slides/_rels/slide18.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1" Type="http://schemas.openxmlformats.org/officeDocument/2006/relationships/notesSlide" Target="../notesSlides/notesSlide17.xml"/><Relationship Id="rId10" Type="http://schemas.openxmlformats.org/officeDocument/2006/relationships/slideLayout" Target="../slideLayouts/slideLayout1.xml"/><Relationship Id="rId1" Type="http://schemas.openxmlformats.org/officeDocument/2006/relationships/tags" Target="../tags/tag127.xml"/></Relationships>
</file>

<file path=ppt/slides/_rels/slide19.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tags" Target="../tags/tag143.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7" Type="http://schemas.openxmlformats.org/officeDocument/2006/relationships/notesSlide" Target="../notesSlides/notesSlide18.xml"/><Relationship Id="rId16" Type="http://schemas.openxmlformats.org/officeDocument/2006/relationships/slideLayout" Target="../slideLayouts/slideLayout1.xml"/><Relationship Id="rId15" Type="http://schemas.openxmlformats.org/officeDocument/2006/relationships/tags" Target="../tags/tag150.xml"/><Relationship Id="rId14" Type="http://schemas.openxmlformats.org/officeDocument/2006/relationships/tags" Target="../tags/tag149.xml"/><Relationship Id="rId13" Type="http://schemas.openxmlformats.org/officeDocument/2006/relationships/tags" Target="../tags/tag148.xml"/><Relationship Id="rId12" Type="http://schemas.openxmlformats.org/officeDocument/2006/relationships/tags" Target="../tags/tag147.xml"/><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tags" Target="../tags/tag136.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tags" Target="../tags/tag151.xml"/></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slideLayout" Target="../slideLayouts/slideLayout1.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s>
</file>

<file path=ppt/slides/_rels/slide22.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4" Type="http://schemas.openxmlformats.org/officeDocument/2006/relationships/notesSlide" Target="../notesSlides/notesSlide21.xml"/><Relationship Id="rId13" Type="http://schemas.openxmlformats.org/officeDocument/2006/relationships/slideLayout" Target="../slideLayouts/slideLayout1.xml"/><Relationship Id="rId12" Type="http://schemas.openxmlformats.org/officeDocument/2006/relationships/tags" Target="../tags/tag170.xml"/><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tags" Target="../tags/tag159.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tags" Target="../tags/tag171.xml"/></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23.xml"/><Relationship Id="rId8" Type="http://schemas.openxmlformats.org/officeDocument/2006/relationships/slideLayout" Target="../slideLayouts/slideLayout1.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25.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4" Type="http://schemas.openxmlformats.org/officeDocument/2006/relationships/notesSlide" Target="../notesSlides/notesSlide24.xml"/><Relationship Id="rId13" Type="http://schemas.openxmlformats.org/officeDocument/2006/relationships/slideLayout" Target="../slideLayouts/slideLayout1.xml"/><Relationship Id="rId12" Type="http://schemas.openxmlformats.org/officeDocument/2006/relationships/tags" Target="../tags/tag190.xml"/><Relationship Id="rId11" Type="http://schemas.openxmlformats.org/officeDocument/2006/relationships/tags" Target="../tags/tag189.xml"/><Relationship Id="rId10" Type="http://schemas.openxmlformats.org/officeDocument/2006/relationships/tags" Target="../tags/tag188.xml"/><Relationship Id="rId1" Type="http://schemas.openxmlformats.org/officeDocument/2006/relationships/tags" Target="../tags/tag179.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tags" Target="../tags/tag191.xml"/></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6.xml"/><Relationship Id="rId8" Type="http://schemas.openxmlformats.org/officeDocument/2006/relationships/slideLayout" Target="../slideLayouts/slideLayout1.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28.xml.rels><?xml version="1.0" encoding="UTF-8" standalone="yes"?>
<Relationships xmlns="http://schemas.openxmlformats.org/package/2006/relationships"><Relationship Id="rId9" Type="http://schemas.openxmlformats.org/officeDocument/2006/relationships/tags" Target="../tags/tag207.xml"/><Relationship Id="rId8" Type="http://schemas.openxmlformats.org/officeDocument/2006/relationships/tags" Target="../tags/tag206.xml"/><Relationship Id="rId7" Type="http://schemas.openxmlformats.org/officeDocument/2006/relationships/tags" Target="../tags/tag205.xml"/><Relationship Id="rId6" Type="http://schemas.openxmlformats.org/officeDocument/2006/relationships/tags" Target="../tags/tag204.xml"/><Relationship Id="rId5" Type="http://schemas.openxmlformats.org/officeDocument/2006/relationships/tags" Target="../tags/tag203.xml"/><Relationship Id="rId4" Type="http://schemas.openxmlformats.org/officeDocument/2006/relationships/tags" Target="../tags/tag202.xml"/><Relationship Id="rId3" Type="http://schemas.openxmlformats.org/officeDocument/2006/relationships/tags" Target="../tags/tag201.xml"/><Relationship Id="rId2" Type="http://schemas.openxmlformats.org/officeDocument/2006/relationships/tags" Target="../tags/tag200.xml"/><Relationship Id="rId14" Type="http://schemas.openxmlformats.org/officeDocument/2006/relationships/notesSlide" Target="../notesSlides/notesSlide27.xml"/><Relationship Id="rId13" Type="http://schemas.openxmlformats.org/officeDocument/2006/relationships/slideLayout" Target="../slideLayouts/slideLayout1.xml"/><Relationship Id="rId12" Type="http://schemas.openxmlformats.org/officeDocument/2006/relationships/tags" Target="../tags/tag210.xml"/><Relationship Id="rId11" Type="http://schemas.openxmlformats.org/officeDocument/2006/relationships/tags" Target="../tags/tag209.xml"/><Relationship Id="rId10" Type="http://schemas.openxmlformats.org/officeDocument/2006/relationships/tags" Target="../tags/tag208.xml"/><Relationship Id="rId1" Type="http://schemas.openxmlformats.org/officeDocument/2006/relationships/tags" Target="../tags/tag19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tags" Target="../tags/tag211.xml"/></Relationships>
</file>

<file path=ppt/slides/_rels/slide36.xml.rels><?xml version="1.0" encoding="UTF-8" standalone="yes"?>
<Relationships xmlns="http://schemas.openxmlformats.org/package/2006/relationships"><Relationship Id="rId9" Type="http://schemas.openxmlformats.org/officeDocument/2006/relationships/tags" Target="../tags/tag220.xml"/><Relationship Id="rId8" Type="http://schemas.openxmlformats.org/officeDocument/2006/relationships/tags" Target="../tags/tag219.xml"/><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3" Type="http://schemas.openxmlformats.org/officeDocument/2006/relationships/notesSlide" Target="../notesSlides/notesSlide34.xml"/><Relationship Id="rId12" Type="http://schemas.openxmlformats.org/officeDocument/2006/relationships/slideLayout" Target="../slideLayouts/slideLayout1.xml"/><Relationship Id="rId11" Type="http://schemas.openxmlformats.org/officeDocument/2006/relationships/image" Target="../media/image17.png"/><Relationship Id="rId10" Type="http://schemas.openxmlformats.org/officeDocument/2006/relationships/tags" Target="../tags/tag221.xml"/><Relationship Id="rId1" Type="http://schemas.openxmlformats.org/officeDocument/2006/relationships/tags" Target="../tags/tag2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246273" y="2166168"/>
            <a:ext cx="7894320" cy="2525663"/>
            <a:chOff x="1152144" y="1787489"/>
            <a:chExt cx="7894320" cy="2525663"/>
          </a:xfrm>
        </p:grpSpPr>
        <p:grpSp>
          <p:nvGrpSpPr>
            <p:cNvPr id="6" name="组合 5"/>
            <p:cNvGrpSpPr/>
            <p:nvPr/>
          </p:nvGrpSpPr>
          <p:grpSpPr>
            <a:xfrm>
              <a:off x="1152144" y="1787489"/>
              <a:ext cx="7894320" cy="2123658"/>
              <a:chOff x="1310640" y="2062547"/>
              <a:chExt cx="7894320" cy="2123658"/>
            </a:xfrm>
          </p:grpSpPr>
          <p:sp>
            <p:nvSpPr>
              <p:cNvPr id="3" name="文本框 2"/>
              <p:cNvSpPr txBox="1"/>
              <p:nvPr/>
            </p:nvSpPr>
            <p:spPr>
              <a:xfrm>
                <a:off x="1310640" y="2062547"/>
                <a:ext cx="7894320" cy="2123658"/>
              </a:xfrm>
              <a:prstGeom prst="rect">
                <a:avLst/>
              </a:prstGeom>
              <a:noFill/>
              <a:ln w="12700" cap="flat" cmpd="sng" algn="ctr">
                <a:no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4400" b="1" dirty="0">
                    <a:solidFill>
                      <a:srgbClr val="376092"/>
                    </a:solidFill>
                    <a:latin typeface="微软雅黑" panose="020B0503020204020204" pitchFamily="34" charset="-122"/>
                    <a:ea typeface="微软雅黑" panose="020B0503020204020204" pitchFamily="34" charset="-122"/>
                  </a:rPr>
                  <a:t>山东省创新发展研究院</a:t>
                </a:r>
                <a:br>
                  <a:rPr lang="en-US" altLang="zh-CN" sz="4400" b="1" dirty="0">
                    <a:solidFill>
                      <a:srgbClr val="376092"/>
                    </a:solidFill>
                    <a:latin typeface="微软雅黑" panose="020B0503020204020204" pitchFamily="34" charset="-122"/>
                    <a:ea typeface="微软雅黑" panose="020B0503020204020204" pitchFamily="34" charset="-122"/>
                  </a:rPr>
                </a:br>
                <a:endParaRPr lang="en-US" altLang="zh-CN" sz="4400" b="1" dirty="0">
                  <a:solidFill>
                    <a:srgbClr val="376092"/>
                  </a:solidFill>
                  <a:latin typeface="微软雅黑" panose="020B0503020204020204" pitchFamily="34" charset="-122"/>
                  <a:ea typeface="微软雅黑" panose="020B0503020204020204" pitchFamily="34" charset="-122"/>
                </a:endParaRPr>
              </a:p>
              <a:p>
                <a:r>
                  <a:rPr lang="zh-CN" altLang="en-US" sz="4400" b="1" dirty="0">
                    <a:solidFill>
                      <a:srgbClr val="376092"/>
                    </a:solidFill>
                    <a:latin typeface="微软雅黑" panose="020B0503020204020204" pitchFamily="34" charset="-122"/>
                    <a:ea typeface="微软雅黑" panose="020B0503020204020204" pitchFamily="34" charset="-122"/>
                  </a:rPr>
                  <a:t>发展规划</a:t>
                </a:r>
                <a:endParaRPr lang="zh-CN" altLang="en-US" sz="44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414272" y="2920529"/>
                <a:ext cx="5559552" cy="461665"/>
              </a:xfrm>
              <a:prstGeom prst="rect">
                <a:avLst/>
              </a:prstGeom>
              <a:gradFill>
                <a:gsLst>
                  <a:gs pos="53000">
                    <a:srgbClr val="A1C4E4"/>
                  </a:gs>
                  <a:gs pos="0">
                    <a:schemeClr val="accent1"/>
                  </a:gs>
                  <a:gs pos="100000">
                    <a:schemeClr val="accent2">
                      <a:lumMod val="20000"/>
                      <a:lumOff val="80000"/>
                      <a:alpha val="0"/>
                    </a:schemeClr>
                  </a:gs>
                </a:gsLst>
                <a:lin ang="4200000" scaled="0"/>
              </a:gradFill>
              <a:ln w="12700" cap="flat" cmpd="sng" algn="ctr">
                <a:no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2400" dirty="0">
                    <a:solidFill>
                      <a:schemeClr val="bg1"/>
                    </a:solidFill>
                    <a:latin typeface="+mj-ea"/>
                    <a:ea typeface="+mj-ea"/>
                  </a:rPr>
                  <a:t>山东信息通信技术研究院管理中心</a:t>
                </a:r>
                <a:endParaRPr lang="zh-CN" altLang="en-US" sz="2400" dirty="0">
                  <a:solidFill>
                    <a:schemeClr val="bg1"/>
                  </a:solidFill>
                  <a:latin typeface="+mj-ea"/>
                  <a:ea typeface="+mj-ea"/>
                </a:endParaRPr>
              </a:p>
            </p:txBody>
          </p:sp>
        </p:grpSp>
        <p:sp>
          <p:nvSpPr>
            <p:cNvPr id="8" name="文本框 7"/>
            <p:cNvSpPr txBox="1"/>
            <p:nvPr/>
          </p:nvSpPr>
          <p:spPr>
            <a:xfrm>
              <a:off x="1193292" y="3943820"/>
              <a:ext cx="2305812" cy="369332"/>
            </a:xfrm>
            <a:prstGeom prst="rect">
              <a:avLst/>
            </a:prstGeom>
            <a:noFill/>
            <a:ln w="12700" cap="flat" cmpd="sng" algn="ctr">
              <a:noFill/>
              <a:prstDash val="solid"/>
              <a:miter lim="800000"/>
            </a:ln>
            <a:effectLst/>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en-US" altLang="zh-CN" sz="1800" b="1" dirty="0">
                  <a:solidFill>
                    <a:srgbClr val="376092"/>
                  </a:solidFill>
                  <a:latin typeface="方正小标宋简体" panose="03000509000000000000" pitchFamily="65" charset="-122"/>
                  <a:ea typeface="方正小标宋简体" panose="03000509000000000000" pitchFamily="65" charset="-122"/>
                </a:rPr>
                <a:t>[   </a:t>
              </a:r>
              <a:r>
                <a:rPr lang="en-US" altLang="zh-CN" sz="1800" b="1" dirty="0" smtClean="0">
                  <a:solidFill>
                    <a:srgbClr val="376092"/>
                  </a:solidFill>
                  <a:latin typeface="方正小标宋简体" panose="03000509000000000000" pitchFamily="65" charset="-122"/>
                  <a:ea typeface="方正小标宋简体" panose="03000509000000000000" pitchFamily="65" charset="-122"/>
                </a:rPr>
                <a:t>2025 </a:t>
              </a:r>
              <a:r>
                <a:rPr lang="en-US" altLang="zh-CN" sz="1800" b="1" dirty="0">
                  <a:solidFill>
                    <a:srgbClr val="376092"/>
                  </a:solidFill>
                  <a:latin typeface="方正小标宋简体" panose="03000509000000000000" pitchFamily="65" charset="-122"/>
                  <a:ea typeface="方正小标宋简体" panose="03000509000000000000" pitchFamily="65" charset="-122"/>
                </a:rPr>
                <a:t>- </a:t>
              </a:r>
              <a:r>
                <a:rPr lang="en-US" altLang="zh-CN" sz="1800" b="1" dirty="0" smtClean="0">
                  <a:solidFill>
                    <a:srgbClr val="376092"/>
                  </a:solidFill>
                  <a:latin typeface="方正小标宋简体" panose="03000509000000000000" pitchFamily="65" charset="-122"/>
                  <a:ea typeface="方正小标宋简体" panose="03000509000000000000" pitchFamily="65" charset="-122"/>
                </a:rPr>
                <a:t>2030</a:t>
              </a:r>
              <a:r>
                <a:rPr lang="zh-CN" altLang="en-US" sz="1800" b="1" dirty="0" smtClean="0">
                  <a:solidFill>
                    <a:srgbClr val="376092"/>
                  </a:solidFill>
                  <a:latin typeface="方正小标宋简体" panose="03000509000000000000" pitchFamily="65" charset="-122"/>
                  <a:ea typeface="方正小标宋简体" panose="03000509000000000000" pitchFamily="65" charset="-122"/>
                </a:rPr>
                <a:t>年</a:t>
              </a:r>
              <a:r>
                <a:rPr lang="en-US" altLang="zh-CN" sz="1800" b="1" dirty="0" smtClean="0">
                  <a:solidFill>
                    <a:srgbClr val="376092"/>
                  </a:solidFill>
                  <a:latin typeface="方正小标宋简体" panose="03000509000000000000" pitchFamily="65" charset="-122"/>
                  <a:ea typeface="方正小标宋简体" panose="03000509000000000000" pitchFamily="65" charset="-122"/>
                </a:rPr>
                <a:t>  ]</a:t>
              </a:r>
              <a:endParaRPr lang="zh-CN" altLang="en-US" dirty="0"/>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rPr>
              <a:t>整合创新，开启高水平新发展</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814648"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1</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13" name="组合 12"/>
          <p:cNvGrpSpPr/>
          <p:nvPr/>
        </p:nvGrpSpPr>
        <p:grpSpPr>
          <a:xfrm>
            <a:off x="1263534" y="1358152"/>
            <a:ext cx="9595972" cy="4935071"/>
            <a:chOff x="434040" y="1237130"/>
            <a:chExt cx="11557001" cy="5943600"/>
          </a:xfrm>
        </p:grpSpPr>
        <p:sp>
          <p:nvSpPr>
            <p:cNvPr id="12" name="矩形: 圆顶角 52"/>
            <p:cNvSpPr/>
            <p:nvPr/>
          </p:nvSpPr>
          <p:spPr>
            <a:xfrm>
              <a:off x="6254067" y="2705956"/>
              <a:ext cx="5160836" cy="4474774"/>
            </a:xfrm>
            <a:prstGeom prst="round2SameRect">
              <a:avLst>
                <a:gd name="adj1" fmla="val 3641"/>
                <a:gd name="adj2"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sz="1620">
                <a:latin typeface="Alibaba PuHuiTi 2.0 55" pitchFamily="18" charset="-122"/>
                <a:ea typeface="Alibaba PuHuiTi 2.0 55" pitchFamily="18" charset="-122"/>
              </a:endParaRPr>
            </a:p>
          </p:txBody>
        </p:sp>
        <p:sp>
          <p:nvSpPr>
            <p:cNvPr id="4" name="箭头: 右 459"/>
            <p:cNvSpPr/>
            <p:nvPr/>
          </p:nvSpPr>
          <p:spPr>
            <a:xfrm>
              <a:off x="434041" y="1237130"/>
              <a:ext cx="11557000" cy="1991997"/>
            </a:xfrm>
            <a:prstGeom prst="rightArrow">
              <a:avLst>
                <a:gd name="adj1" fmla="val 65013"/>
                <a:gd name="adj2" fmla="val 47619"/>
              </a:avLst>
            </a:prstGeom>
            <a:gradFill flip="none" rotWithShape="1">
              <a:gsLst>
                <a:gs pos="57000">
                  <a:schemeClr val="accent1"/>
                </a:gs>
                <a:gs pos="100000">
                  <a:schemeClr val="accent1">
                    <a:lumMod val="80000"/>
                    <a:lumOff val="20000"/>
                    <a:alpha val="0"/>
                  </a:schemeClr>
                </a:gs>
              </a:gsLst>
              <a:path path="circle">
                <a:fillToRect l="100000" t="100000"/>
              </a:path>
              <a:tileRect r="-100000" b="-100000"/>
            </a:gradFill>
            <a:ln w="38100">
              <a:noFill/>
            </a:ln>
            <a:effectLst>
              <a:outerShdw blurRad="254000" dist="123444" dir="5400000" sx="101000" sy="101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sz="1945">
                <a:solidFill>
                  <a:schemeClr val="bg1"/>
                </a:solidFill>
                <a:effectLst>
                  <a:outerShdw blurRad="137160" dist="41148" dir="2699997" algn="tl">
                    <a:srgbClr val="000000">
                      <a:alpha val="40000"/>
                    </a:srgbClr>
                  </a:outerShdw>
                </a:effectLst>
                <a:latin typeface="Alibaba PuHuiTi 2.0 45 Light" pitchFamily="18" charset="-122"/>
                <a:ea typeface="Alibaba PuHuiTi 2.0 45 Light" pitchFamily="18" charset="-122"/>
              </a:endParaRPr>
            </a:p>
          </p:txBody>
        </p:sp>
        <p:sp>
          <p:nvSpPr>
            <p:cNvPr id="6" name="文本框 2"/>
            <p:cNvSpPr txBox="1"/>
            <p:nvPr/>
          </p:nvSpPr>
          <p:spPr>
            <a:xfrm>
              <a:off x="1363148" y="1773984"/>
              <a:ext cx="9549708" cy="704279"/>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zh-CN" altLang="en-US" sz="1600" dirty="0">
                  <a:solidFill>
                    <a:schemeClr val="bg1"/>
                  </a:solidFill>
                  <a:latin typeface="+mj-ea"/>
                </a:rPr>
                <a:t>整合原山东信息通信技术研究院管理中心、省科技统计分析研究中心、</a:t>
              </a:r>
              <a:endParaRPr lang="en-US" altLang="zh-CN" sz="1600" dirty="0">
                <a:solidFill>
                  <a:schemeClr val="bg1"/>
                </a:solidFill>
                <a:latin typeface="+mj-ea"/>
              </a:endParaRPr>
            </a:p>
            <a:p>
              <a:r>
                <a:rPr lang="zh-CN" altLang="en-US" sz="1600" dirty="0">
                  <a:solidFill>
                    <a:schemeClr val="bg1"/>
                  </a:solidFill>
                  <a:latin typeface="+mj-ea"/>
                </a:rPr>
                <a:t>省农村科技促进中心、省科技战略与政策研究所、省技术市场管理服务中心五家单位</a:t>
              </a:r>
              <a:endParaRPr lang="zh-CN" altLang="en-US" sz="1600" dirty="0">
                <a:solidFill>
                  <a:schemeClr val="bg1"/>
                </a:solidFill>
                <a:latin typeface="+mj-ea"/>
              </a:endParaRPr>
            </a:p>
          </p:txBody>
        </p:sp>
        <p:sp>
          <p:nvSpPr>
            <p:cNvPr id="7" name="文本框 3"/>
            <p:cNvSpPr txBox="1"/>
            <p:nvPr/>
          </p:nvSpPr>
          <p:spPr>
            <a:xfrm>
              <a:off x="520668" y="2705957"/>
              <a:ext cx="2537777" cy="369332"/>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altLang="zh-CN" dirty="0">
                  <a:latin typeface="FZFengYaSongS-GB" panose="02000000000000000000" pitchFamily="2" charset="-122"/>
                  <a:ea typeface="FZFengYaSongS-GB" panose="02000000000000000000" pitchFamily="2" charset="-122"/>
                </a:rPr>
                <a:t>01 </a:t>
              </a:r>
              <a:r>
                <a:rPr lang="zh-CN" altLang="en-US" dirty="0">
                  <a:latin typeface="FZFengYaSongS-GB" panose="02000000000000000000" pitchFamily="2" charset="-122"/>
                  <a:ea typeface="FZFengYaSongS-GB" panose="02000000000000000000" pitchFamily="2" charset="-122"/>
                </a:rPr>
                <a:t>头部</a:t>
              </a:r>
              <a:r>
                <a:rPr lang="en-US" altLang="zh-CN" dirty="0">
                  <a:latin typeface="FZFengYaSongS-GB" panose="02000000000000000000" pitchFamily="2" charset="-122"/>
                  <a:ea typeface="FZFengYaSongS-GB" panose="02000000000000000000" pitchFamily="2" charset="-122"/>
                </a:rPr>
                <a:t>KOL</a:t>
              </a:r>
              <a:r>
                <a:rPr lang="zh-CN" altLang="en-US" dirty="0">
                  <a:latin typeface="FZFengYaSongS-GB" panose="02000000000000000000" pitchFamily="2" charset="-122"/>
                  <a:ea typeface="FZFengYaSongS-GB" panose="02000000000000000000" pitchFamily="2" charset="-122"/>
                </a:rPr>
                <a:t>发文</a:t>
              </a:r>
              <a:endParaRPr lang="zh-CN" altLang="en-US" dirty="0">
                <a:latin typeface="FZFengYaSongS-GB" panose="02000000000000000000" pitchFamily="2" charset="-122"/>
                <a:ea typeface="FZFengYaSongS-GB" panose="02000000000000000000" pitchFamily="2" charset="-122"/>
              </a:endParaRPr>
            </a:p>
          </p:txBody>
        </p:sp>
        <p:sp>
          <p:nvSpPr>
            <p:cNvPr id="8" name="矩形: 圆顶角 27"/>
            <p:cNvSpPr/>
            <p:nvPr/>
          </p:nvSpPr>
          <p:spPr>
            <a:xfrm>
              <a:off x="434040" y="2705956"/>
              <a:ext cx="5523117" cy="4474773"/>
            </a:xfrm>
            <a:prstGeom prst="round2SameRect">
              <a:avLst>
                <a:gd name="adj1" fmla="val 3641"/>
                <a:gd name="adj2" fmla="val 0"/>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1430">
              <a:solidFill>
                <a:schemeClr val="bg1">
                  <a:lumMod val="75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lvl1pPr>
                <a:defRPr>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endParaRPr lang="zh-CN" altLang="en-US" sz="1620">
                <a:latin typeface="Alibaba PuHuiTi 2.0 55" pitchFamily="18" charset="-122"/>
                <a:ea typeface="Alibaba PuHuiTi 2.0 55" pitchFamily="18" charset="-122"/>
              </a:endParaRPr>
            </a:p>
          </p:txBody>
        </p:sp>
        <p:sp>
          <p:nvSpPr>
            <p:cNvPr id="10" name="文本框 6"/>
            <p:cNvSpPr txBox="1"/>
            <p:nvPr/>
          </p:nvSpPr>
          <p:spPr>
            <a:xfrm>
              <a:off x="828178" y="2893388"/>
              <a:ext cx="4562153" cy="630145"/>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r>
                <a:rPr lang="en-US" altLang="zh-CN" sz="1400" b="1" dirty="0">
                  <a:solidFill>
                    <a:schemeClr val="accent3">
                      <a:lumMod val="75000"/>
                    </a:schemeClr>
                  </a:solidFill>
                  <a:latin typeface="+mj-ea"/>
                </a:rPr>
                <a:t>2021.4</a:t>
              </a:r>
              <a:r>
                <a:rPr lang="zh-CN" altLang="en-US" sz="1400" b="1" dirty="0">
                  <a:solidFill>
                    <a:schemeClr val="accent3">
                      <a:lumMod val="75000"/>
                    </a:schemeClr>
                  </a:solidFill>
                  <a:latin typeface="+mj-ea"/>
                </a:rPr>
                <a:t>月 </a:t>
              </a:r>
              <a:endParaRPr lang="en-US" altLang="zh-CN" sz="1400" b="1" dirty="0">
                <a:solidFill>
                  <a:schemeClr val="accent3">
                    <a:lumMod val="75000"/>
                  </a:schemeClr>
                </a:solidFill>
                <a:latin typeface="+mj-ea"/>
              </a:endParaRPr>
            </a:p>
            <a:p>
              <a:pPr algn="ctr"/>
              <a:r>
                <a:rPr lang="zh-CN" altLang="en-US" sz="1400" b="1" dirty="0">
                  <a:solidFill>
                    <a:schemeClr val="accent3">
                      <a:lumMod val="75000"/>
                    </a:schemeClr>
                  </a:solidFill>
                  <a:latin typeface="+mj-ea"/>
                </a:rPr>
                <a:t>正式成立了山东省创新发展研究院</a:t>
              </a:r>
              <a:endParaRPr lang="zh-CN" altLang="en-US" sz="1400" b="1" dirty="0">
                <a:solidFill>
                  <a:schemeClr val="accent3">
                    <a:lumMod val="75000"/>
                  </a:schemeClr>
                </a:solidFill>
                <a:latin typeface="+mj-ea"/>
              </a:endParaRPr>
            </a:p>
          </p:txBody>
        </p:sp>
      </p:grpSp>
      <p:sp>
        <p:nvSpPr>
          <p:cNvPr id="14" name="文本框 6"/>
          <p:cNvSpPr txBox="1"/>
          <p:nvPr/>
        </p:nvSpPr>
        <p:spPr>
          <a:xfrm>
            <a:off x="6380883" y="2787159"/>
            <a:ext cx="3788032" cy="523220"/>
          </a:xfrm>
          <a:prstGeom prst="rect">
            <a:avLst/>
          </a:prstGeom>
          <a:noFill/>
        </p:spPr>
        <p:style>
          <a:lnRef idx="0">
            <a:scrgbClr r="0" g="0" b="0"/>
          </a:lnRef>
          <a:fillRef idx="0">
            <a:scrgbClr r="0" g="0" b="0"/>
          </a:fillRef>
          <a:effectRef idx="0">
            <a:scrgbClr r="0" g="0" b="0"/>
          </a:effectRef>
          <a:fontRef idx="major"/>
        </p:style>
        <p:txBody>
          <a:bodyPr wrap="square" rtlCol="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r>
              <a:rPr lang="zh-CN" altLang="en-US" sz="1400" b="1" dirty="0">
                <a:solidFill>
                  <a:schemeClr val="accent3">
                    <a:lumMod val="75000"/>
                  </a:schemeClr>
                </a:solidFill>
                <a:latin typeface="+mj-ea"/>
              </a:rPr>
              <a:t>省政府直属公益一类事业单位</a:t>
            </a:r>
            <a:endParaRPr lang="en-US" altLang="zh-CN" sz="1400" b="1" dirty="0">
              <a:solidFill>
                <a:schemeClr val="accent3">
                  <a:lumMod val="75000"/>
                </a:schemeClr>
              </a:solidFill>
              <a:latin typeface="+mj-ea"/>
            </a:endParaRPr>
          </a:p>
          <a:p>
            <a:pPr algn="ctr"/>
            <a:r>
              <a:rPr lang="zh-CN" altLang="en-US" sz="1400" b="1" dirty="0">
                <a:solidFill>
                  <a:schemeClr val="accent3">
                    <a:lumMod val="75000"/>
                  </a:schemeClr>
                </a:solidFill>
                <a:latin typeface="+mj-ea"/>
              </a:rPr>
              <a:t>由省科技厅管理</a:t>
            </a:r>
            <a:endParaRPr lang="zh-CN" altLang="en-US" sz="1400" b="1" dirty="0">
              <a:solidFill>
                <a:schemeClr val="accent3">
                  <a:lumMod val="75000"/>
                </a:schemeClr>
              </a:solidFill>
              <a:latin typeface="+mj-ea"/>
            </a:endParaRPr>
          </a:p>
        </p:txBody>
      </p:sp>
      <p:pic>
        <p:nvPicPr>
          <p:cNvPr id="15" name="图片 1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366551" y="3307044"/>
            <a:ext cx="2379901" cy="2797467"/>
          </a:xfrm>
          <a:prstGeom prst="rect">
            <a:avLst/>
          </a:prstGeom>
          <a:effectLst>
            <a:outerShdw blurRad="164575" sx="103000" sy="103000" algn="tl" rotWithShape="0">
              <a:prstClr val="black">
                <a:alpha val="7729"/>
              </a:prstClr>
            </a:outerShdw>
          </a:effectLst>
        </p:spPr>
      </p:pic>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75014" y="3519795"/>
            <a:ext cx="3583386" cy="2468991"/>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1488290" y="1781138"/>
            <a:ext cx="9407521" cy="4300273"/>
            <a:chOff x="896620" y="1633220"/>
            <a:chExt cx="9407521" cy="4300273"/>
          </a:xfrm>
        </p:grpSpPr>
        <p:cxnSp>
          <p:nvCxnSpPr>
            <p:cNvPr id="2" name="MH_Other_1"/>
            <p:cNvCxnSpPr/>
            <p:nvPr>
              <p:custDataLst>
                <p:tags r:id="rId1"/>
              </p:custDataLst>
            </p:nvPr>
          </p:nvCxnSpPr>
          <p:spPr bwMode="auto">
            <a:xfrm flipV="1">
              <a:off x="909320" y="1946910"/>
              <a:ext cx="635" cy="1557655"/>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3" name="矩形 2"/>
            <p:cNvSpPr/>
            <p:nvPr/>
          </p:nvSpPr>
          <p:spPr>
            <a:xfrm>
              <a:off x="944245" y="1945640"/>
              <a:ext cx="1779270" cy="1384995"/>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德国弗劳恩霍夫协会，</a:t>
              </a:r>
              <a:r>
                <a:rPr lang="zh-CN" altLang="en-US" sz="1200" b="0" i="0" dirty="0">
                  <a:solidFill>
                    <a:schemeClr val="accent3">
                      <a:lumMod val="75000"/>
                    </a:schemeClr>
                  </a:solidFill>
                  <a:effectLst/>
                  <a:latin typeface="+mj-ea"/>
                  <a:ea typeface="+mj-ea"/>
                </a:rPr>
                <a:t>成立于</a:t>
              </a:r>
              <a:r>
                <a:rPr lang="en-US" altLang="zh-CN" sz="1200" b="0" i="0" dirty="0">
                  <a:solidFill>
                    <a:schemeClr val="accent3">
                      <a:lumMod val="75000"/>
                    </a:schemeClr>
                  </a:solidFill>
                  <a:effectLst/>
                  <a:latin typeface="+mj-ea"/>
                  <a:ea typeface="+mj-ea"/>
                </a:rPr>
                <a:t>1949</a:t>
              </a:r>
              <a:r>
                <a:rPr lang="zh-CN" altLang="en-US" sz="1200" b="0" i="0" dirty="0">
                  <a:solidFill>
                    <a:schemeClr val="accent3">
                      <a:lumMod val="75000"/>
                    </a:schemeClr>
                  </a:solidFill>
                  <a:effectLst/>
                  <a:latin typeface="+mj-ea"/>
                  <a:ea typeface="+mj-ea"/>
                </a:rPr>
                <a:t>年，专注于与未来相关的关键技术，并利用工商业成果，在创新过程中发挥着核心作用</a:t>
              </a:r>
              <a:endParaRPr lang="zh-CN" altLang="en-US" sz="1200" b="1" dirty="0">
                <a:solidFill>
                  <a:schemeClr val="accent3">
                    <a:lumMod val="75000"/>
                  </a:schemeClr>
                </a:solidFill>
                <a:latin typeface="+mj-ea"/>
                <a:ea typeface="+mj-ea"/>
              </a:endParaRPr>
            </a:p>
            <a:p>
              <a:pPr algn="l"/>
              <a:endParaRPr lang="en-US" altLang="zh-CN" sz="1200" dirty="0">
                <a:solidFill>
                  <a:schemeClr val="accent3">
                    <a:lumMod val="75000"/>
                  </a:schemeClr>
                </a:solidFill>
                <a:latin typeface="+mj-ea"/>
                <a:ea typeface="+mj-ea"/>
                <a:cs typeface="微软雅黑" panose="020B0503020204020204" pitchFamily="34" charset="-122"/>
              </a:endParaRPr>
            </a:p>
          </p:txBody>
        </p:sp>
        <p:cxnSp>
          <p:nvCxnSpPr>
            <p:cNvPr id="4" name="MH_Other_1"/>
            <p:cNvCxnSpPr/>
            <p:nvPr>
              <p:custDataLst>
                <p:tags r:id="rId2"/>
              </p:custDataLst>
            </p:nvPr>
          </p:nvCxnSpPr>
          <p:spPr bwMode="auto">
            <a:xfrm>
              <a:off x="1833880" y="3824605"/>
              <a:ext cx="0" cy="1710690"/>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5" name="矩形 4"/>
            <p:cNvSpPr/>
            <p:nvPr/>
          </p:nvSpPr>
          <p:spPr>
            <a:xfrm>
              <a:off x="1897380" y="4008183"/>
              <a:ext cx="1625600" cy="1384995"/>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台湾工业技术研究院</a:t>
              </a:r>
              <a:r>
                <a:rPr lang="zh-CN" altLang="en-US" sz="1200" b="0" i="0" dirty="0">
                  <a:solidFill>
                    <a:schemeClr val="accent3">
                      <a:lumMod val="75000"/>
                    </a:schemeClr>
                  </a:solidFill>
                  <a:effectLst/>
                  <a:latin typeface="+mj-ea"/>
                  <a:ea typeface="+mj-ea"/>
                </a:rPr>
                <a:t>，成立于</a:t>
              </a:r>
              <a:r>
                <a:rPr lang="en-US" altLang="zh-CN" sz="1200" b="0" i="0" dirty="0">
                  <a:solidFill>
                    <a:schemeClr val="accent3">
                      <a:lumMod val="75000"/>
                    </a:schemeClr>
                  </a:solidFill>
                  <a:effectLst/>
                  <a:latin typeface="+mj-ea"/>
                  <a:ea typeface="+mj-ea"/>
                </a:rPr>
                <a:t>1973</a:t>
              </a:r>
              <a:r>
                <a:rPr lang="zh-CN" altLang="en-US" sz="1200" b="0" i="0" dirty="0">
                  <a:solidFill>
                    <a:schemeClr val="accent3">
                      <a:lumMod val="75000"/>
                    </a:schemeClr>
                  </a:solidFill>
                  <a:effectLst/>
                  <a:latin typeface="+mj-ea"/>
                  <a:ea typeface="+mj-ea"/>
                </a:rPr>
                <a:t>年，在开创</a:t>
              </a:r>
              <a:r>
                <a:rPr lang="zh-CN" altLang="en-US" sz="1200" dirty="0">
                  <a:solidFill>
                    <a:schemeClr val="accent3">
                      <a:lumMod val="75000"/>
                    </a:schemeClr>
                  </a:solidFill>
                  <a:latin typeface="+mj-ea"/>
                  <a:ea typeface="+mj-ea"/>
                </a:rPr>
                <a:t>新兴科技产业与协助既有产业技术升级，</a:t>
              </a:r>
              <a:r>
                <a:rPr lang="zh-CN" altLang="en-US" sz="1200" b="0" i="0" dirty="0">
                  <a:solidFill>
                    <a:schemeClr val="accent3">
                      <a:lumMod val="75000"/>
                    </a:schemeClr>
                  </a:solidFill>
                  <a:effectLst/>
                  <a:latin typeface="+mj-ea"/>
                  <a:ea typeface="+mj-ea"/>
                </a:rPr>
                <a:t>扮演我国台湾省提升国际竞争力之重要关键</a:t>
              </a:r>
              <a:endParaRPr lang="zh-CN" altLang="en-US" sz="1200" b="0" i="0" dirty="0">
                <a:solidFill>
                  <a:schemeClr val="accent3">
                    <a:lumMod val="75000"/>
                  </a:schemeClr>
                </a:solidFill>
                <a:effectLst/>
                <a:latin typeface="+mj-ea"/>
                <a:ea typeface="+mj-ea"/>
              </a:endParaRPr>
            </a:p>
          </p:txBody>
        </p:sp>
        <p:cxnSp>
          <p:nvCxnSpPr>
            <p:cNvPr id="6" name="MH_Other_1"/>
            <p:cNvCxnSpPr>
              <a:stCxn id="15" idx="1"/>
            </p:cNvCxnSpPr>
            <p:nvPr>
              <p:custDataLst>
                <p:tags r:id="rId3"/>
              </p:custDataLst>
            </p:nvPr>
          </p:nvCxnSpPr>
          <p:spPr bwMode="auto">
            <a:xfrm flipV="1">
              <a:off x="2763520" y="1633220"/>
              <a:ext cx="17204" cy="2059305"/>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7" name="矩形 6"/>
            <p:cNvSpPr/>
            <p:nvPr/>
          </p:nvSpPr>
          <p:spPr>
            <a:xfrm>
              <a:off x="2852607" y="1771015"/>
              <a:ext cx="1817370" cy="1754326"/>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中国科学院科技战略咨询研究院</a:t>
              </a:r>
              <a:r>
                <a:rPr lang="zh-CN" altLang="en-US" sz="1200" dirty="0">
                  <a:solidFill>
                    <a:schemeClr val="accent3">
                      <a:lumMod val="75000"/>
                    </a:schemeClr>
                  </a:solidFill>
                  <a:latin typeface="+mj-ea"/>
                  <a:ea typeface="+mj-ea"/>
                </a:rPr>
                <a:t>，是</a:t>
              </a:r>
              <a:r>
                <a:rPr lang="zh-CN" altLang="en-US" sz="1200" b="0" i="0" dirty="0">
                  <a:solidFill>
                    <a:schemeClr val="accent3">
                      <a:lumMod val="75000"/>
                    </a:schemeClr>
                  </a:solidFill>
                  <a:effectLst/>
                  <a:latin typeface="+mj-ea"/>
                  <a:ea typeface="+mj-ea"/>
                </a:rPr>
                <a:t>中科院学部发挥国家科学技术方面最高咨询机构作用的研究和支撑机构，是中科院率先建成国家高水平科技智库的重要载体和综合集成平台</a:t>
              </a:r>
              <a:endParaRPr lang="zh-CN" altLang="en-US" sz="1200" b="0" i="0" dirty="0">
                <a:solidFill>
                  <a:schemeClr val="accent3">
                    <a:lumMod val="75000"/>
                  </a:schemeClr>
                </a:solidFill>
                <a:effectLst/>
                <a:latin typeface="+mj-ea"/>
                <a:ea typeface="+mj-ea"/>
              </a:endParaRPr>
            </a:p>
            <a:p>
              <a:pPr marL="171450" indent="-171450" algn="l">
                <a:buFont typeface="Arial" panose="020B0604020202020204" pitchFamily="34" charset="0"/>
                <a:buChar char="•"/>
              </a:pPr>
              <a:endParaRPr lang="en-US" altLang="zh-CN" sz="1200" dirty="0">
                <a:solidFill>
                  <a:schemeClr val="accent3">
                    <a:lumMod val="75000"/>
                  </a:schemeClr>
                </a:solidFill>
                <a:latin typeface="+mj-ea"/>
                <a:ea typeface="+mj-ea"/>
                <a:cs typeface="微软雅黑" panose="020B0503020204020204" pitchFamily="34" charset="-122"/>
              </a:endParaRPr>
            </a:p>
          </p:txBody>
        </p:sp>
        <p:cxnSp>
          <p:nvCxnSpPr>
            <p:cNvPr id="8" name="MH_Other_1"/>
            <p:cNvCxnSpPr/>
            <p:nvPr>
              <p:custDataLst>
                <p:tags r:id="rId4"/>
              </p:custDataLst>
            </p:nvPr>
          </p:nvCxnSpPr>
          <p:spPr bwMode="auto">
            <a:xfrm flipH="1">
              <a:off x="3695065" y="3520440"/>
              <a:ext cx="3175" cy="2019935"/>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9" name="矩形 8"/>
            <p:cNvSpPr/>
            <p:nvPr/>
          </p:nvSpPr>
          <p:spPr>
            <a:xfrm>
              <a:off x="3801110" y="3994501"/>
              <a:ext cx="1625600" cy="1938992"/>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山东社会科学院，</a:t>
              </a:r>
              <a:r>
                <a:rPr lang="zh-CN" altLang="en-US" sz="1200" dirty="0">
                  <a:solidFill>
                    <a:schemeClr val="accent3">
                      <a:lumMod val="75000"/>
                    </a:schemeClr>
                  </a:solidFill>
                  <a:latin typeface="+mj-ea"/>
                  <a:ea typeface="+mj-ea"/>
                </a:rPr>
                <a:t>是省委直属的综合性社会科学研究机构，努力打造山东省马克思主义研究宣传的思想理论高地和意识形态工作重要阵地、省委省政府的“思想库”“智囊团”</a:t>
              </a:r>
              <a:endParaRPr lang="zh-CN" altLang="en-US" sz="1200" dirty="0">
                <a:solidFill>
                  <a:schemeClr val="accent3">
                    <a:lumMod val="75000"/>
                  </a:schemeClr>
                </a:solidFill>
                <a:latin typeface="+mj-ea"/>
                <a:ea typeface="+mj-ea"/>
              </a:endParaRPr>
            </a:p>
            <a:p>
              <a:pPr marL="171450" indent="-171450" algn="l">
                <a:buFont typeface="Arial" panose="020B0604020202020204" pitchFamily="34" charset="0"/>
                <a:buChar char="•"/>
              </a:pPr>
              <a:endParaRPr lang="zh-CN" altLang="en-US" sz="1200" dirty="0">
                <a:solidFill>
                  <a:schemeClr val="accent3">
                    <a:lumMod val="75000"/>
                  </a:schemeClr>
                </a:solidFill>
                <a:latin typeface="+mj-ea"/>
                <a:ea typeface="+mj-ea"/>
              </a:endParaRPr>
            </a:p>
          </p:txBody>
        </p:sp>
        <p:cxnSp>
          <p:nvCxnSpPr>
            <p:cNvPr id="10" name="MH_Other_1"/>
            <p:cNvCxnSpPr/>
            <p:nvPr>
              <p:custDataLst>
                <p:tags r:id="rId5"/>
              </p:custDataLst>
            </p:nvPr>
          </p:nvCxnSpPr>
          <p:spPr bwMode="auto">
            <a:xfrm flipV="1">
              <a:off x="4630420" y="1945640"/>
              <a:ext cx="6984" cy="1746885"/>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11" name="矩形 10"/>
            <p:cNvSpPr/>
            <p:nvPr/>
          </p:nvSpPr>
          <p:spPr>
            <a:xfrm>
              <a:off x="4690110" y="2139572"/>
              <a:ext cx="1786890" cy="1384995"/>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中国科学技术发展战略研究院，</a:t>
              </a:r>
              <a:r>
                <a:rPr lang="zh-CN" altLang="en-US" sz="1200" dirty="0">
                  <a:solidFill>
                    <a:schemeClr val="accent3">
                      <a:lumMod val="75000"/>
                    </a:schemeClr>
                  </a:solidFill>
                  <a:latin typeface="+mj-ea"/>
                  <a:ea typeface="+mj-ea"/>
                </a:rPr>
                <a:t>成立于</a:t>
              </a:r>
              <a:r>
                <a:rPr lang="en-US" altLang="zh-CN" sz="1200" dirty="0">
                  <a:solidFill>
                    <a:schemeClr val="accent3">
                      <a:lumMod val="75000"/>
                    </a:schemeClr>
                  </a:solidFill>
                  <a:latin typeface="+mj-ea"/>
                  <a:ea typeface="+mj-ea"/>
                </a:rPr>
                <a:t>1982</a:t>
              </a:r>
              <a:r>
                <a:rPr lang="zh-CN" altLang="en-US" sz="1200" dirty="0">
                  <a:solidFill>
                    <a:schemeClr val="accent3">
                      <a:lumMod val="75000"/>
                    </a:schemeClr>
                  </a:solidFill>
                  <a:latin typeface="+mj-ea"/>
                  <a:ea typeface="+mj-ea"/>
                </a:rPr>
                <a:t>年，隶属于科技部，围绕建设创新型国家，</a:t>
              </a:r>
              <a:r>
                <a:rPr lang="zh-CN" altLang="en-US" sz="1200" b="0" i="0" dirty="0">
                  <a:solidFill>
                    <a:schemeClr val="accent3">
                      <a:lumMod val="75000"/>
                    </a:schemeClr>
                  </a:solidFill>
                  <a:effectLst/>
                  <a:latin typeface="+mj-ea"/>
                  <a:ea typeface="+mj-ea"/>
                </a:rPr>
                <a:t>开展前瞻性、全局性和综合性的战略问题研究</a:t>
              </a:r>
              <a:endParaRPr lang="zh-CN" altLang="en-US" sz="1200" dirty="0">
                <a:solidFill>
                  <a:schemeClr val="accent3">
                    <a:lumMod val="75000"/>
                  </a:schemeClr>
                </a:solidFill>
                <a:latin typeface="+mj-ea"/>
                <a:ea typeface="+mj-ea"/>
              </a:endParaRPr>
            </a:p>
            <a:p>
              <a:pPr algn="l"/>
              <a:endParaRPr lang="zh-CN" altLang="en-US" sz="1200" dirty="0">
                <a:solidFill>
                  <a:schemeClr val="accent3">
                    <a:lumMod val="75000"/>
                  </a:schemeClr>
                </a:solidFill>
                <a:latin typeface="+mj-ea"/>
                <a:ea typeface="+mj-ea"/>
                <a:cs typeface="微软雅黑" panose="020B0503020204020204" pitchFamily="34" charset="-122"/>
              </a:endParaRPr>
            </a:p>
          </p:txBody>
        </p:sp>
        <p:grpSp>
          <p:nvGrpSpPr>
            <p:cNvPr id="12" name="组合 11"/>
            <p:cNvGrpSpPr/>
            <p:nvPr/>
          </p:nvGrpSpPr>
          <p:grpSpPr>
            <a:xfrm>
              <a:off x="896620" y="3518535"/>
              <a:ext cx="8619490" cy="347980"/>
              <a:chOff x="1160" y="5071"/>
              <a:chExt cx="13574" cy="548"/>
            </a:xfrm>
          </p:grpSpPr>
          <p:sp>
            <p:nvSpPr>
              <p:cNvPr id="13" name="MH_SubTitle_1"/>
              <p:cNvSpPr/>
              <p:nvPr>
                <p:custDataLst>
                  <p:tags r:id="rId6"/>
                </p:custDataLst>
              </p:nvPr>
            </p:nvSpPr>
            <p:spPr bwMode="auto">
              <a:xfrm>
                <a:off x="1160" y="5071"/>
                <a:ext cx="1470" cy="548"/>
              </a:xfrm>
              <a:prstGeom prst="rect">
                <a:avLst/>
              </a:prstGeom>
              <a:solidFill>
                <a:srgbClr val="7DDFFF"/>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1949</a:t>
                </a:r>
                <a:endParaRPr lang="zh-CN" altLang="en-US" sz="1200" kern="0" dirty="0">
                  <a:solidFill>
                    <a:schemeClr val="bg1"/>
                  </a:solidFill>
                  <a:latin typeface="+mj-ea"/>
                  <a:ea typeface="+mj-ea"/>
                </a:endParaRPr>
              </a:p>
            </p:txBody>
          </p:sp>
          <p:sp>
            <p:nvSpPr>
              <p:cNvPr id="14" name="MH_SubTitle_1"/>
              <p:cNvSpPr/>
              <p:nvPr>
                <p:custDataLst>
                  <p:tags r:id="rId7"/>
                </p:custDataLst>
              </p:nvPr>
            </p:nvSpPr>
            <p:spPr bwMode="auto">
              <a:xfrm>
                <a:off x="2630" y="5071"/>
                <a:ext cx="1470" cy="548"/>
              </a:xfrm>
              <a:prstGeom prst="rect">
                <a:avLst/>
              </a:prstGeom>
              <a:solidFill>
                <a:srgbClr val="00B0F0"/>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1973</a:t>
                </a:r>
                <a:endParaRPr lang="zh-CN" altLang="en-US" sz="1200" kern="0" dirty="0">
                  <a:solidFill>
                    <a:schemeClr val="bg1"/>
                  </a:solidFill>
                  <a:latin typeface="+mj-ea"/>
                  <a:ea typeface="+mj-ea"/>
                </a:endParaRPr>
              </a:p>
            </p:txBody>
          </p:sp>
          <p:sp>
            <p:nvSpPr>
              <p:cNvPr id="15" name="MH_SubTitle_1"/>
              <p:cNvSpPr/>
              <p:nvPr>
                <p:custDataLst>
                  <p:tags r:id="rId8"/>
                </p:custDataLst>
              </p:nvPr>
            </p:nvSpPr>
            <p:spPr bwMode="auto">
              <a:xfrm>
                <a:off x="4100" y="5071"/>
                <a:ext cx="1470" cy="548"/>
              </a:xfrm>
              <a:prstGeom prst="rect">
                <a:avLst/>
              </a:prstGeom>
              <a:solidFill>
                <a:schemeClr val="accent1">
                  <a:lumMod val="75000"/>
                </a:schemeClr>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1975</a:t>
                </a:r>
                <a:endParaRPr lang="zh-CN" altLang="en-US" sz="1200" kern="0" dirty="0">
                  <a:solidFill>
                    <a:schemeClr val="bg1"/>
                  </a:solidFill>
                  <a:latin typeface="+mj-ea"/>
                  <a:ea typeface="+mj-ea"/>
                </a:endParaRPr>
              </a:p>
            </p:txBody>
          </p:sp>
          <p:sp>
            <p:nvSpPr>
              <p:cNvPr id="16" name="MH_SubTitle_1"/>
              <p:cNvSpPr/>
              <p:nvPr>
                <p:custDataLst>
                  <p:tags r:id="rId9"/>
                </p:custDataLst>
              </p:nvPr>
            </p:nvSpPr>
            <p:spPr bwMode="auto">
              <a:xfrm>
                <a:off x="5570" y="5071"/>
                <a:ext cx="1470" cy="548"/>
              </a:xfrm>
              <a:prstGeom prst="rect">
                <a:avLst/>
              </a:prstGeom>
              <a:solidFill>
                <a:schemeClr val="accent5">
                  <a:lumMod val="75000"/>
                </a:schemeClr>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1980</a:t>
                </a:r>
                <a:endParaRPr lang="zh-CN" altLang="en-US" sz="1200" kern="0" dirty="0">
                  <a:solidFill>
                    <a:schemeClr val="bg1"/>
                  </a:solidFill>
                  <a:latin typeface="+mj-ea"/>
                  <a:ea typeface="+mj-ea"/>
                </a:endParaRPr>
              </a:p>
            </p:txBody>
          </p:sp>
          <p:sp>
            <p:nvSpPr>
              <p:cNvPr id="17" name="MH_SubTitle_1"/>
              <p:cNvSpPr/>
              <p:nvPr>
                <p:custDataLst>
                  <p:tags r:id="rId10"/>
                </p:custDataLst>
              </p:nvPr>
            </p:nvSpPr>
            <p:spPr bwMode="auto">
              <a:xfrm>
                <a:off x="7040" y="5071"/>
                <a:ext cx="1470" cy="548"/>
              </a:xfrm>
              <a:prstGeom prst="rect">
                <a:avLst/>
              </a:prstGeom>
              <a:solidFill>
                <a:schemeClr val="accent6">
                  <a:lumMod val="75000"/>
                </a:schemeClr>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1982</a:t>
                </a:r>
                <a:endParaRPr lang="zh-CN" altLang="en-US" sz="1200" kern="0" dirty="0">
                  <a:solidFill>
                    <a:schemeClr val="bg1"/>
                  </a:solidFill>
                  <a:latin typeface="+mj-ea"/>
                  <a:ea typeface="+mj-ea"/>
                </a:endParaRPr>
              </a:p>
            </p:txBody>
          </p:sp>
          <p:sp>
            <p:nvSpPr>
              <p:cNvPr id="18" name="MH_SubTitle_1"/>
              <p:cNvSpPr/>
              <p:nvPr>
                <p:custDataLst>
                  <p:tags r:id="rId11"/>
                </p:custDataLst>
              </p:nvPr>
            </p:nvSpPr>
            <p:spPr bwMode="auto">
              <a:xfrm>
                <a:off x="8510" y="5071"/>
                <a:ext cx="1470" cy="548"/>
              </a:xfrm>
              <a:prstGeom prst="rect">
                <a:avLst/>
              </a:prstGeom>
              <a:solidFill>
                <a:srgbClr val="00B050"/>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2013</a:t>
                </a:r>
                <a:endParaRPr lang="zh-CN" altLang="en-US" sz="1200" kern="0" dirty="0">
                  <a:solidFill>
                    <a:schemeClr val="bg1"/>
                  </a:solidFill>
                  <a:latin typeface="+mj-ea"/>
                  <a:ea typeface="+mj-ea"/>
                </a:endParaRPr>
              </a:p>
            </p:txBody>
          </p:sp>
          <p:sp>
            <p:nvSpPr>
              <p:cNvPr id="19" name="MH_SubTitle_1"/>
              <p:cNvSpPr/>
              <p:nvPr>
                <p:custDataLst>
                  <p:tags r:id="rId12"/>
                </p:custDataLst>
              </p:nvPr>
            </p:nvSpPr>
            <p:spPr bwMode="auto">
              <a:xfrm>
                <a:off x="9980" y="5071"/>
                <a:ext cx="1470" cy="548"/>
              </a:xfrm>
              <a:prstGeom prst="rect">
                <a:avLst/>
              </a:prstGeom>
              <a:solidFill>
                <a:srgbClr val="92D050"/>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2015</a:t>
                </a:r>
                <a:endParaRPr lang="zh-CN" altLang="en-US" sz="1200" kern="0" dirty="0">
                  <a:solidFill>
                    <a:schemeClr val="bg1"/>
                  </a:solidFill>
                  <a:latin typeface="+mj-ea"/>
                  <a:ea typeface="+mj-ea"/>
                </a:endParaRPr>
              </a:p>
            </p:txBody>
          </p:sp>
          <p:sp>
            <p:nvSpPr>
              <p:cNvPr id="20" name="MH_SubTitle_1"/>
              <p:cNvSpPr/>
              <p:nvPr>
                <p:custDataLst>
                  <p:tags r:id="rId13"/>
                </p:custDataLst>
              </p:nvPr>
            </p:nvSpPr>
            <p:spPr bwMode="auto">
              <a:xfrm>
                <a:off x="11450" y="5071"/>
                <a:ext cx="3284" cy="548"/>
              </a:xfrm>
              <a:prstGeom prst="rect">
                <a:avLst/>
              </a:prstGeom>
              <a:solidFill>
                <a:schemeClr val="accent6">
                  <a:lumMod val="60000"/>
                  <a:lumOff val="40000"/>
                </a:schemeClr>
              </a:solidFill>
              <a:ln w="3175" cap="flat" cmpd="sng" algn="ctr">
                <a:solidFill>
                  <a:schemeClr val="accent3">
                    <a:lumMod val="75000"/>
                  </a:schemeClr>
                </a:solidFill>
                <a:prstDash val="solid"/>
                <a:miter lim="800000"/>
              </a:ln>
              <a:effectLst>
                <a:outerShdw blurRad="38100" dist="25400" dir="2700000" algn="tl" rotWithShape="0">
                  <a:prstClr val="black">
                    <a:alpha val="20000"/>
                  </a:prstClr>
                </a:outerShdw>
              </a:effectLst>
            </p:spPr>
            <p:txBody>
              <a:bodyPr lIns="0" tIns="0" rIns="0" bIns="0" anchor="ctr">
                <a:normAutofit/>
              </a:bodyPr>
              <a:lstStyle/>
              <a:p>
                <a:pPr algn="ctr">
                  <a:lnSpc>
                    <a:spcPct val="120000"/>
                  </a:lnSpc>
                  <a:defRPr/>
                </a:pPr>
                <a:r>
                  <a:rPr lang="en-US" altLang="zh-CN" sz="1200" kern="0" dirty="0">
                    <a:solidFill>
                      <a:schemeClr val="bg1"/>
                    </a:solidFill>
                    <a:latin typeface="+mj-ea"/>
                    <a:ea typeface="+mj-ea"/>
                  </a:rPr>
                  <a:t>2021</a:t>
                </a:r>
                <a:endParaRPr lang="zh-CN" altLang="en-US" sz="1200" kern="0" dirty="0">
                  <a:solidFill>
                    <a:schemeClr val="bg1"/>
                  </a:solidFill>
                  <a:latin typeface="+mj-ea"/>
                  <a:ea typeface="+mj-ea"/>
                </a:endParaRPr>
              </a:p>
            </p:txBody>
          </p:sp>
        </p:grpSp>
        <p:cxnSp>
          <p:nvCxnSpPr>
            <p:cNvPr id="24" name="MH_Other_1"/>
            <p:cNvCxnSpPr/>
            <p:nvPr>
              <p:custDataLst>
                <p:tags r:id="rId14"/>
              </p:custDataLst>
            </p:nvPr>
          </p:nvCxnSpPr>
          <p:spPr bwMode="auto">
            <a:xfrm flipH="1">
              <a:off x="5563870" y="3547745"/>
              <a:ext cx="5080" cy="1402715"/>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25" name="矩形 24"/>
            <p:cNvSpPr/>
            <p:nvPr/>
          </p:nvSpPr>
          <p:spPr>
            <a:xfrm>
              <a:off x="5667898" y="3980105"/>
              <a:ext cx="1625600" cy="1384995"/>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江苏产业技术研究院，</a:t>
              </a:r>
              <a:r>
                <a:rPr lang="zh-CN" altLang="en-US" sz="1200" dirty="0">
                  <a:solidFill>
                    <a:schemeClr val="accent3">
                      <a:lumMod val="75000"/>
                    </a:schemeClr>
                  </a:solidFill>
                  <a:latin typeface="+mj-ea"/>
                  <a:ea typeface="+mj-ea"/>
                </a:rPr>
                <a:t>成立于</a:t>
              </a:r>
              <a:r>
                <a:rPr lang="en-US" altLang="zh-CN" sz="1200" dirty="0">
                  <a:solidFill>
                    <a:schemeClr val="accent3">
                      <a:lumMod val="75000"/>
                    </a:schemeClr>
                  </a:solidFill>
                  <a:latin typeface="+mj-ea"/>
                  <a:ea typeface="+mj-ea"/>
                </a:rPr>
                <a:t>2013</a:t>
              </a:r>
              <a:r>
                <a:rPr lang="zh-CN" altLang="en-US" sz="1200" dirty="0">
                  <a:solidFill>
                    <a:schemeClr val="accent3">
                      <a:lumMod val="75000"/>
                    </a:schemeClr>
                  </a:solidFill>
                  <a:latin typeface="+mj-ea"/>
                  <a:ea typeface="+mj-ea"/>
                </a:rPr>
                <a:t>年，是经江苏省</a:t>
              </a:r>
              <a:r>
                <a:rPr lang="zh-CN" altLang="en-US" sz="1200" b="0" i="0" dirty="0">
                  <a:solidFill>
                    <a:schemeClr val="accent3">
                      <a:lumMod val="75000"/>
                    </a:schemeClr>
                  </a:solidFill>
                  <a:effectLst/>
                  <a:latin typeface="+mj-ea"/>
                  <a:ea typeface="+mj-ea"/>
                </a:rPr>
                <a:t>政府批准成立</a:t>
              </a:r>
              <a:r>
                <a:rPr lang="zh-CN" altLang="en-US" sz="1200" dirty="0">
                  <a:solidFill>
                    <a:schemeClr val="accent3">
                      <a:lumMod val="75000"/>
                    </a:schemeClr>
                  </a:solidFill>
                  <a:latin typeface="+mj-ea"/>
                  <a:ea typeface="+mj-ea"/>
                </a:rPr>
                <a:t>的新型科研组织，是</a:t>
              </a:r>
              <a:r>
                <a:rPr lang="zh-CN" altLang="en-US" sz="1200" b="0" i="0" dirty="0">
                  <a:solidFill>
                    <a:schemeClr val="accent3">
                      <a:lumMod val="75000"/>
                    </a:schemeClr>
                  </a:solidFill>
                  <a:effectLst/>
                  <a:latin typeface="+mj-ea"/>
                  <a:ea typeface="+mj-ea"/>
                </a:rPr>
                <a:t>江苏省创新体系的重要组成部分</a:t>
              </a:r>
              <a:endParaRPr lang="zh-CN" altLang="en-US" sz="1200" b="0" i="0" dirty="0">
                <a:solidFill>
                  <a:schemeClr val="accent3">
                    <a:lumMod val="75000"/>
                  </a:schemeClr>
                </a:solidFill>
                <a:effectLst/>
                <a:latin typeface="+mj-ea"/>
                <a:ea typeface="+mj-ea"/>
              </a:endParaRPr>
            </a:p>
            <a:p>
              <a:pPr algn="l"/>
              <a:endParaRPr lang="zh-CN" altLang="en-US" sz="1200" dirty="0">
                <a:solidFill>
                  <a:schemeClr val="accent3">
                    <a:lumMod val="75000"/>
                  </a:schemeClr>
                </a:solidFill>
                <a:latin typeface="+mj-ea"/>
                <a:ea typeface="+mj-ea"/>
              </a:endParaRPr>
            </a:p>
          </p:txBody>
        </p:sp>
        <p:cxnSp>
          <p:nvCxnSpPr>
            <p:cNvPr id="26" name="MH_Other_1"/>
            <p:cNvCxnSpPr/>
            <p:nvPr>
              <p:custDataLst>
                <p:tags r:id="rId15"/>
              </p:custDataLst>
            </p:nvPr>
          </p:nvCxnSpPr>
          <p:spPr bwMode="auto">
            <a:xfrm flipV="1">
              <a:off x="6496685" y="2039620"/>
              <a:ext cx="0" cy="1733550"/>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27" name="矩形 26"/>
            <p:cNvSpPr/>
            <p:nvPr/>
          </p:nvSpPr>
          <p:spPr>
            <a:xfrm>
              <a:off x="6588125" y="2139572"/>
              <a:ext cx="1782445" cy="1200329"/>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广东省科学院，</a:t>
              </a:r>
              <a:r>
                <a:rPr lang="en-US" altLang="zh-CN" sz="1200" dirty="0">
                  <a:solidFill>
                    <a:schemeClr val="accent3">
                      <a:lumMod val="75000"/>
                    </a:schemeClr>
                  </a:solidFill>
                  <a:latin typeface="+mj-ea"/>
                  <a:ea typeface="+mj-ea"/>
                </a:rPr>
                <a:t>2015</a:t>
              </a:r>
              <a:r>
                <a:rPr lang="zh-CN" altLang="en-US" sz="1200" dirty="0">
                  <a:solidFill>
                    <a:schemeClr val="accent3">
                      <a:lumMod val="75000"/>
                    </a:schemeClr>
                  </a:solidFill>
                  <a:latin typeface="+mj-ea"/>
                  <a:ea typeface="+mj-ea"/>
                </a:rPr>
                <a:t>年重新组建，“一院两制三体系四融合”的发展战略以及“打造卓越综合产业技术创新中心”的目标愿景</a:t>
              </a:r>
              <a:endParaRPr lang="zh-CN" altLang="en-US" sz="1200" dirty="0">
                <a:solidFill>
                  <a:schemeClr val="accent3">
                    <a:lumMod val="75000"/>
                  </a:schemeClr>
                </a:solidFill>
                <a:latin typeface="+mj-ea"/>
                <a:ea typeface="+mj-ea"/>
              </a:endParaRPr>
            </a:p>
          </p:txBody>
        </p:sp>
        <p:cxnSp>
          <p:nvCxnSpPr>
            <p:cNvPr id="28" name="MH_Other_1"/>
            <p:cNvCxnSpPr/>
            <p:nvPr>
              <p:custDataLst>
                <p:tags r:id="rId16"/>
              </p:custDataLst>
            </p:nvPr>
          </p:nvCxnSpPr>
          <p:spPr bwMode="auto">
            <a:xfrm>
              <a:off x="7434580" y="3899535"/>
              <a:ext cx="0" cy="1710690"/>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29" name="矩形 28"/>
            <p:cNvSpPr/>
            <p:nvPr/>
          </p:nvSpPr>
          <p:spPr>
            <a:xfrm>
              <a:off x="7533005" y="3980105"/>
              <a:ext cx="1880870" cy="1754326"/>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上海长三角技术创新研究院，</a:t>
              </a:r>
              <a:r>
                <a:rPr lang="zh-CN" altLang="en-US" sz="1200" dirty="0">
                  <a:solidFill>
                    <a:schemeClr val="accent3">
                      <a:lumMod val="75000"/>
                    </a:schemeClr>
                  </a:solidFill>
                  <a:latin typeface="+mj-ea"/>
                  <a:ea typeface="+mj-ea"/>
                </a:rPr>
                <a:t>成立于</a:t>
              </a:r>
              <a:r>
                <a:rPr lang="en-US" altLang="zh-CN" sz="1200" dirty="0">
                  <a:solidFill>
                    <a:schemeClr val="accent3">
                      <a:lumMod val="75000"/>
                    </a:schemeClr>
                  </a:solidFill>
                  <a:latin typeface="+mj-ea"/>
                  <a:ea typeface="+mj-ea"/>
                </a:rPr>
                <a:t>2021</a:t>
              </a:r>
              <a:r>
                <a:rPr lang="zh-CN" altLang="en-US" sz="1200" dirty="0">
                  <a:solidFill>
                    <a:schemeClr val="accent3">
                      <a:lumMod val="75000"/>
                    </a:schemeClr>
                  </a:solidFill>
                  <a:latin typeface="+mj-ea"/>
                  <a:ea typeface="+mj-ea"/>
                </a:rPr>
                <a:t>年</a:t>
              </a:r>
              <a:r>
                <a:rPr lang="en-US" altLang="zh-CN" sz="1200" dirty="0">
                  <a:solidFill>
                    <a:schemeClr val="accent3">
                      <a:lumMod val="75000"/>
                    </a:schemeClr>
                  </a:solidFill>
                  <a:latin typeface="+mj-ea"/>
                  <a:ea typeface="+mj-ea"/>
                </a:rPr>
                <a:t>4</a:t>
              </a:r>
              <a:r>
                <a:rPr lang="zh-CN" altLang="en-US" sz="1200" dirty="0">
                  <a:solidFill>
                    <a:schemeClr val="accent3">
                      <a:lumMod val="75000"/>
                    </a:schemeClr>
                  </a:solidFill>
                  <a:latin typeface="+mj-ea"/>
                  <a:ea typeface="+mj-ea"/>
                </a:rPr>
                <a:t>月，着力实践科技体制改革试验田，构建企业为主体、市场为导向、产学研深度融合的产业技术创新体系，为长三角产业发展提供高水平科技</a:t>
              </a:r>
              <a:r>
                <a:rPr lang="zh-CN" altLang="en-US" sz="1200" dirty="0" smtClean="0">
                  <a:solidFill>
                    <a:schemeClr val="accent3">
                      <a:lumMod val="75000"/>
                    </a:schemeClr>
                  </a:solidFill>
                  <a:latin typeface="+mj-ea"/>
                  <a:ea typeface="+mj-ea"/>
                </a:rPr>
                <a:t>供给</a:t>
              </a:r>
              <a:endParaRPr lang="zh-CN" altLang="en-US" sz="1200" dirty="0">
                <a:solidFill>
                  <a:schemeClr val="accent3">
                    <a:lumMod val="75000"/>
                  </a:schemeClr>
                </a:solidFill>
                <a:latin typeface="+mj-ea"/>
                <a:ea typeface="+mj-ea"/>
              </a:endParaRPr>
            </a:p>
            <a:p>
              <a:pPr algn="l"/>
              <a:endParaRPr lang="zh-CN" altLang="en-US" sz="1200" dirty="0">
                <a:solidFill>
                  <a:schemeClr val="accent3">
                    <a:lumMod val="75000"/>
                  </a:schemeClr>
                </a:solidFill>
                <a:latin typeface="+mj-ea"/>
                <a:ea typeface="+mj-ea"/>
                <a:cs typeface="微软雅黑" panose="020B0503020204020204" pitchFamily="34" charset="-122"/>
                <a:sym typeface="+mn-ea"/>
              </a:endParaRPr>
            </a:p>
          </p:txBody>
        </p:sp>
        <p:cxnSp>
          <p:nvCxnSpPr>
            <p:cNvPr id="30" name="MH_Other_1"/>
            <p:cNvCxnSpPr/>
            <p:nvPr>
              <p:custDataLst>
                <p:tags r:id="rId17"/>
              </p:custDataLst>
            </p:nvPr>
          </p:nvCxnSpPr>
          <p:spPr bwMode="auto">
            <a:xfrm flipV="1">
              <a:off x="8370570" y="2311250"/>
              <a:ext cx="0" cy="1236495"/>
            </a:xfrm>
            <a:prstGeom prst="line">
              <a:avLst/>
            </a:prstGeom>
            <a:gradFill flip="none" rotWithShape="1">
              <a:gsLst>
                <a:gs pos="0">
                  <a:srgbClr val="EAEAEA"/>
                </a:gs>
                <a:gs pos="100000">
                  <a:srgbClr val="C5C5C5"/>
                </a:gs>
              </a:gsLst>
              <a:path path="circle">
                <a:fillToRect l="50000" t="50000" r="50000" b="50000"/>
              </a:path>
              <a:tileRect/>
            </a:gradFill>
            <a:ln w="9525" cap="rnd">
              <a:solidFill>
                <a:schemeClr val="accent3">
                  <a:lumMod val="75000"/>
                </a:schemeClr>
              </a:solidFill>
              <a:prstDash val="dash"/>
              <a:round/>
              <a:tailEnd type="oval" w="med" len="med"/>
            </a:ln>
            <a:effectLst/>
          </p:spPr>
        </p:cxnSp>
        <p:sp>
          <p:nvSpPr>
            <p:cNvPr id="31" name="矩形 30"/>
            <p:cNvSpPr/>
            <p:nvPr/>
          </p:nvSpPr>
          <p:spPr>
            <a:xfrm>
              <a:off x="8504332" y="2311250"/>
              <a:ext cx="1799809" cy="1014730"/>
            </a:xfrm>
            <a:prstGeom prst="rect">
              <a:avLst/>
            </a:prstGeom>
            <a:ln>
              <a:noFill/>
            </a:ln>
          </p:spPr>
          <p:txBody>
            <a:bodyPr wrap="square">
              <a:spAutoFit/>
              <a:scene3d>
                <a:camera prst="orthographicFront"/>
                <a:lightRig rig="threePt" dir="t"/>
              </a:scene3d>
              <a:sp3d contourW="12700"/>
            </a:bodyPr>
            <a:lstStyle/>
            <a:p>
              <a:r>
                <a:rPr lang="zh-CN" altLang="en-US" sz="1200" b="1" dirty="0">
                  <a:solidFill>
                    <a:schemeClr val="accent3">
                      <a:lumMod val="75000"/>
                    </a:schemeClr>
                  </a:solidFill>
                  <a:latin typeface="+mj-ea"/>
                  <a:ea typeface="+mj-ea"/>
                </a:rPr>
                <a:t>河南省科学院</a:t>
              </a:r>
              <a:r>
                <a:rPr lang="zh-CN" altLang="en-US" sz="1200" b="1" dirty="0">
                  <a:solidFill>
                    <a:schemeClr val="accent3">
                      <a:lumMod val="75000"/>
                    </a:schemeClr>
                  </a:solidFill>
                  <a:latin typeface="黑体" panose="02010609060101010101" pitchFamily="49" charset="-122"/>
                  <a:ea typeface="黑体" panose="02010609060101010101" pitchFamily="49" charset="-122"/>
                </a:rPr>
                <a:t>，</a:t>
              </a:r>
              <a:r>
                <a:rPr lang="en-US" altLang="zh-CN" sz="1200" b="0" i="0" dirty="0">
                  <a:solidFill>
                    <a:schemeClr val="accent3">
                      <a:lumMod val="75000"/>
                    </a:schemeClr>
                  </a:solidFill>
                  <a:effectLst/>
                  <a:latin typeface="Helvetica Neue"/>
                </a:rPr>
                <a:t>2021</a:t>
              </a:r>
              <a:r>
                <a:rPr lang="zh-CN" altLang="en-US" sz="1200" b="0" i="0" dirty="0">
                  <a:solidFill>
                    <a:schemeClr val="accent3">
                      <a:lumMod val="75000"/>
                    </a:schemeClr>
                  </a:solidFill>
                  <a:effectLst/>
                  <a:latin typeface="Helvetica Neue"/>
                </a:rPr>
                <a:t>年重振重建，其定位及发展目标是打造</a:t>
              </a:r>
              <a:r>
                <a:rPr lang="zh-CN" altLang="en-US" sz="1200" dirty="0">
                  <a:solidFill>
                    <a:schemeClr val="accent3">
                      <a:lumMod val="75000"/>
                    </a:schemeClr>
                  </a:solidFill>
                  <a:latin typeface="+mj-ea"/>
                  <a:ea typeface="+mj-ea"/>
                </a:rPr>
                <a:t>以体制机制创新为根本的新型研发机构</a:t>
              </a:r>
              <a:endParaRPr lang="zh-CN" altLang="en-US" sz="1200" dirty="0">
                <a:solidFill>
                  <a:schemeClr val="accent3">
                    <a:lumMod val="75000"/>
                  </a:schemeClr>
                </a:solidFill>
                <a:latin typeface="+mj-ea"/>
                <a:ea typeface="+mj-ea"/>
              </a:endParaRPr>
            </a:p>
          </p:txBody>
        </p:sp>
        <p:sp>
          <p:nvSpPr>
            <p:cNvPr id="37" name="文本框 36"/>
            <p:cNvSpPr txBox="1"/>
            <p:nvPr/>
          </p:nvSpPr>
          <p:spPr>
            <a:xfrm>
              <a:off x="2904565" y="1761565"/>
              <a:ext cx="0" cy="0"/>
            </a:xfrm>
            <a:prstGeom prst="rect">
              <a:avLst/>
            </a:prstGeom>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endParaRPr kumimoji="1" lang="zh-CN" altLang="en-US" sz="2400" dirty="0"/>
            </a:p>
          </p:txBody>
        </p:sp>
      </p:grpSp>
      <p:sp>
        <p:nvSpPr>
          <p:cNvPr id="49"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rPr>
              <a:t>广泛调研，对标定位</a:t>
            </a:r>
            <a:endParaRPr lang="zh-CN" altLang="en-US" dirty="0">
              <a:solidFill>
                <a:schemeClr val="accent3">
                  <a:lumMod val="75000"/>
                </a:schemeClr>
              </a:solidFill>
              <a:latin typeface="+mj-ea"/>
              <a:sym typeface="Arial" panose="020B0604020202020204" pitchFamily="34" charset="0"/>
            </a:endParaRPr>
          </a:p>
        </p:txBody>
      </p:sp>
      <p:sp>
        <p:nvSpPr>
          <p:cNvPr id="50" name="文本框 49"/>
          <p:cNvSpPr txBox="1"/>
          <p:nvPr/>
        </p:nvSpPr>
        <p:spPr>
          <a:xfrm>
            <a:off x="599496"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1.1</a:t>
            </a:r>
            <a:endParaRPr kumimoji="1" lang="zh-CN" altLang="en-US" sz="3200" b="1" dirty="0">
              <a:solidFill>
                <a:schemeClr val="bg1"/>
              </a:solidFill>
              <a:effectLst>
                <a:outerShdw blurRad="50800" dist="38100" dir="2700000" algn="tl" rotWithShape="0">
                  <a:prstClr val="black">
                    <a:alpha val="40000"/>
                  </a:prstClr>
                </a:outerShdw>
              </a:effectLs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latin typeface="+mj-ea"/>
                <a:sym typeface="Arial" panose="020B0604020202020204" pitchFamily="34" charset="0"/>
              </a:rPr>
              <a:t>发展定位</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814648"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2</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65" name="组合 64"/>
          <p:cNvGrpSpPr/>
          <p:nvPr/>
        </p:nvGrpSpPr>
        <p:grpSpPr>
          <a:xfrm>
            <a:off x="2417381" y="2354277"/>
            <a:ext cx="7255640" cy="1907074"/>
            <a:chOff x="2527069" y="2619750"/>
            <a:chExt cx="7255640" cy="1907074"/>
          </a:xfrm>
        </p:grpSpPr>
        <p:grpSp>
          <p:nvGrpSpPr>
            <p:cNvPr id="5" name="组合 4"/>
            <p:cNvGrpSpPr/>
            <p:nvPr/>
          </p:nvGrpSpPr>
          <p:grpSpPr>
            <a:xfrm>
              <a:off x="2527069" y="2619750"/>
              <a:ext cx="2712752" cy="1907074"/>
              <a:chOff x="1508289" y="3166004"/>
              <a:chExt cx="2712752" cy="1907074"/>
            </a:xfrm>
          </p:grpSpPr>
          <p:grpSp>
            <p:nvGrpSpPr>
              <p:cNvPr id="6" name="组合 5"/>
              <p:cNvGrpSpPr/>
              <p:nvPr/>
            </p:nvGrpSpPr>
            <p:grpSpPr>
              <a:xfrm>
                <a:off x="1508289" y="3166004"/>
                <a:ext cx="2712752" cy="1907074"/>
                <a:chOff x="93584" y="3094484"/>
                <a:chExt cx="6948358" cy="2845986"/>
              </a:xfrm>
            </p:grpSpPr>
            <p:sp>
              <p:nvSpPr>
                <p:cNvPr id="11" name="旁门左道出品"/>
                <p:cNvSpPr/>
                <p:nvPr/>
              </p:nvSpPr>
              <p:spPr>
                <a:xfrm>
                  <a:off x="988298" y="4017630"/>
                  <a:ext cx="5158929" cy="1650341"/>
                </a:xfrm>
                <a:prstGeom prst="diamond">
                  <a:avLst/>
                </a:prstGeom>
                <a:solidFill>
                  <a:schemeClr val="accent1">
                    <a:alpha val="56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sp>
              <p:nvSpPr>
                <p:cNvPr id="12" name="菱形 11"/>
                <p:cNvSpPr/>
                <p:nvPr/>
              </p:nvSpPr>
              <p:spPr>
                <a:xfrm>
                  <a:off x="988298" y="4017630"/>
                  <a:ext cx="5158929" cy="1650341"/>
                </a:xfrm>
                <a:prstGeom prst="diamond">
                  <a:avLst/>
                </a:prstGeom>
                <a:gradFill>
                  <a:gsLst>
                    <a:gs pos="100000">
                      <a:schemeClr val="accent1">
                        <a:alpha val="35000"/>
                      </a:schemeClr>
                    </a:gs>
                    <a:gs pos="0">
                      <a:schemeClr val="accent2">
                        <a:lumMod val="60000"/>
                        <a:lumOff val="40000"/>
                        <a:alpha val="0"/>
                      </a:schemeClr>
                    </a:gs>
                  </a:gsLst>
                  <a:path path="shape">
                    <a:fillToRect l="50000" t="50000" r="50000" b="50000"/>
                  </a:path>
                </a:gra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srgbClr val="FFFFFF"/>
                    </a:solidFill>
                    <a:effectLst/>
                    <a:uLnTx/>
                    <a:uFillTx/>
                    <a:latin typeface="Alibaba PuHuiTi 2.0 45 Light" pitchFamily="18" charset="-122"/>
                    <a:ea typeface="Alibaba PuHuiTi 2.0 45 Light" pitchFamily="18" charset="-122"/>
                    <a:cs typeface="+mn-cs"/>
                  </a:endParaRPr>
                </a:p>
              </p:txBody>
            </p:sp>
            <p:sp>
              <p:nvSpPr>
                <p:cNvPr id="13" name="菱形 12"/>
                <p:cNvSpPr/>
                <p:nvPr/>
              </p:nvSpPr>
              <p:spPr>
                <a:xfrm>
                  <a:off x="1732474" y="4092589"/>
                  <a:ext cx="3670577" cy="1174219"/>
                </a:xfrm>
                <a:prstGeom prst="diamond">
                  <a:avLst/>
                </a:prstGeom>
                <a:gradFill flip="none" rotWithShape="1">
                  <a:gsLst>
                    <a:gs pos="50000">
                      <a:schemeClr val="accent1">
                        <a:alpha val="0"/>
                      </a:schemeClr>
                    </a:gs>
                    <a:gs pos="100000">
                      <a:schemeClr val="accent1">
                        <a:alpha val="4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grpSp>
              <p:nvGrpSpPr>
                <p:cNvPr id="14" name="组合 13"/>
                <p:cNvGrpSpPr/>
                <p:nvPr/>
              </p:nvGrpSpPr>
              <p:grpSpPr>
                <a:xfrm>
                  <a:off x="93584" y="3745131"/>
                  <a:ext cx="6948358" cy="2195339"/>
                  <a:chOff x="6969128" y="4086893"/>
                  <a:chExt cx="3748116" cy="1346124"/>
                </a:xfrm>
              </p:grpSpPr>
              <p:grpSp>
                <p:nvGrpSpPr>
                  <p:cNvPr id="16" name="组合 15"/>
                  <p:cNvGrpSpPr/>
                  <p:nvPr/>
                </p:nvGrpSpPr>
                <p:grpSpPr>
                  <a:xfrm>
                    <a:off x="6969128" y="4086893"/>
                    <a:ext cx="3748116" cy="782620"/>
                    <a:chOff x="6969128" y="4086893"/>
                    <a:chExt cx="3748116" cy="782620"/>
                  </a:xfrm>
                </p:grpSpPr>
                <p:cxnSp>
                  <p:nvCxnSpPr>
                    <p:cNvPr id="20" name="直接连接符 11"/>
                    <p:cNvCxnSpPr/>
                    <p:nvPr/>
                  </p:nvCxnSpPr>
                  <p:spPr>
                    <a:xfrm flipH="1" flipV="1">
                      <a:off x="8565043"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21" name="旁门左道出品"/>
                    <p:cNvCxnSpPr/>
                    <p:nvPr/>
                  </p:nvCxnSpPr>
                  <p:spPr>
                    <a:xfrm flipV="1">
                      <a:off x="6969128"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flipV="1">
                    <a:off x="6969128" y="4650397"/>
                    <a:ext cx="3748116" cy="782620"/>
                    <a:chOff x="6969128" y="4086893"/>
                    <a:chExt cx="3748116" cy="782620"/>
                  </a:xfrm>
                </p:grpSpPr>
                <p:cxnSp>
                  <p:nvCxnSpPr>
                    <p:cNvPr id="18" name="直接连接符 9"/>
                    <p:cNvCxnSpPr/>
                    <p:nvPr/>
                  </p:nvCxnSpPr>
                  <p:spPr>
                    <a:xfrm flipH="1" flipV="1">
                      <a:off x="8565043"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9" name="直接连接符 10"/>
                    <p:cNvCxnSpPr/>
                    <p:nvPr/>
                  </p:nvCxnSpPr>
                  <p:spPr>
                    <a:xfrm flipV="1">
                      <a:off x="6969128"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15" name="旁门左道出品"/>
                <p:cNvSpPr/>
                <p:nvPr/>
              </p:nvSpPr>
              <p:spPr>
                <a:xfrm flipV="1">
                  <a:off x="1183131" y="3094484"/>
                  <a:ext cx="4769256" cy="2325930"/>
                </a:xfrm>
                <a:custGeom>
                  <a:avLst/>
                  <a:gdLst>
                    <a:gd name="connsiteX0" fmla="*/ 0 w 2572654"/>
                    <a:gd name="connsiteY0" fmla="*/ 1066443 h 1066443"/>
                    <a:gd name="connsiteX1" fmla="*/ 300662 w 2572654"/>
                    <a:gd name="connsiteY1" fmla="*/ 0 h 1066443"/>
                    <a:gd name="connsiteX2" fmla="*/ 2271992 w 2572654"/>
                    <a:gd name="connsiteY2" fmla="*/ 0 h 1066443"/>
                    <a:gd name="connsiteX3" fmla="*/ 2572654 w 2572654"/>
                    <a:gd name="connsiteY3" fmla="*/ 1066443 h 1066443"/>
                    <a:gd name="connsiteX4" fmla="*/ 0 w 2572654"/>
                    <a:gd name="connsiteY4" fmla="*/ 1066443 h 1066443"/>
                    <a:gd name="connsiteX0-1" fmla="*/ 0 w 2572654"/>
                    <a:gd name="connsiteY0-2" fmla="*/ 1066631 h 1066631"/>
                    <a:gd name="connsiteX1-3" fmla="*/ 300662 w 2572654"/>
                    <a:gd name="connsiteY1-4" fmla="*/ 188 h 1066631"/>
                    <a:gd name="connsiteX2-5" fmla="*/ 1249016 w 2572654"/>
                    <a:gd name="connsiteY2-6" fmla="*/ 0 h 1066631"/>
                    <a:gd name="connsiteX3-7" fmla="*/ 2271992 w 2572654"/>
                    <a:gd name="connsiteY3-8" fmla="*/ 188 h 1066631"/>
                    <a:gd name="connsiteX4-9" fmla="*/ 2572654 w 2572654"/>
                    <a:gd name="connsiteY4-10" fmla="*/ 1066631 h 1066631"/>
                    <a:gd name="connsiteX5" fmla="*/ 0 w 2572654"/>
                    <a:gd name="connsiteY5" fmla="*/ 1066631 h 1066631"/>
                    <a:gd name="connsiteX0-11" fmla="*/ 0 w 2572654"/>
                    <a:gd name="connsiteY0-12" fmla="*/ 1426199 h 1426199"/>
                    <a:gd name="connsiteX1-13" fmla="*/ 300662 w 2572654"/>
                    <a:gd name="connsiteY1-14" fmla="*/ 359756 h 1426199"/>
                    <a:gd name="connsiteX2-15" fmla="*/ 1289498 w 2572654"/>
                    <a:gd name="connsiteY2-16" fmla="*/ 0 h 1426199"/>
                    <a:gd name="connsiteX3-17" fmla="*/ 2271992 w 2572654"/>
                    <a:gd name="connsiteY3-18" fmla="*/ 359756 h 1426199"/>
                    <a:gd name="connsiteX4-19" fmla="*/ 2572654 w 2572654"/>
                    <a:gd name="connsiteY4-20" fmla="*/ 1426199 h 1426199"/>
                    <a:gd name="connsiteX5-21" fmla="*/ 0 w 2572654"/>
                    <a:gd name="connsiteY5-22" fmla="*/ 1426199 h 14261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572654" h="1426199">
                      <a:moveTo>
                        <a:pt x="0" y="1426199"/>
                      </a:moveTo>
                      <a:lnTo>
                        <a:pt x="300662" y="359756"/>
                      </a:lnTo>
                      <a:lnTo>
                        <a:pt x="1289498" y="0"/>
                      </a:lnTo>
                      <a:lnTo>
                        <a:pt x="2271992" y="359756"/>
                      </a:lnTo>
                      <a:lnTo>
                        <a:pt x="2572654" y="1426199"/>
                      </a:lnTo>
                      <a:lnTo>
                        <a:pt x="0" y="1426199"/>
                      </a:lnTo>
                      <a:close/>
                    </a:path>
                  </a:pathLst>
                </a:custGeom>
                <a:gradFill flip="none" rotWithShape="1">
                  <a:gsLst>
                    <a:gs pos="90000">
                      <a:schemeClr val="accent2">
                        <a:alpha val="0"/>
                      </a:schemeClr>
                    </a:gs>
                    <a:gs pos="10000">
                      <a:srgbClr val="6BB6DB"/>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srgbClr val="FFFFFF"/>
                    </a:solidFill>
                    <a:effectLst/>
                    <a:uLnTx/>
                    <a:uFillTx/>
                    <a:latin typeface="Alibaba PuHuiTi 2.0 45 Light" pitchFamily="18" charset="-122"/>
                    <a:ea typeface="Alibaba PuHuiTi 2.0 45 Light" pitchFamily="18" charset="-122"/>
                    <a:cs typeface="+mn-cs"/>
                  </a:endParaRPr>
                </a:p>
              </p:txBody>
            </p:sp>
          </p:grpSp>
          <p:sp>
            <p:nvSpPr>
              <p:cNvPr id="9" name="文本框 8"/>
              <p:cNvSpPr txBox="1"/>
              <p:nvPr/>
            </p:nvSpPr>
            <p:spPr>
              <a:xfrm>
                <a:off x="2394713" y="3667464"/>
                <a:ext cx="909717" cy="707886"/>
              </a:xfrm>
              <a:prstGeom prst="rect">
                <a:avLst/>
              </a:prstGeom>
              <a:noFill/>
            </p:spPr>
            <p:txBody>
              <a:bodyPr wrap="square" rtlCol="0">
                <a:sp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u="none" strike="noStrike" kern="1200" cap="none" spc="0" normalizeH="0" baseline="0" noProof="0" dirty="0" smtClean="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rPr>
                  <a:t>咨政建</a:t>
                </a:r>
                <a:r>
                  <a:rPr kumimoji="0" lang="zh-CN" altLang="en-US" sz="2000" b="1"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rPr>
                  <a:t>言</a:t>
                </a:r>
                <a:endParaRPr kumimoji="0" lang="zh-CN" altLang="en-US" sz="2000" b="1"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endParaRPr>
              </a:p>
            </p:txBody>
          </p:sp>
        </p:grpSp>
        <p:grpSp>
          <p:nvGrpSpPr>
            <p:cNvPr id="22" name="组合 21"/>
            <p:cNvGrpSpPr/>
            <p:nvPr/>
          </p:nvGrpSpPr>
          <p:grpSpPr>
            <a:xfrm>
              <a:off x="4814441" y="2619750"/>
              <a:ext cx="2712752" cy="1907074"/>
              <a:chOff x="1508289" y="3166004"/>
              <a:chExt cx="2712752" cy="1907074"/>
            </a:xfrm>
          </p:grpSpPr>
          <p:grpSp>
            <p:nvGrpSpPr>
              <p:cNvPr id="23" name="组合 22"/>
              <p:cNvGrpSpPr/>
              <p:nvPr/>
            </p:nvGrpSpPr>
            <p:grpSpPr>
              <a:xfrm>
                <a:off x="1508289" y="3166004"/>
                <a:ext cx="2712752" cy="1907074"/>
                <a:chOff x="93584" y="3094484"/>
                <a:chExt cx="6948358" cy="2845986"/>
              </a:xfrm>
            </p:grpSpPr>
            <p:sp>
              <p:nvSpPr>
                <p:cNvPr id="25" name="旁门左道出品"/>
                <p:cNvSpPr/>
                <p:nvPr/>
              </p:nvSpPr>
              <p:spPr>
                <a:xfrm>
                  <a:off x="988298" y="4017630"/>
                  <a:ext cx="5158929" cy="1650341"/>
                </a:xfrm>
                <a:prstGeom prst="diamond">
                  <a:avLst/>
                </a:prstGeom>
                <a:solidFill>
                  <a:schemeClr val="accent1">
                    <a:alpha val="56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sp>
              <p:nvSpPr>
                <p:cNvPr id="26" name="菱形 25"/>
                <p:cNvSpPr/>
                <p:nvPr/>
              </p:nvSpPr>
              <p:spPr>
                <a:xfrm>
                  <a:off x="988298" y="4017630"/>
                  <a:ext cx="5158929" cy="1650341"/>
                </a:xfrm>
                <a:prstGeom prst="diamond">
                  <a:avLst/>
                </a:prstGeom>
                <a:gradFill>
                  <a:gsLst>
                    <a:gs pos="100000">
                      <a:schemeClr val="accent1">
                        <a:alpha val="35000"/>
                      </a:schemeClr>
                    </a:gs>
                    <a:gs pos="0">
                      <a:schemeClr val="accent2">
                        <a:lumMod val="60000"/>
                        <a:lumOff val="40000"/>
                        <a:alpha val="0"/>
                      </a:schemeClr>
                    </a:gs>
                  </a:gsLst>
                  <a:path path="shape">
                    <a:fillToRect l="50000" t="50000" r="50000" b="50000"/>
                  </a:path>
                </a:gra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sp>
              <p:nvSpPr>
                <p:cNvPr id="27" name="菱形 26"/>
                <p:cNvSpPr/>
                <p:nvPr/>
              </p:nvSpPr>
              <p:spPr>
                <a:xfrm>
                  <a:off x="1732474" y="4092589"/>
                  <a:ext cx="3670577" cy="1174219"/>
                </a:xfrm>
                <a:prstGeom prst="diamond">
                  <a:avLst/>
                </a:prstGeom>
                <a:gradFill flip="none" rotWithShape="1">
                  <a:gsLst>
                    <a:gs pos="50000">
                      <a:schemeClr val="accent1">
                        <a:alpha val="0"/>
                      </a:schemeClr>
                    </a:gs>
                    <a:gs pos="100000">
                      <a:schemeClr val="accent1">
                        <a:alpha val="4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grpSp>
              <p:nvGrpSpPr>
                <p:cNvPr id="28" name="组合 27"/>
                <p:cNvGrpSpPr/>
                <p:nvPr/>
              </p:nvGrpSpPr>
              <p:grpSpPr>
                <a:xfrm>
                  <a:off x="93584" y="3745131"/>
                  <a:ext cx="6948358" cy="2195339"/>
                  <a:chOff x="6969128" y="4086893"/>
                  <a:chExt cx="3748116" cy="1346124"/>
                </a:xfrm>
              </p:grpSpPr>
              <p:grpSp>
                <p:nvGrpSpPr>
                  <p:cNvPr id="30" name="组合 29"/>
                  <p:cNvGrpSpPr/>
                  <p:nvPr/>
                </p:nvGrpSpPr>
                <p:grpSpPr>
                  <a:xfrm>
                    <a:off x="6969128" y="4086893"/>
                    <a:ext cx="3748116" cy="782620"/>
                    <a:chOff x="6969128" y="4086893"/>
                    <a:chExt cx="3748116" cy="782620"/>
                  </a:xfrm>
                </p:grpSpPr>
                <p:cxnSp>
                  <p:nvCxnSpPr>
                    <p:cNvPr id="34" name="直接连接符 11"/>
                    <p:cNvCxnSpPr/>
                    <p:nvPr/>
                  </p:nvCxnSpPr>
                  <p:spPr>
                    <a:xfrm flipH="1" flipV="1">
                      <a:off x="8565043"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5" name="旁门左道出品"/>
                    <p:cNvCxnSpPr/>
                    <p:nvPr/>
                  </p:nvCxnSpPr>
                  <p:spPr>
                    <a:xfrm flipV="1">
                      <a:off x="6969128"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flipV="1">
                    <a:off x="6969128" y="4650397"/>
                    <a:ext cx="3748116" cy="782620"/>
                    <a:chOff x="6969128" y="4086893"/>
                    <a:chExt cx="3748116" cy="782620"/>
                  </a:xfrm>
                </p:grpSpPr>
                <p:cxnSp>
                  <p:nvCxnSpPr>
                    <p:cNvPr id="32" name="直接连接符 9"/>
                    <p:cNvCxnSpPr/>
                    <p:nvPr/>
                  </p:nvCxnSpPr>
                  <p:spPr>
                    <a:xfrm flipH="1" flipV="1">
                      <a:off x="8565043"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3" name="直接连接符 10"/>
                    <p:cNvCxnSpPr/>
                    <p:nvPr/>
                  </p:nvCxnSpPr>
                  <p:spPr>
                    <a:xfrm flipV="1">
                      <a:off x="6969128"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9" name="旁门左道出品"/>
                <p:cNvSpPr/>
                <p:nvPr/>
              </p:nvSpPr>
              <p:spPr>
                <a:xfrm flipV="1">
                  <a:off x="1183131" y="3094484"/>
                  <a:ext cx="4769256" cy="2325930"/>
                </a:xfrm>
                <a:custGeom>
                  <a:avLst/>
                  <a:gdLst>
                    <a:gd name="connsiteX0" fmla="*/ 0 w 2572654"/>
                    <a:gd name="connsiteY0" fmla="*/ 1066443 h 1066443"/>
                    <a:gd name="connsiteX1" fmla="*/ 300662 w 2572654"/>
                    <a:gd name="connsiteY1" fmla="*/ 0 h 1066443"/>
                    <a:gd name="connsiteX2" fmla="*/ 2271992 w 2572654"/>
                    <a:gd name="connsiteY2" fmla="*/ 0 h 1066443"/>
                    <a:gd name="connsiteX3" fmla="*/ 2572654 w 2572654"/>
                    <a:gd name="connsiteY3" fmla="*/ 1066443 h 1066443"/>
                    <a:gd name="connsiteX4" fmla="*/ 0 w 2572654"/>
                    <a:gd name="connsiteY4" fmla="*/ 1066443 h 1066443"/>
                    <a:gd name="connsiteX0-1" fmla="*/ 0 w 2572654"/>
                    <a:gd name="connsiteY0-2" fmla="*/ 1066631 h 1066631"/>
                    <a:gd name="connsiteX1-3" fmla="*/ 300662 w 2572654"/>
                    <a:gd name="connsiteY1-4" fmla="*/ 188 h 1066631"/>
                    <a:gd name="connsiteX2-5" fmla="*/ 1249016 w 2572654"/>
                    <a:gd name="connsiteY2-6" fmla="*/ 0 h 1066631"/>
                    <a:gd name="connsiteX3-7" fmla="*/ 2271992 w 2572654"/>
                    <a:gd name="connsiteY3-8" fmla="*/ 188 h 1066631"/>
                    <a:gd name="connsiteX4-9" fmla="*/ 2572654 w 2572654"/>
                    <a:gd name="connsiteY4-10" fmla="*/ 1066631 h 1066631"/>
                    <a:gd name="connsiteX5" fmla="*/ 0 w 2572654"/>
                    <a:gd name="connsiteY5" fmla="*/ 1066631 h 1066631"/>
                    <a:gd name="connsiteX0-11" fmla="*/ 0 w 2572654"/>
                    <a:gd name="connsiteY0-12" fmla="*/ 1426199 h 1426199"/>
                    <a:gd name="connsiteX1-13" fmla="*/ 300662 w 2572654"/>
                    <a:gd name="connsiteY1-14" fmla="*/ 359756 h 1426199"/>
                    <a:gd name="connsiteX2-15" fmla="*/ 1289498 w 2572654"/>
                    <a:gd name="connsiteY2-16" fmla="*/ 0 h 1426199"/>
                    <a:gd name="connsiteX3-17" fmla="*/ 2271992 w 2572654"/>
                    <a:gd name="connsiteY3-18" fmla="*/ 359756 h 1426199"/>
                    <a:gd name="connsiteX4-19" fmla="*/ 2572654 w 2572654"/>
                    <a:gd name="connsiteY4-20" fmla="*/ 1426199 h 1426199"/>
                    <a:gd name="connsiteX5-21" fmla="*/ 0 w 2572654"/>
                    <a:gd name="connsiteY5-22" fmla="*/ 1426199 h 14261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572654" h="1426199">
                      <a:moveTo>
                        <a:pt x="0" y="1426199"/>
                      </a:moveTo>
                      <a:lnTo>
                        <a:pt x="300662" y="359756"/>
                      </a:lnTo>
                      <a:lnTo>
                        <a:pt x="1289498" y="0"/>
                      </a:lnTo>
                      <a:lnTo>
                        <a:pt x="2271992" y="359756"/>
                      </a:lnTo>
                      <a:lnTo>
                        <a:pt x="2572654" y="1426199"/>
                      </a:lnTo>
                      <a:lnTo>
                        <a:pt x="0" y="1426199"/>
                      </a:lnTo>
                      <a:close/>
                    </a:path>
                  </a:pathLst>
                </a:custGeom>
                <a:gradFill flip="none" rotWithShape="1">
                  <a:gsLst>
                    <a:gs pos="90000">
                      <a:schemeClr val="accent2">
                        <a:alpha val="0"/>
                      </a:schemeClr>
                    </a:gs>
                    <a:gs pos="10000">
                      <a:srgbClr val="6DBADD"/>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srgbClr val="FFFFFF"/>
                    </a:solidFill>
                    <a:effectLst/>
                    <a:uLnTx/>
                    <a:uFillTx/>
                    <a:latin typeface="Alibaba PuHuiTi 2.0 45 Light" pitchFamily="18" charset="-122"/>
                    <a:ea typeface="Alibaba PuHuiTi 2.0 45 Light" pitchFamily="18" charset="-122"/>
                    <a:cs typeface="+mn-cs"/>
                  </a:endParaRPr>
                </a:p>
              </p:txBody>
            </p:sp>
          </p:grpSp>
          <p:sp>
            <p:nvSpPr>
              <p:cNvPr id="24" name="文本框 23"/>
              <p:cNvSpPr txBox="1"/>
              <p:nvPr/>
            </p:nvSpPr>
            <p:spPr>
              <a:xfrm>
                <a:off x="2394713" y="3667464"/>
                <a:ext cx="909717" cy="707886"/>
              </a:xfrm>
              <a:prstGeom prst="rect">
                <a:avLst/>
              </a:prstGeom>
              <a:noFill/>
            </p:spPr>
            <p:txBody>
              <a:bodyPr wrap="square" rtlCol="0">
                <a:sp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rPr>
                  <a:t>创新培育</a:t>
                </a:r>
                <a:endParaRPr kumimoji="0" lang="zh-CN" altLang="en-US" sz="2000" b="1"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endParaRPr>
              </a:p>
            </p:txBody>
          </p:sp>
        </p:grpSp>
        <p:grpSp>
          <p:nvGrpSpPr>
            <p:cNvPr id="36" name="组合 35"/>
            <p:cNvGrpSpPr/>
            <p:nvPr/>
          </p:nvGrpSpPr>
          <p:grpSpPr>
            <a:xfrm>
              <a:off x="7069957" y="2619750"/>
              <a:ext cx="2712752" cy="1907074"/>
              <a:chOff x="1508289" y="3166004"/>
              <a:chExt cx="2712752" cy="1907074"/>
            </a:xfrm>
          </p:grpSpPr>
          <p:grpSp>
            <p:nvGrpSpPr>
              <p:cNvPr id="37" name="组合 36"/>
              <p:cNvGrpSpPr/>
              <p:nvPr/>
            </p:nvGrpSpPr>
            <p:grpSpPr>
              <a:xfrm>
                <a:off x="1508289" y="3166004"/>
                <a:ext cx="2712752" cy="1907074"/>
                <a:chOff x="93584" y="3094484"/>
                <a:chExt cx="6948358" cy="2845986"/>
              </a:xfrm>
            </p:grpSpPr>
            <p:sp>
              <p:nvSpPr>
                <p:cNvPr id="39" name="旁门左道出品"/>
                <p:cNvSpPr/>
                <p:nvPr/>
              </p:nvSpPr>
              <p:spPr>
                <a:xfrm>
                  <a:off x="988298" y="4017630"/>
                  <a:ext cx="5158929" cy="1650341"/>
                </a:xfrm>
                <a:prstGeom prst="diamond">
                  <a:avLst/>
                </a:prstGeom>
                <a:solidFill>
                  <a:schemeClr val="accent1">
                    <a:alpha val="56000"/>
                  </a:schemeClr>
                </a:solidFill>
                <a:ln w="9525">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sp>
              <p:nvSpPr>
                <p:cNvPr id="40" name="菱形 39"/>
                <p:cNvSpPr/>
                <p:nvPr/>
              </p:nvSpPr>
              <p:spPr>
                <a:xfrm>
                  <a:off x="988298" y="4017630"/>
                  <a:ext cx="5158929" cy="1650341"/>
                </a:xfrm>
                <a:prstGeom prst="diamond">
                  <a:avLst/>
                </a:prstGeom>
                <a:gradFill>
                  <a:gsLst>
                    <a:gs pos="100000">
                      <a:schemeClr val="accent1">
                        <a:alpha val="35000"/>
                      </a:schemeClr>
                    </a:gs>
                    <a:gs pos="0">
                      <a:schemeClr val="accent2">
                        <a:lumMod val="60000"/>
                        <a:lumOff val="40000"/>
                        <a:alpha val="0"/>
                      </a:schemeClr>
                    </a:gs>
                  </a:gsLst>
                  <a:path path="shape">
                    <a:fillToRect l="50000" t="50000" r="50000" b="50000"/>
                  </a:path>
                </a:gradFill>
                <a:ln w="3175">
                  <a:no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sp>
              <p:nvSpPr>
                <p:cNvPr id="41" name="菱形 40"/>
                <p:cNvSpPr/>
                <p:nvPr/>
              </p:nvSpPr>
              <p:spPr>
                <a:xfrm>
                  <a:off x="1732474" y="4092589"/>
                  <a:ext cx="3670577" cy="1174219"/>
                </a:xfrm>
                <a:prstGeom prst="diamond">
                  <a:avLst/>
                </a:prstGeom>
                <a:gradFill flip="none" rotWithShape="1">
                  <a:gsLst>
                    <a:gs pos="50000">
                      <a:schemeClr val="accent1">
                        <a:alpha val="0"/>
                      </a:schemeClr>
                    </a:gs>
                    <a:gs pos="100000">
                      <a:schemeClr val="accent1">
                        <a:alpha val="4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srgbClr val="FFFFFF"/>
                    </a:solidFill>
                    <a:effectLst/>
                    <a:uLnTx/>
                    <a:uFillTx/>
                    <a:latin typeface="Alibaba PuHuiTi 2.0 45 Light" pitchFamily="18" charset="-122"/>
                    <a:ea typeface="Alibaba PuHuiTi 2.0 45 Light" pitchFamily="18" charset="-122"/>
                    <a:cs typeface="+mn-cs"/>
                  </a:endParaRPr>
                </a:p>
              </p:txBody>
            </p:sp>
            <p:grpSp>
              <p:nvGrpSpPr>
                <p:cNvPr id="42" name="组合 41"/>
                <p:cNvGrpSpPr/>
                <p:nvPr/>
              </p:nvGrpSpPr>
              <p:grpSpPr>
                <a:xfrm>
                  <a:off x="93584" y="3745131"/>
                  <a:ext cx="6948358" cy="2195339"/>
                  <a:chOff x="6969128" y="4086893"/>
                  <a:chExt cx="3748116" cy="1346124"/>
                </a:xfrm>
              </p:grpSpPr>
              <p:grpSp>
                <p:nvGrpSpPr>
                  <p:cNvPr id="44" name="组合 43"/>
                  <p:cNvGrpSpPr/>
                  <p:nvPr/>
                </p:nvGrpSpPr>
                <p:grpSpPr>
                  <a:xfrm>
                    <a:off x="6969128" y="4086893"/>
                    <a:ext cx="3748116" cy="782620"/>
                    <a:chOff x="6969128" y="4086893"/>
                    <a:chExt cx="3748116" cy="782620"/>
                  </a:xfrm>
                </p:grpSpPr>
                <p:cxnSp>
                  <p:nvCxnSpPr>
                    <p:cNvPr id="48" name="直接连接符 11"/>
                    <p:cNvCxnSpPr/>
                    <p:nvPr/>
                  </p:nvCxnSpPr>
                  <p:spPr>
                    <a:xfrm flipH="1" flipV="1">
                      <a:off x="8565043"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9" name="旁门左道出品"/>
                    <p:cNvCxnSpPr/>
                    <p:nvPr/>
                  </p:nvCxnSpPr>
                  <p:spPr>
                    <a:xfrm flipV="1">
                      <a:off x="6969128"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45" name="组合 44"/>
                  <p:cNvGrpSpPr/>
                  <p:nvPr/>
                </p:nvGrpSpPr>
                <p:grpSpPr>
                  <a:xfrm flipV="1">
                    <a:off x="6969128" y="4650397"/>
                    <a:ext cx="3748116" cy="782620"/>
                    <a:chOff x="6969128" y="4086893"/>
                    <a:chExt cx="3748116" cy="782620"/>
                  </a:xfrm>
                </p:grpSpPr>
                <p:cxnSp>
                  <p:nvCxnSpPr>
                    <p:cNvPr id="46" name="直接连接符 9"/>
                    <p:cNvCxnSpPr/>
                    <p:nvPr/>
                  </p:nvCxnSpPr>
                  <p:spPr>
                    <a:xfrm flipH="1" flipV="1">
                      <a:off x="8565043"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47" name="直接连接符 10"/>
                    <p:cNvCxnSpPr/>
                    <p:nvPr/>
                  </p:nvCxnSpPr>
                  <p:spPr>
                    <a:xfrm flipV="1">
                      <a:off x="6969128" y="4086893"/>
                      <a:ext cx="2152201" cy="782620"/>
                    </a:xfrm>
                    <a:prstGeom prst="line">
                      <a:avLst/>
                    </a:prstGeom>
                    <a:ln w="6350">
                      <a:gradFill>
                        <a:gsLst>
                          <a:gs pos="0">
                            <a:schemeClr val="accent1">
                              <a:alpha val="0"/>
                            </a:schemeClr>
                          </a:gs>
                          <a:gs pos="70000">
                            <a:schemeClr val="accent1">
                              <a:alpha val="48000"/>
                            </a:schemeClr>
                          </a:gs>
                          <a:gs pos="30000">
                            <a:schemeClr val="accent1">
                              <a:alpha val="83000"/>
                            </a:schemeClr>
                          </a:gs>
                          <a:gs pos="100000">
                            <a:schemeClr val="accent1">
                              <a:alpha val="0"/>
                            </a:schemeClr>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43" name="旁门左道出品"/>
                <p:cNvSpPr/>
                <p:nvPr/>
              </p:nvSpPr>
              <p:spPr>
                <a:xfrm flipV="1">
                  <a:off x="1183131" y="3094484"/>
                  <a:ext cx="4769256" cy="2325930"/>
                </a:xfrm>
                <a:custGeom>
                  <a:avLst/>
                  <a:gdLst>
                    <a:gd name="connsiteX0" fmla="*/ 0 w 2572654"/>
                    <a:gd name="connsiteY0" fmla="*/ 1066443 h 1066443"/>
                    <a:gd name="connsiteX1" fmla="*/ 300662 w 2572654"/>
                    <a:gd name="connsiteY1" fmla="*/ 0 h 1066443"/>
                    <a:gd name="connsiteX2" fmla="*/ 2271992 w 2572654"/>
                    <a:gd name="connsiteY2" fmla="*/ 0 h 1066443"/>
                    <a:gd name="connsiteX3" fmla="*/ 2572654 w 2572654"/>
                    <a:gd name="connsiteY3" fmla="*/ 1066443 h 1066443"/>
                    <a:gd name="connsiteX4" fmla="*/ 0 w 2572654"/>
                    <a:gd name="connsiteY4" fmla="*/ 1066443 h 1066443"/>
                    <a:gd name="connsiteX0-1" fmla="*/ 0 w 2572654"/>
                    <a:gd name="connsiteY0-2" fmla="*/ 1066631 h 1066631"/>
                    <a:gd name="connsiteX1-3" fmla="*/ 300662 w 2572654"/>
                    <a:gd name="connsiteY1-4" fmla="*/ 188 h 1066631"/>
                    <a:gd name="connsiteX2-5" fmla="*/ 1249016 w 2572654"/>
                    <a:gd name="connsiteY2-6" fmla="*/ 0 h 1066631"/>
                    <a:gd name="connsiteX3-7" fmla="*/ 2271992 w 2572654"/>
                    <a:gd name="connsiteY3-8" fmla="*/ 188 h 1066631"/>
                    <a:gd name="connsiteX4-9" fmla="*/ 2572654 w 2572654"/>
                    <a:gd name="connsiteY4-10" fmla="*/ 1066631 h 1066631"/>
                    <a:gd name="connsiteX5" fmla="*/ 0 w 2572654"/>
                    <a:gd name="connsiteY5" fmla="*/ 1066631 h 1066631"/>
                    <a:gd name="connsiteX0-11" fmla="*/ 0 w 2572654"/>
                    <a:gd name="connsiteY0-12" fmla="*/ 1426199 h 1426199"/>
                    <a:gd name="connsiteX1-13" fmla="*/ 300662 w 2572654"/>
                    <a:gd name="connsiteY1-14" fmla="*/ 359756 h 1426199"/>
                    <a:gd name="connsiteX2-15" fmla="*/ 1289498 w 2572654"/>
                    <a:gd name="connsiteY2-16" fmla="*/ 0 h 1426199"/>
                    <a:gd name="connsiteX3-17" fmla="*/ 2271992 w 2572654"/>
                    <a:gd name="connsiteY3-18" fmla="*/ 359756 h 1426199"/>
                    <a:gd name="connsiteX4-19" fmla="*/ 2572654 w 2572654"/>
                    <a:gd name="connsiteY4-20" fmla="*/ 1426199 h 1426199"/>
                    <a:gd name="connsiteX5-21" fmla="*/ 0 w 2572654"/>
                    <a:gd name="connsiteY5-22" fmla="*/ 1426199 h 142619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2572654" h="1426199">
                      <a:moveTo>
                        <a:pt x="0" y="1426199"/>
                      </a:moveTo>
                      <a:lnTo>
                        <a:pt x="300662" y="359756"/>
                      </a:lnTo>
                      <a:lnTo>
                        <a:pt x="1289498" y="0"/>
                      </a:lnTo>
                      <a:lnTo>
                        <a:pt x="2271992" y="359756"/>
                      </a:lnTo>
                      <a:lnTo>
                        <a:pt x="2572654" y="1426199"/>
                      </a:lnTo>
                      <a:lnTo>
                        <a:pt x="0" y="1426199"/>
                      </a:lnTo>
                      <a:close/>
                    </a:path>
                  </a:pathLst>
                </a:custGeom>
                <a:gradFill flip="none" rotWithShape="1">
                  <a:gsLst>
                    <a:gs pos="100000">
                      <a:schemeClr val="accent2">
                        <a:alpha val="0"/>
                      </a:schemeClr>
                    </a:gs>
                    <a:gs pos="0">
                      <a:srgbClr val="64C0E1"/>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srgbClr val="FFFFFF"/>
                    </a:solidFill>
                    <a:effectLst/>
                    <a:uLnTx/>
                    <a:uFillTx/>
                    <a:latin typeface="Alibaba PuHuiTi 2.0 45 Light" pitchFamily="18" charset="-122"/>
                    <a:ea typeface="Alibaba PuHuiTi 2.0 45 Light" pitchFamily="18" charset="-122"/>
                    <a:cs typeface="+mn-cs"/>
                  </a:endParaRPr>
                </a:p>
              </p:txBody>
            </p:sp>
          </p:grpSp>
          <p:sp>
            <p:nvSpPr>
              <p:cNvPr id="38" name="文本框 37"/>
              <p:cNvSpPr txBox="1"/>
              <p:nvPr/>
            </p:nvSpPr>
            <p:spPr>
              <a:xfrm>
                <a:off x="2394713" y="3667464"/>
                <a:ext cx="909717" cy="707886"/>
              </a:xfrm>
              <a:prstGeom prst="rect">
                <a:avLst/>
              </a:prstGeom>
              <a:noFill/>
            </p:spPr>
            <p:txBody>
              <a:bodyPr wrap="square" rtlCol="0">
                <a:spAutoFit/>
              </a:bodyPr>
              <a:lstStyle>
                <a:defPPr>
                  <a:defRPr lang="zh-CN"/>
                </a:defPPr>
                <a:lvl1pPr>
                  <a:lnSpc>
                    <a:spcPct val="130000"/>
                  </a:lnSpc>
                  <a:defRPr sz="1600">
                    <a:gradFill flip="none" rotWithShape="1">
                      <a:gsLst>
                        <a:gs pos="50000">
                          <a:schemeClr val="accent1"/>
                        </a:gs>
                        <a:gs pos="0">
                          <a:schemeClr val="accent1">
                            <a:lumMod val="60000"/>
                            <a:lumOff val="40000"/>
                          </a:schemeClr>
                        </a:gs>
                        <a:gs pos="100000">
                          <a:schemeClr val="accent1"/>
                        </a:gs>
                      </a:gsLst>
                      <a:lin ang="2700000" scaled="1"/>
                      <a:tileRect/>
                    </a:gradFill>
                    <a:latin typeface="+mj-lt"/>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rPr>
                  <a:t>赋能产业</a:t>
                </a:r>
                <a:endParaRPr kumimoji="0" lang="zh-CN" altLang="en-US" sz="2000" b="1"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Alibaba PuHuiTi 2.0 85" pitchFamily="18" charset="-122"/>
                  <a:ea typeface="Alibaba PuHuiTi 2.0 85" pitchFamily="18" charset="-122"/>
                  <a:cs typeface="+mn-cs"/>
                </a:endParaRPr>
              </a:p>
            </p:txBody>
          </p:sp>
        </p:grpSp>
      </p:grpSp>
      <p:grpSp>
        <p:nvGrpSpPr>
          <p:cNvPr id="122" name="组合 121"/>
          <p:cNvGrpSpPr/>
          <p:nvPr/>
        </p:nvGrpSpPr>
        <p:grpSpPr>
          <a:xfrm>
            <a:off x="1095518" y="3875758"/>
            <a:ext cx="10032815" cy="2118505"/>
            <a:chOff x="1131534" y="1536129"/>
            <a:chExt cx="10032815" cy="2118505"/>
          </a:xfrm>
        </p:grpSpPr>
        <p:sp>
          <p:nvSpPr>
            <p:cNvPr id="123" name="梯形 122"/>
            <p:cNvSpPr/>
            <p:nvPr/>
          </p:nvSpPr>
          <p:spPr>
            <a:xfrm>
              <a:off x="1168879" y="1536129"/>
              <a:ext cx="9958125" cy="507790"/>
            </a:xfrm>
            <a:prstGeom prst="trapezoid">
              <a:avLst>
                <a:gd name="adj" fmla="val 205027"/>
              </a:avLst>
            </a:prstGeom>
            <a:gradFill flip="none" rotWithShape="1">
              <a:gsLst>
                <a:gs pos="28000">
                  <a:schemeClr val="accent2">
                    <a:alpha val="0"/>
                  </a:schemeClr>
                </a:gs>
                <a:gs pos="100000">
                  <a:schemeClr val="accent1">
                    <a:alpha val="33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prstClr val="black">
                    <a:lumMod val="85000"/>
                    <a:lumOff val="15000"/>
                  </a:prstClr>
                </a:solidFill>
                <a:effectLst/>
                <a:uLnTx/>
                <a:uFillTx/>
                <a:latin typeface="Alibaba PuHuiTi 2.0 45 Light" pitchFamily="18" charset="-122"/>
                <a:ea typeface="Alibaba PuHuiTi 2.0 45 Light" pitchFamily="18" charset="-122"/>
                <a:cs typeface="+mn-cs"/>
              </a:endParaRPr>
            </a:p>
          </p:txBody>
        </p:sp>
        <p:sp>
          <p:nvSpPr>
            <p:cNvPr id="124" name="矩形: 剪去对角 97"/>
            <p:cNvSpPr/>
            <p:nvPr/>
          </p:nvSpPr>
          <p:spPr>
            <a:xfrm>
              <a:off x="1131534" y="2038101"/>
              <a:ext cx="10032815" cy="1616533"/>
            </a:xfrm>
            <a:prstGeom prst="snip2DiagRect">
              <a:avLst>
                <a:gd name="adj1" fmla="val 3337"/>
                <a:gd name="adj2" fmla="val 3318"/>
              </a:avLst>
            </a:prstGeom>
            <a:gradFill flip="none" rotWithShape="1">
              <a:gsLst>
                <a:gs pos="100000">
                  <a:schemeClr val="accent1">
                    <a:alpha val="27000"/>
                  </a:schemeClr>
                </a:gs>
                <a:gs pos="85000">
                  <a:schemeClr val="accent1">
                    <a:alpha val="0"/>
                  </a:schemeClr>
                </a:gs>
              </a:gsLst>
              <a:path path="shape">
                <a:fillToRect l="50000" t="50000" r="50000" b="50000"/>
              </a:path>
              <a:tileRect/>
            </a:gra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lumMod val="85000"/>
                    <a:lumOff val="15000"/>
                  </a:prstClr>
                </a:solidFill>
                <a:effectLst/>
                <a:uLnTx/>
                <a:uFillTx/>
                <a:latin typeface="Alibaba PuHuiTi 2.0 45 Light" pitchFamily="18" charset="-122"/>
                <a:ea typeface="Alibaba PuHuiTi 2.0 45 Light" pitchFamily="18" charset="-122"/>
                <a:cs typeface="+mn-cs"/>
              </a:endParaRPr>
            </a:p>
          </p:txBody>
        </p:sp>
      </p:grpSp>
      <p:sp>
        <p:nvSpPr>
          <p:cNvPr id="4" name="Rectangle 3"/>
          <p:cNvSpPr txBox="1">
            <a:spLocks noChangeArrowheads="1"/>
          </p:cNvSpPr>
          <p:nvPr/>
        </p:nvSpPr>
        <p:spPr>
          <a:xfrm>
            <a:off x="1456594" y="4797674"/>
            <a:ext cx="9278812" cy="855268"/>
          </a:xfrm>
          <a:prstGeom prst="rect">
            <a:avLst/>
          </a:prstGeom>
        </p:spPr>
        <p:txBody>
          <a:bodyPr>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6400" lvl="1" indent="-6350" algn="ctr">
              <a:lnSpc>
                <a:spcPct val="150000"/>
              </a:lnSpc>
              <a:buClr>
                <a:schemeClr val="tx1"/>
              </a:buClr>
              <a:buFont typeface="Arial" panose="020B0604020202020204" pitchFamily="34" charset="0"/>
              <a:buNone/>
            </a:pPr>
            <a:r>
              <a:rPr lang="zh-CN" altLang="en-US" sz="1600" dirty="0">
                <a:solidFill>
                  <a:schemeClr val="accent2">
                    <a:lumMod val="50000"/>
                  </a:schemeClr>
                </a:solidFill>
                <a:latin typeface="+mj-ea"/>
                <a:ea typeface="+mj-ea"/>
                <a:sym typeface="+mn-ea"/>
              </a:rPr>
              <a:t>培育“</a:t>
            </a:r>
            <a:r>
              <a:rPr lang="zh-CN" altLang="en-US" sz="1600" b="1" dirty="0">
                <a:solidFill>
                  <a:schemeClr val="accent2">
                    <a:lumMod val="50000"/>
                  </a:schemeClr>
                </a:solidFill>
                <a:latin typeface="+mj-ea"/>
                <a:ea typeface="+mj-ea"/>
                <a:sym typeface="+mn-ea"/>
              </a:rPr>
              <a:t>一流科技创新智库、一流科技创新平台、一流科技成果转化</a:t>
            </a:r>
            <a:r>
              <a:rPr lang="zh-CN" altLang="en-US" sz="1600" b="1" dirty="0" smtClean="0">
                <a:solidFill>
                  <a:schemeClr val="accent2">
                    <a:lumMod val="50000"/>
                  </a:schemeClr>
                </a:solidFill>
                <a:latin typeface="+mj-ea"/>
                <a:ea typeface="+mj-ea"/>
                <a:sym typeface="+mn-ea"/>
              </a:rPr>
              <a:t>服务体系</a:t>
            </a:r>
            <a:r>
              <a:rPr lang="en-US" altLang="zh-CN" sz="1600" dirty="0" smtClean="0">
                <a:solidFill>
                  <a:schemeClr val="accent2">
                    <a:lumMod val="50000"/>
                  </a:schemeClr>
                </a:solidFill>
                <a:latin typeface="+mj-ea"/>
                <a:ea typeface="+mj-ea"/>
                <a:sym typeface="+mn-ea"/>
              </a:rPr>
              <a:t>”</a:t>
            </a:r>
            <a:r>
              <a:rPr lang="zh-CN" altLang="en-US" sz="1600" dirty="0">
                <a:solidFill>
                  <a:schemeClr val="accent2">
                    <a:lumMod val="50000"/>
                  </a:schemeClr>
                </a:solidFill>
                <a:latin typeface="+mj-ea"/>
                <a:ea typeface="+mj-ea"/>
                <a:sym typeface="+mn-ea"/>
              </a:rPr>
              <a:t>，</a:t>
            </a:r>
            <a:endParaRPr lang="en-US" altLang="zh-CN" sz="1600" dirty="0">
              <a:solidFill>
                <a:schemeClr val="accent2">
                  <a:lumMod val="50000"/>
                </a:schemeClr>
              </a:solidFill>
              <a:latin typeface="+mj-ea"/>
              <a:ea typeface="+mj-ea"/>
              <a:sym typeface="+mn-ea"/>
            </a:endParaRPr>
          </a:p>
          <a:p>
            <a:pPr marL="406400" lvl="1" indent="-6350" algn="ctr">
              <a:lnSpc>
                <a:spcPct val="150000"/>
              </a:lnSpc>
              <a:buClr>
                <a:schemeClr val="tx1"/>
              </a:buClr>
              <a:buFont typeface="Arial" panose="020B0604020202020204" pitchFamily="34" charset="0"/>
              <a:buNone/>
            </a:pPr>
            <a:r>
              <a:rPr lang="zh-CN" altLang="en-US" sz="1600" dirty="0">
                <a:solidFill>
                  <a:schemeClr val="accent2">
                    <a:lumMod val="50000"/>
                  </a:schemeClr>
                </a:solidFill>
                <a:latin typeface="+mj-ea"/>
                <a:ea typeface="+mj-ea"/>
                <a:sym typeface="+mn-ea"/>
              </a:rPr>
              <a:t>打造高水平综合型研究机构，为全省创新体系建设、科技体制改革提供有力</a:t>
            </a:r>
            <a:r>
              <a:rPr lang="zh-CN" altLang="en-US" sz="1600" dirty="0" smtClean="0">
                <a:solidFill>
                  <a:schemeClr val="accent2">
                    <a:lumMod val="50000"/>
                  </a:schemeClr>
                </a:solidFill>
                <a:latin typeface="+mj-ea"/>
                <a:ea typeface="+mj-ea"/>
                <a:sym typeface="+mn-ea"/>
              </a:rPr>
              <a:t>保障，助力新质生产力加速形成。</a:t>
            </a:r>
            <a:endParaRPr lang="zh-CN" altLang="en-US" sz="1600" b="1" dirty="0">
              <a:solidFill>
                <a:schemeClr val="accent2">
                  <a:lumMod val="50000"/>
                </a:schemeClr>
              </a:solidFill>
              <a:latin typeface="+mj-ea"/>
              <a:ea typeface="+mj-ea"/>
              <a:sym typeface="+mn-ea"/>
            </a:endParaRPr>
          </a:p>
          <a:p>
            <a:pPr marL="0" indent="0" algn="ctr">
              <a:lnSpc>
                <a:spcPct val="150000"/>
              </a:lnSpc>
              <a:buFont typeface="Arial" panose="020B0604020202020204" pitchFamily="34" charset="0"/>
              <a:buNone/>
            </a:pPr>
            <a:endParaRPr lang="zh-CN" altLang="en-US" sz="1600" b="1" dirty="0">
              <a:solidFill>
                <a:schemeClr val="accent2">
                  <a:lumMod val="50000"/>
                </a:schemeClr>
              </a:solidFill>
              <a:latin typeface="+mj-ea"/>
              <a:ea typeface="+mj-ea"/>
              <a:sym typeface="+mn-ea"/>
            </a:endParaRPr>
          </a:p>
          <a:p>
            <a:pPr marL="0" indent="0" algn="ctr">
              <a:lnSpc>
                <a:spcPct val="150000"/>
              </a:lnSpc>
              <a:buFont typeface="Arial" panose="020B0604020202020204" pitchFamily="34" charset="0"/>
              <a:buNone/>
            </a:pPr>
            <a:endParaRPr lang="zh-CN" altLang="en-US" sz="1600" b="1" dirty="0">
              <a:solidFill>
                <a:schemeClr val="accent2">
                  <a:lumMod val="50000"/>
                </a:schemeClr>
              </a:solidFill>
              <a:latin typeface="+mj-ea"/>
              <a:ea typeface="+mj-ea"/>
              <a:sym typeface="+mn-ea"/>
            </a:endParaRPr>
          </a:p>
        </p:txBody>
      </p:sp>
      <p:grpSp>
        <p:nvGrpSpPr>
          <p:cNvPr id="127" name="组合 126"/>
          <p:cNvGrpSpPr/>
          <p:nvPr/>
        </p:nvGrpSpPr>
        <p:grpSpPr>
          <a:xfrm>
            <a:off x="1395728" y="1294131"/>
            <a:ext cx="9690622" cy="1288460"/>
            <a:chOff x="1250042" y="1443321"/>
            <a:chExt cx="9690622" cy="1288460"/>
          </a:xfrm>
        </p:grpSpPr>
        <p:sp>
          <p:nvSpPr>
            <p:cNvPr id="64" name="文本框 63"/>
            <p:cNvSpPr txBox="1"/>
            <p:nvPr/>
          </p:nvSpPr>
          <p:spPr>
            <a:xfrm>
              <a:off x="2488104" y="1730302"/>
              <a:ext cx="7028248"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lnSpc>
                  <a:spcPct val="150000"/>
                </a:lnSpc>
                <a:spcBef>
                  <a:spcPct val="0"/>
                </a:spcBef>
                <a:spcAft>
                  <a:spcPct val="35000"/>
                </a:spcAft>
              </a:pPr>
              <a:r>
                <a:rPr lang="zh-CN" altLang="en-US" sz="1600" b="1" dirty="0">
                  <a:solidFill>
                    <a:schemeClr val="accent2">
                      <a:lumMod val="50000"/>
                    </a:schemeClr>
                  </a:solidFill>
                  <a:latin typeface="+mj-ea"/>
                  <a:ea typeface="+mj-ea"/>
                  <a:sym typeface="+mn-ea"/>
                </a:rPr>
                <a:t>围绕全省发展大局，</a:t>
              </a:r>
              <a:r>
                <a:rPr lang="zh-CN" altLang="en-US" sz="1600" b="1" dirty="0" smtClean="0">
                  <a:solidFill>
                    <a:schemeClr val="accent2">
                      <a:lumMod val="50000"/>
                    </a:schemeClr>
                  </a:solidFill>
                  <a:latin typeface="+mj-ea"/>
                  <a:ea typeface="+mj-ea"/>
                  <a:sym typeface="+mn-ea"/>
                </a:rPr>
                <a:t>以</a:t>
              </a:r>
              <a:r>
                <a:rPr lang="zh-CN" altLang="en-US" sz="1600" b="1" dirty="0">
                  <a:solidFill>
                    <a:srgbClr val="FF0000"/>
                  </a:solidFill>
                  <a:latin typeface="+mj-ea"/>
                  <a:ea typeface="+mj-ea"/>
                  <a:sym typeface="+mn-ea"/>
                </a:rPr>
                <a:t>以服务全省科技创新</a:t>
              </a:r>
              <a:r>
                <a:rPr lang="zh-CN" altLang="en-US" sz="1600" b="1" dirty="0" smtClean="0">
                  <a:solidFill>
                    <a:srgbClr val="FF0000"/>
                  </a:solidFill>
                  <a:latin typeface="+mj-ea"/>
                  <a:ea typeface="+mj-ea"/>
                  <a:sym typeface="+mn-ea"/>
                </a:rPr>
                <a:t>工作</a:t>
              </a:r>
              <a:r>
                <a:rPr lang="zh-CN" altLang="en-US" sz="1600" b="1" dirty="0" smtClean="0">
                  <a:solidFill>
                    <a:schemeClr val="accent2">
                      <a:lumMod val="50000"/>
                    </a:schemeClr>
                  </a:solidFill>
                  <a:latin typeface="+mj-ea"/>
                  <a:ea typeface="+mj-ea"/>
                  <a:sym typeface="+mn-ea"/>
                </a:rPr>
                <a:t>为</a:t>
              </a:r>
              <a:r>
                <a:rPr lang="zh-CN" altLang="en-US" sz="1600" b="1" dirty="0">
                  <a:solidFill>
                    <a:schemeClr val="accent2">
                      <a:lumMod val="50000"/>
                    </a:schemeClr>
                  </a:solidFill>
                  <a:latin typeface="+mj-ea"/>
                  <a:ea typeface="+mj-ea"/>
                  <a:sym typeface="+mn-ea"/>
                </a:rPr>
                <a:t>核心</a:t>
              </a:r>
              <a:endParaRPr kumimoji="1" lang="zh-CN" altLang="en-US" sz="1600" b="1" dirty="0">
                <a:solidFill>
                  <a:schemeClr val="accent2">
                    <a:lumMod val="50000"/>
                  </a:schemeClr>
                </a:solidFill>
              </a:endParaRPr>
            </a:p>
          </p:txBody>
        </p:sp>
        <p:pic>
          <p:nvPicPr>
            <p:cNvPr id="125" name="图片 1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0800000">
              <a:off x="10352783" y="1453778"/>
              <a:ext cx="587881" cy="1278003"/>
            </a:xfrm>
            <a:prstGeom prst="rect">
              <a:avLst/>
            </a:prstGeom>
          </p:spPr>
        </p:pic>
        <p:pic>
          <p:nvPicPr>
            <p:cNvPr id="126" name="图片 12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50042" y="1443321"/>
              <a:ext cx="587881" cy="1278003"/>
            </a:xfrm>
            <a:prstGeom prst="rect">
              <a:avLst/>
            </a:prstGeom>
          </p:spPr>
        </p:pic>
      </p:grpSp>
      <p:sp>
        <p:nvSpPr>
          <p:cNvPr id="128" name="文本框 127"/>
          <p:cNvSpPr txBox="1"/>
          <p:nvPr/>
        </p:nvSpPr>
        <p:spPr>
          <a:xfrm>
            <a:off x="11379200" y="3386667"/>
            <a:ext cx="0" cy="0"/>
          </a:xfrm>
          <a:prstGeom prst="rect">
            <a:avLst/>
          </a:prstGeom>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endParaRPr kumimoji="1" lang="zh-CN" altLang="en-US" sz="2400" dirty="0"/>
          </a:p>
        </p:txBody>
      </p:sp>
      <p:sp>
        <p:nvSpPr>
          <p:cNvPr id="129" name="文本框 128"/>
          <p:cNvSpPr txBox="1"/>
          <p:nvPr/>
        </p:nvSpPr>
        <p:spPr>
          <a:xfrm>
            <a:off x="-231650" y="2884736"/>
            <a:ext cx="7028248"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lnSpc>
                <a:spcPct val="150000"/>
              </a:lnSpc>
              <a:spcBef>
                <a:spcPct val="0"/>
              </a:spcBef>
              <a:spcAft>
                <a:spcPct val="35000"/>
              </a:spcAft>
            </a:pPr>
            <a:endParaRPr kumimoji="1" lang="zh-CN" altLang="en-US" dirty="0"/>
          </a:p>
        </p:txBody>
      </p:sp>
      <p:grpSp>
        <p:nvGrpSpPr>
          <p:cNvPr id="132" name="组合 131"/>
          <p:cNvGrpSpPr/>
          <p:nvPr/>
        </p:nvGrpSpPr>
        <p:grpSpPr>
          <a:xfrm>
            <a:off x="947023" y="2591554"/>
            <a:ext cx="1491559" cy="1280318"/>
            <a:chOff x="947023" y="2591554"/>
            <a:chExt cx="1491559" cy="1280318"/>
          </a:xfrm>
        </p:grpSpPr>
        <p:sp>
          <p:nvSpPr>
            <p:cNvPr id="131" name="图形 27"/>
            <p:cNvSpPr/>
            <p:nvPr/>
          </p:nvSpPr>
          <p:spPr>
            <a:xfrm rot="5400000">
              <a:off x="1052644" y="2485933"/>
              <a:ext cx="1280318" cy="1491559"/>
            </a:xfrm>
            <a:custGeom>
              <a:avLst/>
              <a:gdLst>
                <a:gd name="connsiteX0" fmla="*/ 625221 w 625220"/>
                <a:gd name="connsiteY0" fmla="*/ 728377 h 728376"/>
                <a:gd name="connsiteX1" fmla="*/ 441008 w 625220"/>
                <a:gd name="connsiteY1" fmla="*/ 207645 h 728376"/>
                <a:gd name="connsiteX2" fmla="*/ 532067 w 625220"/>
                <a:gd name="connsiteY2" fmla="*/ 207645 h 728376"/>
                <a:gd name="connsiteX3" fmla="*/ 422339 w 625220"/>
                <a:gd name="connsiteY3" fmla="*/ 103823 h 728376"/>
                <a:gd name="connsiteX4" fmla="*/ 312611 w 625220"/>
                <a:gd name="connsiteY4" fmla="*/ 0 h 728376"/>
                <a:gd name="connsiteX5" fmla="*/ 202883 w 625220"/>
                <a:gd name="connsiteY5" fmla="*/ 103823 h 728376"/>
                <a:gd name="connsiteX6" fmla="*/ 93155 w 625220"/>
                <a:gd name="connsiteY6" fmla="*/ 207645 h 728376"/>
                <a:gd name="connsiteX7" fmla="*/ 184976 w 625220"/>
                <a:gd name="connsiteY7" fmla="*/ 207645 h 728376"/>
                <a:gd name="connsiteX8" fmla="*/ 0 w 625220"/>
                <a:gd name="connsiteY8" fmla="*/ 728377 h 728376"/>
                <a:gd name="connsiteX9" fmla="*/ 625221 w 625220"/>
                <a:gd name="connsiteY9" fmla="*/ 728377 h 72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220" h="728376">
                  <a:moveTo>
                    <a:pt x="625221" y="728377"/>
                  </a:moveTo>
                  <a:cubicBezTo>
                    <a:pt x="505682" y="564737"/>
                    <a:pt x="456819" y="311658"/>
                    <a:pt x="441008" y="207645"/>
                  </a:cubicBezTo>
                  <a:lnTo>
                    <a:pt x="532067" y="207645"/>
                  </a:lnTo>
                  <a:lnTo>
                    <a:pt x="422339" y="103823"/>
                  </a:lnTo>
                  <a:lnTo>
                    <a:pt x="312611" y="0"/>
                  </a:lnTo>
                  <a:lnTo>
                    <a:pt x="202883" y="103823"/>
                  </a:lnTo>
                  <a:lnTo>
                    <a:pt x="93155" y="207645"/>
                  </a:lnTo>
                  <a:lnTo>
                    <a:pt x="184976" y="207645"/>
                  </a:lnTo>
                  <a:cubicBezTo>
                    <a:pt x="170688" y="313087"/>
                    <a:pt x="124397" y="570929"/>
                    <a:pt x="0" y="728377"/>
                  </a:cubicBezTo>
                  <a:cubicBezTo>
                    <a:pt x="73914" y="728377"/>
                    <a:pt x="504444" y="728377"/>
                    <a:pt x="625221" y="728377"/>
                  </a:cubicBezTo>
                  <a:close/>
                </a:path>
              </a:pathLst>
            </a:custGeom>
            <a:gradFill flip="none" rotWithShape="1">
              <a:gsLst>
                <a:gs pos="15000">
                  <a:schemeClr val="accent1">
                    <a:alpha val="1000"/>
                  </a:schemeClr>
                </a:gs>
                <a:gs pos="100000">
                  <a:schemeClr val="accent1">
                    <a:alpha val="34000"/>
                  </a:schemeClr>
                </a:gs>
              </a:gsLst>
              <a:lin ang="1620000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55" u="none" strike="noStrike" kern="1200" cap="none" spc="0" normalizeH="0" baseline="0" noProof="0" dirty="0">
                <a:ln>
                  <a:noFill/>
                </a:ln>
                <a:solidFill>
                  <a:schemeClr val="accent2">
                    <a:lumMod val="50000"/>
                  </a:schemeClr>
                </a:solidFill>
                <a:effectLst>
                  <a:outerShdw blurRad="63500" sx="102000" sy="102000" algn="ctr" rotWithShape="0">
                    <a:srgbClr val="0055FF">
                      <a:alpha val="8000"/>
                    </a:srgbClr>
                  </a:outerShdw>
                </a:effectLst>
                <a:uLnTx/>
                <a:uFillTx/>
                <a:latin typeface="Alibaba PuHuiTi 2.0 55" pitchFamily="18" charset="-122"/>
                <a:ea typeface="Alibaba PuHuiTi 2.0 55" pitchFamily="18" charset="-122"/>
                <a:cs typeface="Alibaba PuHuiTi 2.0 55" pitchFamily="18" charset="-122"/>
                <a:sym typeface="+mn-lt"/>
              </a:endParaRPr>
            </a:p>
          </p:txBody>
        </p:sp>
        <p:sp>
          <p:nvSpPr>
            <p:cNvPr id="130" name="文本框 129"/>
            <p:cNvSpPr txBox="1"/>
            <p:nvPr/>
          </p:nvSpPr>
          <p:spPr>
            <a:xfrm>
              <a:off x="1347228" y="2950559"/>
              <a:ext cx="837056"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lnSpc>
                  <a:spcPct val="150000"/>
                </a:lnSpc>
                <a:spcBef>
                  <a:spcPct val="0"/>
                </a:spcBef>
                <a:spcAft>
                  <a:spcPct val="35000"/>
                </a:spcAft>
              </a:pPr>
              <a:r>
                <a:rPr kumimoji="1" lang="zh-CN" altLang="en-US" dirty="0">
                  <a:solidFill>
                    <a:schemeClr val="accent2">
                      <a:lumMod val="50000"/>
                    </a:schemeClr>
                  </a:solidFill>
                </a:rPr>
                <a:t>聚焦</a:t>
              </a:r>
              <a:endParaRPr kumimoji="1" lang="zh-CN" altLang="en-US" dirty="0">
                <a:solidFill>
                  <a:schemeClr val="accent2">
                    <a:lumMod val="50000"/>
                  </a:schemeClr>
                </a:solidFill>
              </a:endParaRPr>
            </a:p>
          </p:txBody>
        </p:sp>
      </p:grpSp>
      <p:grpSp>
        <p:nvGrpSpPr>
          <p:cNvPr id="136" name="组合 135"/>
          <p:cNvGrpSpPr/>
          <p:nvPr/>
        </p:nvGrpSpPr>
        <p:grpSpPr>
          <a:xfrm>
            <a:off x="9690735" y="2710089"/>
            <a:ext cx="1491559" cy="1280318"/>
            <a:chOff x="947023" y="2591554"/>
            <a:chExt cx="1491559" cy="1280318"/>
          </a:xfrm>
        </p:grpSpPr>
        <p:sp>
          <p:nvSpPr>
            <p:cNvPr id="137" name="图形 27"/>
            <p:cNvSpPr/>
            <p:nvPr/>
          </p:nvSpPr>
          <p:spPr>
            <a:xfrm rot="16200000">
              <a:off x="1052644" y="2485933"/>
              <a:ext cx="1280318" cy="1491559"/>
            </a:xfrm>
            <a:custGeom>
              <a:avLst/>
              <a:gdLst>
                <a:gd name="connsiteX0" fmla="*/ 625221 w 625220"/>
                <a:gd name="connsiteY0" fmla="*/ 728377 h 728376"/>
                <a:gd name="connsiteX1" fmla="*/ 441008 w 625220"/>
                <a:gd name="connsiteY1" fmla="*/ 207645 h 728376"/>
                <a:gd name="connsiteX2" fmla="*/ 532067 w 625220"/>
                <a:gd name="connsiteY2" fmla="*/ 207645 h 728376"/>
                <a:gd name="connsiteX3" fmla="*/ 422339 w 625220"/>
                <a:gd name="connsiteY3" fmla="*/ 103823 h 728376"/>
                <a:gd name="connsiteX4" fmla="*/ 312611 w 625220"/>
                <a:gd name="connsiteY4" fmla="*/ 0 h 728376"/>
                <a:gd name="connsiteX5" fmla="*/ 202883 w 625220"/>
                <a:gd name="connsiteY5" fmla="*/ 103823 h 728376"/>
                <a:gd name="connsiteX6" fmla="*/ 93155 w 625220"/>
                <a:gd name="connsiteY6" fmla="*/ 207645 h 728376"/>
                <a:gd name="connsiteX7" fmla="*/ 184976 w 625220"/>
                <a:gd name="connsiteY7" fmla="*/ 207645 h 728376"/>
                <a:gd name="connsiteX8" fmla="*/ 0 w 625220"/>
                <a:gd name="connsiteY8" fmla="*/ 728377 h 728376"/>
                <a:gd name="connsiteX9" fmla="*/ 625221 w 625220"/>
                <a:gd name="connsiteY9" fmla="*/ 728377 h 72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220" h="728376">
                  <a:moveTo>
                    <a:pt x="625221" y="728377"/>
                  </a:moveTo>
                  <a:cubicBezTo>
                    <a:pt x="505682" y="564737"/>
                    <a:pt x="456819" y="311658"/>
                    <a:pt x="441008" y="207645"/>
                  </a:cubicBezTo>
                  <a:lnTo>
                    <a:pt x="532067" y="207645"/>
                  </a:lnTo>
                  <a:lnTo>
                    <a:pt x="422339" y="103823"/>
                  </a:lnTo>
                  <a:lnTo>
                    <a:pt x="312611" y="0"/>
                  </a:lnTo>
                  <a:lnTo>
                    <a:pt x="202883" y="103823"/>
                  </a:lnTo>
                  <a:lnTo>
                    <a:pt x="93155" y="207645"/>
                  </a:lnTo>
                  <a:lnTo>
                    <a:pt x="184976" y="207645"/>
                  </a:lnTo>
                  <a:cubicBezTo>
                    <a:pt x="170688" y="313087"/>
                    <a:pt x="124397" y="570929"/>
                    <a:pt x="0" y="728377"/>
                  </a:cubicBezTo>
                  <a:cubicBezTo>
                    <a:pt x="73914" y="728377"/>
                    <a:pt x="504444" y="728377"/>
                    <a:pt x="625221" y="728377"/>
                  </a:cubicBezTo>
                  <a:close/>
                </a:path>
              </a:pathLst>
            </a:custGeom>
            <a:gradFill flip="none" rotWithShape="1">
              <a:gsLst>
                <a:gs pos="15000">
                  <a:schemeClr val="accent1">
                    <a:alpha val="1000"/>
                  </a:schemeClr>
                </a:gs>
                <a:gs pos="100000">
                  <a:schemeClr val="accent1">
                    <a:alpha val="34000"/>
                  </a:schemeClr>
                </a:gs>
              </a:gsLst>
              <a:lin ang="16200000" scaled="1"/>
              <a:tileRect/>
            </a:gra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55" u="none" strike="noStrike" kern="1200" cap="none" spc="0" normalizeH="0" baseline="0" noProof="0" dirty="0">
                <a:ln>
                  <a:noFill/>
                </a:ln>
                <a:solidFill>
                  <a:schemeClr val="accent2">
                    <a:lumMod val="50000"/>
                  </a:schemeClr>
                </a:solidFill>
                <a:effectLst>
                  <a:outerShdw blurRad="63500" sx="102000" sy="102000" algn="ctr" rotWithShape="0">
                    <a:srgbClr val="0055FF">
                      <a:alpha val="8000"/>
                    </a:srgbClr>
                  </a:outerShdw>
                </a:effectLst>
                <a:uLnTx/>
                <a:uFillTx/>
                <a:latin typeface="Alibaba PuHuiTi 2.0 55" pitchFamily="18" charset="-122"/>
                <a:ea typeface="Alibaba PuHuiTi 2.0 55" pitchFamily="18" charset="-122"/>
                <a:cs typeface="Alibaba PuHuiTi 2.0 55" pitchFamily="18" charset="-122"/>
                <a:sym typeface="+mn-lt"/>
              </a:endParaRPr>
            </a:p>
          </p:txBody>
        </p:sp>
        <p:sp>
          <p:nvSpPr>
            <p:cNvPr id="138" name="文本框 137"/>
            <p:cNvSpPr txBox="1"/>
            <p:nvPr/>
          </p:nvSpPr>
          <p:spPr>
            <a:xfrm>
              <a:off x="1347228" y="2950559"/>
              <a:ext cx="837056"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lnSpc>
                  <a:spcPct val="150000"/>
                </a:lnSpc>
                <a:spcBef>
                  <a:spcPct val="0"/>
                </a:spcBef>
                <a:spcAft>
                  <a:spcPct val="35000"/>
                </a:spcAft>
              </a:pPr>
              <a:r>
                <a:rPr kumimoji="1" lang="zh-CN" altLang="en-US" dirty="0">
                  <a:solidFill>
                    <a:schemeClr val="accent2">
                      <a:lumMod val="50000"/>
                    </a:schemeClr>
                  </a:solidFill>
                </a:rPr>
                <a:t>三大方向</a:t>
              </a:r>
              <a:endParaRPr kumimoji="1" lang="zh-CN" altLang="en-US" dirty="0">
                <a:solidFill>
                  <a:schemeClr val="accent2">
                    <a:lumMod val="50000"/>
                  </a:schemeClr>
                </a:solidFill>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latin typeface="+mj-ea"/>
                <a:sym typeface="Arial" panose="020B0604020202020204" pitchFamily="34" charset="0"/>
              </a:rPr>
              <a:t>发展思路</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679183"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2.1</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102" name="组合 101"/>
          <p:cNvGrpSpPr/>
          <p:nvPr/>
        </p:nvGrpSpPr>
        <p:grpSpPr>
          <a:xfrm>
            <a:off x="1467947" y="1090579"/>
            <a:ext cx="9398634" cy="820770"/>
            <a:chOff x="1396062" y="1821781"/>
            <a:chExt cx="9398634" cy="820770"/>
          </a:xfrm>
        </p:grpSpPr>
        <p:sp>
          <p:nvSpPr>
            <p:cNvPr id="103" name="矩形: 圆角 14"/>
            <p:cNvSpPr/>
            <p:nvPr>
              <p:custDataLst>
                <p:tags r:id="rId1"/>
              </p:custDataLst>
            </p:nvPr>
          </p:nvSpPr>
          <p:spPr>
            <a:xfrm>
              <a:off x="1396062" y="1821781"/>
              <a:ext cx="9398634" cy="820770"/>
            </a:xfrm>
            <a:prstGeom prst="roundRect">
              <a:avLst>
                <a:gd name="adj" fmla="val 50000"/>
              </a:avLst>
            </a:prstGeom>
            <a:noFill/>
            <a:ln w="1206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zh-CN" altLang="en-US" sz="1710">
                <a:solidFill>
                  <a:schemeClr val="bg1"/>
                </a:solidFill>
                <a:latin typeface="Alibaba PuHuiTi 2.0 55" pitchFamily="18" charset="-122"/>
                <a:ea typeface="Alibaba PuHuiTi 2.0 55" pitchFamily="18" charset="-122"/>
              </a:endParaRPr>
            </a:p>
          </p:txBody>
        </p:sp>
        <p:sp>
          <p:nvSpPr>
            <p:cNvPr id="104" name="椭圆 103"/>
            <p:cNvSpPr/>
            <p:nvPr>
              <p:custDataLst>
                <p:tags r:id="rId2"/>
              </p:custDataLst>
            </p:nvPr>
          </p:nvSpPr>
          <p:spPr>
            <a:xfrm>
              <a:off x="1441306" y="1860484"/>
              <a:ext cx="751914" cy="751914"/>
            </a:xfrm>
            <a:prstGeom prst="ellipse">
              <a:avLst/>
            </a:prstGeom>
            <a:gradFill flip="none" rotWithShape="1">
              <a:gsLst>
                <a:gs pos="0">
                  <a:schemeClr val="accent2"/>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05" name="文本框 104"/>
            <p:cNvSpPr txBox="1"/>
            <p:nvPr/>
          </p:nvSpPr>
          <p:spPr>
            <a:xfrm>
              <a:off x="1441306" y="2071352"/>
              <a:ext cx="780902" cy="321627"/>
            </a:xfrm>
            <a:prstGeom prst="rect">
              <a:avLst/>
            </a:prstGeom>
            <a:noFill/>
            <a:effectLst/>
          </p:spPr>
          <p:txBody>
            <a:bodyPr wrap="square" lIns="86868" tIns="43434" rIns="86868" bIns="43434" rtlCol="0">
              <a:spAutoFit/>
            </a:bodyPr>
            <a:lstStyle/>
            <a:p>
              <a:r>
                <a:rPr lang="zh-CN" altLang="en-US" sz="1520" dirty="0">
                  <a:solidFill>
                    <a:schemeClr val="bg1"/>
                  </a:solidFill>
                  <a:latin typeface="微软雅黑" panose="020B0503020204020204" pitchFamily="34" charset="-122"/>
                  <a:ea typeface="微软雅黑" panose="020B0503020204020204" pitchFamily="34" charset="-122"/>
                </a:rPr>
                <a:t>总目标</a:t>
              </a:r>
              <a:endParaRPr lang="en-US" altLang="zh-CN" sz="1520" dirty="0">
                <a:solidFill>
                  <a:schemeClr val="bg1"/>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1504121" y="2301851"/>
              <a:ext cx="9162672" cy="303160"/>
            </a:xfrm>
            <a:prstGeom prst="rect">
              <a:avLst/>
            </a:prstGeom>
            <a:noFill/>
            <a:effectLst/>
          </p:spPr>
          <p:txBody>
            <a:bodyPr wrap="square" lIns="86868" tIns="43434" rIns="86868" bIns="43434">
              <a:spAutoFit/>
            </a:bodyPr>
            <a:lstStyle/>
            <a:p>
              <a:pPr algn="ctr"/>
              <a:r>
                <a:rPr lang="zh-CN" altLang="en-US" sz="1400" b="1" dirty="0">
                  <a:solidFill>
                    <a:schemeClr val="accent2">
                      <a:lumMod val="50000"/>
                    </a:schemeClr>
                  </a:solidFill>
                </a:rPr>
                <a:t>打造服务山东省科技创新发展的高水平综合型研究机构</a:t>
              </a:r>
              <a:endParaRPr lang="zh-CN" altLang="en-US" sz="1400" b="1" dirty="0">
                <a:solidFill>
                  <a:schemeClr val="accent2">
                    <a:lumMod val="50000"/>
                  </a:schemeClr>
                </a:solidFill>
              </a:endParaRPr>
            </a:p>
          </p:txBody>
        </p:sp>
        <p:sp>
          <p:nvSpPr>
            <p:cNvPr id="107" name="任意多边形: 形状 462"/>
            <p:cNvSpPr/>
            <p:nvPr>
              <p:custDataLst>
                <p:tags r:id="rId3"/>
              </p:custDataLst>
            </p:nvPr>
          </p:nvSpPr>
          <p:spPr>
            <a:xfrm>
              <a:off x="3942903" y="1860484"/>
              <a:ext cx="1433699" cy="441407"/>
            </a:xfrm>
            <a:custGeom>
              <a:avLst/>
              <a:gdLst>
                <a:gd name="connsiteX0" fmla="*/ 0 w 791307"/>
                <a:gd name="connsiteY0" fmla="*/ 0 h 394564"/>
                <a:gd name="connsiteX1" fmla="*/ 131885 w 791307"/>
                <a:gd name="connsiteY1" fmla="*/ 0 h 394564"/>
                <a:gd name="connsiteX2" fmla="*/ 329711 w 791307"/>
                <a:gd name="connsiteY2" fmla="*/ 0 h 394564"/>
                <a:gd name="connsiteX3" fmla="*/ 791307 w 791307"/>
                <a:gd name="connsiteY3" fmla="*/ 0 h 394564"/>
                <a:gd name="connsiteX4" fmla="*/ 791307 w 791307"/>
                <a:gd name="connsiteY4" fmla="*/ 44672 h 394564"/>
                <a:gd name="connsiteX5" fmla="*/ 791307 w 791307"/>
                <a:gd name="connsiteY5" fmla="*/ 111680 h 394564"/>
                <a:gd name="connsiteX6" fmla="*/ 791307 w 791307"/>
                <a:gd name="connsiteY6" fmla="*/ 268033 h 394564"/>
                <a:gd name="connsiteX7" fmla="*/ 470452 w 791307"/>
                <a:gd name="connsiteY7" fmla="*/ 268033 h 394564"/>
                <a:gd name="connsiteX8" fmla="*/ 397064 w 791307"/>
                <a:gd name="connsiteY8" fmla="*/ 394564 h 394564"/>
                <a:gd name="connsiteX9" fmla="*/ 323676 w 791307"/>
                <a:gd name="connsiteY9" fmla="*/ 268033 h 394564"/>
                <a:gd name="connsiteX10" fmla="*/ 131885 w 791307"/>
                <a:gd name="connsiteY10" fmla="*/ 268033 h 394564"/>
                <a:gd name="connsiteX11" fmla="*/ 0 w 791307"/>
                <a:gd name="connsiteY11" fmla="*/ 268033 h 394564"/>
                <a:gd name="connsiteX12" fmla="*/ 0 w 791307"/>
                <a:gd name="connsiteY12" fmla="*/ 124322 h 394564"/>
                <a:gd name="connsiteX13" fmla="*/ 0 w 791307"/>
                <a:gd name="connsiteY13" fmla="*/ 111680 h 394564"/>
                <a:gd name="connsiteX14" fmla="*/ 0 w 791307"/>
                <a:gd name="connsiteY14" fmla="*/ 44672 h 394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1307" h="394564">
                  <a:moveTo>
                    <a:pt x="0" y="0"/>
                  </a:moveTo>
                  <a:lnTo>
                    <a:pt x="131885" y="0"/>
                  </a:lnTo>
                  <a:lnTo>
                    <a:pt x="329711" y="0"/>
                  </a:lnTo>
                  <a:lnTo>
                    <a:pt x="791307" y="0"/>
                  </a:lnTo>
                  <a:lnTo>
                    <a:pt x="791307" y="44672"/>
                  </a:lnTo>
                  <a:lnTo>
                    <a:pt x="791307" y="111680"/>
                  </a:lnTo>
                  <a:lnTo>
                    <a:pt x="791307" y="268033"/>
                  </a:lnTo>
                  <a:lnTo>
                    <a:pt x="470452" y="268033"/>
                  </a:lnTo>
                  <a:lnTo>
                    <a:pt x="397064" y="394564"/>
                  </a:lnTo>
                  <a:lnTo>
                    <a:pt x="323676" y="268033"/>
                  </a:lnTo>
                  <a:lnTo>
                    <a:pt x="131885" y="268033"/>
                  </a:lnTo>
                  <a:lnTo>
                    <a:pt x="0" y="268033"/>
                  </a:lnTo>
                  <a:lnTo>
                    <a:pt x="0" y="124322"/>
                  </a:lnTo>
                  <a:lnTo>
                    <a:pt x="0" y="111680"/>
                  </a:lnTo>
                  <a:lnTo>
                    <a:pt x="0" y="44672"/>
                  </a:ln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10" name="文本框 109"/>
            <p:cNvSpPr txBox="1"/>
            <p:nvPr/>
          </p:nvSpPr>
          <p:spPr>
            <a:xfrm>
              <a:off x="4264259" y="1885885"/>
              <a:ext cx="790986" cy="272382"/>
            </a:xfrm>
            <a:prstGeom prst="rect">
              <a:avLst/>
            </a:prstGeom>
            <a:noFill/>
            <a:effectLst/>
          </p:spPr>
          <p:txBody>
            <a:bodyPr wrap="none" lIns="86868" tIns="43434" rIns="86868" bIns="43434">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一流智库</a:t>
              </a:r>
              <a:endParaRPr lang="en-US" altLang="zh-CN" sz="1200" dirty="0">
                <a:solidFill>
                  <a:schemeClr val="bg1"/>
                </a:solidFill>
                <a:effectLst/>
                <a:latin typeface="微软雅黑" panose="020B0503020204020204" pitchFamily="34" charset="-122"/>
                <a:ea typeface="微软雅黑" panose="020B0503020204020204" pitchFamily="34" charset="-122"/>
              </a:endParaRPr>
            </a:p>
          </p:txBody>
        </p:sp>
        <p:sp>
          <p:nvSpPr>
            <p:cNvPr id="111" name="文本框 110"/>
            <p:cNvSpPr txBox="1"/>
            <p:nvPr/>
          </p:nvSpPr>
          <p:spPr>
            <a:xfrm>
              <a:off x="5842838" y="1916447"/>
              <a:ext cx="467821" cy="263149"/>
            </a:xfrm>
            <a:prstGeom prst="rect">
              <a:avLst/>
            </a:prstGeom>
            <a:noFill/>
            <a:effectLst/>
          </p:spPr>
          <p:txBody>
            <a:bodyPr wrap="none" lIns="86868" tIns="43434" rIns="86868" bIns="43434">
              <a:spAutoFit/>
            </a:bodyPr>
            <a:lstStyle/>
            <a:p>
              <a:pPr algn="ctr"/>
              <a:r>
                <a:rPr kumimoji="0" lang="zh-CN" altLang="en-US" sz="1140" u="none" strike="noStrike" kern="1200" cap="none" spc="0" normalizeH="0" baseline="0" noProof="0" dirty="0">
                  <a:ln>
                    <a:noFill/>
                  </a:ln>
                  <a:solidFill>
                    <a:schemeClr val="bg1"/>
                  </a:solidFill>
                  <a:effectLst/>
                  <a:uLnTx/>
                  <a:uFillTx/>
                  <a:latin typeface="FZFengYaSongS-GB" panose="02000000000000000000" pitchFamily="2" charset="-122"/>
                  <a:ea typeface="FZFengYaSongS-GB" panose="02000000000000000000" pitchFamily="2" charset="-122"/>
                </a:rPr>
                <a:t>时尚</a:t>
              </a:r>
              <a:endParaRPr lang="en-US" altLang="zh-CN" sz="1140" dirty="0">
                <a:solidFill>
                  <a:schemeClr val="bg1"/>
                </a:solidFill>
                <a:effectLst/>
                <a:latin typeface="FZFengYaSongS-GB" panose="02000000000000000000" pitchFamily="2" charset="-122"/>
                <a:ea typeface="FZFengYaSongS-GB" panose="02000000000000000000" pitchFamily="2" charset="-122"/>
              </a:endParaRPr>
            </a:p>
          </p:txBody>
        </p:sp>
        <p:sp>
          <p:nvSpPr>
            <p:cNvPr id="112" name="文本框 111"/>
            <p:cNvSpPr txBox="1"/>
            <p:nvPr/>
          </p:nvSpPr>
          <p:spPr>
            <a:xfrm>
              <a:off x="6948701" y="1920004"/>
              <a:ext cx="467821" cy="263149"/>
            </a:xfrm>
            <a:prstGeom prst="rect">
              <a:avLst/>
            </a:prstGeom>
            <a:noFill/>
            <a:effectLst/>
          </p:spPr>
          <p:txBody>
            <a:bodyPr wrap="none" lIns="86868" tIns="43434" rIns="86868" bIns="43434">
              <a:spAutoFit/>
            </a:bodyPr>
            <a:lstStyle/>
            <a:p>
              <a:pPr algn="ctr"/>
              <a:r>
                <a:rPr kumimoji="0" lang="zh-CN" altLang="en-US" sz="1140" u="none" strike="noStrike" kern="1200" cap="none" spc="0" normalizeH="0" baseline="0" noProof="0">
                  <a:ln>
                    <a:noFill/>
                  </a:ln>
                  <a:solidFill>
                    <a:schemeClr val="bg1"/>
                  </a:solidFill>
                  <a:effectLst/>
                  <a:uLnTx/>
                  <a:uFillTx/>
                  <a:latin typeface="FZFengYaSongS-GB" panose="02000000000000000000" pitchFamily="2" charset="-122"/>
                  <a:ea typeface="FZFengYaSongS-GB" panose="02000000000000000000" pitchFamily="2" charset="-122"/>
                </a:rPr>
                <a:t>品质</a:t>
              </a:r>
              <a:endParaRPr lang="en-US" altLang="zh-CN" sz="1140" dirty="0">
                <a:solidFill>
                  <a:schemeClr val="bg1"/>
                </a:solidFill>
                <a:effectLst/>
                <a:latin typeface="FZFengYaSongS-GB" panose="02000000000000000000" pitchFamily="2" charset="-122"/>
                <a:ea typeface="FZFengYaSongS-GB" panose="02000000000000000000" pitchFamily="2" charset="-122"/>
              </a:endParaRPr>
            </a:p>
          </p:txBody>
        </p:sp>
      </p:grpSp>
      <p:sp>
        <p:nvSpPr>
          <p:cNvPr id="113" name="任意多边形: 形状 462"/>
          <p:cNvSpPr/>
          <p:nvPr>
            <p:custDataLst>
              <p:tags r:id="rId4"/>
            </p:custDataLst>
          </p:nvPr>
        </p:nvSpPr>
        <p:spPr>
          <a:xfrm>
            <a:off x="5520398" y="1126351"/>
            <a:ext cx="1433699" cy="441407"/>
          </a:xfrm>
          <a:custGeom>
            <a:avLst/>
            <a:gdLst>
              <a:gd name="connsiteX0" fmla="*/ 0 w 791307"/>
              <a:gd name="connsiteY0" fmla="*/ 0 h 394564"/>
              <a:gd name="connsiteX1" fmla="*/ 131885 w 791307"/>
              <a:gd name="connsiteY1" fmla="*/ 0 h 394564"/>
              <a:gd name="connsiteX2" fmla="*/ 329711 w 791307"/>
              <a:gd name="connsiteY2" fmla="*/ 0 h 394564"/>
              <a:gd name="connsiteX3" fmla="*/ 791307 w 791307"/>
              <a:gd name="connsiteY3" fmla="*/ 0 h 394564"/>
              <a:gd name="connsiteX4" fmla="*/ 791307 w 791307"/>
              <a:gd name="connsiteY4" fmla="*/ 44672 h 394564"/>
              <a:gd name="connsiteX5" fmla="*/ 791307 w 791307"/>
              <a:gd name="connsiteY5" fmla="*/ 111680 h 394564"/>
              <a:gd name="connsiteX6" fmla="*/ 791307 w 791307"/>
              <a:gd name="connsiteY6" fmla="*/ 268033 h 394564"/>
              <a:gd name="connsiteX7" fmla="*/ 470452 w 791307"/>
              <a:gd name="connsiteY7" fmla="*/ 268033 h 394564"/>
              <a:gd name="connsiteX8" fmla="*/ 397064 w 791307"/>
              <a:gd name="connsiteY8" fmla="*/ 394564 h 394564"/>
              <a:gd name="connsiteX9" fmla="*/ 323676 w 791307"/>
              <a:gd name="connsiteY9" fmla="*/ 268033 h 394564"/>
              <a:gd name="connsiteX10" fmla="*/ 131885 w 791307"/>
              <a:gd name="connsiteY10" fmla="*/ 268033 h 394564"/>
              <a:gd name="connsiteX11" fmla="*/ 0 w 791307"/>
              <a:gd name="connsiteY11" fmla="*/ 268033 h 394564"/>
              <a:gd name="connsiteX12" fmla="*/ 0 w 791307"/>
              <a:gd name="connsiteY12" fmla="*/ 124322 h 394564"/>
              <a:gd name="connsiteX13" fmla="*/ 0 w 791307"/>
              <a:gd name="connsiteY13" fmla="*/ 111680 h 394564"/>
              <a:gd name="connsiteX14" fmla="*/ 0 w 791307"/>
              <a:gd name="connsiteY14" fmla="*/ 44672 h 394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1307" h="394564">
                <a:moveTo>
                  <a:pt x="0" y="0"/>
                </a:moveTo>
                <a:lnTo>
                  <a:pt x="131885" y="0"/>
                </a:lnTo>
                <a:lnTo>
                  <a:pt x="329711" y="0"/>
                </a:lnTo>
                <a:lnTo>
                  <a:pt x="791307" y="0"/>
                </a:lnTo>
                <a:lnTo>
                  <a:pt x="791307" y="44672"/>
                </a:lnTo>
                <a:lnTo>
                  <a:pt x="791307" y="111680"/>
                </a:lnTo>
                <a:lnTo>
                  <a:pt x="791307" y="268033"/>
                </a:lnTo>
                <a:lnTo>
                  <a:pt x="470452" y="268033"/>
                </a:lnTo>
                <a:lnTo>
                  <a:pt x="397064" y="394564"/>
                </a:lnTo>
                <a:lnTo>
                  <a:pt x="323676" y="268033"/>
                </a:lnTo>
                <a:lnTo>
                  <a:pt x="131885" y="268033"/>
                </a:lnTo>
                <a:lnTo>
                  <a:pt x="0" y="268033"/>
                </a:lnTo>
                <a:lnTo>
                  <a:pt x="0" y="124322"/>
                </a:lnTo>
                <a:lnTo>
                  <a:pt x="0" y="111680"/>
                </a:lnTo>
                <a:lnTo>
                  <a:pt x="0" y="44672"/>
                </a:ln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14" name="文本框 113"/>
          <p:cNvSpPr txBox="1"/>
          <p:nvPr/>
        </p:nvSpPr>
        <p:spPr>
          <a:xfrm>
            <a:off x="5841754" y="1151752"/>
            <a:ext cx="790986" cy="272382"/>
          </a:xfrm>
          <a:prstGeom prst="rect">
            <a:avLst/>
          </a:prstGeom>
          <a:noFill/>
          <a:effectLst/>
        </p:spPr>
        <p:txBody>
          <a:bodyPr wrap="square" lIns="86868" tIns="43434" rIns="86868" bIns="43434">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一流平台</a:t>
            </a:r>
            <a:endParaRPr lang="en-US" altLang="zh-CN" sz="1200" dirty="0">
              <a:solidFill>
                <a:schemeClr val="bg1"/>
              </a:solidFill>
              <a:effectLst/>
              <a:latin typeface="微软雅黑" panose="020B0503020204020204" pitchFamily="34" charset="-122"/>
              <a:ea typeface="微软雅黑" panose="020B0503020204020204" pitchFamily="34" charset="-122"/>
            </a:endParaRPr>
          </a:p>
        </p:txBody>
      </p:sp>
      <p:sp>
        <p:nvSpPr>
          <p:cNvPr id="116" name="任意多边形: 形状 462"/>
          <p:cNvSpPr/>
          <p:nvPr>
            <p:custDataLst>
              <p:tags r:id="rId5"/>
            </p:custDataLst>
          </p:nvPr>
        </p:nvSpPr>
        <p:spPr>
          <a:xfrm>
            <a:off x="7016912" y="1132194"/>
            <a:ext cx="1433699" cy="441407"/>
          </a:xfrm>
          <a:custGeom>
            <a:avLst/>
            <a:gdLst>
              <a:gd name="connsiteX0" fmla="*/ 0 w 791307"/>
              <a:gd name="connsiteY0" fmla="*/ 0 h 394564"/>
              <a:gd name="connsiteX1" fmla="*/ 131885 w 791307"/>
              <a:gd name="connsiteY1" fmla="*/ 0 h 394564"/>
              <a:gd name="connsiteX2" fmla="*/ 329711 w 791307"/>
              <a:gd name="connsiteY2" fmla="*/ 0 h 394564"/>
              <a:gd name="connsiteX3" fmla="*/ 791307 w 791307"/>
              <a:gd name="connsiteY3" fmla="*/ 0 h 394564"/>
              <a:gd name="connsiteX4" fmla="*/ 791307 w 791307"/>
              <a:gd name="connsiteY4" fmla="*/ 44672 h 394564"/>
              <a:gd name="connsiteX5" fmla="*/ 791307 w 791307"/>
              <a:gd name="connsiteY5" fmla="*/ 111680 h 394564"/>
              <a:gd name="connsiteX6" fmla="*/ 791307 w 791307"/>
              <a:gd name="connsiteY6" fmla="*/ 268033 h 394564"/>
              <a:gd name="connsiteX7" fmla="*/ 470452 w 791307"/>
              <a:gd name="connsiteY7" fmla="*/ 268033 h 394564"/>
              <a:gd name="connsiteX8" fmla="*/ 397064 w 791307"/>
              <a:gd name="connsiteY8" fmla="*/ 394564 h 394564"/>
              <a:gd name="connsiteX9" fmla="*/ 323676 w 791307"/>
              <a:gd name="connsiteY9" fmla="*/ 268033 h 394564"/>
              <a:gd name="connsiteX10" fmla="*/ 131885 w 791307"/>
              <a:gd name="connsiteY10" fmla="*/ 268033 h 394564"/>
              <a:gd name="connsiteX11" fmla="*/ 0 w 791307"/>
              <a:gd name="connsiteY11" fmla="*/ 268033 h 394564"/>
              <a:gd name="connsiteX12" fmla="*/ 0 w 791307"/>
              <a:gd name="connsiteY12" fmla="*/ 124322 h 394564"/>
              <a:gd name="connsiteX13" fmla="*/ 0 w 791307"/>
              <a:gd name="connsiteY13" fmla="*/ 111680 h 394564"/>
              <a:gd name="connsiteX14" fmla="*/ 0 w 791307"/>
              <a:gd name="connsiteY14" fmla="*/ 44672 h 394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1307" h="394564">
                <a:moveTo>
                  <a:pt x="0" y="0"/>
                </a:moveTo>
                <a:lnTo>
                  <a:pt x="131885" y="0"/>
                </a:lnTo>
                <a:lnTo>
                  <a:pt x="329711" y="0"/>
                </a:lnTo>
                <a:lnTo>
                  <a:pt x="791307" y="0"/>
                </a:lnTo>
                <a:lnTo>
                  <a:pt x="791307" y="44672"/>
                </a:lnTo>
                <a:lnTo>
                  <a:pt x="791307" y="111680"/>
                </a:lnTo>
                <a:lnTo>
                  <a:pt x="791307" y="268033"/>
                </a:lnTo>
                <a:lnTo>
                  <a:pt x="470452" y="268033"/>
                </a:lnTo>
                <a:lnTo>
                  <a:pt x="397064" y="394564"/>
                </a:lnTo>
                <a:lnTo>
                  <a:pt x="323676" y="268033"/>
                </a:lnTo>
                <a:lnTo>
                  <a:pt x="131885" y="268033"/>
                </a:lnTo>
                <a:lnTo>
                  <a:pt x="0" y="268033"/>
                </a:lnTo>
                <a:lnTo>
                  <a:pt x="0" y="124322"/>
                </a:lnTo>
                <a:lnTo>
                  <a:pt x="0" y="111680"/>
                </a:lnTo>
                <a:lnTo>
                  <a:pt x="0" y="44672"/>
                </a:lnTo>
                <a:close/>
              </a:path>
            </a:pathLst>
          </a:custGeom>
          <a:gradFill flip="none" rotWithShape="1">
            <a:gsLst>
              <a:gs pos="0">
                <a:schemeClr val="accent2"/>
              </a:gs>
              <a:gs pos="100000">
                <a:schemeClr val="accent2">
                  <a:lumMod val="90000"/>
                  <a:lumOff val="10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17" name="文本框 116"/>
          <p:cNvSpPr txBox="1"/>
          <p:nvPr/>
        </p:nvSpPr>
        <p:spPr>
          <a:xfrm>
            <a:off x="7338268" y="1157595"/>
            <a:ext cx="790986" cy="272382"/>
          </a:xfrm>
          <a:prstGeom prst="rect">
            <a:avLst/>
          </a:prstGeom>
          <a:noFill/>
          <a:effectLst/>
        </p:spPr>
        <p:txBody>
          <a:bodyPr wrap="square" lIns="86868" tIns="43434" rIns="86868" bIns="43434">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一流能力</a:t>
            </a:r>
            <a:endParaRPr lang="en-US" altLang="zh-CN" sz="1200" dirty="0">
              <a:solidFill>
                <a:schemeClr val="bg1"/>
              </a:solidFill>
              <a:effectLst/>
              <a:latin typeface="微软雅黑" panose="020B0503020204020204" pitchFamily="34" charset="-122"/>
              <a:ea typeface="微软雅黑" panose="020B0503020204020204" pitchFamily="34" charset="-122"/>
            </a:endParaRPr>
          </a:p>
        </p:txBody>
      </p:sp>
      <p:grpSp>
        <p:nvGrpSpPr>
          <p:cNvPr id="119" name="组合 118"/>
          <p:cNvGrpSpPr/>
          <p:nvPr/>
        </p:nvGrpSpPr>
        <p:grpSpPr>
          <a:xfrm>
            <a:off x="1513191" y="2178187"/>
            <a:ext cx="9353390" cy="733059"/>
            <a:chOff x="1396062" y="3580995"/>
            <a:chExt cx="9353390" cy="733059"/>
          </a:xfrm>
        </p:grpSpPr>
        <p:sp>
          <p:nvSpPr>
            <p:cNvPr id="120" name="矩形: 圆顶角 6"/>
            <p:cNvSpPr/>
            <p:nvPr>
              <p:custDataLst>
                <p:tags r:id="rId6"/>
              </p:custDataLst>
            </p:nvPr>
          </p:nvSpPr>
          <p:spPr>
            <a:xfrm>
              <a:off x="2328071" y="3580995"/>
              <a:ext cx="2770200" cy="733059"/>
            </a:xfrm>
            <a:prstGeom prst="round2SameRect">
              <a:avLst/>
            </a:prstGeom>
            <a:gradFill flip="none" rotWithShape="1">
              <a:gsLst>
                <a:gs pos="0">
                  <a:schemeClr val="accent2">
                    <a:alpha val="39786"/>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21" name="矩形: 圆顶角 10"/>
            <p:cNvSpPr/>
            <p:nvPr>
              <p:custDataLst>
                <p:tags r:id="rId7"/>
              </p:custDataLst>
            </p:nvPr>
          </p:nvSpPr>
          <p:spPr>
            <a:xfrm>
              <a:off x="5176283" y="3580995"/>
              <a:ext cx="2770200" cy="733059"/>
            </a:xfrm>
            <a:prstGeom prst="round2SameRect">
              <a:avLst/>
            </a:prstGeom>
            <a:gradFill flip="none" rotWithShape="1">
              <a:gsLst>
                <a:gs pos="0">
                  <a:schemeClr val="accent2">
                    <a:alpha val="51000"/>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22" name="矩形: 圆顶角 15"/>
            <p:cNvSpPr/>
            <p:nvPr>
              <p:custDataLst>
                <p:tags r:id="rId8"/>
              </p:custDataLst>
            </p:nvPr>
          </p:nvSpPr>
          <p:spPr>
            <a:xfrm>
              <a:off x="8024497" y="3580995"/>
              <a:ext cx="2724955" cy="733059"/>
            </a:xfrm>
            <a:prstGeom prst="round2SameRect">
              <a:avLst/>
            </a:prstGeom>
            <a:gradFill flip="none" rotWithShape="1">
              <a:gsLst>
                <a:gs pos="0">
                  <a:schemeClr val="accent2">
                    <a:alpha val="74000"/>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23" name="矩形 122"/>
            <p:cNvSpPr/>
            <p:nvPr/>
          </p:nvSpPr>
          <p:spPr>
            <a:xfrm>
              <a:off x="1396062" y="3580995"/>
              <a:ext cx="844550" cy="733059"/>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206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zh-CN" altLang="en-US" sz="1710">
                <a:latin typeface="Alibaba PuHuiTi 2.0 55" pitchFamily="18" charset="-122"/>
                <a:ea typeface="Alibaba PuHuiTi 2.0 55" pitchFamily="18" charset="-122"/>
              </a:endParaRPr>
            </a:p>
          </p:txBody>
        </p:sp>
        <p:sp>
          <p:nvSpPr>
            <p:cNvPr id="124" name="文本框 123"/>
            <p:cNvSpPr txBox="1"/>
            <p:nvPr>
              <p:custDataLst>
                <p:tags r:id="rId9"/>
              </p:custDataLst>
            </p:nvPr>
          </p:nvSpPr>
          <p:spPr>
            <a:xfrm>
              <a:off x="1499146" y="3678616"/>
              <a:ext cx="638380" cy="518604"/>
            </a:xfrm>
            <a:prstGeom prst="rect">
              <a:avLst/>
            </a:prstGeom>
            <a:noFill/>
            <a:effectLst/>
          </p:spPr>
          <p:txBody>
            <a:bodyPr wrap="square" lIns="86868" tIns="43434" rIns="86868" bIns="43434">
              <a:spAutoFit/>
            </a:bodyPr>
            <a:lstStyle>
              <a:defPPr>
                <a:defRPr lang="zh-CN"/>
              </a:defPPr>
              <a:lvl1pPr marR="0" lvl="0" indent="0" algn="ctr" defTabSz="0" fontAlgn="auto">
                <a:lnSpc>
                  <a:spcPct val="100000"/>
                </a:lnSpc>
                <a:spcBef>
                  <a:spcPts val="0"/>
                </a:spcBef>
                <a:spcAft>
                  <a:spcPts val="0"/>
                </a:spcAft>
                <a:buClrTx/>
                <a:buSzTx/>
                <a:buFontTx/>
                <a:buNone/>
                <a:defRPr kumimoji="0" sz="1600" b="0" i="1" u="none" strike="noStrike" cap="none" spc="300" normalizeH="0" baseline="0">
                  <a:ln>
                    <a:noFill/>
                  </a:ln>
                  <a:gradFill>
                    <a:gsLst>
                      <a:gs pos="0">
                        <a:schemeClr val="accent1">
                          <a:lumMod val="85000"/>
                          <a:lumOff val="15000"/>
                        </a:schemeClr>
                      </a:gs>
                      <a:gs pos="100000">
                        <a:schemeClr val="accent1"/>
                      </a:gs>
                    </a:gsLst>
                    <a:lin ang="5400000" scaled="1"/>
                  </a:gradFill>
                  <a:effectLst>
                    <a:outerShdw blurRad="190500" dist="38100" dir="2700000" algn="tl">
                      <a:schemeClr val="accent1">
                        <a:lumMod val="60000"/>
                        <a:lumOff val="40000"/>
                        <a:alpha val="43000"/>
                      </a:schemeClr>
                    </a:outerShdw>
                  </a:effectLst>
                  <a:uLnTx/>
                  <a:uFillTx/>
                  <a:latin typeface="思源宋体 CN Heavy" panose="02020900000000000000" pitchFamily="18" charset="-122"/>
                  <a:ea typeface="思源宋体 CN Heavy" panose="02020900000000000000" pitchFamily="18" charset="-122"/>
                </a:defRPr>
              </a:lvl1pPr>
            </a:lstStyle>
            <a:p>
              <a:r>
                <a:rPr lang="zh-CN" altLang="en-US" sz="1400" b="1" i="0" dirty="0">
                  <a:gradFill>
                    <a:gsLst>
                      <a:gs pos="0">
                        <a:schemeClr val="accent2">
                          <a:lumMod val="90000"/>
                          <a:lumOff val="10000"/>
                        </a:schemeClr>
                      </a:gs>
                      <a:gs pos="100000">
                        <a:schemeClr val="accent2"/>
                      </a:gs>
                    </a:gsLst>
                    <a:lin ang="5400000" scaled="1"/>
                  </a:gradFill>
                  <a:effectLst>
                    <a:outerShdw blurRad="180975" dist="36195" dir="2700000" algn="tl">
                      <a:schemeClr val="accent2">
                        <a:lumMod val="60000"/>
                        <a:lumOff val="40000"/>
                        <a:alpha val="43000"/>
                      </a:schemeClr>
                    </a:outerShdw>
                  </a:effectLst>
                  <a:latin typeface="+mn-ea"/>
                  <a:ea typeface="+mn-ea"/>
                </a:rPr>
                <a:t>业务方向</a:t>
              </a:r>
              <a:endParaRPr lang="en-US" altLang="zh-CN" sz="1400" b="1" i="0" dirty="0">
                <a:gradFill>
                  <a:gsLst>
                    <a:gs pos="0">
                      <a:schemeClr val="accent2">
                        <a:lumMod val="90000"/>
                        <a:lumOff val="10000"/>
                      </a:schemeClr>
                    </a:gs>
                    <a:gs pos="100000">
                      <a:schemeClr val="accent2"/>
                    </a:gs>
                  </a:gsLst>
                  <a:lin ang="5400000" scaled="1"/>
                </a:gradFill>
                <a:effectLst>
                  <a:outerShdw blurRad="180975" dist="36195" dir="2700000" algn="tl">
                    <a:schemeClr val="accent2">
                      <a:lumMod val="60000"/>
                      <a:lumOff val="40000"/>
                      <a:alpha val="43000"/>
                    </a:schemeClr>
                  </a:outerShdw>
                </a:effectLst>
                <a:latin typeface="+mn-ea"/>
                <a:ea typeface="+mn-ea"/>
              </a:endParaRPr>
            </a:p>
          </p:txBody>
        </p:sp>
        <p:sp>
          <p:nvSpPr>
            <p:cNvPr id="125" name="文本框 124"/>
            <p:cNvSpPr txBox="1"/>
            <p:nvPr/>
          </p:nvSpPr>
          <p:spPr>
            <a:xfrm>
              <a:off x="2283721" y="3775265"/>
              <a:ext cx="2814551" cy="323935"/>
            </a:xfrm>
            <a:prstGeom prst="rect">
              <a:avLst/>
            </a:prstGeom>
            <a:noFill/>
            <a:effectLst/>
          </p:spPr>
          <p:txBody>
            <a:bodyPr wrap="square" lIns="86868" tIns="43434" rIns="86868" bIns="43434">
              <a:spAutoFit/>
            </a:bodyPr>
            <a:lstStyle/>
            <a:p>
              <a:pPr algn="ctr">
                <a:lnSpc>
                  <a:spcPct val="120000"/>
                </a:lnSpc>
              </a:pPr>
              <a:r>
                <a:rPr lang="zh-CN" altLang="en-US" sz="1400" b="1" dirty="0">
                  <a:solidFill>
                    <a:schemeClr val="bg1"/>
                  </a:solidFill>
                  <a:sym typeface="+mn-ea"/>
                </a:rPr>
                <a:t>支撑战略决策</a:t>
              </a:r>
              <a:endParaRPr lang="zh-CN" altLang="en-US" sz="1400" b="1" dirty="0">
                <a:solidFill>
                  <a:schemeClr val="bg1"/>
                </a:solidFill>
              </a:endParaRPr>
            </a:p>
          </p:txBody>
        </p:sp>
        <p:sp>
          <p:nvSpPr>
            <p:cNvPr id="126" name="文本框 125"/>
            <p:cNvSpPr txBox="1"/>
            <p:nvPr/>
          </p:nvSpPr>
          <p:spPr>
            <a:xfrm>
              <a:off x="5156154" y="3793292"/>
              <a:ext cx="2814551" cy="323935"/>
            </a:xfrm>
            <a:prstGeom prst="rect">
              <a:avLst/>
            </a:prstGeom>
            <a:noFill/>
            <a:effectLst/>
          </p:spPr>
          <p:txBody>
            <a:bodyPr wrap="square" lIns="86868" tIns="43434" rIns="86868" bIns="43434">
              <a:spAutoFit/>
            </a:bodyPr>
            <a:lstStyle/>
            <a:p>
              <a:pPr algn="ctr">
                <a:lnSpc>
                  <a:spcPct val="120000"/>
                </a:lnSpc>
              </a:pPr>
              <a:r>
                <a:rPr lang="zh-CN" altLang="en-US" sz="1400" b="1" dirty="0">
                  <a:solidFill>
                    <a:schemeClr val="bg1"/>
                  </a:solidFill>
                  <a:sym typeface="+mn-ea"/>
                </a:rPr>
                <a:t>服务创新生态</a:t>
              </a:r>
              <a:endParaRPr lang="zh-CN" altLang="en-US" sz="1400" b="1" dirty="0">
                <a:solidFill>
                  <a:schemeClr val="bg1"/>
                </a:solidFill>
              </a:endParaRPr>
            </a:p>
          </p:txBody>
        </p:sp>
        <p:sp>
          <p:nvSpPr>
            <p:cNvPr id="127" name="文本框 126"/>
            <p:cNvSpPr txBox="1"/>
            <p:nvPr/>
          </p:nvSpPr>
          <p:spPr>
            <a:xfrm>
              <a:off x="8024496" y="3798702"/>
              <a:ext cx="2597053" cy="323935"/>
            </a:xfrm>
            <a:prstGeom prst="rect">
              <a:avLst/>
            </a:prstGeom>
            <a:noFill/>
            <a:effectLst/>
          </p:spPr>
          <p:txBody>
            <a:bodyPr wrap="square" lIns="86868" tIns="43434" rIns="86868" bIns="43434">
              <a:spAutoFit/>
            </a:bodyPr>
            <a:lstStyle/>
            <a:p>
              <a:pPr algn="ctr">
                <a:lnSpc>
                  <a:spcPct val="120000"/>
                </a:lnSpc>
              </a:pPr>
              <a:r>
                <a:rPr lang="zh-CN" altLang="en-US" sz="1400" b="1" dirty="0">
                  <a:solidFill>
                    <a:schemeClr val="bg1"/>
                  </a:solidFill>
                  <a:sym typeface="+mn-ea"/>
                </a:rPr>
                <a:t>赋能产业发展</a:t>
              </a:r>
              <a:endParaRPr lang="zh-CN" altLang="en-US" sz="1400" b="1" dirty="0">
                <a:solidFill>
                  <a:schemeClr val="bg1"/>
                </a:solidFill>
                <a:sym typeface="+mn-ea"/>
              </a:endParaRPr>
            </a:p>
          </p:txBody>
        </p:sp>
      </p:grpSp>
      <p:sp>
        <p:nvSpPr>
          <p:cNvPr id="132" name="箭头: 下 131" descr="e7d195523061f1c074694c8bbf98be7b1e4b015d796375963FD28840057458461C7CA0DAD340D15583DEDFC2E3241C4F392EF3A8B4D067B40CF4F149DD7E51F346B0CAB1BCCF6DB2480C67273C6C9E4C9173CE6849F2BAE236E3741436A7121F1496A0618BAEAC872203952E7ED5C91A4063A8F1F22624ADFBF4881E0A858CE61EA402A3E8E92F2B"/>
          <p:cNvSpPr/>
          <p:nvPr/>
        </p:nvSpPr>
        <p:spPr>
          <a:xfrm flipH="1">
            <a:off x="6047952" y="1646223"/>
            <a:ext cx="378589" cy="515591"/>
          </a:xfrm>
          <a:prstGeom prst="downArrow">
            <a:avLst/>
          </a:prstGeom>
          <a:gradFill>
            <a:gsLst>
              <a:gs pos="77000">
                <a:schemeClr val="accent1">
                  <a:alpha val="0"/>
                </a:schemeClr>
              </a:gs>
              <a:gs pos="0">
                <a:schemeClr val="accent1">
                  <a:alpha val="5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2" tIns="22861" rIns="45722" bIns="22861"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u="none" strike="noStrike" kern="1200" cap="none" spc="0" normalizeH="0" baseline="0" noProof="0" dirty="0">
              <a:ln>
                <a:noFill/>
              </a:ln>
              <a:solidFill>
                <a:prstClr val="white"/>
              </a:solidFill>
              <a:effectLst>
                <a:outerShdw blurRad="63500" sx="102000" sy="102000" algn="ctr" rotWithShape="0">
                  <a:srgbClr val="0055FF">
                    <a:alpha val="8000"/>
                  </a:srgbClr>
                </a:outerShdw>
              </a:effectLst>
              <a:uLnTx/>
              <a:uFillTx/>
              <a:latin typeface="Alibaba PuHuiTi 2.0 55" pitchFamily="18" charset="-122"/>
              <a:ea typeface="Alibaba PuHuiTi 2.0 55" pitchFamily="18" charset="-122"/>
              <a:cs typeface="Alibaba PuHuiTi 2.0 55" pitchFamily="18" charset="-122"/>
              <a:sym typeface="+mn-lt"/>
            </a:endParaRPr>
          </a:p>
        </p:txBody>
      </p:sp>
      <p:sp>
        <p:nvSpPr>
          <p:cNvPr id="137" name="矩形 136"/>
          <p:cNvSpPr/>
          <p:nvPr/>
        </p:nvSpPr>
        <p:spPr>
          <a:xfrm>
            <a:off x="1513191" y="3226053"/>
            <a:ext cx="844550" cy="733059"/>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2065">
            <a:solidFill>
              <a:schemeClr val="bg1">
                <a:lumMod val="75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zh-CN" altLang="en-US" sz="1710">
              <a:latin typeface="Alibaba PuHuiTi 2.0 55" pitchFamily="18" charset="-122"/>
              <a:ea typeface="Alibaba PuHuiTi 2.0 55" pitchFamily="18" charset="-122"/>
            </a:endParaRPr>
          </a:p>
        </p:txBody>
      </p:sp>
      <p:sp>
        <p:nvSpPr>
          <p:cNvPr id="138" name="文本框 137"/>
          <p:cNvSpPr txBox="1"/>
          <p:nvPr>
            <p:custDataLst>
              <p:tags r:id="rId10"/>
            </p:custDataLst>
          </p:nvPr>
        </p:nvSpPr>
        <p:spPr>
          <a:xfrm>
            <a:off x="1616275" y="3323674"/>
            <a:ext cx="638380" cy="518604"/>
          </a:xfrm>
          <a:prstGeom prst="rect">
            <a:avLst/>
          </a:prstGeom>
          <a:noFill/>
          <a:effectLst/>
        </p:spPr>
        <p:txBody>
          <a:bodyPr wrap="square" lIns="86868" tIns="43434" rIns="86868" bIns="43434">
            <a:spAutoFit/>
          </a:bodyPr>
          <a:lstStyle>
            <a:defPPr>
              <a:defRPr lang="zh-CN"/>
            </a:defPPr>
            <a:lvl1pPr marR="0" lvl="0" indent="0" algn="ctr" defTabSz="0" fontAlgn="auto">
              <a:lnSpc>
                <a:spcPct val="100000"/>
              </a:lnSpc>
              <a:spcBef>
                <a:spcPts val="0"/>
              </a:spcBef>
              <a:spcAft>
                <a:spcPts val="0"/>
              </a:spcAft>
              <a:buClrTx/>
              <a:buSzTx/>
              <a:buFontTx/>
              <a:buNone/>
              <a:defRPr kumimoji="0" sz="1600" b="0" i="1" u="none" strike="noStrike" cap="none" spc="300" normalizeH="0" baseline="0">
                <a:ln>
                  <a:noFill/>
                </a:ln>
                <a:gradFill>
                  <a:gsLst>
                    <a:gs pos="0">
                      <a:schemeClr val="accent1">
                        <a:lumMod val="85000"/>
                        <a:lumOff val="15000"/>
                      </a:schemeClr>
                    </a:gs>
                    <a:gs pos="100000">
                      <a:schemeClr val="accent1"/>
                    </a:gs>
                  </a:gsLst>
                  <a:lin ang="5400000" scaled="1"/>
                </a:gradFill>
                <a:effectLst>
                  <a:outerShdw blurRad="190500" dist="38100" dir="2700000" algn="tl">
                    <a:schemeClr val="accent1">
                      <a:lumMod val="60000"/>
                      <a:lumOff val="40000"/>
                      <a:alpha val="43000"/>
                    </a:schemeClr>
                  </a:outerShdw>
                </a:effectLst>
                <a:uLnTx/>
                <a:uFillTx/>
                <a:latin typeface="思源宋体 CN Heavy" panose="02020900000000000000" pitchFamily="18" charset="-122"/>
                <a:ea typeface="思源宋体 CN Heavy" panose="02020900000000000000" pitchFamily="18" charset="-122"/>
              </a:defRPr>
            </a:lvl1pPr>
          </a:lstStyle>
          <a:p>
            <a:r>
              <a:rPr lang="zh-CN" altLang="en-US" sz="1400" b="1" i="0" dirty="0">
                <a:gradFill>
                  <a:gsLst>
                    <a:gs pos="0">
                      <a:schemeClr val="accent2">
                        <a:lumMod val="90000"/>
                        <a:lumOff val="10000"/>
                      </a:schemeClr>
                    </a:gs>
                    <a:gs pos="100000">
                      <a:schemeClr val="accent2"/>
                    </a:gs>
                  </a:gsLst>
                  <a:lin ang="5400000" scaled="1"/>
                </a:gradFill>
                <a:effectLst>
                  <a:outerShdw blurRad="180975" dist="36195" dir="2700000" algn="tl">
                    <a:schemeClr val="accent2">
                      <a:lumMod val="60000"/>
                      <a:lumOff val="40000"/>
                      <a:alpha val="43000"/>
                    </a:schemeClr>
                  </a:outerShdw>
                </a:effectLst>
                <a:latin typeface="+mn-ea"/>
                <a:ea typeface="+mn-ea"/>
              </a:rPr>
              <a:t>重点任务</a:t>
            </a:r>
            <a:endParaRPr lang="en-US" altLang="zh-CN" sz="1400" b="1" i="0" dirty="0">
              <a:gradFill>
                <a:gsLst>
                  <a:gs pos="0">
                    <a:schemeClr val="accent2">
                      <a:lumMod val="90000"/>
                      <a:lumOff val="10000"/>
                    </a:schemeClr>
                  </a:gs>
                  <a:gs pos="100000">
                    <a:schemeClr val="accent2"/>
                  </a:gs>
                </a:gsLst>
                <a:lin ang="5400000" scaled="1"/>
              </a:gradFill>
              <a:effectLst>
                <a:outerShdw blurRad="180975" dist="36195" dir="2700000" algn="tl">
                  <a:schemeClr val="accent2">
                    <a:lumMod val="60000"/>
                    <a:lumOff val="40000"/>
                    <a:alpha val="43000"/>
                  </a:schemeClr>
                </a:outerShdw>
              </a:effectLst>
              <a:latin typeface="+mn-ea"/>
              <a:ea typeface="+mn-ea"/>
            </a:endParaRPr>
          </a:p>
        </p:txBody>
      </p:sp>
      <p:grpSp>
        <p:nvGrpSpPr>
          <p:cNvPr id="142" name="组合 141"/>
          <p:cNvGrpSpPr/>
          <p:nvPr/>
        </p:nvGrpSpPr>
        <p:grpSpPr>
          <a:xfrm>
            <a:off x="2445200" y="3226053"/>
            <a:ext cx="1404201" cy="733059"/>
            <a:chOff x="2445200" y="3226053"/>
            <a:chExt cx="1404201" cy="733059"/>
          </a:xfrm>
        </p:grpSpPr>
        <p:sp>
          <p:nvSpPr>
            <p:cNvPr id="134" name="矩形: 圆顶角 6"/>
            <p:cNvSpPr/>
            <p:nvPr>
              <p:custDataLst>
                <p:tags r:id="rId11"/>
              </p:custDataLst>
            </p:nvPr>
          </p:nvSpPr>
          <p:spPr>
            <a:xfrm>
              <a:off x="2445200" y="3226053"/>
              <a:ext cx="1399635" cy="733059"/>
            </a:xfrm>
            <a:prstGeom prst="round2SameRect">
              <a:avLst/>
            </a:prstGeom>
            <a:gradFill flip="none" rotWithShape="1">
              <a:gsLst>
                <a:gs pos="0">
                  <a:schemeClr val="accent2">
                    <a:alpha val="39786"/>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39" name="文本框 138"/>
            <p:cNvSpPr txBox="1"/>
            <p:nvPr/>
          </p:nvSpPr>
          <p:spPr>
            <a:xfrm>
              <a:off x="2464063" y="3309083"/>
              <a:ext cx="1385338" cy="604781"/>
            </a:xfrm>
            <a:prstGeom prst="rect">
              <a:avLst/>
            </a:prstGeom>
            <a:noFill/>
            <a:effectLst/>
          </p:spPr>
          <p:txBody>
            <a:bodyPr wrap="square" lIns="86868" tIns="43434" rIns="86868" bIns="43434">
              <a:spAutoFit/>
            </a:bodyPr>
            <a:lstStyle/>
            <a:p>
              <a:pPr algn="ctr">
                <a:lnSpc>
                  <a:spcPct val="120000"/>
                </a:lnSpc>
              </a:pPr>
              <a:r>
                <a:rPr lang="zh-CN" altLang="en-US" sz="1400" b="1" dirty="0">
                  <a:solidFill>
                    <a:schemeClr val="bg1"/>
                  </a:solidFill>
                </a:rPr>
                <a:t>提升</a:t>
              </a:r>
              <a:r>
                <a:rPr lang="zh-CN" altLang="en-US" sz="1400" b="1" dirty="0" smtClean="0">
                  <a:solidFill>
                    <a:schemeClr val="bg1"/>
                  </a:solidFill>
                </a:rPr>
                <a:t>科技</a:t>
              </a:r>
              <a:r>
                <a:rPr lang="zh-CN" altLang="en-US" sz="1400" b="1" dirty="0">
                  <a:solidFill>
                    <a:schemeClr val="bg1"/>
                  </a:solidFill>
                </a:rPr>
                <a:t>管理</a:t>
              </a:r>
              <a:r>
                <a:rPr lang="zh-CN" altLang="en-US" sz="1400" b="1" dirty="0" smtClean="0">
                  <a:solidFill>
                    <a:schemeClr val="bg1"/>
                  </a:solidFill>
                </a:rPr>
                <a:t>支撑</a:t>
              </a:r>
              <a:r>
                <a:rPr lang="zh-CN" altLang="en-US" sz="1400" b="1" dirty="0">
                  <a:solidFill>
                    <a:schemeClr val="bg1"/>
                  </a:solidFill>
                </a:rPr>
                <a:t>能力</a:t>
              </a:r>
              <a:endParaRPr lang="zh-CN" altLang="en-US" sz="1400" b="1" dirty="0">
                <a:solidFill>
                  <a:schemeClr val="bg1"/>
                </a:solidFill>
              </a:endParaRPr>
            </a:p>
          </p:txBody>
        </p:sp>
      </p:grpSp>
      <p:grpSp>
        <p:nvGrpSpPr>
          <p:cNvPr id="143" name="组合 142"/>
          <p:cNvGrpSpPr/>
          <p:nvPr/>
        </p:nvGrpSpPr>
        <p:grpSpPr>
          <a:xfrm>
            <a:off x="4200669" y="3224520"/>
            <a:ext cx="1404201" cy="733059"/>
            <a:chOff x="2445200" y="3226053"/>
            <a:chExt cx="1404201" cy="733059"/>
          </a:xfrm>
        </p:grpSpPr>
        <p:sp>
          <p:nvSpPr>
            <p:cNvPr id="144" name="矩形: 圆顶角 6"/>
            <p:cNvSpPr/>
            <p:nvPr>
              <p:custDataLst>
                <p:tags r:id="rId12"/>
              </p:custDataLst>
            </p:nvPr>
          </p:nvSpPr>
          <p:spPr>
            <a:xfrm>
              <a:off x="2445200" y="3226053"/>
              <a:ext cx="1399635" cy="733059"/>
            </a:xfrm>
            <a:prstGeom prst="round2SameRect">
              <a:avLst/>
            </a:prstGeom>
            <a:gradFill flip="none" rotWithShape="1">
              <a:gsLst>
                <a:gs pos="0">
                  <a:schemeClr val="accent2">
                    <a:alpha val="39786"/>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45" name="文本框 144"/>
            <p:cNvSpPr txBox="1"/>
            <p:nvPr/>
          </p:nvSpPr>
          <p:spPr>
            <a:xfrm>
              <a:off x="2464063" y="3309083"/>
              <a:ext cx="1385338" cy="518604"/>
            </a:xfrm>
            <a:prstGeom prst="rect">
              <a:avLst/>
            </a:prstGeom>
            <a:noFill/>
            <a:effectLst/>
          </p:spPr>
          <p:txBody>
            <a:bodyPr wrap="square" lIns="86868" tIns="43434" rIns="86868" bIns="43434">
              <a:spAutoFit/>
            </a:bodyPr>
            <a:lstStyle/>
            <a:p>
              <a:pPr algn="ctr"/>
              <a:r>
                <a:rPr lang="zh-CN" altLang="en-US" sz="1400" b="1" dirty="0">
                  <a:solidFill>
                    <a:schemeClr val="bg1"/>
                  </a:solidFill>
                </a:rPr>
                <a:t>打造高端</a:t>
              </a:r>
              <a:endParaRPr lang="zh-CN" altLang="en-US" sz="1400" b="1" dirty="0">
                <a:solidFill>
                  <a:schemeClr val="bg1"/>
                </a:solidFill>
              </a:endParaRPr>
            </a:p>
            <a:p>
              <a:pPr algn="ctr"/>
              <a:r>
                <a:rPr lang="zh-CN" altLang="en-US" sz="1400" b="1" dirty="0">
                  <a:solidFill>
                    <a:schemeClr val="bg1"/>
                  </a:solidFill>
                </a:rPr>
                <a:t>科技创新智库</a:t>
              </a:r>
              <a:endParaRPr lang="zh-CN" altLang="en-US" sz="1400" b="1" dirty="0">
                <a:solidFill>
                  <a:schemeClr val="bg1"/>
                </a:solidFill>
              </a:endParaRPr>
            </a:p>
          </p:txBody>
        </p:sp>
      </p:grpSp>
      <p:grpSp>
        <p:nvGrpSpPr>
          <p:cNvPr id="146" name="组合 145"/>
          <p:cNvGrpSpPr/>
          <p:nvPr/>
        </p:nvGrpSpPr>
        <p:grpSpPr>
          <a:xfrm>
            <a:off x="5997607" y="3233786"/>
            <a:ext cx="1404201" cy="733059"/>
            <a:chOff x="2445200" y="3226053"/>
            <a:chExt cx="1404201" cy="733059"/>
          </a:xfrm>
        </p:grpSpPr>
        <p:sp>
          <p:nvSpPr>
            <p:cNvPr id="147" name="矩形: 圆顶角 6"/>
            <p:cNvSpPr/>
            <p:nvPr>
              <p:custDataLst>
                <p:tags r:id="rId13"/>
              </p:custDataLst>
            </p:nvPr>
          </p:nvSpPr>
          <p:spPr>
            <a:xfrm>
              <a:off x="2445200" y="3226053"/>
              <a:ext cx="1399635" cy="733059"/>
            </a:xfrm>
            <a:prstGeom prst="round2SameRect">
              <a:avLst/>
            </a:prstGeom>
            <a:gradFill flip="none" rotWithShape="1">
              <a:gsLst>
                <a:gs pos="0">
                  <a:schemeClr val="accent2">
                    <a:alpha val="39786"/>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48" name="文本框 147"/>
            <p:cNvSpPr txBox="1"/>
            <p:nvPr/>
          </p:nvSpPr>
          <p:spPr>
            <a:xfrm>
              <a:off x="2464063" y="3309083"/>
              <a:ext cx="1385338" cy="518604"/>
            </a:xfrm>
            <a:prstGeom prst="rect">
              <a:avLst/>
            </a:prstGeom>
            <a:noFill/>
            <a:effectLst/>
          </p:spPr>
          <p:txBody>
            <a:bodyPr wrap="square" lIns="86868" tIns="43434" rIns="86868" bIns="43434">
              <a:spAutoFit/>
            </a:bodyPr>
            <a:lstStyle/>
            <a:p>
              <a:pPr algn="ctr"/>
              <a:r>
                <a:rPr lang="zh-CN" altLang="en-US" sz="1400" b="1" dirty="0">
                  <a:solidFill>
                    <a:schemeClr val="bg1"/>
                  </a:solidFill>
                </a:rPr>
                <a:t>打造科技数据服务平台</a:t>
              </a:r>
              <a:endParaRPr lang="zh-CN" altLang="en-US" sz="1400" b="1" dirty="0">
                <a:solidFill>
                  <a:schemeClr val="bg1"/>
                </a:solidFill>
              </a:endParaRPr>
            </a:p>
          </p:txBody>
        </p:sp>
      </p:grpSp>
      <p:grpSp>
        <p:nvGrpSpPr>
          <p:cNvPr id="149" name="组合 148"/>
          <p:cNvGrpSpPr/>
          <p:nvPr/>
        </p:nvGrpSpPr>
        <p:grpSpPr>
          <a:xfrm>
            <a:off x="7748510" y="3247380"/>
            <a:ext cx="1404201" cy="733059"/>
            <a:chOff x="2445200" y="3226053"/>
            <a:chExt cx="1404201" cy="733059"/>
          </a:xfrm>
        </p:grpSpPr>
        <p:sp>
          <p:nvSpPr>
            <p:cNvPr id="150" name="矩形: 圆顶角 6"/>
            <p:cNvSpPr/>
            <p:nvPr>
              <p:custDataLst>
                <p:tags r:id="rId14"/>
              </p:custDataLst>
            </p:nvPr>
          </p:nvSpPr>
          <p:spPr>
            <a:xfrm>
              <a:off x="2445200" y="3226053"/>
              <a:ext cx="1399635" cy="733059"/>
            </a:xfrm>
            <a:prstGeom prst="round2SameRect">
              <a:avLst/>
            </a:prstGeom>
            <a:gradFill flip="none" rotWithShape="1">
              <a:gsLst>
                <a:gs pos="0">
                  <a:schemeClr val="accent2">
                    <a:alpha val="39786"/>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51" name="文本框 150"/>
            <p:cNvSpPr txBox="1"/>
            <p:nvPr/>
          </p:nvSpPr>
          <p:spPr>
            <a:xfrm>
              <a:off x="2464063" y="3309083"/>
              <a:ext cx="1385338" cy="518604"/>
            </a:xfrm>
            <a:prstGeom prst="rect">
              <a:avLst/>
            </a:prstGeom>
            <a:noFill/>
            <a:effectLst/>
          </p:spPr>
          <p:txBody>
            <a:bodyPr wrap="square" lIns="86868" tIns="43434" rIns="86868" bIns="43434">
              <a:spAutoFit/>
            </a:bodyPr>
            <a:lstStyle/>
            <a:p>
              <a:pPr algn="ctr"/>
              <a:r>
                <a:rPr lang="zh-CN" altLang="en-US" sz="1400" b="1" dirty="0">
                  <a:solidFill>
                    <a:schemeClr val="bg1"/>
                  </a:solidFill>
                  <a:sym typeface="+mn-ea"/>
                </a:rPr>
                <a:t>打造公共</a:t>
              </a:r>
              <a:r>
                <a:rPr lang="zh-CN" altLang="en-US" sz="1400" b="1" dirty="0" smtClean="0">
                  <a:solidFill>
                    <a:schemeClr val="bg1"/>
                  </a:solidFill>
                  <a:sym typeface="+mn-ea"/>
                </a:rPr>
                <a:t>技术服务</a:t>
              </a:r>
              <a:r>
                <a:rPr lang="zh-CN" altLang="en-US" sz="1400" b="1" dirty="0">
                  <a:solidFill>
                    <a:schemeClr val="bg1"/>
                  </a:solidFill>
                  <a:sym typeface="+mn-ea"/>
                </a:rPr>
                <a:t>体系</a:t>
              </a:r>
              <a:endParaRPr lang="zh-CN" altLang="en-US" sz="1400" b="1" dirty="0">
                <a:solidFill>
                  <a:schemeClr val="bg1"/>
                </a:solidFill>
              </a:endParaRPr>
            </a:p>
          </p:txBody>
        </p:sp>
      </p:grpSp>
      <p:grpSp>
        <p:nvGrpSpPr>
          <p:cNvPr id="152" name="组合 151"/>
          <p:cNvGrpSpPr/>
          <p:nvPr/>
        </p:nvGrpSpPr>
        <p:grpSpPr>
          <a:xfrm>
            <a:off x="9499413" y="3245216"/>
            <a:ext cx="1404201" cy="733059"/>
            <a:chOff x="2445200" y="3226053"/>
            <a:chExt cx="1404201" cy="733059"/>
          </a:xfrm>
        </p:grpSpPr>
        <p:sp>
          <p:nvSpPr>
            <p:cNvPr id="153" name="矩形: 圆顶角 6"/>
            <p:cNvSpPr/>
            <p:nvPr>
              <p:custDataLst>
                <p:tags r:id="rId15"/>
              </p:custDataLst>
            </p:nvPr>
          </p:nvSpPr>
          <p:spPr>
            <a:xfrm>
              <a:off x="2445200" y="3226053"/>
              <a:ext cx="1399635" cy="733059"/>
            </a:xfrm>
            <a:prstGeom prst="round2SameRect">
              <a:avLst/>
            </a:prstGeom>
            <a:gradFill flip="none" rotWithShape="1">
              <a:gsLst>
                <a:gs pos="0">
                  <a:schemeClr val="accent2">
                    <a:alpha val="39786"/>
                  </a:schemeClr>
                </a:gs>
                <a:gs pos="100000">
                  <a:schemeClr val="accent3">
                    <a:lumMod val="75000"/>
                  </a:schemeClr>
                </a:gs>
              </a:gsLst>
              <a:path path="circle">
                <a:fillToRect t="100000" r="100000"/>
              </a:path>
              <a:tileRect l="-100000" b="-100000"/>
            </a:gradFill>
            <a:ln w="38100">
              <a:noFill/>
            </a:ln>
            <a:effectLst>
              <a:outerShdw blurRad="241300" dist="117272"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54" name="文本框 153"/>
            <p:cNvSpPr txBox="1"/>
            <p:nvPr/>
          </p:nvSpPr>
          <p:spPr>
            <a:xfrm>
              <a:off x="2464063" y="3309083"/>
              <a:ext cx="1385338" cy="518604"/>
            </a:xfrm>
            <a:prstGeom prst="rect">
              <a:avLst/>
            </a:prstGeom>
            <a:noFill/>
            <a:effectLst/>
          </p:spPr>
          <p:txBody>
            <a:bodyPr wrap="square" lIns="86868" tIns="43434" rIns="86868" bIns="43434">
              <a:spAutoFit/>
            </a:bodyPr>
            <a:lstStyle/>
            <a:p>
              <a:pPr algn="ctr"/>
              <a:r>
                <a:rPr lang="zh-CN" altLang="en-US" sz="1400" b="1" dirty="0">
                  <a:solidFill>
                    <a:schemeClr val="bg1"/>
                  </a:solidFill>
                  <a:sym typeface="+mn-ea"/>
                </a:rPr>
                <a:t>提升成果转化服务能力</a:t>
              </a:r>
              <a:endParaRPr lang="zh-CN" altLang="en-US" sz="1400" b="1" dirty="0">
                <a:solidFill>
                  <a:schemeClr val="bg1"/>
                </a:solidFill>
              </a:endParaRPr>
            </a:p>
          </p:txBody>
        </p:sp>
      </p:grpSp>
      <p:sp>
        <p:nvSpPr>
          <p:cNvPr id="155" name="箭头: 下 131" descr="e7d195523061f1c074694c8bbf98be7b1e4b015d796375963FD28840057458461C7CA0DAD340D15583DEDFC2E3241C4F392EF3A8B4D067B40CF4F149DD7E51F346B0CAB1BCCF6DB2480C67273C6C9E4C9173CE6849F2BAE236E3741436A7121F1496A0618BAEAC872203952E7ED5C91A4063A8F1F22624ADFBF4881E0A858CE61EA402A3E8E92F2B"/>
          <p:cNvSpPr/>
          <p:nvPr/>
        </p:nvSpPr>
        <p:spPr>
          <a:xfrm flipH="1">
            <a:off x="3844835" y="2736480"/>
            <a:ext cx="378589" cy="515591"/>
          </a:xfrm>
          <a:prstGeom prst="downArrow">
            <a:avLst/>
          </a:prstGeom>
          <a:gradFill>
            <a:gsLst>
              <a:gs pos="77000">
                <a:schemeClr val="accent1">
                  <a:alpha val="0"/>
                </a:schemeClr>
              </a:gs>
              <a:gs pos="0">
                <a:schemeClr val="accent1">
                  <a:alpha val="5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2" tIns="22861" rIns="45722" bIns="22861"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u="none" strike="noStrike" kern="1200" cap="none" spc="0" normalizeH="0" baseline="0" noProof="0" dirty="0">
              <a:ln>
                <a:noFill/>
              </a:ln>
              <a:solidFill>
                <a:prstClr val="white"/>
              </a:solidFill>
              <a:effectLst>
                <a:outerShdw blurRad="63500" sx="102000" sy="102000" algn="ctr" rotWithShape="0">
                  <a:srgbClr val="0055FF">
                    <a:alpha val="8000"/>
                  </a:srgbClr>
                </a:outerShdw>
              </a:effectLst>
              <a:uLnTx/>
              <a:uFillTx/>
              <a:latin typeface="Alibaba PuHuiTi 2.0 55" pitchFamily="18" charset="-122"/>
              <a:ea typeface="Alibaba PuHuiTi 2.0 55" pitchFamily="18" charset="-122"/>
              <a:cs typeface="Alibaba PuHuiTi 2.0 55" pitchFamily="18" charset="-122"/>
              <a:sym typeface="+mn-lt"/>
            </a:endParaRPr>
          </a:p>
        </p:txBody>
      </p:sp>
      <p:sp>
        <p:nvSpPr>
          <p:cNvPr id="156" name="箭头: 下 131" descr="e7d195523061f1c074694c8bbf98be7b1e4b015d796375963FD28840057458461C7CA0DAD340D15583DEDFC2E3241C4F392EF3A8B4D067B40CF4F149DD7E51F346B0CAB1BCCF6DB2480C67273C6C9E4C9173CE6849F2BAE236E3741436A7121F1496A0618BAEAC872203952E7ED5C91A4063A8F1F22624ADFBF4881E0A858CE61EA402A3E8E92F2B"/>
          <p:cNvSpPr/>
          <p:nvPr/>
        </p:nvSpPr>
        <p:spPr>
          <a:xfrm flipH="1">
            <a:off x="6485112" y="2727971"/>
            <a:ext cx="378589" cy="515591"/>
          </a:xfrm>
          <a:prstGeom prst="downArrow">
            <a:avLst/>
          </a:prstGeom>
          <a:gradFill>
            <a:gsLst>
              <a:gs pos="77000">
                <a:schemeClr val="accent1">
                  <a:alpha val="0"/>
                </a:schemeClr>
              </a:gs>
              <a:gs pos="0">
                <a:schemeClr val="accent1">
                  <a:alpha val="5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2" tIns="22861" rIns="45722" bIns="22861"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u="none" strike="noStrike" kern="1200" cap="none" spc="0" normalizeH="0" baseline="0" noProof="0" dirty="0">
              <a:ln>
                <a:noFill/>
              </a:ln>
              <a:solidFill>
                <a:prstClr val="white"/>
              </a:solidFill>
              <a:effectLst>
                <a:outerShdw blurRad="63500" sx="102000" sy="102000" algn="ctr" rotWithShape="0">
                  <a:srgbClr val="0055FF">
                    <a:alpha val="8000"/>
                  </a:srgbClr>
                </a:outerShdw>
              </a:effectLst>
              <a:uLnTx/>
              <a:uFillTx/>
              <a:latin typeface="Alibaba PuHuiTi 2.0 55" pitchFamily="18" charset="-122"/>
              <a:ea typeface="Alibaba PuHuiTi 2.0 55" pitchFamily="18" charset="-122"/>
              <a:cs typeface="Alibaba PuHuiTi 2.0 55" pitchFamily="18" charset="-122"/>
              <a:sym typeface="+mn-lt"/>
            </a:endParaRPr>
          </a:p>
        </p:txBody>
      </p:sp>
      <p:sp>
        <p:nvSpPr>
          <p:cNvPr id="157" name="箭头: 下 131" descr="e7d195523061f1c074694c8bbf98be7b1e4b015d796375963FD28840057458461C7CA0DAD340D15583DEDFC2E3241C4F392EF3A8B4D067B40CF4F149DD7E51F346B0CAB1BCCF6DB2480C67273C6C9E4C9173CE6849F2BAE236E3741436A7121F1496A0618BAEAC872203952E7ED5C91A4063A8F1F22624ADFBF4881E0A858CE61EA402A3E8E92F2B"/>
          <p:cNvSpPr/>
          <p:nvPr/>
        </p:nvSpPr>
        <p:spPr>
          <a:xfrm flipH="1">
            <a:off x="9139687" y="2732025"/>
            <a:ext cx="378589" cy="515591"/>
          </a:xfrm>
          <a:prstGeom prst="downArrow">
            <a:avLst/>
          </a:prstGeom>
          <a:gradFill>
            <a:gsLst>
              <a:gs pos="77000">
                <a:schemeClr val="accent1">
                  <a:alpha val="0"/>
                </a:schemeClr>
              </a:gs>
              <a:gs pos="0">
                <a:schemeClr val="accent1">
                  <a:alpha val="55000"/>
                </a:schemeClr>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2" tIns="22861" rIns="45722" bIns="22861"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900" u="none" strike="noStrike" kern="1200" cap="none" spc="0" normalizeH="0" baseline="0" noProof="0" dirty="0">
              <a:ln>
                <a:noFill/>
              </a:ln>
              <a:solidFill>
                <a:prstClr val="white"/>
              </a:solidFill>
              <a:effectLst>
                <a:outerShdw blurRad="63500" sx="102000" sy="102000" algn="ctr" rotWithShape="0">
                  <a:srgbClr val="0055FF">
                    <a:alpha val="8000"/>
                  </a:srgbClr>
                </a:outerShdw>
              </a:effectLst>
              <a:uLnTx/>
              <a:uFillTx/>
              <a:latin typeface="Alibaba PuHuiTi 2.0 55" pitchFamily="18" charset="-122"/>
              <a:ea typeface="Alibaba PuHuiTi 2.0 55" pitchFamily="18" charset="-122"/>
              <a:cs typeface="Alibaba PuHuiTi 2.0 55" pitchFamily="18" charset="-122"/>
              <a:sym typeface="+mn-lt"/>
            </a:endParaRPr>
          </a:p>
        </p:txBody>
      </p:sp>
      <p:sp>
        <p:nvSpPr>
          <p:cNvPr id="158" name="矩形 157"/>
          <p:cNvSpPr/>
          <p:nvPr/>
        </p:nvSpPr>
        <p:spPr>
          <a:xfrm>
            <a:off x="1684642" y="4458143"/>
            <a:ext cx="9353390" cy="518604"/>
          </a:xfrm>
          <a:prstGeom prst="rect">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libaba PuHuiTi 2.0 55" pitchFamily="18" charset="-122"/>
              <a:ea typeface="Alibaba PuHuiTi 2.0 55" pitchFamily="18" charset="-122"/>
            </a:endParaRPr>
          </a:p>
        </p:txBody>
      </p:sp>
      <p:sp>
        <p:nvSpPr>
          <p:cNvPr id="160" name="上下箭头 159"/>
          <p:cNvSpPr/>
          <p:nvPr/>
        </p:nvSpPr>
        <p:spPr>
          <a:xfrm>
            <a:off x="3844835" y="3980624"/>
            <a:ext cx="395331" cy="465512"/>
          </a:xfrm>
          <a:prstGeom prst="upDownArrow">
            <a:avLst/>
          </a:prstGeom>
          <a:solidFill>
            <a:schemeClr val="accent1">
              <a:lumMod val="40000"/>
              <a:lumOff val="60000"/>
            </a:schemeClr>
          </a:solidFill>
          <a:ln>
            <a:noFill/>
            <a:prstDash val="dash"/>
          </a:ln>
        </p:spPr>
        <p:txBody>
          <a:bodyPr wrap="none" rtlCol="0" anchor="ctr">
            <a:spAutoFit/>
          </a:bodyPr>
          <a:lstStyle/>
          <a:p>
            <a:pPr algn="ctr"/>
            <a:endParaRPr kumimoji="1" lang="zh-CN" altLang="en-US" dirty="0"/>
          </a:p>
        </p:txBody>
      </p:sp>
      <p:sp>
        <p:nvSpPr>
          <p:cNvPr id="162" name="上下箭头 161"/>
          <p:cNvSpPr/>
          <p:nvPr/>
        </p:nvSpPr>
        <p:spPr>
          <a:xfrm>
            <a:off x="6499758" y="3978852"/>
            <a:ext cx="395331" cy="465512"/>
          </a:xfrm>
          <a:prstGeom prst="upDownArrow">
            <a:avLst/>
          </a:prstGeom>
          <a:solidFill>
            <a:schemeClr val="accent1">
              <a:lumMod val="40000"/>
              <a:lumOff val="60000"/>
            </a:schemeClr>
          </a:solidFill>
          <a:ln>
            <a:noFill/>
            <a:prstDash val="dash"/>
          </a:ln>
        </p:spPr>
        <p:txBody>
          <a:bodyPr wrap="none" rtlCol="0" anchor="ctr">
            <a:spAutoFit/>
          </a:bodyPr>
          <a:lstStyle/>
          <a:p>
            <a:pPr algn="ctr"/>
            <a:endParaRPr kumimoji="1" lang="zh-CN" altLang="en-US" dirty="0"/>
          </a:p>
        </p:txBody>
      </p:sp>
      <p:sp>
        <p:nvSpPr>
          <p:cNvPr id="163" name="上下箭头 162"/>
          <p:cNvSpPr/>
          <p:nvPr/>
        </p:nvSpPr>
        <p:spPr>
          <a:xfrm>
            <a:off x="9122945" y="3985742"/>
            <a:ext cx="395331" cy="465512"/>
          </a:xfrm>
          <a:prstGeom prst="upDownArrow">
            <a:avLst/>
          </a:prstGeom>
          <a:solidFill>
            <a:schemeClr val="accent1">
              <a:lumMod val="40000"/>
              <a:lumOff val="60000"/>
            </a:schemeClr>
          </a:solidFill>
          <a:ln>
            <a:noFill/>
            <a:prstDash val="dash"/>
          </a:ln>
        </p:spPr>
        <p:txBody>
          <a:bodyPr wrap="none" rtlCol="0" anchor="ctr">
            <a:spAutoFit/>
          </a:bodyPr>
          <a:lstStyle/>
          <a:p>
            <a:pPr algn="ctr"/>
            <a:endParaRPr kumimoji="1" lang="zh-CN" altLang="en-US" dirty="0"/>
          </a:p>
        </p:txBody>
      </p:sp>
      <p:sp>
        <p:nvSpPr>
          <p:cNvPr id="167" name="矩形: 圆角 25"/>
          <p:cNvSpPr/>
          <p:nvPr/>
        </p:nvSpPr>
        <p:spPr>
          <a:xfrm>
            <a:off x="1868673" y="4578259"/>
            <a:ext cx="2725676" cy="281179"/>
          </a:xfrm>
          <a:prstGeom prst="roundRect">
            <a:avLst>
              <a:gd name="adj" fmla="val 50000"/>
            </a:avLst>
          </a:prstGeom>
          <a:solidFill>
            <a:schemeClr val="accent1">
              <a:alpha val="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200" u="none" strike="noStrike" kern="1200" cap="none" spc="0" normalizeH="0" baseline="0" noProof="0" dirty="0" err="1">
                <a:ln>
                  <a:noFill/>
                </a:ln>
                <a:solidFill>
                  <a:schemeClr val="accent1"/>
                </a:solidFill>
                <a:effectLst/>
                <a:uLnTx/>
                <a:uFillTx/>
                <a:latin typeface="+mj-ea"/>
                <a:ea typeface="+mj-ea"/>
                <a:cs typeface="+mn-cs"/>
              </a:rPr>
              <a:t>开放式智库研究基地</a:t>
            </a:r>
            <a:endParaRPr kumimoji="0" lang="en-US" sz="1200" u="none" strike="noStrike" kern="1200" cap="none" spc="0" normalizeH="0" baseline="0" noProof="0" dirty="0">
              <a:ln>
                <a:noFill/>
              </a:ln>
              <a:solidFill>
                <a:schemeClr val="accent1"/>
              </a:solidFill>
              <a:effectLst/>
              <a:uLnTx/>
              <a:uFillTx/>
              <a:latin typeface="+mj-ea"/>
              <a:ea typeface="+mj-ea"/>
              <a:cs typeface="+mn-cs"/>
            </a:endParaRPr>
          </a:p>
        </p:txBody>
      </p:sp>
      <p:sp>
        <p:nvSpPr>
          <p:cNvPr id="168" name="矩形: 圆角 25"/>
          <p:cNvSpPr/>
          <p:nvPr/>
        </p:nvSpPr>
        <p:spPr>
          <a:xfrm>
            <a:off x="4827049" y="4574481"/>
            <a:ext cx="2725676" cy="281179"/>
          </a:xfrm>
          <a:prstGeom prst="roundRect">
            <a:avLst>
              <a:gd name="adj" fmla="val 50000"/>
            </a:avLst>
          </a:prstGeom>
          <a:solidFill>
            <a:schemeClr val="accent1">
              <a:alpha val="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lang="en-US" sz="1200" dirty="0" err="1">
                <a:solidFill>
                  <a:schemeClr val="accent1"/>
                </a:solidFill>
                <a:latin typeface="+mj-ea"/>
                <a:ea typeface="+mj-ea"/>
              </a:rPr>
              <a:t>公共研发创新服务基地</a:t>
            </a:r>
            <a:endParaRPr kumimoji="0" lang="en-US" sz="1200" u="none" strike="noStrike" kern="1200" cap="none" spc="0" normalizeH="0" baseline="0" noProof="0" dirty="0">
              <a:ln>
                <a:noFill/>
              </a:ln>
              <a:solidFill>
                <a:schemeClr val="accent1"/>
              </a:solidFill>
              <a:effectLst/>
              <a:uLnTx/>
              <a:uFillTx/>
              <a:latin typeface="+mj-ea"/>
              <a:ea typeface="+mj-ea"/>
              <a:cs typeface="+mn-cs"/>
            </a:endParaRPr>
          </a:p>
        </p:txBody>
      </p:sp>
      <p:sp>
        <p:nvSpPr>
          <p:cNvPr id="169" name="矩形: 圆角 25"/>
          <p:cNvSpPr/>
          <p:nvPr/>
        </p:nvSpPr>
        <p:spPr>
          <a:xfrm>
            <a:off x="7785307" y="4568195"/>
            <a:ext cx="2725676" cy="281179"/>
          </a:xfrm>
          <a:prstGeom prst="roundRect">
            <a:avLst>
              <a:gd name="adj" fmla="val 50000"/>
            </a:avLst>
          </a:prstGeom>
          <a:solidFill>
            <a:schemeClr val="accent1">
              <a:alpha val="5000"/>
            </a:schemeClr>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ltLang="en-US" sz="1200" dirty="0">
                <a:solidFill>
                  <a:schemeClr val="accent1"/>
                </a:solidFill>
                <a:latin typeface="+mj-ea"/>
                <a:ea typeface="+mj-ea"/>
              </a:rPr>
              <a:t>促进技术转移和成果转化基地</a:t>
            </a:r>
            <a:endParaRPr lang="zh-CN" altLang="en-US" sz="1200" dirty="0">
              <a:solidFill>
                <a:schemeClr val="accent1"/>
              </a:solidFill>
              <a:latin typeface="+mj-ea"/>
              <a:ea typeface="+mj-ea"/>
              <a:sym typeface="+mn-ea"/>
            </a:endParaRPr>
          </a:p>
        </p:txBody>
      </p:sp>
      <p:grpSp>
        <p:nvGrpSpPr>
          <p:cNvPr id="176" name="组合 175"/>
          <p:cNvGrpSpPr/>
          <p:nvPr/>
        </p:nvGrpSpPr>
        <p:grpSpPr>
          <a:xfrm>
            <a:off x="1467945" y="5521515"/>
            <a:ext cx="996117" cy="733061"/>
            <a:chOff x="1467945" y="5260897"/>
            <a:chExt cx="996117" cy="733061"/>
          </a:xfrm>
        </p:grpSpPr>
        <p:sp>
          <p:nvSpPr>
            <p:cNvPr id="175"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170" name="矩形 169"/>
            <p:cNvSpPr/>
            <p:nvPr>
              <p:custDataLst>
                <p:tags r:id="rId16"/>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数据创新应用</a:t>
              </a:r>
              <a:endParaRPr lang="zh-CN" altLang="en-US" sz="1200" dirty="0">
                <a:solidFill>
                  <a:schemeClr val="accent1"/>
                </a:solidFill>
              </a:endParaRPr>
            </a:p>
          </p:txBody>
        </p:sp>
      </p:grpSp>
      <p:grpSp>
        <p:nvGrpSpPr>
          <p:cNvPr id="194" name="组合 193"/>
          <p:cNvGrpSpPr/>
          <p:nvPr/>
        </p:nvGrpSpPr>
        <p:grpSpPr>
          <a:xfrm>
            <a:off x="4594349" y="5027752"/>
            <a:ext cx="2958376" cy="354565"/>
            <a:chOff x="698211" y="6542419"/>
            <a:chExt cx="2958376" cy="354565"/>
          </a:xfrm>
        </p:grpSpPr>
        <p:sp>
          <p:nvSpPr>
            <p:cNvPr id="192" name="PA-梯形 234"/>
            <p:cNvSpPr/>
            <p:nvPr>
              <p:custDataLst>
                <p:tags r:id="rId17"/>
              </p:custDataLst>
            </p:nvPr>
          </p:nvSpPr>
          <p:spPr>
            <a:xfrm>
              <a:off x="698211" y="6664747"/>
              <a:ext cx="2958376" cy="232237"/>
            </a:xfrm>
            <a:prstGeom prst="trapezoid">
              <a:avLst>
                <a:gd name="adj" fmla="val 74526"/>
              </a:avLst>
            </a:prstGeom>
            <a:gradFill>
              <a:gsLst>
                <a:gs pos="0">
                  <a:schemeClr val="accent2">
                    <a:alpha val="0"/>
                  </a:schemeClr>
                </a:gs>
                <a:gs pos="100000">
                  <a:schemeClr val="accent1">
                    <a:alpha val="31000"/>
                  </a:schemeClr>
                </a:gs>
              </a:gsLst>
              <a:lin ang="5400000" scaled="1"/>
            </a:gradFill>
            <a:ln w="12700">
              <a:gradFill>
                <a:gsLst>
                  <a:gs pos="100000">
                    <a:schemeClr val="accent1"/>
                  </a:gs>
                  <a:gs pos="39000">
                    <a:schemeClr val="accent2">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4000" u="none" strike="noStrike" kern="1200" cap="none" spc="0" normalizeH="0" baseline="0" noProof="0" dirty="0">
                <a:ln>
                  <a:noFill/>
                </a:ln>
                <a:solidFill>
                  <a:prstClr val="black">
                    <a:lumMod val="85000"/>
                    <a:lumOff val="15000"/>
                  </a:prstClr>
                </a:solidFill>
                <a:effectLst/>
                <a:uLnTx/>
                <a:uFillTx/>
                <a:latin typeface="Alibaba PuHuiTi 2.0 45 Light" pitchFamily="18" charset="-122"/>
                <a:ea typeface="Alibaba PuHuiTi 2.0 45 Light" pitchFamily="18" charset="-122"/>
                <a:cs typeface="+mn-cs"/>
              </a:endParaRPr>
            </a:p>
          </p:txBody>
        </p:sp>
        <p:sp>
          <p:nvSpPr>
            <p:cNvPr id="193" name="文本框 192"/>
            <p:cNvSpPr txBox="1"/>
            <p:nvPr/>
          </p:nvSpPr>
          <p:spPr>
            <a:xfrm>
              <a:off x="1004348" y="6542419"/>
              <a:ext cx="2339102" cy="307777"/>
            </a:xfrm>
            <a:prstGeom prst="rect">
              <a:avLst/>
            </a:prstGeom>
            <a:noFill/>
          </p:spPr>
          <p:txBody>
            <a:bodyPr wrap="none" rtlCol="0">
              <a:spAutoFit/>
            </a:bodyPr>
            <a:lstStyle>
              <a:defPPr>
                <a:defRPr lang="zh-CN"/>
              </a:defPPr>
              <a:lvl1pPr>
                <a:defRPr sz="3200">
                  <a:solidFill>
                    <a:schemeClr val="bg1"/>
                  </a:solidFill>
                  <a:latin typeface="+mj-lt"/>
                  <a:ea typeface="+mj-ea"/>
                </a:defRPr>
              </a:lvl1pPr>
            </a:lstStyle>
            <a:p>
              <a:pPr algn="ctr">
                <a:defRPr/>
              </a:pPr>
              <a:r>
                <a:rPr lang="zh-CN" altLang="en-US" sz="1400" b="1" dirty="0">
                  <a:solidFill>
                    <a:schemeClr val="accent1"/>
                  </a:solidFill>
                </a:rPr>
                <a:t>科技创新发展支撑服务基地</a:t>
              </a:r>
              <a:endParaRPr lang="zh-CN" altLang="en-US" sz="1400" b="1" dirty="0">
                <a:solidFill>
                  <a:schemeClr val="accent1"/>
                </a:solidFill>
              </a:endParaRPr>
            </a:p>
          </p:txBody>
        </p:sp>
      </p:grpSp>
      <p:grpSp>
        <p:nvGrpSpPr>
          <p:cNvPr id="6" name="组合 5"/>
          <p:cNvGrpSpPr/>
          <p:nvPr/>
        </p:nvGrpSpPr>
        <p:grpSpPr>
          <a:xfrm>
            <a:off x="2823316" y="5508824"/>
            <a:ext cx="996117" cy="733061"/>
            <a:chOff x="1467945" y="5260897"/>
            <a:chExt cx="996117" cy="733061"/>
          </a:xfrm>
        </p:grpSpPr>
        <p:sp>
          <p:nvSpPr>
            <p:cNvPr id="7"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8" name="矩形 7"/>
            <p:cNvSpPr/>
            <p:nvPr>
              <p:custDataLst>
                <p:tags r:id="rId18"/>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技术预见和产业前瞻研究</a:t>
              </a:r>
              <a:endParaRPr lang="zh-CN" altLang="en-US" sz="1200" dirty="0">
                <a:solidFill>
                  <a:schemeClr val="accent1"/>
                </a:solidFill>
              </a:endParaRPr>
            </a:p>
          </p:txBody>
        </p:sp>
      </p:grpSp>
      <p:grpSp>
        <p:nvGrpSpPr>
          <p:cNvPr id="9" name="组合 8"/>
          <p:cNvGrpSpPr/>
          <p:nvPr/>
        </p:nvGrpSpPr>
        <p:grpSpPr>
          <a:xfrm>
            <a:off x="4258699" y="5524002"/>
            <a:ext cx="996117" cy="733061"/>
            <a:chOff x="1467945" y="5260897"/>
            <a:chExt cx="996117" cy="733061"/>
          </a:xfrm>
        </p:grpSpPr>
        <p:sp>
          <p:nvSpPr>
            <p:cNvPr id="10"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11" name="矩形 10"/>
            <p:cNvSpPr/>
            <p:nvPr>
              <p:custDataLst>
                <p:tags r:id="rId19"/>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共性技术公共服务示范</a:t>
              </a:r>
              <a:endParaRPr lang="zh-CN" altLang="en-US" sz="1200" dirty="0">
                <a:solidFill>
                  <a:schemeClr val="accent1"/>
                </a:solidFill>
              </a:endParaRPr>
            </a:p>
          </p:txBody>
        </p:sp>
      </p:grpSp>
      <p:grpSp>
        <p:nvGrpSpPr>
          <p:cNvPr id="12" name="组合 11"/>
          <p:cNvGrpSpPr/>
          <p:nvPr/>
        </p:nvGrpSpPr>
        <p:grpSpPr>
          <a:xfrm>
            <a:off x="5738358" y="5474534"/>
            <a:ext cx="996117" cy="733061"/>
            <a:chOff x="1467945" y="5260897"/>
            <a:chExt cx="996117" cy="733061"/>
          </a:xfrm>
        </p:grpSpPr>
        <p:sp>
          <p:nvSpPr>
            <p:cNvPr id="13"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14" name="矩形 13"/>
            <p:cNvSpPr/>
            <p:nvPr>
              <p:custDataLst>
                <p:tags r:id="rId20"/>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前沿技术验证</a:t>
              </a:r>
              <a:endParaRPr lang="zh-CN" altLang="en-US" sz="1200" dirty="0">
                <a:solidFill>
                  <a:schemeClr val="accent1"/>
                </a:solidFill>
              </a:endParaRPr>
            </a:p>
          </p:txBody>
        </p:sp>
      </p:grpSp>
      <p:grpSp>
        <p:nvGrpSpPr>
          <p:cNvPr id="43" name="组合 42"/>
          <p:cNvGrpSpPr/>
          <p:nvPr/>
        </p:nvGrpSpPr>
        <p:grpSpPr>
          <a:xfrm>
            <a:off x="7279838" y="5508824"/>
            <a:ext cx="996117" cy="733061"/>
            <a:chOff x="1467945" y="5260897"/>
            <a:chExt cx="996117" cy="733061"/>
          </a:xfrm>
        </p:grpSpPr>
        <p:sp>
          <p:nvSpPr>
            <p:cNvPr id="44"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45" name="矩形 44"/>
            <p:cNvSpPr/>
            <p:nvPr>
              <p:custDataLst>
                <p:tags r:id="rId21"/>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国际化科创服务</a:t>
              </a:r>
              <a:endParaRPr lang="zh-CN" altLang="en-US" sz="1200" dirty="0">
                <a:solidFill>
                  <a:schemeClr val="accent1"/>
                </a:solidFill>
              </a:endParaRPr>
            </a:p>
          </p:txBody>
        </p:sp>
      </p:grpSp>
      <p:grpSp>
        <p:nvGrpSpPr>
          <p:cNvPr id="46" name="组合 45"/>
          <p:cNvGrpSpPr/>
          <p:nvPr/>
        </p:nvGrpSpPr>
        <p:grpSpPr>
          <a:xfrm>
            <a:off x="8726651" y="5524002"/>
            <a:ext cx="996117" cy="733061"/>
            <a:chOff x="1467945" y="5260897"/>
            <a:chExt cx="996117" cy="733061"/>
          </a:xfrm>
        </p:grpSpPr>
        <p:sp>
          <p:nvSpPr>
            <p:cNvPr id="47"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48" name="矩形 47"/>
            <p:cNvSpPr/>
            <p:nvPr>
              <p:custDataLst>
                <p:tags r:id="rId22"/>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未来产业示范</a:t>
              </a:r>
              <a:endParaRPr lang="zh-CN" altLang="en-US" sz="1200" dirty="0">
                <a:solidFill>
                  <a:schemeClr val="accent1"/>
                </a:solidFill>
              </a:endParaRPr>
            </a:p>
          </p:txBody>
        </p:sp>
      </p:grpSp>
      <p:grpSp>
        <p:nvGrpSpPr>
          <p:cNvPr id="49" name="组合 48"/>
          <p:cNvGrpSpPr/>
          <p:nvPr/>
        </p:nvGrpSpPr>
        <p:grpSpPr>
          <a:xfrm>
            <a:off x="10103440" y="5520254"/>
            <a:ext cx="996117" cy="733061"/>
            <a:chOff x="1467945" y="5260897"/>
            <a:chExt cx="996117" cy="733061"/>
          </a:xfrm>
        </p:grpSpPr>
        <p:sp>
          <p:nvSpPr>
            <p:cNvPr id="50" name="矩形: 圆角 198"/>
            <p:cNvSpPr/>
            <p:nvPr/>
          </p:nvSpPr>
          <p:spPr>
            <a:xfrm rot="10800000">
              <a:off x="1467945" y="5260897"/>
              <a:ext cx="996117" cy="733061"/>
            </a:xfrm>
            <a:prstGeom prst="roundRect">
              <a:avLst>
                <a:gd name="adj" fmla="val 5562"/>
              </a:avLst>
            </a:prstGeom>
            <a:gradFill flip="none" rotWithShape="1">
              <a:gsLst>
                <a:gs pos="0">
                  <a:schemeClr val="bg1">
                    <a:alpha val="0"/>
                  </a:schemeClr>
                </a:gs>
                <a:gs pos="100000">
                  <a:schemeClr val="bg1">
                    <a:alpha val="29000"/>
                  </a:schemeClr>
                </a:gs>
                <a:gs pos="46000">
                  <a:schemeClr val="accent1">
                    <a:lumMod val="15000"/>
                    <a:lumOff val="85000"/>
                  </a:schemeClr>
                </a:gs>
              </a:gsLst>
              <a:path path="circle">
                <a:fillToRect r="100000" b="100000"/>
              </a:path>
              <a:tileRect l="-100000" t="-100000"/>
            </a:gradFill>
            <a:ln>
              <a:gradFill>
                <a:gsLst>
                  <a:gs pos="100000">
                    <a:schemeClr val="accent1">
                      <a:lumMod val="5000"/>
                      <a:lumOff val="95000"/>
                    </a:schemeClr>
                  </a:gs>
                  <a:gs pos="0">
                    <a:schemeClr val="accent1"/>
                  </a:gs>
                </a:gsLst>
                <a:lin ang="5400000" scaled="1"/>
              </a:gradFill>
              <a:prstDash val="solid"/>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libaba PuHuiTi 2.0 45 Light" pitchFamily="18" charset="-122"/>
                <a:ea typeface="Alibaba PuHuiTi 2.0 45 Light" pitchFamily="18" charset="-122"/>
                <a:sym typeface="微软雅黑" panose="020B0503020204020204" pitchFamily="34" charset="-122"/>
              </a:endParaRPr>
            </a:p>
          </p:txBody>
        </p:sp>
        <p:sp>
          <p:nvSpPr>
            <p:cNvPr id="51" name="矩形 50"/>
            <p:cNvSpPr/>
            <p:nvPr>
              <p:custDataLst>
                <p:tags r:id="rId23"/>
              </p:custDataLst>
            </p:nvPr>
          </p:nvSpPr>
          <p:spPr>
            <a:xfrm>
              <a:off x="1550216" y="5421369"/>
              <a:ext cx="805102" cy="412115"/>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chemeClr val="accent1"/>
                  </a:solidFill>
                </a:rPr>
                <a:t>高能级人才引育</a:t>
              </a:r>
              <a:endParaRPr lang="zh-CN" altLang="en-US" sz="1200" dirty="0">
                <a:solidFill>
                  <a:schemeClr val="accent1"/>
                </a:solidFill>
              </a:endParaRPr>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latin typeface="+mj-ea"/>
                <a:sym typeface="Arial" panose="020B0604020202020204" pitchFamily="34" charset="0"/>
              </a:rPr>
              <a:t>发展思路</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679183"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2.1</a:t>
            </a:r>
            <a:endParaRPr kumimoji="1" lang="zh-CN" altLang="en-US" sz="3200" b="1" dirty="0">
              <a:solidFill>
                <a:schemeClr val="bg1"/>
              </a:solidFill>
              <a:effectLst>
                <a:outerShdw blurRad="50800" dist="38100" dir="2700000" algn="tl" rotWithShape="0">
                  <a:prstClr val="black">
                    <a:alpha val="40000"/>
                  </a:prstClr>
                </a:outerShdw>
              </a:effectLst>
            </a:endParaRPr>
          </a:p>
        </p:txBody>
      </p:sp>
      <p:sp>
        <p:nvSpPr>
          <p:cNvPr id="114" name="文本框 113"/>
          <p:cNvSpPr txBox="1"/>
          <p:nvPr/>
        </p:nvSpPr>
        <p:spPr>
          <a:xfrm>
            <a:off x="5841754" y="1151752"/>
            <a:ext cx="790986" cy="272382"/>
          </a:xfrm>
          <a:prstGeom prst="rect">
            <a:avLst/>
          </a:prstGeom>
          <a:noFill/>
          <a:effectLst/>
        </p:spPr>
        <p:txBody>
          <a:bodyPr wrap="square" lIns="86868" tIns="43434" rIns="86868" bIns="43434">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一流平台</a:t>
            </a:r>
            <a:endParaRPr lang="en-US" altLang="zh-CN" sz="1200" dirty="0">
              <a:solidFill>
                <a:schemeClr val="bg1"/>
              </a:solidFill>
              <a:effectLst/>
              <a:latin typeface="微软雅黑" panose="020B0503020204020204" pitchFamily="34" charset="-122"/>
              <a:ea typeface="微软雅黑" panose="020B0503020204020204" pitchFamily="34" charset="-122"/>
            </a:endParaRPr>
          </a:p>
        </p:txBody>
      </p:sp>
      <p:sp>
        <p:nvSpPr>
          <p:cNvPr id="117" name="文本框 116"/>
          <p:cNvSpPr txBox="1"/>
          <p:nvPr/>
        </p:nvSpPr>
        <p:spPr>
          <a:xfrm>
            <a:off x="7338268" y="1157595"/>
            <a:ext cx="790986" cy="272382"/>
          </a:xfrm>
          <a:prstGeom prst="rect">
            <a:avLst/>
          </a:prstGeom>
          <a:noFill/>
          <a:effectLst/>
        </p:spPr>
        <p:txBody>
          <a:bodyPr wrap="square" lIns="86868" tIns="43434" rIns="86868" bIns="43434">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rPr>
              <a:t>一流能力</a:t>
            </a:r>
            <a:endParaRPr lang="en-US" altLang="zh-CN" sz="1200" dirty="0">
              <a:solidFill>
                <a:schemeClr val="bg1"/>
              </a:solidFill>
              <a:effectLst/>
              <a:latin typeface="微软雅黑" panose="020B0503020204020204" pitchFamily="34" charset="-122"/>
              <a:ea typeface="微软雅黑" panose="020B0503020204020204" pitchFamily="34" charset="-122"/>
            </a:endParaRPr>
          </a:p>
        </p:txBody>
      </p:sp>
      <p:sp>
        <p:nvSpPr>
          <p:cNvPr id="4" name="内容占位符 3"/>
          <p:cNvSpPr txBox="1"/>
          <p:nvPr/>
        </p:nvSpPr>
        <p:spPr>
          <a:xfrm>
            <a:off x="670718" y="1147643"/>
            <a:ext cx="10850563" cy="50069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zh-CN" altLang="zh-CN" sz="2400" b="1" dirty="0" smtClean="0">
                <a:solidFill>
                  <a:schemeClr val="accent1"/>
                </a:solidFill>
                <a:latin typeface="+mj-ea"/>
                <a:ea typeface="+mj-ea"/>
              </a:rPr>
              <a:t>实施</a:t>
            </a:r>
            <a:r>
              <a:rPr lang="en-US" altLang="zh-CN" sz="2400" b="1" dirty="0">
                <a:solidFill>
                  <a:schemeClr val="accent1"/>
                </a:solidFill>
                <a:latin typeface="+mj-ea"/>
                <a:ea typeface="+mj-ea"/>
              </a:rPr>
              <a:t>“</a:t>
            </a:r>
            <a:r>
              <a:rPr lang="zh-CN" altLang="zh-CN" sz="2400" b="1" dirty="0" smtClean="0">
                <a:solidFill>
                  <a:schemeClr val="accent1"/>
                </a:solidFill>
                <a:latin typeface="+mj-ea"/>
                <a:ea typeface="+mj-ea"/>
              </a:rPr>
              <a:t>三</a:t>
            </a:r>
            <a:r>
              <a:rPr lang="zh-CN" altLang="en-US" sz="2400" b="1" dirty="0" smtClean="0">
                <a:solidFill>
                  <a:schemeClr val="accent1"/>
                </a:solidFill>
                <a:latin typeface="+mj-ea"/>
                <a:ea typeface="+mj-ea"/>
              </a:rPr>
              <a:t>阶段</a:t>
            </a:r>
            <a:r>
              <a:rPr lang="en-US" altLang="zh-CN" sz="2400" b="1" dirty="0" smtClean="0">
                <a:solidFill>
                  <a:schemeClr val="accent1"/>
                </a:solidFill>
                <a:latin typeface="+mj-ea"/>
                <a:ea typeface="+mj-ea"/>
              </a:rPr>
              <a:t>”</a:t>
            </a:r>
            <a:r>
              <a:rPr lang="zh-CN" altLang="zh-CN" sz="2400" b="1" dirty="0">
                <a:solidFill>
                  <a:schemeClr val="accent1"/>
                </a:solidFill>
                <a:latin typeface="+mj-ea"/>
                <a:ea typeface="+mj-ea"/>
              </a:rPr>
              <a:t>发展战略</a:t>
            </a:r>
            <a:endParaRPr lang="zh-CN" altLang="zh-CN" sz="2400" b="1" dirty="0">
              <a:solidFill>
                <a:schemeClr val="accent1"/>
              </a:solidFill>
              <a:latin typeface="+mj-ea"/>
              <a:ea typeface="+mj-ea"/>
            </a:endParaRPr>
          </a:p>
        </p:txBody>
      </p:sp>
      <p:grpSp>
        <p:nvGrpSpPr>
          <p:cNvPr id="76" name="组合 75"/>
          <p:cNvGrpSpPr/>
          <p:nvPr/>
        </p:nvGrpSpPr>
        <p:grpSpPr>
          <a:xfrm>
            <a:off x="865702" y="1955993"/>
            <a:ext cx="3034702" cy="3919567"/>
            <a:chOff x="1072280" y="2171145"/>
            <a:chExt cx="2902894" cy="3919567"/>
          </a:xfrm>
        </p:grpSpPr>
        <p:grpSp>
          <p:nvGrpSpPr>
            <p:cNvPr id="5" name="组合 4"/>
            <p:cNvGrpSpPr/>
            <p:nvPr/>
          </p:nvGrpSpPr>
          <p:grpSpPr>
            <a:xfrm>
              <a:off x="1072280" y="2171145"/>
              <a:ext cx="2844650" cy="3919567"/>
              <a:chOff x="697796" y="1931477"/>
              <a:chExt cx="3165021" cy="3919567"/>
            </a:xfrm>
          </p:grpSpPr>
          <p:sp>
            <p:nvSpPr>
              <p:cNvPr id="6" name="矩形: 圆角 38"/>
              <p:cNvSpPr/>
              <p:nvPr>
                <p:custDataLst>
                  <p:tags r:id="rId1"/>
                </p:custDataLst>
              </p:nvPr>
            </p:nvSpPr>
            <p:spPr>
              <a:xfrm rot="409421">
                <a:off x="714932" y="1945807"/>
                <a:ext cx="3147885" cy="3905237"/>
              </a:xfrm>
              <a:prstGeom prst="roundRect">
                <a:avLst>
                  <a:gd name="adj" fmla="val 8509"/>
                </a:avLst>
              </a:prstGeom>
              <a:gradFill>
                <a:gsLst>
                  <a:gs pos="0">
                    <a:schemeClr val="accent3">
                      <a:lumMod val="75000"/>
                    </a:schemeClr>
                  </a:gs>
                  <a:gs pos="100000">
                    <a:schemeClr val="bg1">
                      <a:alpha val="19000"/>
                    </a:schemeClr>
                  </a:gs>
                  <a:gs pos="47000">
                    <a:schemeClr val="accent3"/>
                  </a:gs>
                </a:gsLst>
                <a:path path="circle">
                  <a:fillToRect t="100000" r="100000"/>
                </a:path>
              </a:gradFill>
              <a:ln>
                <a:noFill/>
              </a:ln>
              <a:effectLst>
                <a:outerShdw blurRad="139700" algn="ctr" rotWithShape="0">
                  <a:schemeClr val="accent1">
                    <a:alpha val="40000"/>
                    <a:lumMod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dirty="0">
                  <a:ln>
                    <a:noFill/>
                  </a:ln>
                  <a:solidFill>
                    <a:srgbClr val="FFFFFF"/>
                  </a:solidFill>
                  <a:effectLst/>
                  <a:uLnTx/>
                  <a:uFillTx/>
                  <a:latin typeface="OPPOSans B" panose="00020600040101010101" charset="-122"/>
                  <a:ea typeface="OPPOSans B" panose="00020600040101010101" charset="-122"/>
                  <a:cs typeface="+mn-cs"/>
                </a:endParaRPr>
              </a:p>
            </p:txBody>
          </p:sp>
          <p:sp>
            <p:nvSpPr>
              <p:cNvPr id="7" name="矩形: 圆角 5"/>
              <p:cNvSpPr/>
              <p:nvPr>
                <p:custDataLst>
                  <p:tags r:id="rId2"/>
                </p:custDataLst>
              </p:nvPr>
            </p:nvSpPr>
            <p:spPr>
              <a:xfrm>
                <a:off x="697796" y="1931477"/>
                <a:ext cx="3147885" cy="3905237"/>
              </a:xfrm>
              <a:prstGeom prst="roundRect">
                <a:avLst>
                  <a:gd name="adj" fmla="val 8509"/>
                </a:avLst>
              </a:prstGeom>
              <a:gradFill>
                <a:gsLst>
                  <a:gs pos="9000">
                    <a:schemeClr val="bg1"/>
                  </a:gs>
                  <a:gs pos="59000">
                    <a:srgbClr val="FFFFFF">
                      <a:alpha val="72000"/>
                    </a:srgbClr>
                  </a:gs>
                  <a:gs pos="39000">
                    <a:schemeClr val="bg1">
                      <a:alpha val="73000"/>
                    </a:schemeClr>
                  </a:gs>
                  <a:gs pos="91000">
                    <a:schemeClr val="bg1"/>
                  </a:gs>
                </a:gsLst>
                <a:lin ang="2700000" scaled="0"/>
              </a:gradFill>
              <a:ln>
                <a:noFill/>
              </a:ln>
              <a:effectLst>
                <a:outerShdw blurRad="139700" algn="ctr" rotWithShape="0">
                  <a:schemeClr val="accent1">
                    <a:alpha val="40000"/>
                    <a:lumMod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OPPOSans B" panose="00020600040101010101" charset="-122"/>
                  <a:ea typeface="OPPOSans B" panose="00020600040101010101" charset="-122"/>
                  <a:cs typeface="+mn-cs"/>
                </a:endParaRPr>
              </a:p>
            </p:txBody>
          </p:sp>
          <p:sp>
            <p:nvSpPr>
              <p:cNvPr id="8" name="任意多边形: 形状 33"/>
              <p:cNvSpPr/>
              <p:nvPr>
                <p:custDataLst>
                  <p:tags r:id="rId3"/>
                </p:custDataLst>
              </p:nvPr>
            </p:nvSpPr>
            <p:spPr>
              <a:xfrm>
                <a:off x="947353" y="2489184"/>
                <a:ext cx="690862" cy="616318"/>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1" fmla="*/ 758361 w 1516722"/>
                  <a:gd name="connsiteY0-2" fmla="*/ 0 h 1516722"/>
                  <a:gd name="connsiteX1-3" fmla="*/ 1516722 w 1516722"/>
                  <a:gd name="connsiteY1-4" fmla="*/ 758361 h 1516722"/>
                  <a:gd name="connsiteX2-5" fmla="*/ 1509094 w 1516722"/>
                  <a:gd name="connsiteY2-6" fmla="*/ 834034 h 1516722"/>
                  <a:gd name="connsiteX3-7" fmla="*/ 867855 w 1516722"/>
                  <a:gd name="connsiteY3-8" fmla="*/ 1475574 h 1516722"/>
                  <a:gd name="connsiteX4-9" fmla="*/ 830024 w 1516722"/>
                  <a:gd name="connsiteY4-10" fmla="*/ 1513103 h 1516722"/>
                  <a:gd name="connsiteX5-11" fmla="*/ 758361 w 1516722"/>
                  <a:gd name="connsiteY5-12" fmla="*/ 1516722 h 1516722"/>
                  <a:gd name="connsiteX6-13" fmla="*/ 0 w 1516722"/>
                  <a:gd name="connsiteY6-14" fmla="*/ 758361 h 1516722"/>
                  <a:gd name="connsiteX7" fmla="*/ 758361 w 1516722"/>
                  <a:gd name="connsiteY7" fmla="*/ 0 h 1516722"/>
                  <a:gd name="connsiteX0-15" fmla="*/ 758361 w 1516722"/>
                  <a:gd name="connsiteY0-16" fmla="*/ 0 h 1516722"/>
                  <a:gd name="connsiteX1-17" fmla="*/ 1516722 w 1516722"/>
                  <a:gd name="connsiteY1-18" fmla="*/ 758361 h 1516722"/>
                  <a:gd name="connsiteX2-19" fmla="*/ 1509094 w 1516722"/>
                  <a:gd name="connsiteY2-20" fmla="*/ 834034 h 1516722"/>
                  <a:gd name="connsiteX3-21" fmla="*/ 1472375 w 1516722"/>
                  <a:gd name="connsiteY3-22" fmla="*/ 871054 h 1516722"/>
                  <a:gd name="connsiteX4-23" fmla="*/ 867855 w 1516722"/>
                  <a:gd name="connsiteY4-24" fmla="*/ 1475574 h 1516722"/>
                  <a:gd name="connsiteX5-25" fmla="*/ 830024 w 1516722"/>
                  <a:gd name="connsiteY5-26" fmla="*/ 1513103 h 1516722"/>
                  <a:gd name="connsiteX6-27" fmla="*/ 758361 w 1516722"/>
                  <a:gd name="connsiteY6-28" fmla="*/ 1516722 h 1516722"/>
                  <a:gd name="connsiteX7-29" fmla="*/ 0 w 1516722"/>
                  <a:gd name="connsiteY7-30" fmla="*/ 758361 h 1516722"/>
                  <a:gd name="connsiteX8" fmla="*/ 758361 w 1516722"/>
                  <a:gd name="connsiteY8" fmla="*/ 0 h 1516722"/>
                  <a:gd name="connsiteX0-31" fmla="*/ 758361 w 1516722"/>
                  <a:gd name="connsiteY0-32" fmla="*/ 0 h 1516722"/>
                  <a:gd name="connsiteX1-33" fmla="*/ 1516722 w 1516722"/>
                  <a:gd name="connsiteY1-34" fmla="*/ 758361 h 1516722"/>
                  <a:gd name="connsiteX2-35" fmla="*/ 1507189 w 1516722"/>
                  <a:gd name="connsiteY2-36" fmla="*/ 826414 h 1516722"/>
                  <a:gd name="connsiteX3-37" fmla="*/ 1472375 w 1516722"/>
                  <a:gd name="connsiteY3-38" fmla="*/ 871054 h 1516722"/>
                  <a:gd name="connsiteX4-39" fmla="*/ 867855 w 1516722"/>
                  <a:gd name="connsiteY4-40" fmla="*/ 1475574 h 1516722"/>
                  <a:gd name="connsiteX5-41" fmla="*/ 830024 w 1516722"/>
                  <a:gd name="connsiteY5-42" fmla="*/ 1513103 h 1516722"/>
                  <a:gd name="connsiteX6-43" fmla="*/ 758361 w 1516722"/>
                  <a:gd name="connsiteY6-44" fmla="*/ 1516722 h 1516722"/>
                  <a:gd name="connsiteX7-45" fmla="*/ 0 w 1516722"/>
                  <a:gd name="connsiteY7-46" fmla="*/ 758361 h 1516722"/>
                  <a:gd name="connsiteX8-47" fmla="*/ 758361 w 1516722"/>
                  <a:gd name="connsiteY8-48" fmla="*/ 0 h 1516722"/>
                  <a:gd name="connsiteX0-49" fmla="*/ 758361 w 1516722"/>
                  <a:gd name="connsiteY0-50" fmla="*/ 0 h 1516722"/>
                  <a:gd name="connsiteX1-51" fmla="*/ 1516722 w 1516722"/>
                  <a:gd name="connsiteY1-52" fmla="*/ 758361 h 1516722"/>
                  <a:gd name="connsiteX2-53" fmla="*/ 1507189 w 1516722"/>
                  <a:gd name="connsiteY2-54" fmla="*/ 826414 h 1516722"/>
                  <a:gd name="connsiteX3-55" fmla="*/ 1472375 w 1516722"/>
                  <a:gd name="connsiteY3-56" fmla="*/ 871054 h 1516722"/>
                  <a:gd name="connsiteX4-57" fmla="*/ 867855 w 1516722"/>
                  <a:gd name="connsiteY4-58" fmla="*/ 1475574 h 1516722"/>
                  <a:gd name="connsiteX5-59" fmla="*/ 830024 w 1516722"/>
                  <a:gd name="connsiteY5-60" fmla="*/ 1513103 h 1516722"/>
                  <a:gd name="connsiteX6-61" fmla="*/ 758361 w 1516722"/>
                  <a:gd name="connsiteY6-62" fmla="*/ 1516722 h 1516722"/>
                  <a:gd name="connsiteX7-63" fmla="*/ 0 w 1516722"/>
                  <a:gd name="connsiteY7-64" fmla="*/ 758361 h 1516722"/>
                  <a:gd name="connsiteX8-65" fmla="*/ 758361 w 1516722"/>
                  <a:gd name="connsiteY8-66" fmla="*/ 0 h 1516722"/>
                  <a:gd name="connsiteX0-67" fmla="*/ 758361 w 1516722"/>
                  <a:gd name="connsiteY0-68" fmla="*/ 0 h 1516722"/>
                  <a:gd name="connsiteX1-69" fmla="*/ 1516722 w 1516722"/>
                  <a:gd name="connsiteY1-70" fmla="*/ 758361 h 1516722"/>
                  <a:gd name="connsiteX2-71" fmla="*/ 1507189 w 1516722"/>
                  <a:gd name="connsiteY2-72" fmla="*/ 826414 h 1516722"/>
                  <a:gd name="connsiteX3-73" fmla="*/ 1472375 w 1516722"/>
                  <a:gd name="connsiteY3-74" fmla="*/ 871054 h 1516722"/>
                  <a:gd name="connsiteX4-75" fmla="*/ 867855 w 1516722"/>
                  <a:gd name="connsiteY4-76" fmla="*/ 1475574 h 1516722"/>
                  <a:gd name="connsiteX5-77" fmla="*/ 820499 w 1516722"/>
                  <a:gd name="connsiteY5-78" fmla="*/ 1509293 h 1516722"/>
                  <a:gd name="connsiteX6-79" fmla="*/ 758361 w 1516722"/>
                  <a:gd name="connsiteY6-80" fmla="*/ 1516722 h 1516722"/>
                  <a:gd name="connsiteX7-81" fmla="*/ 0 w 1516722"/>
                  <a:gd name="connsiteY7-82" fmla="*/ 758361 h 1516722"/>
                  <a:gd name="connsiteX8-83" fmla="*/ 758361 w 1516722"/>
                  <a:gd name="connsiteY8-84" fmla="*/ 0 h 1516722"/>
                  <a:gd name="connsiteX0-85" fmla="*/ 758361 w 1516722"/>
                  <a:gd name="connsiteY0-86" fmla="*/ 0 h 1516722"/>
                  <a:gd name="connsiteX1-87" fmla="*/ 1516722 w 1516722"/>
                  <a:gd name="connsiteY1-88" fmla="*/ 758361 h 1516722"/>
                  <a:gd name="connsiteX2-89" fmla="*/ 1507189 w 1516722"/>
                  <a:gd name="connsiteY2-90" fmla="*/ 826414 h 1516722"/>
                  <a:gd name="connsiteX3-91" fmla="*/ 1472375 w 1516722"/>
                  <a:gd name="connsiteY3-92" fmla="*/ 871054 h 1516722"/>
                  <a:gd name="connsiteX4-93" fmla="*/ 867855 w 1516722"/>
                  <a:gd name="connsiteY4-94" fmla="*/ 1475574 h 1516722"/>
                  <a:gd name="connsiteX5-95" fmla="*/ 820499 w 1516722"/>
                  <a:gd name="connsiteY5-96" fmla="*/ 1509293 h 1516722"/>
                  <a:gd name="connsiteX6-97" fmla="*/ 758361 w 1516722"/>
                  <a:gd name="connsiteY6-98" fmla="*/ 1516722 h 1516722"/>
                  <a:gd name="connsiteX7-99" fmla="*/ 0 w 1516722"/>
                  <a:gd name="connsiteY7-100" fmla="*/ 758361 h 1516722"/>
                  <a:gd name="connsiteX8-101" fmla="*/ 758361 w 1516722"/>
                  <a:gd name="connsiteY8-102" fmla="*/ 0 h 15167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 ang="0">
                    <a:pos x="connsiteX8-47" y="connsiteY8-4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flip="none" rotWithShape="0">
                <a:gsLst>
                  <a:gs pos="0">
                    <a:schemeClr val="accent1"/>
                  </a:gs>
                  <a:gs pos="100000">
                    <a:schemeClr val="accent2"/>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OPPOSans R" panose="00020600040101010101" charset="-122"/>
                  <a:ea typeface="OPPOSans R" panose="00020600040101010101" charset="-122"/>
                  <a:cs typeface="+mn-cs"/>
                </a:endParaRPr>
              </a:p>
            </p:txBody>
          </p:sp>
          <p:sp>
            <p:nvSpPr>
              <p:cNvPr id="9" name="文本框 40"/>
              <p:cNvSpPr txBox="1"/>
              <p:nvPr>
                <p:custDataLst>
                  <p:tags r:id="rId4"/>
                </p:custDataLst>
              </p:nvPr>
            </p:nvSpPr>
            <p:spPr>
              <a:xfrm>
                <a:off x="1773486" y="2606183"/>
                <a:ext cx="1538883" cy="30777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latin typeface="方正小标宋简体" panose="03000509000000000000" pitchFamily="65" charset="-122"/>
                    <a:ea typeface="方正小标宋简体" panose="03000509000000000000" pitchFamily="65" charset="-122"/>
                  </a:rPr>
                  <a:t>整合发展阶段</a:t>
                </a:r>
                <a:endParaRPr lang="zh-CN" altLang="en-US" sz="2000" b="1" dirty="0">
                  <a:latin typeface="方正小标宋简体" panose="03000509000000000000" pitchFamily="65" charset="-122"/>
                  <a:ea typeface="方正小标宋简体" panose="03000509000000000000" pitchFamily="65" charset="-122"/>
                </a:endParaRPr>
              </a:p>
            </p:txBody>
          </p:sp>
          <p:grpSp>
            <p:nvGrpSpPr>
              <p:cNvPr id="10" name="组合 9"/>
              <p:cNvGrpSpPr/>
              <p:nvPr/>
            </p:nvGrpSpPr>
            <p:grpSpPr>
              <a:xfrm>
                <a:off x="964141" y="3461504"/>
                <a:ext cx="2583994" cy="553998"/>
                <a:chOff x="964141" y="3522464"/>
                <a:chExt cx="2583994" cy="553998"/>
              </a:xfrm>
            </p:grpSpPr>
            <p:sp>
              <p:nvSpPr>
                <p:cNvPr id="23" name="文本框 7"/>
                <p:cNvSpPr txBox="1"/>
                <p:nvPr>
                  <p:custDataLst>
                    <p:tags r:id="rId5"/>
                  </p:custDataLst>
                </p:nvPr>
              </p:nvSpPr>
              <p:spPr>
                <a:xfrm>
                  <a:off x="1244135" y="3522464"/>
                  <a:ext cx="2304000" cy="553998"/>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200" dirty="0"/>
                    <a:t>初步建成高端新型智库，支撑省科技厅科技决策、服务科技创新发展能力初步形成；</a:t>
                  </a:r>
                  <a:endParaRPr lang="zh-CN" altLang="en-US" sz="1200" dirty="0"/>
                </a:p>
              </p:txBody>
            </p:sp>
            <p:grpSp>
              <p:nvGrpSpPr>
                <p:cNvPr id="24" name="组合 23"/>
                <p:cNvGrpSpPr/>
                <p:nvPr/>
              </p:nvGrpSpPr>
              <p:grpSpPr>
                <a:xfrm>
                  <a:off x="964141" y="3562175"/>
                  <a:ext cx="120372" cy="120372"/>
                  <a:chOff x="1220559" y="3368814"/>
                  <a:chExt cx="120372" cy="120372"/>
                </a:xfrm>
              </p:grpSpPr>
              <p:sp>
                <p:nvSpPr>
                  <p:cNvPr id="25" name="椭圆 24"/>
                  <p:cNvSpPr/>
                  <p:nvPr>
                    <p:custDataLst>
                      <p:tags r:id="rId6"/>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26" name="椭圆 25"/>
                  <p:cNvSpPr/>
                  <p:nvPr>
                    <p:custDataLst>
                      <p:tags r:id="rId7"/>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sp>
            <p:nvSpPr>
              <p:cNvPr id="11" name="iconfont-10050-4739863"/>
              <p:cNvSpPr>
                <a:spLocks noChangeAspect="1"/>
              </p:cNvSpPr>
              <p:nvPr>
                <p:custDataLst>
                  <p:tags r:id="rId8"/>
                </p:custDataLst>
              </p:nvPr>
            </p:nvSpPr>
            <p:spPr>
              <a:xfrm>
                <a:off x="1166784" y="2634071"/>
                <a:ext cx="252000" cy="252000"/>
              </a:xfrm>
              <a:custGeom>
                <a:avLst/>
                <a:gdLst>
                  <a:gd name="connsiteX0" fmla="*/ 475067 w 494117"/>
                  <a:gd name="connsiteY0" fmla="*/ 303614 h 494117"/>
                  <a:gd name="connsiteX1" fmla="*/ 494117 w 494117"/>
                  <a:gd name="connsiteY1" fmla="*/ 322664 h 494117"/>
                  <a:gd name="connsiteX2" fmla="*/ 494117 w 494117"/>
                  <a:gd name="connsiteY2" fmla="*/ 456016 h 494117"/>
                  <a:gd name="connsiteX3" fmla="*/ 456016 w 494117"/>
                  <a:gd name="connsiteY3" fmla="*/ 494117 h 494117"/>
                  <a:gd name="connsiteX4" fmla="*/ 322664 w 494117"/>
                  <a:gd name="connsiteY4" fmla="*/ 494117 h 494117"/>
                  <a:gd name="connsiteX5" fmla="*/ 303614 w 494117"/>
                  <a:gd name="connsiteY5" fmla="*/ 475067 h 494117"/>
                  <a:gd name="connsiteX6" fmla="*/ 322664 w 494117"/>
                  <a:gd name="connsiteY6" fmla="*/ 456016 h 494117"/>
                  <a:gd name="connsiteX7" fmla="*/ 455921 w 494117"/>
                  <a:gd name="connsiteY7" fmla="*/ 456016 h 494117"/>
                  <a:gd name="connsiteX8" fmla="*/ 456016 w 494117"/>
                  <a:gd name="connsiteY8" fmla="*/ 455969 h 494117"/>
                  <a:gd name="connsiteX9" fmla="*/ 456016 w 494117"/>
                  <a:gd name="connsiteY9" fmla="*/ 322664 h 494117"/>
                  <a:gd name="connsiteX10" fmla="*/ 475067 w 494117"/>
                  <a:gd name="connsiteY10" fmla="*/ 303614 h 494117"/>
                  <a:gd name="connsiteX11" fmla="*/ 19050 w 494117"/>
                  <a:gd name="connsiteY11" fmla="*/ 303566 h 494117"/>
                  <a:gd name="connsiteX12" fmla="*/ 38101 w 494117"/>
                  <a:gd name="connsiteY12" fmla="*/ 322617 h 494117"/>
                  <a:gd name="connsiteX13" fmla="*/ 38101 w 494117"/>
                  <a:gd name="connsiteY13" fmla="*/ 455874 h 494117"/>
                  <a:gd name="connsiteX14" fmla="*/ 38148 w 494117"/>
                  <a:gd name="connsiteY14" fmla="*/ 455969 h 494117"/>
                  <a:gd name="connsiteX15" fmla="*/ 171453 w 494117"/>
                  <a:gd name="connsiteY15" fmla="*/ 455969 h 494117"/>
                  <a:gd name="connsiteX16" fmla="*/ 190503 w 494117"/>
                  <a:gd name="connsiteY16" fmla="*/ 475019 h 494117"/>
                  <a:gd name="connsiteX17" fmla="*/ 171453 w 494117"/>
                  <a:gd name="connsiteY17" fmla="*/ 494069 h 494117"/>
                  <a:gd name="connsiteX18" fmla="*/ 38101 w 494117"/>
                  <a:gd name="connsiteY18" fmla="*/ 494069 h 494117"/>
                  <a:gd name="connsiteX19" fmla="*/ 0 w 494117"/>
                  <a:gd name="connsiteY19" fmla="*/ 455969 h 494117"/>
                  <a:gd name="connsiteX20" fmla="*/ 0 w 494117"/>
                  <a:gd name="connsiteY20" fmla="*/ 322617 h 494117"/>
                  <a:gd name="connsiteX21" fmla="*/ 19050 w 494117"/>
                  <a:gd name="connsiteY21" fmla="*/ 303566 h 494117"/>
                  <a:gd name="connsiteX22" fmla="*/ 115742 w 494117"/>
                  <a:gd name="connsiteY22" fmla="*/ 133079 h 494117"/>
                  <a:gd name="connsiteX23" fmla="*/ 128256 w 494117"/>
                  <a:gd name="connsiteY23" fmla="*/ 140544 h 494117"/>
                  <a:gd name="connsiteX24" fmla="*/ 198694 w 494117"/>
                  <a:gd name="connsiteY24" fmla="*/ 234652 h 494117"/>
                  <a:gd name="connsiteX25" fmla="*/ 198647 w 494117"/>
                  <a:gd name="connsiteY25" fmla="*/ 257512 h 494117"/>
                  <a:gd name="connsiteX26" fmla="*/ 126494 w 494117"/>
                  <a:gd name="connsiteY26" fmla="*/ 353478 h 494117"/>
                  <a:gd name="connsiteX27" fmla="*/ 111254 w 494117"/>
                  <a:gd name="connsiteY27" fmla="*/ 361098 h 494117"/>
                  <a:gd name="connsiteX28" fmla="*/ 99823 w 494117"/>
                  <a:gd name="connsiteY28" fmla="*/ 357288 h 494117"/>
                  <a:gd name="connsiteX29" fmla="*/ 95966 w 494117"/>
                  <a:gd name="connsiteY29" fmla="*/ 330618 h 494117"/>
                  <a:gd name="connsiteX30" fmla="*/ 159546 w 494117"/>
                  <a:gd name="connsiteY30" fmla="*/ 246082 h 494117"/>
                  <a:gd name="connsiteX31" fmla="*/ 97728 w 494117"/>
                  <a:gd name="connsiteY31" fmla="*/ 163356 h 494117"/>
                  <a:gd name="connsiteX32" fmla="*/ 101586 w 494117"/>
                  <a:gd name="connsiteY32" fmla="*/ 136686 h 494117"/>
                  <a:gd name="connsiteX33" fmla="*/ 115742 w 494117"/>
                  <a:gd name="connsiteY33" fmla="*/ 133079 h 494117"/>
                  <a:gd name="connsiteX34" fmla="*/ 314579 w 494117"/>
                  <a:gd name="connsiteY34" fmla="*/ 133076 h 494117"/>
                  <a:gd name="connsiteX35" fmla="*/ 327089 w 494117"/>
                  <a:gd name="connsiteY35" fmla="*/ 140541 h 494117"/>
                  <a:gd name="connsiteX36" fmla="*/ 397508 w 494117"/>
                  <a:gd name="connsiteY36" fmla="*/ 234743 h 494117"/>
                  <a:gd name="connsiteX37" fmla="*/ 397461 w 494117"/>
                  <a:gd name="connsiteY37" fmla="*/ 257603 h 494117"/>
                  <a:gd name="connsiteX38" fmla="*/ 325327 w 494117"/>
                  <a:gd name="connsiteY38" fmla="*/ 353568 h 494117"/>
                  <a:gd name="connsiteX39" fmla="*/ 309948 w 494117"/>
                  <a:gd name="connsiteY39" fmla="*/ 361093 h 494117"/>
                  <a:gd name="connsiteX40" fmla="*/ 298521 w 494117"/>
                  <a:gd name="connsiteY40" fmla="*/ 357283 h 494117"/>
                  <a:gd name="connsiteX41" fmla="*/ 294808 w 494117"/>
                  <a:gd name="connsiteY41" fmla="*/ 330613 h 494117"/>
                  <a:gd name="connsiteX42" fmla="*/ 358370 w 494117"/>
                  <a:gd name="connsiteY42" fmla="*/ 246078 h 494117"/>
                  <a:gd name="connsiteX43" fmla="*/ 296569 w 494117"/>
                  <a:gd name="connsiteY43" fmla="*/ 163353 h 494117"/>
                  <a:gd name="connsiteX44" fmla="*/ 300426 w 494117"/>
                  <a:gd name="connsiteY44" fmla="*/ 136683 h 494117"/>
                  <a:gd name="connsiteX45" fmla="*/ 314579 w 494117"/>
                  <a:gd name="connsiteY45" fmla="*/ 133076 h 494117"/>
                  <a:gd name="connsiteX46" fmla="*/ 213404 w 494117"/>
                  <a:gd name="connsiteY46" fmla="*/ 133076 h 494117"/>
                  <a:gd name="connsiteX47" fmla="*/ 225920 w 494117"/>
                  <a:gd name="connsiteY47" fmla="*/ 140541 h 494117"/>
                  <a:gd name="connsiteX48" fmla="*/ 296321 w 494117"/>
                  <a:gd name="connsiteY48" fmla="*/ 234742 h 494117"/>
                  <a:gd name="connsiteX49" fmla="*/ 296178 w 494117"/>
                  <a:gd name="connsiteY49" fmla="*/ 257506 h 494117"/>
                  <a:gd name="connsiteX50" fmla="*/ 224015 w 494117"/>
                  <a:gd name="connsiteY50" fmla="*/ 353469 h 494117"/>
                  <a:gd name="connsiteX51" fmla="*/ 208772 w 494117"/>
                  <a:gd name="connsiteY51" fmla="*/ 361089 h 494117"/>
                  <a:gd name="connsiteX52" fmla="*/ 197340 w 494117"/>
                  <a:gd name="connsiteY52" fmla="*/ 357279 h 494117"/>
                  <a:gd name="connsiteX53" fmla="*/ 193625 w 494117"/>
                  <a:gd name="connsiteY53" fmla="*/ 330609 h 494117"/>
                  <a:gd name="connsiteX54" fmla="*/ 257215 w 494117"/>
                  <a:gd name="connsiteY54" fmla="*/ 246076 h 494117"/>
                  <a:gd name="connsiteX55" fmla="*/ 195387 w 494117"/>
                  <a:gd name="connsiteY55" fmla="*/ 163353 h 494117"/>
                  <a:gd name="connsiteX56" fmla="*/ 199246 w 494117"/>
                  <a:gd name="connsiteY56" fmla="*/ 136683 h 494117"/>
                  <a:gd name="connsiteX57" fmla="*/ 213404 w 494117"/>
                  <a:gd name="connsiteY57" fmla="*/ 133076 h 494117"/>
                  <a:gd name="connsiteX58" fmla="*/ 322664 w 494117"/>
                  <a:gd name="connsiteY58" fmla="*/ 0 h 494117"/>
                  <a:gd name="connsiteX59" fmla="*/ 456016 w 494117"/>
                  <a:gd name="connsiteY59" fmla="*/ 0 h 494117"/>
                  <a:gd name="connsiteX60" fmla="*/ 494117 w 494117"/>
                  <a:gd name="connsiteY60" fmla="*/ 38101 h 494117"/>
                  <a:gd name="connsiteX61" fmla="*/ 494117 w 494117"/>
                  <a:gd name="connsiteY61" fmla="*/ 171453 h 494117"/>
                  <a:gd name="connsiteX62" fmla="*/ 475067 w 494117"/>
                  <a:gd name="connsiteY62" fmla="*/ 190503 h 494117"/>
                  <a:gd name="connsiteX63" fmla="*/ 456016 w 494117"/>
                  <a:gd name="connsiteY63" fmla="*/ 171453 h 494117"/>
                  <a:gd name="connsiteX64" fmla="*/ 456016 w 494117"/>
                  <a:gd name="connsiteY64" fmla="*/ 38148 h 494117"/>
                  <a:gd name="connsiteX65" fmla="*/ 455921 w 494117"/>
                  <a:gd name="connsiteY65" fmla="*/ 38101 h 494117"/>
                  <a:gd name="connsiteX66" fmla="*/ 322664 w 494117"/>
                  <a:gd name="connsiteY66" fmla="*/ 38101 h 494117"/>
                  <a:gd name="connsiteX67" fmla="*/ 303614 w 494117"/>
                  <a:gd name="connsiteY67" fmla="*/ 19050 h 494117"/>
                  <a:gd name="connsiteX68" fmla="*/ 322664 w 494117"/>
                  <a:gd name="connsiteY68" fmla="*/ 0 h 494117"/>
                  <a:gd name="connsiteX69" fmla="*/ 38101 w 494117"/>
                  <a:gd name="connsiteY69" fmla="*/ 0 h 494117"/>
                  <a:gd name="connsiteX70" fmla="*/ 171453 w 494117"/>
                  <a:gd name="connsiteY70" fmla="*/ 0 h 494117"/>
                  <a:gd name="connsiteX71" fmla="*/ 190503 w 494117"/>
                  <a:gd name="connsiteY71" fmla="*/ 19050 h 494117"/>
                  <a:gd name="connsiteX72" fmla="*/ 171453 w 494117"/>
                  <a:gd name="connsiteY72" fmla="*/ 38101 h 494117"/>
                  <a:gd name="connsiteX73" fmla="*/ 38148 w 494117"/>
                  <a:gd name="connsiteY73" fmla="*/ 38101 h 494117"/>
                  <a:gd name="connsiteX74" fmla="*/ 38101 w 494117"/>
                  <a:gd name="connsiteY74" fmla="*/ 38148 h 494117"/>
                  <a:gd name="connsiteX75" fmla="*/ 38101 w 494117"/>
                  <a:gd name="connsiteY75" fmla="*/ 171453 h 494117"/>
                  <a:gd name="connsiteX76" fmla="*/ 19050 w 494117"/>
                  <a:gd name="connsiteY76" fmla="*/ 190503 h 494117"/>
                  <a:gd name="connsiteX77" fmla="*/ 0 w 494117"/>
                  <a:gd name="connsiteY77" fmla="*/ 171453 h 494117"/>
                  <a:gd name="connsiteX78" fmla="*/ 0 w 494117"/>
                  <a:gd name="connsiteY78" fmla="*/ 38101 h 494117"/>
                  <a:gd name="connsiteX79" fmla="*/ 38101 w 494117"/>
                  <a:gd name="connsiteY79" fmla="*/ 0 h 49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94117" h="494117">
                    <a:moveTo>
                      <a:pt x="475067" y="303614"/>
                    </a:moveTo>
                    <a:cubicBezTo>
                      <a:pt x="485592" y="303614"/>
                      <a:pt x="494117" y="312091"/>
                      <a:pt x="494117" y="322664"/>
                    </a:cubicBezTo>
                    <a:lnTo>
                      <a:pt x="494117" y="456016"/>
                    </a:lnTo>
                    <a:cubicBezTo>
                      <a:pt x="494117" y="476972"/>
                      <a:pt x="476972" y="494117"/>
                      <a:pt x="456016" y="494117"/>
                    </a:cubicBezTo>
                    <a:lnTo>
                      <a:pt x="322664" y="494117"/>
                    </a:lnTo>
                    <a:cubicBezTo>
                      <a:pt x="312092" y="494117"/>
                      <a:pt x="303614" y="485592"/>
                      <a:pt x="303614" y="475067"/>
                    </a:cubicBezTo>
                    <a:cubicBezTo>
                      <a:pt x="303614" y="464541"/>
                      <a:pt x="312092" y="456016"/>
                      <a:pt x="322664" y="456016"/>
                    </a:cubicBezTo>
                    <a:lnTo>
                      <a:pt x="455921" y="456016"/>
                    </a:lnTo>
                    <a:lnTo>
                      <a:pt x="456016" y="455969"/>
                    </a:lnTo>
                    <a:lnTo>
                      <a:pt x="456016" y="322664"/>
                    </a:lnTo>
                    <a:cubicBezTo>
                      <a:pt x="456016" y="312091"/>
                      <a:pt x="464494" y="303614"/>
                      <a:pt x="475067" y="303614"/>
                    </a:cubicBezTo>
                    <a:close/>
                    <a:moveTo>
                      <a:pt x="19050" y="303566"/>
                    </a:moveTo>
                    <a:cubicBezTo>
                      <a:pt x="29576" y="303566"/>
                      <a:pt x="38101" y="312044"/>
                      <a:pt x="38101" y="322617"/>
                    </a:cubicBezTo>
                    <a:lnTo>
                      <a:pt x="38101" y="455874"/>
                    </a:lnTo>
                    <a:cubicBezTo>
                      <a:pt x="38101" y="455969"/>
                      <a:pt x="38148" y="455969"/>
                      <a:pt x="38148" y="455969"/>
                    </a:cubicBezTo>
                    <a:lnTo>
                      <a:pt x="171453" y="455969"/>
                    </a:lnTo>
                    <a:cubicBezTo>
                      <a:pt x="181978" y="455969"/>
                      <a:pt x="190503" y="464446"/>
                      <a:pt x="190503" y="475019"/>
                    </a:cubicBezTo>
                    <a:cubicBezTo>
                      <a:pt x="190503" y="485544"/>
                      <a:pt x="181978" y="494069"/>
                      <a:pt x="171453" y="494069"/>
                    </a:cubicBezTo>
                    <a:lnTo>
                      <a:pt x="38101" y="494069"/>
                    </a:lnTo>
                    <a:cubicBezTo>
                      <a:pt x="17145" y="494069"/>
                      <a:pt x="0" y="476924"/>
                      <a:pt x="0" y="455969"/>
                    </a:cubicBezTo>
                    <a:lnTo>
                      <a:pt x="0" y="322617"/>
                    </a:lnTo>
                    <a:cubicBezTo>
                      <a:pt x="0" y="312044"/>
                      <a:pt x="8477" y="303566"/>
                      <a:pt x="19050" y="303566"/>
                    </a:cubicBezTo>
                    <a:close/>
                    <a:moveTo>
                      <a:pt x="115742" y="133079"/>
                    </a:moveTo>
                    <a:cubicBezTo>
                      <a:pt x="120565" y="133781"/>
                      <a:pt x="125113" y="136329"/>
                      <a:pt x="128256" y="140544"/>
                    </a:cubicBezTo>
                    <a:lnTo>
                      <a:pt x="198694" y="234652"/>
                    </a:lnTo>
                    <a:cubicBezTo>
                      <a:pt x="203743" y="241462"/>
                      <a:pt x="203695" y="250749"/>
                      <a:pt x="198647" y="257512"/>
                    </a:cubicBezTo>
                    <a:lnTo>
                      <a:pt x="126494" y="353478"/>
                    </a:lnTo>
                    <a:cubicBezTo>
                      <a:pt x="122731" y="358479"/>
                      <a:pt x="117016" y="361098"/>
                      <a:pt x="111254" y="361098"/>
                    </a:cubicBezTo>
                    <a:cubicBezTo>
                      <a:pt x="107253" y="361098"/>
                      <a:pt x="103253" y="359860"/>
                      <a:pt x="99823" y="357288"/>
                    </a:cubicBezTo>
                    <a:cubicBezTo>
                      <a:pt x="91346" y="351002"/>
                      <a:pt x="89679" y="339095"/>
                      <a:pt x="95966" y="330618"/>
                    </a:cubicBezTo>
                    <a:lnTo>
                      <a:pt x="159546" y="246082"/>
                    </a:lnTo>
                    <a:lnTo>
                      <a:pt x="97728" y="163356"/>
                    </a:lnTo>
                    <a:cubicBezTo>
                      <a:pt x="91441" y="154879"/>
                      <a:pt x="93156" y="142972"/>
                      <a:pt x="101586" y="136686"/>
                    </a:cubicBezTo>
                    <a:cubicBezTo>
                      <a:pt x="105824" y="133519"/>
                      <a:pt x="110920" y="132376"/>
                      <a:pt x="115742" y="133079"/>
                    </a:cubicBezTo>
                    <a:close/>
                    <a:moveTo>
                      <a:pt x="314579" y="133076"/>
                    </a:moveTo>
                    <a:cubicBezTo>
                      <a:pt x="319399" y="133778"/>
                      <a:pt x="323947" y="136326"/>
                      <a:pt x="327089" y="140541"/>
                    </a:cubicBezTo>
                    <a:lnTo>
                      <a:pt x="397508" y="234743"/>
                    </a:lnTo>
                    <a:cubicBezTo>
                      <a:pt x="402555" y="241506"/>
                      <a:pt x="402507" y="250793"/>
                      <a:pt x="397461" y="257603"/>
                    </a:cubicBezTo>
                    <a:lnTo>
                      <a:pt x="325327" y="353568"/>
                    </a:lnTo>
                    <a:cubicBezTo>
                      <a:pt x="321566" y="358569"/>
                      <a:pt x="315852" y="361188"/>
                      <a:pt x="309948" y="361093"/>
                    </a:cubicBezTo>
                    <a:cubicBezTo>
                      <a:pt x="305997" y="361093"/>
                      <a:pt x="301997" y="359855"/>
                      <a:pt x="298521" y="357283"/>
                    </a:cubicBezTo>
                    <a:cubicBezTo>
                      <a:pt x="290142" y="350996"/>
                      <a:pt x="288475" y="339042"/>
                      <a:pt x="294808" y="330613"/>
                    </a:cubicBezTo>
                    <a:lnTo>
                      <a:pt x="358370" y="246078"/>
                    </a:lnTo>
                    <a:lnTo>
                      <a:pt x="296569" y="163353"/>
                    </a:lnTo>
                    <a:cubicBezTo>
                      <a:pt x="290284" y="154876"/>
                      <a:pt x="291998" y="142970"/>
                      <a:pt x="300426" y="136683"/>
                    </a:cubicBezTo>
                    <a:cubicBezTo>
                      <a:pt x="304663" y="133516"/>
                      <a:pt x="309758" y="132373"/>
                      <a:pt x="314579" y="133076"/>
                    </a:cubicBezTo>
                    <a:close/>
                    <a:moveTo>
                      <a:pt x="213404" y="133076"/>
                    </a:moveTo>
                    <a:cubicBezTo>
                      <a:pt x="218227" y="133778"/>
                      <a:pt x="222776" y="136326"/>
                      <a:pt x="225920" y="140541"/>
                    </a:cubicBezTo>
                    <a:lnTo>
                      <a:pt x="296321" y="234742"/>
                    </a:lnTo>
                    <a:cubicBezTo>
                      <a:pt x="301370" y="241504"/>
                      <a:pt x="301370" y="250791"/>
                      <a:pt x="296178" y="257506"/>
                    </a:cubicBezTo>
                    <a:lnTo>
                      <a:pt x="224015" y="353469"/>
                    </a:lnTo>
                    <a:cubicBezTo>
                      <a:pt x="220299" y="358470"/>
                      <a:pt x="214583" y="361089"/>
                      <a:pt x="208772" y="361089"/>
                    </a:cubicBezTo>
                    <a:cubicBezTo>
                      <a:pt x="204819" y="361089"/>
                      <a:pt x="200818" y="359851"/>
                      <a:pt x="197340" y="357279"/>
                    </a:cubicBezTo>
                    <a:cubicBezTo>
                      <a:pt x="188957" y="350993"/>
                      <a:pt x="187290" y="339039"/>
                      <a:pt x="193625" y="330609"/>
                    </a:cubicBezTo>
                    <a:lnTo>
                      <a:pt x="257215" y="246076"/>
                    </a:lnTo>
                    <a:lnTo>
                      <a:pt x="195387" y="163353"/>
                    </a:lnTo>
                    <a:cubicBezTo>
                      <a:pt x="189100" y="154876"/>
                      <a:pt x="190815" y="142969"/>
                      <a:pt x="199246" y="136683"/>
                    </a:cubicBezTo>
                    <a:cubicBezTo>
                      <a:pt x="203485" y="133516"/>
                      <a:pt x="208582" y="132373"/>
                      <a:pt x="213404" y="133076"/>
                    </a:cubicBezTo>
                    <a:close/>
                    <a:moveTo>
                      <a:pt x="322664" y="0"/>
                    </a:moveTo>
                    <a:lnTo>
                      <a:pt x="456016" y="0"/>
                    </a:lnTo>
                    <a:cubicBezTo>
                      <a:pt x="476972" y="0"/>
                      <a:pt x="494117" y="17145"/>
                      <a:pt x="494117" y="38101"/>
                    </a:cubicBezTo>
                    <a:lnTo>
                      <a:pt x="494117" y="171453"/>
                    </a:lnTo>
                    <a:cubicBezTo>
                      <a:pt x="494117" y="181978"/>
                      <a:pt x="485592" y="190503"/>
                      <a:pt x="475067" y="190503"/>
                    </a:cubicBezTo>
                    <a:cubicBezTo>
                      <a:pt x="464494" y="190503"/>
                      <a:pt x="456016" y="181978"/>
                      <a:pt x="456016" y="171453"/>
                    </a:cubicBezTo>
                    <a:lnTo>
                      <a:pt x="456016" y="38148"/>
                    </a:lnTo>
                    <a:lnTo>
                      <a:pt x="455921" y="38101"/>
                    </a:lnTo>
                    <a:lnTo>
                      <a:pt x="322664" y="38101"/>
                    </a:lnTo>
                    <a:cubicBezTo>
                      <a:pt x="312092" y="38101"/>
                      <a:pt x="303614" y="29576"/>
                      <a:pt x="303614" y="19050"/>
                    </a:cubicBezTo>
                    <a:cubicBezTo>
                      <a:pt x="303614" y="8525"/>
                      <a:pt x="312092" y="0"/>
                      <a:pt x="322664" y="0"/>
                    </a:cubicBezTo>
                    <a:close/>
                    <a:moveTo>
                      <a:pt x="38101" y="0"/>
                    </a:moveTo>
                    <a:lnTo>
                      <a:pt x="171453" y="0"/>
                    </a:lnTo>
                    <a:cubicBezTo>
                      <a:pt x="181978" y="0"/>
                      <a:pt x="190503" y="8525"/>
                      <a:pt x="190503" y="19050"/>
                    </a:cubicBezTo>
                    <a:cubicBezTo>
                      <a:pt x="190503" y="29576"/>
                      <a:pt x="181978" y="38101"/>
                      <a:pt x="171453" y="38101"/>
                    </a:cubicBezTo>
                    <a:lnTo>
                      <a:pt x="38148" y="38101"/>
                    </a:lnTo>
                    <a:lnTo>
                      <a:pt x="38101" y="38148"/>
                    </a:lnTo>
                    <a:lnTo>
                      <a:pt x="38101" y="171453"/>
                    </a:lnTo>
                    <a:cubicBezTo>
                      <a:pt x="38101" y="181978"/>
                      <a:pt x="29576" y="190503"/>
                      <a:pt x="19050" y="190503"/>
                    </a:cubicBezTo>
                    <a:cubicBezTo>
                      <a:pt x="8477" y="190503"/>
                      <a:pt x="0" y="181978"/>
                      <a:pt x="0" y="171453"/>
                    </a:cubicBezTo>
                    <a:lnTo>
                      <a:pt x="0" y="38101"/>
                    </a:lnTo>
                    <a:cubicBezTo>
                      <a:pt x="0" y="17145"/>
                      <a:pt x="17145" y="0"/>
                      <a:pt x="38101" y="0"/>
                    </a:cubicBez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12" name="任意多边形: 形状 34"/>
              <p:cNvSpPr/>
              <p:nvPr>
                <p:custDataLst>
                  <p:tags r:id="rId9"/>
                </p:custDataLst>
              </p:nvPr>
            </p:nvSpPr>
            <p:spPr>
              <a:xfrm rot="21596683">
                <a:off x="1326285" y="2794309"/>
                <a:ext cx="307779" cy="307779"/>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gradFill>
                <a:gsLst>
                  <a:gs pos="18000">
                    <a:srgbClr val="D9D9D9">
                      <a:lumMod val="85000"/>
                    </a:srgbClr>
                  </a:gs>
                  <a:gs pos="35000">
                    <a:srgbClr val="FFFFFF"/>
                  </a:gs>
                  <a:gs pos="50000">
                    <a:srgbClr val="D9D9D9">
                      <a:lumMod val="85000"/>
                    </a:srgbClr>
                  </a:gs>
                </a:gsLst>
                <a:lin ang="2700000" scaled="0"/>
              </a:gradFill>
              <a:ln>
                <a:noFill/>
              </a:ln>
              <a:effectLst>
                <a:outerShdw blurRad="3810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nvGrpSpPr>
              <p:cNvPr id="13" name="组合 12"/>
              <p:cNvGrpSpPr/>
              <p:nvPr/>
            </p:nvGrpSpPr>
            <p:grpSpPr>
              <a:xfrm>
                <a:off x="964141" y="4159220"/>
                <a:ext cx="2583994" cy="413703"/>
                <a:chOff x="964141" y="3522464"/>
                <a:chExt cx="2583994" cy="413703"/>
              </a:xfrm>
            </p:grpSpPr>
            <p:sp>
              <p:nvSpPr>
                <p:cNvPr id="19" name="文本框 7"/>
                <p:cNvSpPr txBox="1"/>
                <p:nvPr>
                  <p:custDataLst>
                    <p:tags r:id="rId10"/>
                  </p:custDataLst>
                </p:nvPr>
              </p:nvSpPr>
              <p:spPr>
                <a:xfrm>
                  <a:off x="1244135" y="3522464"/>
                  <a:ext cx="2304000" cy="413703"/>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12000"/>
                    </a:lnSpc>
                    <a:defRPr/>
                  </a:pPr>
                  <a:r>
                    <a:rPr lang="zh-CN" altLang="en-US" sz="1200" dirty="0"/>
                    <a:t>完成</a:t>
                  </a:r>
                  <a:r>
                    <a:rPr lang="en-US" altLang="zh-CN" sz="1200" dirty="0"/>
                    <a:t>1</a:t>
                  </a:r>
                  <a:r>
                    <a:rPr lang="zh-CN" altLang="en-US" sz="1200" dirty="0" smtClean="0"/>
                    <a:t>个省级重大</a:t>
                  </a:r>
                  <a:r>
                    <a:rPr lang="zh-CN" altLang="en-US" sz="1200" dirty="0"/>
                    <a:t>科技创新平台引育试点；</a:t>
                  </a:r>
                  <a:endParaRPr kumimoji="0" lang="zh-CN" altLang="en-US" sz="1200" b="0" i="0" u="none" strike="noStrike" kern="1200" cap="none" spc="0" normalizeH="0" baseline="0" noProof="0" dirty="0">
                    <a:ln>
                      <a:noFill/>
                    </a:ln>
                    <a:solidFill>
                      <a:schemeClr val="dk1">
                        <a:lumMod val="85000"/>
                        <a:lumOff val="15000"/>
                      </a:schemeClr>
                    </a:solidFill>
                    <a:effectLst/>
                    <a:uLnTx/>
                    <a:uFillTx/>
                    <a:latin typeface="+mn-ea"/>
                    <a:cs typeface="+mn-cs"/>
                  </a:endParaRPr>
                </a:p>
              </p:txBody>
            </p:sp>
            <p:grpSp>
              <p:nvGrpSpPr>
                <p:cNvPr id="20" name="组合 19"/>
                <p:cNvGrpSpPr/>
                <p:nvPr/>
              </p:nvGrpSpPr>
              <p:grpSpPr>
                <a:xfrm>
                  <a:off x="964141" y="3562175"/>
                  <a:ext cx="120372" cy="120372"/>
                  <a:chOff x="1220559" y="3368814"/>
                  <a:chExt cx="120372" cy="120372"/>
                </a:xfrm>
              </p:grpSpPr>
              <p:sp>
                <p:nvSpPr>
                  <p:cNvPr id="21" name="椭圆 20"/>
                  <p:cNvSpPr/>
                  <p:nvPr>
                    <p:custDataLst>
                      <p:tags r:id="rId11"/>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22" name="椭圆 21"/>
                  <p:cNvSpPr/>
                  <p:nvPr>
                    <p:custDataLst>
                      <p:tags r:id="rId12"/>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grpSp>
            <p:nvGrpSpPr>
              <p:cNvPr id="14" name="组合 13"/>
              <p:cNvGrpSpPr/>
              <p:nvPr/>
            </p:nvGrpSpPr>
            <p:grpSpPr>
              <a:xfrm>
                <a:off x="964141" y="4863586"/>
                <a:ext cx="2583994" cy="368935"/>
                <a:chOff x="964141" y="3522464"/>
                <a:chExt cx="2583994" cy="368935"/>
              </a:xfrm>
            </p:grpSpPr>
            <p:sp>
              <p:nvSpPr>
                <p:cNvPr id="15" name="文本框 7"/>
                <p:cNvSpPr txBox="1"/>
                <p:nvPr>
                  <p:custDataLst>
                    <p:tags r:id="rId13"/>
                  </p:custDataLst>
                </p:nvPr>
              </p:nvSpPr>
              <p:spPr>
                <a:xfrm>
                  <a:off x="1244135" y="3522464"/>
                  <a:ext cx="2304000" cy="368935"/>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200" dirty="0"/>
                    <a:t>围绕</a:t>
                  </a:r>
                  <a:r>
                    <a:rPr lang="en-US" altLang="zh-CN" sz="1200" dirty="0"/>
                    <a:t>2</a:t>
                  </a:r>
                  <a:r>
                    <a:rPr lang="zh-CN" altLang="en-US" sz="1200" dirty="0"/>
                    <a:t>条重点产业链形成科技成果转化服务示范</a:t>
                  </a:r>
                  <a:r>
                    <a:rPr lang="zh-CN" altLang="en-US" sz="1200" dirty="0" smtClean="0"/>
                    <a:t>探索</a:t>
                  </a:r>
                  <a:r>
                    <a:rPr lang="zh-CN" altLang="en-US" sz="1200" dirty="0"/>
                    <a:t>。</a:t>
                  </a:r>
                  <a:endParaRPr lang="zh-CN" altLang="en-US" sz="1200" dirty="0"/>
                </a:p>
              </p:txBody>
            </p:sp>
            <p:grpSp>
              <p:nvGrpSpPr>
                <p:cNvPr id="16" name="组合 15"/>
                <p:cNvGrpSpPr/>
                <p:nvPr/>
              </p:nvGrpSpPr>
              <p:grpSpPr>
                <a:xfrm>
                  <a:off x="964141" y="3562175"/>
                  <a:ext cx="120372" cy="120372"/>
                  <a:chOff x="1220559" y="3368814"/>
                  <a:chExt cx="120372" cy="120372"/>
                </a:xfrm>
              </p:grpSpPr>
              <p:sp>
                <p:nvSpPr>
                  <p:cNvPr id="17" name="椭圆 16"/>
                  <p:cNvSpPr/>
                  <p:nvPr>
                    <p:custDataLst>
                      <p:tags r:id="rId14"/>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18" name="椭圆 17"/>
                  <p:cNvSpPr/>
                  <p:nvPr>
                    <p:custDataLst>
                      <p:tags r:id="rId15"/>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grpSp>
        <p:sp>
          <p:nvSpPr>
            <p:cNvPr id="73" name="文本框 72"/>
            <p:cNvSpPr txBox="1"/>
            <p:nvPr/>
          </p:nvSpPr>
          <p:spPr>
            <a:xfrm>
              <a:off x="2491814" y="2352932"/>
              <a:ext cx="1483360" cy="375920"/>
            </a:xfrm>
            <a:prstGeom prst="rect">
              <a:avLst/>
            </a:prstGeom>
            <a:noFill/>
            <a:ln>
              <a:noFill/>
            </a:ln>
          </p:spPr>
          <p:style>
            <a:lnRef idx="0">
              <a:scrgbClr r="0" g="0" b="0"/>
            </a:lnRef>
            <a:fillRef idx="0">
              <a:scrgbClr r="0" g="0" b="0"/>
            </a:fillRef>
            <a:effectRef idx="0">
              <a:scrgbClr r="0" g="0" b="0"/>
            </a:effectRef>
            <a:fontRef idx="minor">
              <a:schemeClr val="dk1"/>
            </a:fontRef>
          </p:style>
          <p:txBody>
            <a:bodyPr vert="horz" wrap="square" lIns="57150" tIns="57150" rIns="57150" bIns="57150" numCol="1" spcCol="1270" anchor="ctr" anchorCtr="0" forceAA="0">
              <a:noAutofit/>
            </a:bodyPr>
            <a:lstStyle/>
            <a:p>
              <a:pPr algn="ctr" defTabSz="666750">
                <a:lnSpc>
                  <a:spcPct val="150000"/>
                </a:lnSpc>
                <a:spcBef>
                  <a:spcPct val="0"/>
                </a:spcBef>
                <a:spcAft>
                  <a:spcPct val="35000"/>
                </a:spcAft>
              </a:pPr>
              <a:r>
                <a:rPr lang="en-US" altLang="zh-CN" sz="2400" dirty="0" smtClean="0">
                  <a:solidFill>
                    <a:schemeClr val="accent3">
                      <a:lumMod val="75000"/>
                    </a:schemeClr>
                  </a:solidFill>
                </a:rPr>
                <a:t>2026</a:t>
              </a:r>
              <a:r>
                <a:rPr lang="zh-CN" altLang="en-US" sz="2400" dirty="0" smtClean="0">
                  <a:solidFill>
                    <a:schemeClr val="accent3">
                      <a:lumMod val="75000"/>
                    </a:schemeClr>
                  </a:solidFill>
                </a:rPr>
                <a:t>年底</a:t>
              </a:r>
              <a:endParaRPr lang="en-US" altLang="zh-CN" sz="2400" dirty="0">
                <a:solidFill>
                  <a:schemeClr val="accent3">
                    <a:lumMod val="75000"/>
                  </a:schemeClr>
                </a:solidFill>
              </a:endParaRPr>
            </a:p>
          </p:txBody>
        </p:sp>
      </p:grpSp>
      <p:grpSp>
        <p:nvGrpSpPr>
          <p:cNvPr id="78" name="组合 77"/>
          <p:cNvGrpSpPr/>
          <p:nvPr/>
        </p:nvGrpSpPr>
        <p:grpSpPr>
          <a:xfrm>
            <a:off x="4489377" y="1970162"/>
            <a:ext cx="3024242" cy="3919567"/>
            <a:chOff x="4537497" y="2280221"/>
            <a:chExt cx="2963257" cy="3919567"/>
          </a:xfrm>
        </p:grpSpPr>
        <p:grpSp>
          <p:nvGrpSpPr>
            <p:cNvPr id="27" name="组合 26"/>
            <p:cNvGrpSpPr/>
            <p:nvPr/>
          </p:nvGrpSpPr>
          <p:grpSpPr>
            <a:xfrm>
              <a:off x="4537497" y="2280221"/>
              <a:ext cx="2920509" cy="3919567"/>
              <a:chOff x="697796" y="1931477"/>
              <a:chExt cx="3165021" cy="3919567"/>
            </a:xfrm>
          </p:grpSpPr>
          <p:sp>
            <p:nvSpPr>
              <p:cNvPr id="28" name="矩形: 圆角 38"/>
              <p:cNvSpPr/>
              <p:nvPr>
                <p:custDataLst>
                  <p:tags r:id="rId16"/>
                </p:custDataLst>
              </p:nvPr>
            </p:nvSpPr>
            <p:spPr>
              <a:xfrm rot="409421">
                <a:off x="714932" y="1945807"/>
                <a:ext cx="3147885" cy="3905237"/>
              </a:xfrm>
              <a:prstGeom prst="roundRect">
                <a:avLst>
                  <a:gd name="adj" fmla="val 8509"/>
                </a:avLst>
              </a:prstGeom>
              <a:gradFill>
                <a:gsLst>
                  <a:gs pos="0">
                    <a:schemeClr val="accent3">
                      <a:lumMod val="75000"/>
                    </a:schemeClr>
                  </a:gs>
                  <a:gs pos="100000">
                    <a:schemeClr val="bg1">
                      <a:alpha val="19000"/>
                    </a:schemeClr>
                  </a:gs>
                  <a:gs pos="47000">
                    <a:schemeClr val="accent3"/>
                  </a:gs>
                </a:gsLst>
                <a:path path="circle">
                  <a:fillToRect t="100000" r="100000"/>
                </a:path>
              </a:gradFill>
              <a:ln>
                <a:noFill/>
              </a:ln>
              <a:effectLst>
                <a:outerShdw blurRad="139700" algn="ctr" rotWithShape="0">
                  <a:schemeClr val="accent1">
                    <a:alpha val="40000"/>
                    <a:lumMod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OPPOSans B" panose="00020600040101010101" charset="-122"/>
                  <a:ea typeface="OPPOSans B" panose="00020600040101010101" charset="-122"/>
                  <a:cs typeface="+mn-cs"/>
                </a:endParaRPr>
              </a:p>
            </p:txBody>
          </p:sp>
          <p:sp>
            <p:nvSpPr>
              <p:cNvPr id="29" name="矩形: 圆角 5"/>
              <p:cNvSpPr/>
              <p:nvPr>
                <p:custDataLst>
                  <p:tags r:id="rId17"/>
                </p:custDataLst>
              </p:nvPr>
            </p:nvSpPr>
            <p:spPr>
              <a:xfrm>
                <a:off x="697796" y="1931477"/>
                <a:ext cx="3147885" cy="3905237"/>
              </a:xfrm>
              <a:prstGeom prst="roundRect">
                <a:avLst>
                  <a:gd name="adj" fmla="val 8509"/>
                </a:avLst>
              </a:prstGeom>
              <a:gradFill>
                <a:gsLst>
                  <a:gs pos="9000">
                    <a:schemeClr val="bg1"/>
                  </a:gs>
                  <a:gs pos="59000">
                    <a:srgbClr val="FFFFFF">
                      <a:alpha val="72000"/>
                    </a:srgbClr>
                  </a:gs>
                  <a:gs pos="39000">
                    <a:schemeClr val="bg1">
                      <a:alpha val="73000"/>
                    </a:schemeClr>
                  </a:gs>
                  <a:gs pos="91000">
                    <a:schemeClr val="bg1"/>
                  </a:gs>
                </a:gsLst>
                <a:lin ang="2700000" scaled="0"/>
              </a:gradFill>
              <a:ln>
                <a:noFill/>
              </a:ln>
              <a:effectLst>
                <a:outerShdw blurRad="139700" algn="ctr" rotWithShape="0">
                  <a:schemeClr val="accent1">
                    <a:alpha val="40000"/>
                    <a:lumMod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OPPOSans B" panose="00020600040101010101" charset="-122"/>
                  <a:ea typeface="OPPOSans B" panose="00020600040101010101" charset="-122"/>
                  <a:cs typeface="+mn-cs"/>
                </a:endParaRPr>
              </a:p>
            </p:txBody>
          </p:sp>
          <p:sp>
            <p:nvSpPr>
              <p:cNvPr id="30" name="任意多边形: 形状 33"/>
              <p:cNvSpPr/>
              <p:nvPr>
                <p:custDataLst>
                  <p:tags r:id="rId18"/>
                </p:custDataLst>
              </p:nvPr>
            </p:nvSpPr>
            <p:spPr>
              <a:xfrm>
                <a:off x="947353" y="2495978"/>
                <a:ext cx="690862" cy="609523"/>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1" fmla="*/ 758361 w 1516722"/>
                  <a:gd name="connsiteY0-2" fmla="*/ 0 h 1516722"/>
                  <a:gd name="connsiteX1-3" fmla="*/ 1516722 w 1516722"/>
                  <a:gd name="connsiteY1-4" fmla="*/ 758361 h 1516722"/>
                  <a:gd name="connsiteX2-5" fmla="*/ 1509094 w 1516722"/>
                  <a:gd name="connsiteY2-6" fmla="*/ 834034 h 1516722"/>
                  <a:gd name="connsiteX3-7" fmla="*/ 867855 w 1516722"/>
                  <a:gd name="connsiteY3-8" fmla="*/ 1475574 h 1516722"/>
                  <a:gd name="connsiteX4-9" fmla="*/ 830024 w 1516722"/>
                  <a:gd name="connsiteY4-10" fmla="*/ 1513103 h 1516722"/>
                  <a:gd name="connsiteX5-11" fmla="*/ 758361 w 1516722"/>
                  <a:gd name="connsiteY5-12" fmla="*/ 1516722 h 1516722"/>
                  <a:gd name="connsiteX6-13" fmla="*/ 0 w 1516722"/>
                  <a:gd name="connsiteY6-14" fmla="*/ 758361 h 1516722"/>
                  <a:gd name="connsiteX7" fmla="*/ 758361 w 1516722"/>
                  <a:gd name="connsiteY7" fmla="*/ 0 h 1516722"/>
                  <a:gd name="connsiteX0-15" fmla="*/ 758361 w 1516722"/>
                  <a:gd name="connsiteY0-16" fmla="*/ 0 h 1516722"/>
                  <a:gd name="connsiteX1-17" fmla="*/ 1516722 w 1516722"/>
                  <a:gd name="connsiteY1-18" fmla="*/ 758361 h 1516722"/>
                  <a:gd name="connsiteX2-19" fmla="*/ 1509094 w 1516722"/>
                  <a:gd name="connsiteY2-20" fmla="*/ 834034 h 1516722"/>
                  <a:gd name="connsiteX3-21" fmla="*/ 1472375 w 1516722"/>
                  <a:gd name="connsiteY3-22" fmla="*/ 871054 h 1516722"/>
                  <a:gd name="connsiteX4-23" fmla="*/ 867855 w 1516722"/>
                  <a:gd name="connsiteY4-24" fmla="*/ 1475574 h 1516722"/>
                  <a:gd name="connsiteX5-25" fmla="*/ 830024 w 1516722"/>
                  <a:gd name="connsiteY5-26" fmla="*/ 1513103 h 1516722"/>
                  <a:gd name="connsiteX6-27" fmla="*/ 758361 w 1516722"/>
                  <a:gd name="connsiteY6-28" fmla="*/ 1516722 h 1516722"/>
                  <a:gd name="connsiteX7-29" fmla="*/ 0 w 1516722"/>
                  <a:gd name="connsiteY7-30" fmla="*/ 758361 h 1516722"/>
                  <a:gd name="connsiteX8" fmla="*/ 758361 w 1516722"/>
                  <a:gd name="connsiteY8" fmla="*/ 0 h 1516722"/>
                  <a:gd name="connsiteX0-31" fmla="*/ 758361 w 1516722"/>
                  <a:gd name="connsiteY0-32" fmla="*/ 0 h 1516722"/>
                  <a:gd name="connsiteX1-33" fmla="*/ 1516722 w 1516722"/>
                  <a:gd name="connsiteY1-34" fmla="*/ 758361 h 1516722"/>
                  <a:gd name="connsiteX2-35" fmla="*/ 1507189 w 1516722"/>
                  <a:gd name="connsiteY2-36" fmla="*/ 826414 h 1516722"/>
                  <a:gd name="connsiteX3-37" fmla="*/ 1472375 w 1516722"/>
                  <a:gd name="connsiteY3-38" fmla="*/ 871054 h 1516722"/>
                  <a:gd name="connsiteX4-39" fmla="*/ 867855 w 1516722"/>
                  <a:gd name="connsiteY4-40" fmla="*/ 1475574 h 1516722"/>
                  <a:gd name="connsiteX5-41" fmla="*/ 830024 w 1516722"/>
                  <a:gd name="connsiteY5-42" fmla="*/ 1513103 h 1516722"/>
                  <a:gd name="connsiteX6-43" fmla="*/ 758361 w 1516722"/>
                  <a:gd name="connsiteY6-44" fmla="*/ 1516722 h 1516722"/>
                  <a:gd name="connsiteX7-45" fmla="*/ 0 w 1516722"/>
                  <a:gd name="connsiteY7-46" fmla="*/ 758361 h 1516722"/>
                  <a:gd name="connsiteX8-47" fmla="*/ 758361 w 1516722"/>
                  <a:gd name="connsiteY8-48" fmla="*/ 0 h 1516722"/>
                  <a:gd name="connsiteX0-49" fmla="*/ 758361 w 1516722"/>
                  <a:gd name="connsiteY0-50" fmla="*/ 0 h 1516722"/>
                  <a:gd name="connsiteX1-51" fmla="*/ 1516722 w 1516722"/>
                  <a:gd name="connsiteY1-52" fmla="*/ 758361 h 1516722"/>
                  <a:gd name="connsiteX2-53" fmla="*/ 1507189 w 1516722"/>
                  <a:gd name="connsiteY2-54" fmla="*/ 826414 h 1516722"/>
                  <a:gd name="connsiteX3-55" fmla="*/ 1472375 w 1516722"/>
                  <a:gd name="connsiteY3-56" fmla="*/ 871054 h 1516722"/>
                  <a:gd name="connsiteX4-57" fmla="*/ 867855 w 1516722"/>
                  <a:gd name="connsiteY4-58" fmla="*/ 1475574 h 1516722"/>
                  <a:gd name="connsiteX5-59" fmla="*/ 830024 w 1516722"/>
                  <a:gd name="connsiteY5-60" fmla="*/ 1513103 h 1516722"/>
                  <a:gd name="connsiteX6-61" fmla="*/ 758361 w 1516722"/>
                  <a:gd name="connsiteY6-62" fmla="*/ 1516722 h 1516722"/>
                  <a:gd name="connsiteX7-63" fmla="*/ 0 w 1516722"/>
                  <a:gd name="connsiteY7-64" fmla="*/ 758361 h 1516722"/>
                  <a:gd name="connsiteX8-65" fmla="*/ 758361 w 1516722"/>
                  <a:gd name="connsiteY8-66" fmla="*/ 0 h 1516722"/>
                  <a:gd name="connsiteX0-67" fmla="*/ 758361 w 1516722"/>
                  <a:gd name="connsiteY0-68" fmla="*/ 0 h 1516722"/>
                  <a:gd name="connsiteX1-69" fmla="*/ 1516722 w 1516722"/>
                  <a:gd name="connsiteY1-70" fmla="*/ 758361 h 1516722"/>
                  <a:gd name="connsiteX2-71" fmla="*/ 1507189 w 1516722"/>
                  <a:gd name="connsiteY2-72" fmla="*/ 826414 h 1516722"/>
                  <a:gd name="connsiteX3-73" fmla="*/ 1472375 w 1516722"/>
                  <a:gd name="connsiteY3-74" fmla="*/ 871054 h 1516722"/>
                  <a:gd name="connsiteX4-75" fmla="*/ 867855 w 1516722"/>
                  <a:gd name="connsiteY4-76" fmla="*/ 1475574 h 1516722"/>
                  <a:gd name="connsiteX5-77" fmla="*/ 820499 w 1516722"/>
                  <a:gd name="connsiteY5-78" fmla="*/ 1509293 h 1516722"/>
                  <a:gd name="connsiteX6-79" fmla="*/ 758361 w 1516722"/>
                  <a:gd name="connsiteY6-80" fmla="*/ 1516722 h 1516722"/>
                  <a:gd name="connsiteX7-81" fmla="*/ 0 w 1516722"/>
                  <a:gd name="connsiteY7-82" fmla="*/ 758361 h 1516722"/>
                  <a:gd name="connsiteX8-83" fmla="*/ 758361 w 1516722"/>
                  <a:gd name="connsiteY8-84" fmla="*/ 0 h 1516722"/>
                  <a:gd name="connsiteX0-85" fmla="*/ 758361 w 1516722"/>
                  <a:gd name="connsiteY0-86" fmla="*/ 0 h 1516722"/>
                  <a:gd name="connsiteX1-87" fmla="*/ 1516722 w 1516722"/>
                  <a:gd name="connsiteY1-88" fmla="*/ 758361 h 1516722"/>
                  <a:gd name="connsiteX2-89" fmla="*/ 1507189 w 1516722"/>
                  <a:gd name="connsiteY2-90" fmla="*/ 826414 h 1516722"/>
                  <a:gd name="connsiteX3-91" fmla="*/ 1472375 w 1516722"/>
                  <a:gd name="connsiteY3-92" fmla="*/ 871054 h 1516722"/>
                  <a:gd name="connsiteX4-93" fmla="*/ 867855 w 1516722"/>
                  <a:gd name="connsiteY4-94" fmla="*/ 1475574 h 1516722"/>
                  <a:gd name="connsiteX5-95" fmla="*/ 820499 w 1516722"/>
                  <a:gd name="connsiteY5-96" fmla="*/ 1509293 h 1516722"/>
                  <a:gd name="connsiteX6-97" fmla="*/ 758361 w 1516722"/>
                  <a:gd name="connsiteY6-98" fmla="*/ 1516722 h 1516722"/>
                  <a:gd name="connsiteX7-99" fmla="*/ 0 w 1516722"/>
                  <a:gd name="connsiteY7-100" fmla="*/ 758361 h 1516722"/>
                  <a:gd name="connsiteX8-101" fmla="*/ 758361 w 1516722"/>
                  <a:gd name="connsiteY8-102" fmla="*/ 0 h 15167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 ang="0">
                    <a:pos x="connsiteX8-47" y="connsiteY8-4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flip="none" rotWithShape="0">
                <a:gsLst>
                  <a:gs pos="0">
                    <a:schemeClr val="accent1"/>
                  </a:gs>
                  <a:gs pos="100000">
                    <a:schemeClr val="accent2"/>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OPPOSans R" panose="00020600040101010101" charset="-122"/>
                  <a:ea typeface="OPPOSans R" panose="00020600040101010101" charset="-122"/>
                  <a:cs typeface="+mn-cs"/>
                </a:endParaRPr>
              </a:p>
            </p:txBody>
          </p:sp>
          <p:sp>
            <p:nvSpPr>
              <p:cNvPr id="31" name="文本框 40"/>
              <p:cNvSpPr txBox="1"/>
              <p:nvPr>
                <p:custDataLst>
                  <p:tags r:id="rId19"/>
                </p:custDataLst>
              </p:nvPr>
            </p:nvSpPr>
            <p:spPr>
              <a:xfrm>
                <a:off x="1773486" y="2606183"/>
                <a:ext cx="1678145" cy="30777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latin typeface="方正小标宋简体" panose="03000509000000000000" pitchFamily="65" charset="-122"/>
                    <a:ea typeface="方正小标宋简体" panose="03000509000000000000" pitchFamily="65" charset="-122"/>
                  </a:rPr>
                  <a:t>创新突破阶段</a:t>
                </a:r>
                <a:endParaRPr lang="zh-CN" altLang="en-US" sz="2000" b="1" dirty="0">
                  <a:latin typeface="方正小标宋简体" panose="03000509000000000000" pitchFamily="65" charset="-122"/>
                  <a:ea typeface="方正小标宋简体" panose="03000509000000000000" pitchFamily="65" charset="-122"/>
                </a:endParaRPr>
              </a:p>
            </p:txBody>
          </p:sp>
          <p:grpSp>
            <p:nvGrpSpPr>
              <p:cNvPr id="32" name="组合 31"/>
              <p:cNvGrpSpPr/>
              <p:nvPr/>
            </p:nvGrpSpPr>
            <p:grpSpPr>
              <a:xfrm>
                <a:off x="964141" y="3461504"/>
                <a:ext cx="2583994" cy="738664"/>
                <a:chOff x="964141" y="3522464"/>
                <a:chExt cx="2583994" cy="738664"/>
              </a:xfrm>
            </p:grpSpPr>
            <p:sp>
              <p:nvSpPr>
                <p:cNvPr id="45" name="文本框 7"/>
                <p:cNvSpPr txBox="1"/>
                <p:nvPr>
                  <p:custDataLst>
                    <p:tags r:id="rId20"/>
                  </p:custDataLst>
                </p:nvPr>
              </p:nvSpPr>
              <p:spPr>
                <a:xfrm>
                  <a:off x="1244135" y="3522464"/>
                  <a:ext cx="2304000" cy="738664"/>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200" dirty="0"/>
                    <a:t>高端新型智库在省内具备一定知名度，在支撑省科技厅科技决策、服务科技创新发展能力方面形成</a:t>
                  </a:r>
                  <a:r>
                    <a:rPr lang="en-US" altLang="zh-CN" sz="1200" dirty="0"/>
                    <a:t>2</a:t>
                  </a:r>
                  <a:r>
                    <a:rPr lang="zh-CN" altLang="en-US" sz="1200" dirty="0"/>
                    <a:t>项典型示范；</a:t>
                  </a:r>
                  <a:endParaRPr lang="zh-CN" altLang="en-US" sz="1200" dirty="0"/>
                </a:p>
              </p:txBody>
            </p:sp>
            <p:grpSp>
              <p:nvGrpSpPr>
                <p:cNvPr id="46" name="组合 45"/>
                <p:cNvGrpSpPr/>
                <p:nvPr/>
              </p:nvGrpSpPr>
              <p:grpSpPr>
                <a:xfrm>
                  <a:off x="964141" y="3562175"/>
                  <a:ext cx="120372" cy="120372"/>
                  <a:chOff x="1220559" y="3368814"/>
                  <a:chExt cx="120372" cy="120372"/>
                </a:xfrm>
              </p:grpSpPr>
              <p:sp>
                <p:nvSpPr>
                  <p:cNvPr id="47" name="椭圆 46"/>
                  <p:cNvSpPr/>
                  <p:nvPr>
                    <p:custDataLst>
                      <p:tags r:id="rId21"/>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48" name="椭圆 47"/>
                  <p:cNvSpPr/>
                  <p:nvPr>
                    <p:custDataLst>
                      <p:tags r:id="rId22"/>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sp>
            <p:nvSpPr>
              <p:cNvPr id="33" name="iconfont-10050-4739863"/>
              <p:cNvSpPr>
                <a:spLocks noChangeAspect="1"/>
              </p:cNvSpPr>
              <p:nvPr>
                <p:custDataLst>
                  <p:tags r:id="rId23"/>
                </p:custDataLst>
              </p:nvPr>
            </p:nvSpPr>
            <p:spPr>
              <a:xfrm>
                <a:off x="1166784" y="2634071"/>
                <a:ext cx="252000" cy="252000"/>
              </a:xfrm>
              <a:custGeom>
                <a:avLst/>
                <a:gdLst>
                  <a:gd name="connsiteX0" fmla="*/ 475067 w 494117"/>
                  <a:gd name="connsiteY0" fmla="*/ 303614 h 494117"/>
                  <a:gd name="connsiteX1" fmla="*/ 494117 w 494117"/>
                  <a:gd name="connsiteY1" fmla="*/ 322664 h 494117"/>
                  <a:gd name="connsiteX2" fmla="*/ 494117 w 494117"/>
                  <a:gd name="connsiteY2" fmla="*/ 456016 h 494117"/>
                  <a:gd name="connsiteX3" fmla="*/ 456016 w 494117"/>
                  <a:gd name="connsiteY3" fmla="*/ 494117 h 494117"/>
                  <a:gd name="connsiteX4" fmla="*/ 322664 w 494117"/>
                  <a:gd name="connsiteY4" fmla="*/ 494117 h 494117"/>
                  <a:gd name="connsiteX5" fmla="*/ 303614 w 494117"/>
                  <a:gd name="connsiteY5" fmla="*/ 475067 h 494117"/>
                  <a:gd name="connsiteX6" fmla="*/ 322664 w 494117"/>
                  <a:gd name="connsiteY6" fmla="*/ 456016 h 494117"/>
                  <a:gd name="connsiteX7" fmla="*/ 455921 w 494117"/>
                  <a:gd name="connsiteY7" fmla="*/ 456016 h 494117"/>
                  <a:gd name="connsiteX8" fmla="*/ 456016 w 494117"/>
                  <a:gd name="connsiteY8" fmla="*/ 455969 h 494117"/>
                  <a:gd name="connsiteX9" fmla="*/ 456016 w 494117"/>
                  <a:gd name="connsiteY9" fmla="*/ 322664 h 494117"/>
                  <a:gd name="connsiteX10" fmla="*/ 475067 w 494117"/>
                  <a:gd name="connsiteY10" fmla="*/ 303614 h 494117"/>
                  <a:gd name="connsiteX11" fmla="*/ 19050 w 494117"/>
                  <a:gd name="connsiteY11" fmla="*/ 303566 h 494117"/>
                  <a:gd name="connsiteX12" fmla="*/ 38101 w 494117"/>
                  <a:gd name="connsiteY12" fmla="*/ 322617 h 494117"/>
                  <a:gd name="connsiteX13" fmla="*/ 38101 w 494117"/>
                  <a:gd name="connsiteY13" fmla="*/ 455874 h 494117"/>
                  <a:gd name="connsiteX14" fmla="*/ 38148 w 494117"/>
                  <a:gd name="connsiteY14" fmla="*/ 455969 h 494117"/>
                  <a:gd name="connsiteX15" fmla="*/ 171453 w 494117"/>
                  <a:gd name="connsiteY15" fmla="*/ 455969 h 494117"/>
                  <a:gd name="connsiteX16" fmla="*/ 190503 w 494117"/>
                  <a:gd name="connsiteY16" fmla="*/ 475019 h 494117"/>
                  <a:gd name="connsiteX17" fmla="*/ 171453 w 494117"/>
                  <a:gd name="connsiteY17" fmla="*/ 494069 h 494117"/>
                  <a:gd name="connsiteX18" fmla="*/ 38101 w 494117"/>
                  <a:gd name="connsiteY18" fmla="*/ 494069 h 494117"/>
                  <a:gd name="connsiteX19" fmla="*/ 0 w 494117"/>
                  <a:gd name="connsiteY19" fmla="*/ 455969 h 494117"/>
                  <a:gd name="connsiteX20" fmla="*/ 0 w 494117"/>
                  <a:gd name="connsiteY20" fmla="*/ 322617 h 494117"/>
                  <a:gd name="connsiteX21" fmla="*/ 19050 w 494117"/>
                  <a:gd name="connsiteY21" fmla="*/ 303566 h 494117"/>
                  <a:gd name="connsiteX22" fmla="*/ 115742 w 494117"/>
                  <a:gd name="connsiteY22" fmla="*/ 133079 h 494117"/>
                  <a:gd name="connsiteX23" fmla="*/ 128256 w 494117"/>
                  <a:gd name="connsiteY23" fmla="*/ 140544 h 494117"/>
                  <a:gd name="connsiteX24" fmla="*/ 198694 w 494117"/>
                  <a:gd name="connsiteY24" fmla="*/ 234652 h 494117"/>
                  <a:gd name="connsiteX25" fmla="*/ 198647 w 494117"/>
                  <a:gd name="connsiteY25" fmla="*/ 257512 h 494117"/>
                  <a:gd name="connsiteX26" fmla="*/ 126494 w 494117"/>
                  <a:gd name="connsiteY26" fmla="*/ 353478 h 494117"/>
                  <a:gd name="connsiteX27" fmla="*/ 111254 w 494117"/>
                  <a:gd name="connsiteY27" fmla="*/ 361098 h 494117"/>
                  <a:gd name="connsiteX28" fmla="*/ 99823 w 494117"/>
                  <a:gd name="connsiteY28" fmla="*/ 357288 h 494117"/>
                  <a:gd name="connsiteX29" fmla="*/ 95966 w 494117"/>
                  <a:gd name="connsiteY29" fmla="*/ 330618 h 494117"/>
                  <a:gd name="connsiteX30" fmla="*/ 159546 w 494117"/>
                  <a:gd name="connsiteY30" fmla="*/ 246082 h 494117"/>
                  <a:gd name="connsiteX31" fmla="*/ 97728 w 494117"/>
                  <a:gd name="connsiteY31" fmla="*/ 163356 h 494117"/>
                  <a:gd name="connsiteX32" fmla="*/ 101586 w 494117"/>
                  <a:gd name="connsiteY32" fmla="*/ 136686 h 494117"/>
                  <a:gd name="connsiteX33" fmla="*/ 115742 w 494117"/>
                  <a:gd name="connsiteY33" fmla="*/ 133079 h 494117"/>
                  <a:gd name="connsiteX34" fmla="*/ 314579 w 494117"/>
                  <a:gd name="connsiteY34" fmla="*/ 133076 h 494117"/>
                  <a:gd name="connsiteX35" fmla="*/ 327089 w 494117"/>
                  <a:gd name="connsiteY35" fmla="*/ 140541 h 494117"/>
                  <a:gd name="connsiteX36" fmla="*/ 397508 w 494117"/>
                  <a:gd name="connsiteY36" fmla="*/ 234743 h 494117"/>
                  <a:gd name="connsiteX37" fmla="*/ 397461 w 494117"/>
                  <a:gd name="connsiteY37" fmla="*/ 257603 h 494117"/>
                  <a:gd name="connsiteX38" fmla="*/ 325327 w 494117"/>
                  <a:gd name="connsiteY38" fmla="*/ 353568 h 494117"/>
                  <a:gd name="connsiteX39" fmla="*/ 309948 w 494117"/>
                  <a:gd name="connsiteY39" fmla="*/ 361093 h 494117"/>
                  <a:gd name="connsiteX40" fmla="*/ 298521 w 494117"/>
                  <a:gd name="connsiteY40" fmla="*/ 357283 h 494117"/>
                  <a:gd name="connsiteX41" fmla="*/ 294808 w 494117"/>
                  <a:gd name="connsiteY41" fmla="*/ 330613 h 494117"/>
                  <a:gd name="connsiteX42" fmla="*/ 358370 w 494117"/>
                  <a:gd name="connsiteY42" fmla="*/ 246078 h 494117"/>
                  <a:gd name="connsiteX43" fmla="*/ 296569 w 494117"/>
                  <a:gd name="connsiteY43" fmla="*/ 163353 h 494117"/>
                  <a:gd name="connsiteX44" fmla="*/ 300426 w 494117"/>
                  <a:gd name="connsiteY44" fmla="*/ 136683 h 494117"/>
                  <a:gd name="connsiteX45" fmla="*/ 314579 w 494117"/>
                  <a:gd name="connsiteY45" fmla="*/ 133076 h 494117"/>
                  <a:gd name="connsiteX46" fmla="*/ 213404 w 494117"/>
                  <a:gd name="connsiteY46" fmla="*/ 133076 h 494117"/>
                  <a:gd name="connsiteX47" fmla="*/ 225920 w 494117"/>
                  <a:gd name="connsiteY47" fmla="*/ 140541 h 494117"/>
                  <a:gd name="connsiteX48" fmla="*/ 296321 w 494117"/>
                  <a:gd name="connsiteY48" fmla="*/ 234742 h 494117"/>
                  <a:gd name="connsiteX49" fmla="*/ 296178 w 494117"/>
                  <a:gd name="connsiteY49" fmla="*/ 257506 h 494117"/>
                  <a:gd name="connsiteX50" fmla="*/ 224015 w 494117"/>
                  <a:gd name="connsiteY50" fmla="*/ 353469 h 494117"/>
                  <a:gd name="connsiteX51" fmla="*/ 208772 w 494117"/>
                  <a:gd name="connsiteY51" fmla="*/ 361089 h 494117"/>
                  <a:gd name="connsiteX52" fmla="*/ 197340 w 494117"/>
                  <a:gd name="connsiteY52" fmla="*/ 357279 h 494117"/>
                  <a:gd name="connsiteX53" fmla="*/ 193625 w 494117"/>
                  <a:gd name="connsiteY53" fmla="*/ 330609 h 494117"/>
                  <a:gd name="connsiteX54" fmla="*/ 257215 w 494117"/>
                  <a:gd name="connsiteY54" fmla="*/ 246076 h 494117"/>
                  <a:gd name="connsiteX55" fmla="*/ 195387 w 494117"/>
                  <a:gd name="connsiteY55" fmla="*/ 163353 h 494117"/>
                  <a:gd name="connsiteX56" fmla="*/ 199246 w 494117"/>
                  <a:gd name="connsiteY56" fmla="*/ 136683 h 494117"/>
                  <a:gd name="connsiteX57" fmla="*/ 213404 w 494117"/>
                  <a:gd name="connsiteY57" fmla="*/ 133076 h 494117"/>
                  <a:gd name="connsiteX58" fmla="*/ 322664 w 494117"/>
                  <a:gd name="connsiteY58" fmla="*/ 0 h 494117"/>
                  <a:gd name="connsiteX59" fmla="*/ 456016 w 494117"/>
                  <a:gd name="connsiteY59" fmla="*/ 0 h 494117"/>
                  <a:gd name="connsiteX60" fmla="*/ 494117 w 494117"/>
                  <a:gd name="connsiteY60" fmla="*/ 38101 h 494117"/>
                  <a:gd name="connsiteX61" fmla="*/ 494117 w 494117"/>
                  <a:gd name="connsiteY61" fmla="*/ 171453 h 494117"/>
                  <a:gd name="connsiteX62" fmla="*/ 475067 w 494117"/>
                  <a:gd name="connsiteY62" fmla="*/ 190503 h 494117"/>
                  <a:gd name="connsiteX63" fmla="*/ 456016 w 494117"/>
                  <a:gd name="connsiteY63" fmla="*/ 171453 h 494117"/>
                  <a:gd name="connsiteX64" fmla="*/ 456016 w 494117"/>
                  <a:gd name="connsiteY64" fmla="*/ 38148 h 494117"/>
                  <a:gd name="connsiteX65" fmla="*/ 455921 w 494117"/>
                  <a:gd name="connsiteY65" fmla="*/ 38101 h 494117"/>
                  <a:gd name="connsiteX66" fmla="*/ 322664 w 494117"/>
                  <a:gd name="connsiteY66" fmla="*/ 38101 h 494117"/>
                  <a:gd name="connsiteX67" fmla="*/ 303614 w 494117"/>
                  <a:gd name="connsiteY67" fmla="*/ 19050 h 494117"/>
                  <a:gd name="connsiteX68" fmla="*/ 322664 w 494117"/>
                  <a:gd name="connsiteY68" fmla="*/ 0 h 494117"/>
                  <a:gd name="connsiteX69" fmla="*/ 38101 w 494117"/>
                  <a:gd name="connsiteY69" fmla="*/ 0 h 494117"/>
                  <a:gd name="connsiteX70" fmla="*/ 171453 w 494117"/>
                  <a:gd name="connsiteY70" fmla="*/ 0 h 494117"/>
                  <a:gd name="connsiteX71" fmla="*/ 190503 w 494117"/>
                  <a:gd name="connsiteY71" fmla="*/ 19050 h 494117"/>
                  <a:gd name="connsiteX72" fmla="*/ 171453 w 494117"/>
                  <a:gd name="connsiteY72" fmla="*/ 38101 h 494117"/>
                  <a:gd name="connsiteX73" fmla="*/ 38148 w 494117"/>
                  <a:gd name="connsiteY73" fmla="*/ 38101 h 494117"/>
                  <a:gd name="connsiteX74" fmla="*/ 38101 w 494117"/>
                  <a:gd name="connsiteY74" fmla="*/ 38148 h 494117"/>
                  <a:gd name="connsiteX75" fmla="*/ 38101 w 494117"/>
                  <a:gd name="connsiteY75" fmla="*/ 171453 h 494117"/>
                  <a:gd name="connsiteX76" fmla="*/ 19050 w 494117"/>
                  <a:gd name="connsiteY76" fmla="*/ 190503 h 494117"/>
                  <a:gd name="connsiteX77" fmla="*/ 0 w 494117"/>
                  <a:gd name="connsiteY77" fmla="*/ 171453 h 494117"/>
                  <a:gd name="connsiteX78" fmla="*/ 0 w 494117"/>
                  <a:gd name="connsiteY78" fmla="*/ 38101 h 494117"/>
                  <a:gd name="connsiteX79" fmla="*/ 38101 w 494117"/>
                  <a:gd name="connsiteY79" fmla="*/ 0 h 49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94117" h="494117">
                    <a:moveTo>
                      <a:pt x="475067" y="303614"/>
                    </a:moveTo>
                    <a:cubicBezTo>
                      <a:pt x="485592" y="303614"/>
                      <a:pt x="494117" y="312091"/>
                      <a:pt x="494117" y="322664"/>
                    </a:cubicBezTo>
                    <a:lnTo>
                      <a:pt x="494117" y="456016"/>
                    </a:lnTo>
                    <a:cubicBezTo>
                      <a:pt x="494117" y="476972"/>
                      <a:pt x="476972" y="494117"/>
                      <a:pt x="456016" y="494117"/>
                    </a:cubicBezTo>
                    <a:lnTo>
                      <a:pt x="322664" y="494117"/>
                    </a:lnTo>
                    <a:cubicBezTo>
                      <a:pt x="312092" y="494117"/>
                      <a:pt x="303614" y="485592"/>
                      <a:pt x="303614" y="475067"/>
                    </a:cubicBezTo>
                    <a:cubicBezTo>
                      <a:pt x="303614" y="464541"/>
                      <a:pt x="312092" y="456016"/>
                      <a:pt x="322664" y="456016"/>
                    </a:cubicBezTo>
                    <a:lnTo>
                      <a:pt x="455921" y="456016"/>
                    </a:lnTo>
                    <a:lnTo>
                      <a:pt x="456016" y="455969"/>
                    </a:lnTo>
                    <a:lnTo>
                      <a:pt x="456016" y="322664"/>
                    </a:lnTo>
                    <a:cubicBezTo>
                      <a:pt x="456016" y="312091"/>
                      <a:pt x="464494" y="303614"/>
                      <a:pt x="475067" y="303614"/>
                    </a:cubicBezTo>
                    <a:close/>
                    <a:moveTo>
                      <a:pt x="19050" y="303566"/>
                    </a:moveTo>
                    <a:cubicBezTo>
                      <a:pt x="29576" y="303566"/>
                      <a:pt x="38101" y="312044"/>
                      <a:pt x="38101" y="322617"/>
                    </a:cubicBezTo>
                    <a:lnTo>
                      <a:pt x="38101" y="455874"/>
                    </a:lnTo>
                    <a:cubicBezTo>
                      <a:pt x="38101" y="455969"/>
                      <a:pt x="38148" y="455969"/>
                      <a:pt x="38148" y="455969"/>
                    </a:cubicBezTo>
                    <a:lnTo>
                      <a:pt x="171453" y="455969"/>
                    </a:lnTo>
                    <a:cubicBezTo>
                      <a:pt x="181978" y="455969"/>
                      <a:pt x="190503" y="464446"/>
                      <a:pt x="190503" y="475019"/>
                    </a:cubicBezTo>
                    <a:cubicBezTo>
                      <a:pt x="190503" y="485544"/>
                      <a:pt x="181978" y="494069"/>
                      <a:pt x="171453" y="494069"/>
                    </a:cubicBezTo>
                    <a:lnTo>
                      <a:pt x="38101" y="494069"/>
                    </a:lnTo>
                    <a:cubicBezTo>
                      <a:pt x="17145" y="494069"/>
                      <a:pt x="0" y="476924"/>
                      <a:pt x="0" y="455969"/>
                    </a:cubicBezTo>
                    <a:lnTo>
                      <a:pt x="0" y="322617"/>
                    </a:lnTo>
                    <a:cubicBezTo>
                      <a:pt x="0" y="312044"/>
                      <a:pt x="8477" y="303566"/>
                      <a:pt x="19050" y="303566"/>
                    </a:cubicBezTo>
                    <a:close/>
                    <a:moveTo>
                      <a:pt x="115742" y="133079"/>
                    </a:moveTo>
                    <a:cubicBezTo>
                      <a:pt x="120565" y="133781"/>
                      <a:pt x="125113" y="136329"/>
                      <a:pt x="128256" y="140544"/>
                    </a:cubicBezTo>
                    <a:lnTo>
                      <a:pt x="198694" y="234652"/>
                    </a:lnTo>
                    <a:cubicBezTo>
                      <a:pt x="203743" y="241462"/>
                      <a:pt x="203695" y="250749"/>
                      <a:pt x="198647" y="257512"/>
                    </a:cubicBezTo>
                    <a:lnTo>
                      <a:pt x="126494" y="353478"/>
                    </a:lnTo>
                    <a:cubicBezTo>
                      <a:pt x="122731" y="358479"/>
                      <a:pt x="117016" y="361098"/>
                      <a:pt x="111254" y="361098"/>
                    </a:cubicBezTo>
                    <a:cubicBezTo>
                      <a:pt x="107253" y="361098"/>
                      <a:pt x="103253" y="359860"/>
                      <a:pt x="99823" y="357288"/>
                    </a:cubicBezTo>
                    <a:cubicBezTo>
                      <a:pt x="91346" y="351002"/>
                      <a:pt x="89679" y="339095"/>
                      <a:pt x="95966" y="330618"/>
                    </a:cubicBezTo>
                    <a:lnTo>
                      <a:pt x="159546" y="246082"/>
                    </a:lnTo>
                    <a:lnTo>
                      <a:pt x="97728" y="163356"/>
                    </a:lnTo>
                    <a:cubicBezTo>
                      <a:pt x="91441" y="154879"/>
                      <a:pt x="93156" y="142972"/>
                      <a:pt x="101586" y="136686"/>
                    </a:cubicBezTo>
                    <a:cubicBezTo>
                      <a:pt x="105824" y="133519"/>
                      <a:pt x="110920" y="132376"/>
                      <a:pt x="115742" y="133079"/>
                    </a:cubicBezTo>
                    <a:close/>
                    <a:moveTo>
                      <a:pt x="314579" y="133076"/>
                    </a:moveTo>
                    <a:cubicBezTo>
                      <a:pt x="319399" y="133778"/>
                      <a:pt x="323947" y="136326"/>
                      <a:pt x="327089" y="140541"/>
                    </a:cubicBezTo>
                    <a:lnTo>
                      <a:pt x="397508" y="234743"/>
                    </a:lnTo>
                    <a:cubicBezTo>
                      <a:pt x="402555" y="241506"/>
                      <a:pt x="402507" y="250793"/>
                      <a:pt x="397461" y="257603"/>
                    </a:cubicBezTo>
                    <a:lnTo>
                      <a:pt x="325327" y="353568"/>
                    </a:lnTo>
                    <a:cubicBezTo>
                      <a:pt x="321566" y="358569"/>
                      <a:pt x="315852" y="361188"/>
                      <a:pt x="309948" y="361093"/>
                    </a:cubicBezTo>
                    <a:cubicBezTo>
                      <a:pt x="305997" y="361093"/>
                      <a:pt x="301997" y="359855"/>
                      <a:pt x="298521" y="357283"/>
                    </a:cubicBezTo>
                    <a:cubicBezTo>
                      <a:pt x="290142" y="350996"/>
                      <a:pt x="288475" y="339042"/>
                      <a:pt x="294808" y="330613"/>
                    </a:cubicBezTo>
                    <a:lnTo>
                      <a:pt x="358370" y="246078"/>
                    </a:lnTo>
                    <a:lnTo>
                      <a:pt x="296569" y="163353"/>
                    </a:lnTo>
                    <a:cubicBezTo>
                      <a:pt x="290284" y="154876"/>
                      <a:pt x="291998" y="142970"/>
                      <a:pt x="300426" y="136683"/>
                    </a:cubicBezTo>
                    <a:cubicBezTo>
                      <a:pt x="304663" y="133516"/>
                      <a:pt x="309758" y="132373"/>
                      <a:pt x="314579" y="133076"/>
                    </a:cubicBezTo>
                    <a:close/>
                    <a:moveTo>
                      <a:pt x="213404" y="133076"/>
                    </a:moveTo>
                    <a:cubicBezTo>
                      <a:pt x="218227" y="133778"/>
                      <a:pt x="222776" y="136326"/>
                      <a:pt x="225920" y="140541"/>
                    </a:cubicBezTo>
                    <a:lnTo>
                      <a:pt x="296321" y="234742"/>
                    </a:lnTo>
                    <a:cubicBezTo>
                      <a:pt x="301370" y="241504"/>
                      <a:pt x="301370" y="250791"/>
                      <a:pt x="296178" y="257506"/>
                    </a:cubicBezTo>
                    <a:lnTo>
                      <a:pt x="224015" y="353469"/>
                    </a:lnTo>
                    <a:cubicBezTo>
                      <a:pt x="220299" y="358470"/>
                      <a:pt x="214583" y="361089"/>
                      <a:pt x="208772" y="361089"/>
                    </a:cubicBezTo>
                    <a:cubicBezTo>
                      <a:pt x="204819" y="361089"/>
                      <a:pt x="200818" y="359851"/>
                      <a:pt x="197340" y="357279"/>
                    </a:cubicBezTo>
                    <a:cubicBezTo>
                      <a:pt x="188957" y="350993"/>
                      <a:pt x="187290" y="339039"/>
                      <a:pt x="193625" y="330609"/>
                    </a:cubicBezTo>
                    <a:lnTo>
                      <a:pt x="257215" y="246076"/>
                    </a:lnTo>
                    <a:lnTo>
                      <a:pt x="195387" y="163353"/>
                    </a:lnTo>
                    <a:cubicBezTo>
                      <a:pt x="189100" y="154876"/>
                      <a:pt x="190815" y="142969"/>
                      <a:pt x="199246" y="136683"/>
                    </a:cubicBezTo>
                    <a:cubicBezTo>
                      <a:pt x="203485" y="133516"/>
                      <a:pt x="208582" y="132373"/>
                      <a:pt x="213404" y="133076"/>
                    </a:cubicBezTo>
                    <a:close/>
                    <a:moveTo>
                      <a:pt x="322664" y="0"/>
                    </a:moveTo>
                    <a:lnTo>
                      <a:pt x="456016" y="0"/>
                    </a:lnTo>
                    <a:cubicBezTo>
                      <a:pt x="476972" y="0"/>
                      <a:pt x="494117" y="17145"/>
                      <a:pt x="494117" y="38101"/>
                    </a:cubicBezTo>
                    <a:lnTo>
                      <a:pt x="494117" y="171453"/>
                    </a:lnTo>
                    <a:cubicBezTo>
                      <a:pt x="494117" y="181978"/>
                      <a:pt x="485592" y="190503"/>
                      <a:pt x="475067" y="190503"/>
                    </a:cubicBezTo>
                    <a:cubicBezTo>
                      <a:pt x="464494" y="190503"/>
                      <a:pt x="456016" y="181978"/>
                      <a:pt x="456016" y="171453"/>
                    </a:cubicBezTo>
                    <a:lnTo>
                      <a:pt x="456016" y="38148"/>
                    </a:lnTo>
                    <a:lnTo>
                      <a:pt x="455921" y="38101"/>
                    </a:lnTo>
                    <a:lnTo>
                      <a:pt x="322664" y="38101"/>
                    </a:lnTo>
                    <a:cubicBezTo>
                      <a:pt x="312092" y="38101"/>
                      <a:pt x="303614" y="29576"/>
                      <a:pt x="303614" y="19050"/>
                    </a:cubicBezTo>
                    <a:cubicBezTo>
                      <a:pt x="303614" y="8525"/>
                      <a:pt x="312092" y="0"/>
                      <a:pt x="322664" y="0"/>
                    </a:cubicBezTo>
                    <a:close/>
                    <a:moveTo>
                      <a:pt x="38101" y="0"/>
                    </a:moveTo>
                    <a:lnTo>
                      <a:pt x="171453" y="0"/>
                    </a:lnTo>
                    <a:cubicBezTo>
                      <a:pt x="181978" y="0"/>
                      <a:pt x="190503" y="8525"/>
                      <a:pt x="190503" y="19050"/>
                    </a:cubicBezTo>
                    <a:cubicBezTo>
                      <a:pt x="190503" y="29576"/>
                      <a:pt x="181978" y="38101"/>
                      <a:pt x="171453" y="38101"/>
                    </a:cubicBezTo>
                    <a:lnTo>
                      <a:pt x="38148" y="38101"/>
                    </a:lnTo>
                    <a:lnTo>
                      <a:pt x="38101" y="38148"/>
                    </a:lnTo>
                    <a:lnTo>
                      <a:pt x="38101" y="171453"/>
                    </a:lnTo>
                    <a:cubicBezTo>
                      <a:pt x="38101" y="181978"/>
                      <a:pt x="29576" y="190503"/>
                      <a:pt x="19050" y="190503"/>
                    </a:cubicBezTo>
                    <a:cubicBezTo>
                      <a:pt x="8477" y="190503"/>
                      <a:pt x="0" y="181978"/>
                      <a:pt x="0" y="171453"/>
                    </a:cubicBezTo>
                    <a:lnTo>
                      <a:pt x="0" y="38101"/>
                    </a:lnTo>
                    <a:cubicBezTo>
                      <a:pt x="0" y="17145"/>
                      <a:pt x="17145" y="0"/>
                      <a:pt x="38101" y="0"/>
                    </a:cubicBez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34" name="任意多边形: 形状 34"/>
              <p:cNvSpPr/>
              <p:nvPr>
                <p:custDataLst>
                  <p:tags r:id="rId24"/>
                </p:custDataLst>
              </p:nvPr>
            </p:nvSpPr>
            <p:spPr>
              <a:xfrm rot="21596683">
                <a:off x="1326285" y="2794309"/>
                <a:ext cx="307779" cy="307779"/>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gradFill>
                <a:gsLst>
                  <a:gs pos="18000">
                    <a:srgbClr val="D9D9D9">
                      <a:lumMod val="85000"/>
                    </a:srgbClr>
                  </a:gs>
                  <a:gs pos="35000">
                    <a:srgbClr val="FFFFFF"/>
                  </a:gs>
                  <a:gs pos="50000">
                    <a:srgbClr val="D9D9D9">
                      <a:lumMod val="85000"/>
                    </a:srgbClr>
                  </a:gs>
                </a:gsLst>
                <a:lin ang="2700000" scaled="0"/>
              </a:gradFill>
              <a:ln>
                <a:noFill/>
              </a:ln>
              <a:effectLst>
                <a:outerShdw blurRad="3810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nvGrpSpPr>
              <p:cNvPr id="35" name="组合 34"/>
              <p:cNvGrpSpPr/>
              <p:nvPr/>
            </p:nvGrpSpPr>
            <p:grpSpPr>
              <a:xfrm>
                <a:off x="964141" y="4198931"/>
                <a:ext cx="2571856" cy="626563"/>
                <a:chOff x="964141" y="3562175"/>
                <a:chExt cx="2571856" cy="626563"/>
              </a:xfrm>
            </p:grpSpPr>
            <p:sp>
              <p:nvSpPr>
                <p:cNvPr id="41" name="文本框 7"/>
                <p:cNvSpPr txBox="1"/>
                <p:nvPr>
                  <p:custDataLst>
                    <p:tags r:id="rId25"/>
                  </p:custDataLst>
                </p:nvPr>
              </p:nvSpPr>
              <p:spPr>
                <a:xfrm>
                  <a:off x="1231997" y="3568184"/>
                  <a:ext cx="2304000" cy="620554"/>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12000"/>
                    </a:lnSpc>
                    <a:defRPr/>
                  </a:pPr>
                  <a:r>
                    <a:rPr lang="zh-CN" altLang="en-US" sz="1200" dirty="0"/>
                    <a:t>高效服务科技管理能力初步养成，引育</a:t>
                  </a:r>
                  <a:r>
                    <a:rPr lang="en-US" altLang="zh-CN" sz="1200" dirty="0"/>
                    <a:t>2</a:t>
                  </a:r>
                  <a:r>
                    <a:rPr lang="zh-CN" altLang="en-US" sz="1200" dirty="0" smtClean="0"/>
                    <a:t>个省级重大</a:t>
                  </a:r>
                  <a:r>
                    <a:rPr lang="zh-CN" altLang="en-US" sz="1200" dirty="0"/>
                    <a:t>科技创新示范</a:t>
                  </a:r>
                  <a:r>
                    <a:rPr lang="zh-CN" altLang="en-US" sz="1200" dirty="0" smtClean="0"/>
                    <a:t>平台；</a:t>
                  </a:r>
                  <a:endParaRPr kumimoji="0" lang="zh-CN" altLang="en-US" sz="1200" b="0" i="0" u="none" strike="noStrike" kern="1200" cap="none" spc="0" normalizeH="0" baseline="0" noProof="0" dirty="0">
                    <a:ln>
                      <a:noFill/>
                    </a:ln>
                    <a:solidFill>
                      <a:schemeClr val="dk1">
                        <a:lumMod val="85000"/>
                        <a:lumOff val="15000"/>
                      </a:schemeClr>
                    </a:solidFill>
                    <a:effectLst/>
                    <a:uLnTx/>
                    <a:uFillTx/>
                    <a:latin typeface="+mn-ea"/>
                    <a:cs typeface="+mn-cs"/>
                  </a:endParaRPr>
                </a:p>
              </p:txBody>
            </p:sp>
            <p:grpSp>
              <p:nvGrpSpPr>
                <p:cNvPr id="42" name="组合 41"/>
                <p:cNvGrpSpPr/>
                <p:nvPr/>
              </p:nvGrpSpPr>
              <p:grpSpPr>
                <a:xfrm>
                  <a:off x="964141" y="3562175"/>
                  <a:ext cx="120372" cy="120372"/>
                  <a:chOff x="1220559" y="3368814"/>
                  <a:chExt cx="120372" cy="120372"/>
                </a:xfrm>
              </p:grpSpPr>
              <p:sp>
                <p:nvSpPr>
                  <p:cNvPr id="43" name="椭圆 42"/>
                  <p:cNvSpPr/>
                  <p:nvPr>
                    <p:custDataLst>
                      <p:tags r:id="rId26"/>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44" name="椭圆 43"/>
                  <p:cNvSpPr/>
                  <p:nvPr>
                    <p:custDataLst>
                      <p:tags r:id="rId27"/>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grpSp>
            <p:nvGrpSpPr>
              <p:cNvPr id="36" name="组合 35"/>
              <p:cNvGrpSpPr/>
              <p:nvPr/>
            </p:nvGrpSpPr>
            <p:grpSpPr>
              <a:xfrm>
                <a:off x="964141" y="4863586"/>
                <a:ext cx="2583994" cy="369332"/>
                <a:chOff x="964141" y="3522464"/>
                <a:chExt cx="2583994" cy="369332"/>
              </a:xfrm>
            </p:grpSpPr>
            <p:sp>
              <p:nvSpPr>
                <p:cNvPr id="37" name="文本框 7"/>
                <p:cNvSpPr txBox="1"/>
                <p:nvPr>
                  <p:custDataLst>
                    <p:tags r:id="rId28"/>
                  </p:custDataLst>
                </p:nvPr>
              </p:nvSpPr>
              <p:spPr>
                <a:xfrm>
                  <a:off x="1244135" y="3522464"/>
                  <a:ext cx="2304000" cy="369332"/>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200" dirty="0"/>
                    <a:t>依托科技成果转化推动重点产业发展成效</a:t>
                  </a:r>
                  <a:r>
                    <a:rPr lang="zh-CN" altLang="en-US" sz="1200" dirty="0" smtClean="0"/>
                    <a:t>突出。</a:t>
                  </a:r>
                  <a:endParaRPr lang="zh-CN" altLang="en-US" sz="1200" dirty="0"/>
                </a:p>
              </p:txBody>
            </p:sp>
            <p:grpSp>
              <p:nvGrpSpPr>
                <p:cNvPr id="38" name="组合 37"/>
                <p:cNvGrpSpPr/>
                <p:nvPr/>
              </p:nvGrpSpPr>
              <p:grpSpPr>
                <a:xfrm>
                  <a:off x="964141" y="3562175"/>
                  <a:ext cx="120372" cy="120372"/>
                  <a:chOff x="1220559" y="3368814"/>
                  <a:chExt cx="120372" cy="120372"/>
                </a:xfrm>
              </p:grpSpPr>
              <p:sp>
                <p:nvSpPr>
                  <p:cNvPr id="39" name="椭圆 38"/>
                  <p:cNvSpPr/>
                  <p:nvPr>
                    <p:custDataLst>
                      <p:tags r:id="rId29"/>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40" name="椭圆 39"/>
                  <p:cNvSpPr/>
                  <p:nvPr>
                    <p:custDataLst>
                      <p:tags r:id="rId30"/>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grpSp>
        <p:sp>
          <p:nvSpPr>
            <p:cNvPr id="74" name="文本框 73"/>
            <p:cNvSpPr txBox="1"/>
            <p:nvPr>
              <p:custDataLst>
                <p:tags r:id="rId31"/>
              </p:custDataLst>
            </p:nvPr>
          </p:nvSpPr>
          <p:spPr>
            <a:xfrm>
              <a:off x="5768376" y="2480233"/>
              <a:ext cx="1732378" cy="3759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vert="horz" wrap="square" lIns="57150" tIns="57150" rIns="57150" bIns="57150" numCol="1" spcCol="1270" anchor="ctr" anchorCtr="0" forceAA="0">
              <a:noAutofit/>
            </a:bodyPr>
            <a:lstStyle/>
            <a:p>
              <a:pPr algn="ctr" defTabSz="666750">
                <a:lnSpc>
                  <a:spcPct val="150000"/>
                </a:lnSpc>
                <a:spcBef>
                  <a:spcPct val="0"/>
                </a:spcBef>
                <a:spcAft>
                  <a:spcPct val="35000"/>
                </a:spcAft>
              </a:pPr>
              <a:r>
                <a:rPr lang="en-US" altLang="zh-CN" sz="2400" dirty="0" smtClean="0">
                  <a:solidFill>
                    <a:schemeClr val="accent3">
                      <a:lumMod val="75000"/>
                    </a:schemeClr>
                  </a:solidFill>
                </a:rPr>
                <a:t>2028</a:t>
              </a:r>
              <a:r>
                <a:rPr lang="zh-CN" altLang="en-US" sz="2400" dirty="0" smtClean="0">
                  <a:solidFill>
                    <a:schemeClr val="accent3">
                      <a:lumMod val="75000"/>
                    </a:schemeClr>
                  </a:solidFill>
                </a:rPr>
                <a:t>年底</a:t>
              </a:r>
              <a:endParaRPr lang="en-US" altLang="zh-CN" sz="2400" dirty="0">
                <a:solidFill>
                  <a:schemeClr val="accent3">
                    <a:lumMod val="75000"/>
                  </a:schemeClr>
                </a:solidFill>
              </a:endParaRPr>
            </a:p>
          </p:txBody>
        </p:sp>
      </p:grpSp>
      <p:grpSp>
        <p:nvGrpSpPr>
          <p:cNvPr id="77" name="组合 76"/>
          <p:cNvGrpSpPr/>
          <p:nvPr/>
        </p:nvGrpSpPr>
        <p:grpSpPr>
          <a:xfrm>
            <a:off x="8174974" y="1952487"/>
            <a:ext cx="3197044" cy="3919567"/>
            <a:chOff x="8209315" y="2352932"/>
            <a:chExt cx="2885937" cy="3919567"/>
          </a:xfrm>
        </p:grpSpPr>
        <p:grpSp>
          <p:nvGrpSpPr>
            <p:cNvPr id="49" name="组合 48"/>
            <p:cNvGrpSpPr/>
            <p:nvPr/>
          </p:nvGrpSpPr>
          <p:grpSpPr>
            <a:xfrm>
              <a:off x="8209315" y="2352932"/>
              <a:ext cx="2782369" cy="3919567"/>
              <a:chOff x="697796" y="1931477"/>
              <a:chExt cx="3165021" cy="3919567"/>
            </a:xfrm>
          </p:grpSpPr>
          <p:sp>
            <p:nvSpPr>
              <p:cNvPr id="50" name="矩形: 圆角 38"/>
              <p:cNvSpPr/>
              <p:nvPr>
                <p:custDataLst>
                  <p:tags r:id="rId32"/>
                </p:custDataLst>
              </p:nvPr>
            </p:nvSpPr>
            <p:spPr>
              <a:xfrm rot="409421">
                <a:off x="714932" y="1945807"/>
                <a:ext cx="3147885" cy="3905237"/>
              </a:xfrm>
              <a:prstGeom prst="roundRect">
                <a:avLst>
                  <a:gd name="adj" fmla="val 8509"/>
                </a:avLst>
              </a:prstGeom>
              <a:gradFill>
                <a:gsLst>
                  <a:gs pos="0">
                    <a:schemeClr val="accent3">
                      <a:lumMod val="75000"/>
                    </a:schemeClr>
                  </a:gs>
                  <a:gs pos="100000">
                    <a:schemeClr val="bg1">
                      <a:alpha val="19000"/>
                    </a:schemeClr>
                  </a:gs>
                  <a:gs pos="47000">
                    <a:schemeClr val="accent3"/>
                  </a:gs>
                </a:gsLst>
                <a:path path="circle">
                  <a:fillToRect t="100000" r="100000"/>
                </a:path>
              </a:gradFill>
              <a:ln>
                <a:noFill/>
              </a:ln>
              <a:effectLst>
                <a:outerShdw blurRad="139700" algn="ctr" rotWithShape="0">
                  <a:schemeClr val="accent1">
                    <a:alpha val="40000"/>
                    <a:lumMod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OPPOSans B" panose="00020600040101010101" charset="-122"/>
                  <a:ea typeface="OPPOSans B" panose="00020600040101010101" charset="-122"/>
                  <a:cs typeface="+mn-cs"/>
                </a:endParaRPr>
              </a:p>
            </p:txBody>
          </p:sp>
          <p:sp>
            <p:nvSpPr>
              <p:cNvPr id="51" name="矩形: 圆角 5"/>
              <p:cNvSpPr/>
              <p:nvPr>
                <p:custDataLst>
                  <p:tags r:id="rId33"/>
                </p:custDataLst>
              </p:nvPr>
            </p:nvSpPr>
            <p:spPr>
              <a:xfrm>
                <a:off x="697796" y="1931477"/>
                <a:ext cx="3147885" cy="3905237"/>
              </a:xfrm>
              <a:prstGeom prst="roundRect">
                <a:avLst>
                  <a:gd name="adj" fmla="val 8509"/>
                </a:avLst>
              </a:prstGeom>
              <a:gradFill>
                <a:gsLst>
                  <a:gs pos="9000">
                    <a:schemeClr val="bg1"/>
                  </a:gs>
                  <a:gs pos="59000">
                    <a:srgbClr val="FFFFFF">
                      <a:alpha val="72000"/>
                    </a:srgbClr>
                  </a:gs>
                  <a:gs pos="39000">
                    <a:schemeClr val="bg1">
                      <a:alpha val="73000"/>
                    </a:schemeClr>
                  </a:gs>
                  <a:gs pos="91000">
                    <a:schemeClr val="bg1"/>
                  </a:gs>
                </a:gsLst>
                <a:lin ang="2700000" scaled="0"/>
              </a:gradFill>
              <a:ln>
                <a:noFill/>
              </a:ln>
              <a:effectLst>
                <a:outerShdw blurRad="139700" algn="ctr" rotWithShape="0">
                  <a:schemeClr val="accent1">
                    <a:alpha val="40000"/>
                    <a:lumMod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OPPOSans B" panose="00020600040101010101" charset="-122"/>
                  <a:ea typeface="OPPOSans B" panose="00020600040101010101" charset="-122"/>
                  <a:cs typeface="+mn-cs"/>
                </a:endParaRPr>
              </a:p>
            </p:txBody>
          </p:sp>
          <p:sp>
            <p:nvSpPr>
              <p:cNvPr id="52" name="任意多边形: 形状 33"/>
              <p:cNvSpPr/>
              <p:nvPr>
                <p:custDataLst>
                  <p:tags r:id="rId34"/>
                </p:custDataLst>
              </p:nvPr>
            </p:nvSpPr>
            <p:spPr>
              <a:xfrm>
                <a:off x="947352" y="2480814"/>
                <a:ext cx="690862" cy="624688"/>
              </a:xfrm>
              <a:custGeom>
                <a:avLst/>
                <a:gdLst>
                  <a:gd name="connsiteX0" fmla="*/ 758361 w 1516722"/>
                  <a:gd name="connsiteY0" fmla="*/ 0 h 1516722"/>
                  <a:gd name="connsiteX1" fmla="*/ 1516722 w 1516722"/>
                  <a:gd name="connsiteY1" fmla="*/ 758361 h 1516722"/>
                  <a:gd name="connsiteX2" fmla="*/ 1509094 w 1516722"/>
                  <a:gd name="connsiteY2" fmla="*/ 834034 h 1516722"/>
                  <a:gd name="connsiteX3" fmla="*/ 830024 w 1516722"/>
                  <a:gd name="connsiteY3" fmla="*/ 1513103 h 1516722"/>
                  <a:gd name="connsiteX4" fmla="*/ 758361 w 1516722"/>
                  <a:gd name="connsiteY4" fmla="*/ 1516722 h 1516722"/>
                  <a:gd name="connsiteX5" fmla="*/ 0 w 1516722"/>
                  <a:gd name="connsiteY5" fmla="*/ 758361 h 1516722"/>
                  <a:gd name="connsiteX6" fmla="*/ 758361 w 1516722"/>
                  <a:gd name="connsiteY6" fmla="*/ 0 h 1516722"/>
                  <a:gd name="connsiteX0-1" fmla="*/ 758361 w 1516722"/>
                  <a:gd name="connsiteY0-2" fmla="*/ 0 h 1516722"/>
                  <a:gd name="connsiteX1-3" fmla="*/ 1516722 w 1516722"/>
                  <a:gd name="connsiteY1-4" fmla="*/ 758361 h 1516722"/>
                  <a:gd name="connsiteX2-5" fmla="*/ 1509094 w 1516722"/>
                  <a:gd name="connsiteY2-6" fmla="*/ 834034 h 1516722"/>
                  <a:gd name="connsiteX3-7" fmla="*/ 867855 w 1516722"/>
                  <a:gd name="connsiteY3-8" fmla="*/ 1475574 h 1516722"/>
                  <a:gd name="connsiteX4-9" fmla="*/ 830024 w 1516722"/>
                  <a:gd name="connsiteY4-10" fmla="*/ 1513103 h 1516722"/>
                  <a:gd name="connsiteX5-11" fmla="*/ 758361 w 1516722"/>
                  <a:gd name="connsiteY5-12" fmla="*/ 1516722 h 1516722"/>
                  <a:gd name="connsiteX6-13" fmla="*/ 0 w 1516722"/>
                  <a:gd name="connsiteY6-14" fmla="*/ 758361 h 1516722"/>
                  <a:gd name="connsiteX7" fmla="*/ 758361 w 1516722"/>
                  <a:gd name="connsiteY7" fmla="*/ 0 h 1516722"/>
                  <a:gd name="connsiteX0-15" fmla="*/ 758361 w 1516722"/>
                  <a:gd name="connsiteY0-16" fmla="*/ 0 h 1516722"/>
                  <a:gd name="connsiteX1-17" fmla="*/ 1516722 w 1516722"/>
                  <a:gd name="connsiteY1-18" fmla="*/ 758361 h 1516722"/>
                  <a:gd name="connsiteX2-19" fmla="*/ 1509094 w 1516722"/>
                  <a:gd name="connsiteY2-20" fmla="*/ 834034 h 1516722"/>
                  <a:gd name="connsiteX3-21" fmla="*/ 1472375 w 1516722"/>
                  <a:gd name="connsiteY3-22" fmla="*/ 871054 h 1516722"/>
                  <a:gd name="connsiteX4-23" fmla="*/ 867855 w 1516722"/>
                  <a:gd name="connsiteY4-24" fmla="*/ 1475574 h 1516722"/>
                  <a:gd name="connsiteX5-25" fmla="*/ 830024 w 1516722"/>
                  <a:gd name="connsiteY5-26" fmla="*/ 1513103 h 1516722"/>
                  <a:gd name="connsiteX6-27" fmla="*/ 758361 w 1516722"/>
                  <a:gd name="connsiteY6-28" fmla="*/ 1516722 h 1516722"/>
                  <a:gd name="connsiteX7-29" fmla="*/ 0 w 1516722"/>
                  <a:gd name="connsiteY7-30" fmla="*/ 758361 h 1516722"/>
                  <a:gd name="connsiteX8" fmla="*/ 758361 w 1516722"/>
                  <a:gd name="connsiteY8" fmla="*/ 0 h 1516722"/>
                  <a:gd name="connsiteX0-31" fmla="*/ 758361 w 1516722"/>
                  <a:gd name="connsiteY0-32" fmla="*/ 0 h 1516722"/>
                  <a:gd name="connsiteX1-33" fmla="*/ 1516722 w 1516722"/>
                  <a:gd name="connsiteY1-34" fmla="*/ 758361 h 1516722"/>
                  <a:gd name="connsiteX2-35" fmla="*/ 1507189 w 1516722"/>
                  <a:gd name="connsiteY2-36" fmla="*/ 826414 h 1516722"/>
                  <a:gd name="connsiteX3-37" fmla="*/ 1472375 w 1516722"/>
                  <a:gd name="connsiteY3-38" fmla="*/ 871054 h 1516722"/>
                  <a:gd name="connsiteX4-39" fmla="*/ 867855 w 1516722"/>
                  <a:gd name="connsiteY4-40" fmla="*/ 1475574 h 1516722"/>
                  <a:gd name="connsiteX5-41" fmla="*/ 830024 w 1516722"/>
                  <a:gd name="connsiteY5-42" fmla="*/ 1513103 h 1516722"/>
                  <a:gd name="connsiteX6-43" fmla="*/ 758361 w 1516722"/>
                  <a:gd name="connsiteY6-44" fmla="*/ 1516722 h 1516722"/>
                  <a:gd name="connsiteX7-45" fmla="*/ 0 w 1516722"/>
                  <a:gd name="connsiteY7-46" fmla="*/ 758361 h 1516722"/>
                  <a:gd name="connsiteX8-47" fmla="*/ 758361 w 1516722"/>
                  <a:gd name="connsiteY8-48" fmla="*/ 0 h 1516722"/>
                  <a:gd name="connsiteX0-49" fmla="*/ 758361 w 1516722"/>
                  <a:gd name="connsiteY0-50" fmla="*/ 0 h 1516722"/>
                  <a:gd name="connsiteX1-51" fmla="*/ 1516722 w 1516722"/>
                  <a:gd name="connsiteY1-52" fmla="*/ 758361 h 1516722"/>
                  <a:gd name="connsiteX2-53" fmla="*/ 1507189 w 1516722"/>
                  <a:gd name="connsiteY2-54" fmla="*/ 826414 h 1516722"/>
                  <a:gd name="connsiteX3-55" fmla="*/ 1472375 w 1516722"/>
                  <a:gd name="connsiteY3-56" fmla="*/ 871054 h 1516722"/>
                  <a:gd name="connsiteX4-57" fmla="*/ 867855 w 1516722"/>
                  <a:gd name="connsiteY4-58" fmla="*/ 1475574 h 1516722"/>
                  <a:gd name="connsiteX5-59" fmla="*/ 830024 w 1516722"/>
                  <a:gd name="connsiteY5-60" fmla="*/ 1513103 h 1516722"/>
                  <a:gd name="connsiteX6-61" fmla="*/ 758361 w 1516722"/>
                  <a:gd name="connsiteY6-62" fmla="*/ 1516722 h 1516722"/>
                  <a:gd name="connsiteX7-63" fmla="*/ 0 w 1516722"/>
                  <a:gd name="connsiteY7-64" fmla="*/ 758361 h 1516722"/>
                  <a:gd name="connsiteX8-65" fmla="*/ 758361 w 1516722"/>
                  <a:gd name="connsiteY8-66" fmla="*/ 0 h 1516722"/>
                  <a:gd name="connsiteX0-67" fmla="*/ 758361 w 1516722"/>
                  <a:gd name="connsiteY0-68" fmla="*/ 0 h 1516722"/>
                  <a:gd name="connsiteX1-69" fmla="*/ 1516722 w 1516722"/>
                  <a:gd name="connsiteY1-70" fmla="*/ 758361 h 1516722"/>
                  <a:gd name="connsiteX2-71" fmla="*/ 1507189 w 1516722"/>
                  <a:gd name="connsiteY2-72" fmla="*/ 826414 h 1516722"/>
                  <a:gd name="connsiteX3-73" fmla="*/ 1472375 w 1516722"/>
                  <a:gd name="connsiteY3-74" fmla="*/ 871054 h 1516722"/>
                  <a:gd name="connsiteX4-75" fmla="*/ 867855 w 1516722"/>
                  <a:gd name="connsiteY4-76" fmla="*/ 1475574 h 1516722"/>
                  <a:gd name="connsiteX5-77" fmla="*/ 820499 w 1516722"/>
                  <a:gd name="connsiteY5-78" fmla="*/ 1509293 h 1516722"/>
                  <a:gd name="connsiteX6-79" fmla="*/ 758361 w 1516722"/>
                  <a:gd name="connsiteY6-80" fmla="*/ 1516722 h 1516722"/>
                  <a:gd name="connsiteX7-81" fmla="*/ 0 w 1516722"/>
                  <a:gd name="connsiteY7-82" fmla="*/ 758361 h 1516722"/>
                  <a:gd name="connsiteX8-83" fmla="*/ 758361 w 1516722"/>
                  <a:gd name="connsiteY8-84" fmla="*/ 0 h 1516722"/>
                  <a:gd name="connsiteX0-85" fmla="*/ 758361 w 1516722"/>
                  <a:gd name="connsiteY0-86" fmla="*/ 0 h 1516722"/>
                  <a:gd name="connsiteX1-87" fmla="*/ 1516722 w 1516722"/>
                  <a:gd name="connsiteY1-88" fmla="*/ 758361 h 1516722"/>
                  <a:gd name="connsiteX2-89" fmla="*/ 1507189 w 1516722"/>
                  <a:gd name="connsiteY2-90" fmla="*/ 826414 h 1516722"/>
                  <a:gd name="connsiteX3-91" fmla="*/ 1472375 w 1516722"/>
                  <a:gd name="connsiteY3-92" fmla="*/ 871054 h 1516722"/>
                  <a:gd name="connsiteX4-93" fmla="*/ 867855 w 1516722"/>
                  <a:gd name="connsiteY4-94" fmla="*/ 1475574 h 1516722"/>
                  <a:gd name="connsiteX5-95" fmla="*/ 820499 w 1516722"/>
                  <a:gd name="connsiteY5-96" fmla="*/ 1509293 h 1516722"/>
                  <a:gd name="connsiteX6-97" fmla="*/ 758361 w 1516722"/>
                  <a:gd name="connsiteY6-98" fmla="*/ 1516722 h 1516722"/>
                  <a:gd name="connsiteX7-99" fmla="*/ 0 w 1516722"/>
                  <a:gd name="connsiteY7-100" fmla="*/ 758361 h 1516722"/>
                  <a:gd name="connsiteX8-101" fmla="*/ 758361 w 1516722"/>
                  <a:gd name="connsiteY8-102" fmla="*/ 0 h 151672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 ang="0">
                    <a:pos x="connsiteX8-47" y="connsiteY8-48"/>
                  </a:cxn>
                </a:cxnLst>
                <a:rect l="l" t="t" r="r" b="b"/>
                <a:pathLst>
                  <a:path w="1516722" h="1516722">
                    <a:moveTo>
                      <a:pt x="758361" y="0"/>
                    </a:moveTo>
                    <a:cubicBezTo>
                      <a:pt x="1177192" y="0"/>
                      <a:pt x="1516722" y="339530"/>
                      <a:pt x="1516722" y="758361"/>
                    </a:cubicBezTo>
                    <a:cubicBezTo>
                      <a:pt x="1513544" y="781045"/>
                      <a:pt x="1519892" y="801825"/>
                      <a:pt x="1507189" y="826414"/>
                    </a:cubicBezTo>
                    <a:cubicBezTo>
                      <a:pt x="1494486" y="851003"/>
                      <a:pt x="1484615" y="859561"/>
                      <a:pt x="1472375" y="871054"/>
                    </a:cubicBezTo>
                    <a:lnTo>
                      <a:pt x="867855" y="1475574"/>
                    </a:lnTo>
                    <a:cubicBezTo>
                      <a:pt x="852070" y="1486814"/>
                      <a:pt x="838189" y="1498053"/>
                      <a:pt x="820499" y="1509293"/>
                    </a:cubicBezTo>
                    <a:cubicBezTo>
                      <a:pt x="802809" y="1520533"/>
                      <a:pt x="779074" y="1514246"/>
                      <a:pt x="758361" y="1516722"/>
                    </a:cubicBezTo>
                    <a:cubicBezTo>
                      <a:pt x="339530" y="1516722"/>
                      <a:pt x="0" y="1177192"/>
                      <a:pt x="0" y="758361"/>
                    </a:cubicBezTo>
                    <a:cubicBezTo>
                      <a:pt x="0" y="339530"/>
                      <a:pt x="339530" y="0"/>
                      <a:pt x="758361" y="0"/>
                    </a:cubicBezTo>
                    <a:close/>
                  </a:path>
                </a:pathLst>
              </a:custGeom>
              <a:gradFill flip="none" rotWithShape="0">
                <a:gsLst>
                  <a:gs pos="0">
                    <a:schemeClr val="accent1"/>
                  </a:gs>
                  <a:gs pos="100000">
                    <a:schemeClr val="accent2"/>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OPPOSans R" panose="00020600040101010101" charset="-122"/>
                  <a:ea typeface="OPPOSans R" panose="00020600040101010101" charset="-122"/>
                  <a:cs typeface="+mn-cs"/>
                </a:endParaRPr>
              </a:p>
            </p:txBody>
          </p:sp>
          <p:sp>
            <p:nvSpPr>
              <p:cNvPr id="53" name="文本框 40"/>
              <p:cNvSpPr txBox="1"/>
              <p:nvPr>
                <p:custDataLst>
                  <p:tags r:id="rId35"/>
                </p:custDataLst>
              </p:nvPr>
            </p:nvSpPr>
            <p:spPr>
              <a:xfrm>
                <a:off x="1773486" y="2606183"/>
                <a:ext cx="1548501" cy="30777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000" b="1" dirty="0">
                    <a:latin typeface="方正小标宋简体" panose="03000509000000000000" pitchFamily="65" charset="-122"/>
                    <a:ea typeface="方正小标宋简体" panose="03000509000000000000" pitchFamily="65" charset="-122"/>
                  </a:rPr>
                  <a:t>标杆示范阶段</a:t>
                </a:r>
                <a:endParaRPr lang="zh-CN" altLang="en-US" sz="2000" b="1" dirty="0">
                  <a:latin typeface="方正小标宋简体" panose="03000509000000000000" pitchFamily="65" charset="-122"/>
                  <a:ea typeface="方正小标宋简体" panose="03000509000000000000" pitchFamily="65" charset="-122"/>
                </a:endParaRPr>
              </a:p>
            </p:txBody>
          </p:sp>
          <p:grpSp>
            <p:nvGrpSpPr>
              <p:cNvPr id="54" name="组合 53"/>
              <p:cNvGrpSpPr/>
              <p:nvPr/>
            </p:nvGrpSpPr>
            <p:grpSpPr>
              <a:xfrm>
                <a:off x="964141" y="3461504"/>
                <a:ext cx="2583994" cy="553998"/>
                <a:chOff x="964141" y="3522464"/>
                <a:chExt cx="2583994" cy="553998"/>
              </a:xfrm>
            </p:grpSpPr>
            <p:sp>
              <p:nvSpPr>
                <p:cNvPr id="67" name="文本框 7"/>
                <p:cNvSpPr txBox="1"/>
                <p:nvPr>
                  <p:custDataLst>
                    <p:tags r:id="rId36"/>
                  </p:custDataLst>
                </p:nvPr>
              </p:nvSpPr>
              <p:spPr>
                <a:xfrm>
                  <a:off x="1244135" y="3522464"/>
                  <a:ext cx="2304000" cy="553998"/>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200" dirty="0"/>
                    <a:t>高端新型智库影响力大幅提升，具备高质量服务省科技厅科技决策和全省科技创新发展能力；</a:t>
                  </a:r>
                  <a:endParaRPr lang="zh-CN" altLang="en-US" sz="1200" dirty="0"/>
                </a:p>
              </p:txBody>
            </p:sp>
            <p:grpSp>
              <p:nvGrpSpPr>
                <p:cNvPr id="68" name="组合 67"/>
                <p:cNvGrpSpPr/>
                <p:nvPr/>
              </p:nvGrpSpPr>
              <p:grpSpPr>
                <a:xfrm>
                  <a:off x="964141" y="3562175"/>
                  <a:ext cx="120372" cy="120372"/>
                  <a:chOff x="1220559" y="3368814"/>
                  <a:chExt cx="120372" cy="120372"/>
                </a:xfrm>
              </p:grpSpPr>
              <p:sp>
                <p:nvSpPr>
                  <p:cNvPr id="69" name="椭圆 68"/>
                  <p:cNvSpPr/>
                  <p:nvPr>
                    <p:custDataLst>
                      <p:tags r:id="rId37"/>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70" name="椭圆 69"/>
                  <p:cNvSpPr/>
                  <p:nvPr>
                    <p:custDataLst>
                      <p:tags r:id="rId38"/>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sp>
            <p:nvSpPr>
              <p:cNvPr id="55" name="iconfont-10050-4739863"/>
              <p:cNvSpPr>
                <a:spLocks noChangeAspect="1"/>
              </p:cNvSpPr>
              <p:nvPr>
                <p:custDataLst>
                  <p:tags r:id="rId39"/>
                </p:custDataLst>
              </p:nvPr>
            </p:nvSpPr>
            <p:spPr>
              <a:xfrm>
                <a:off x="1166784" y="2634071"/>
                <a:ext cx="252000" cy="252000"/>
              </a:xfrm>
              <a:custGeom>
                <a:avLst/>
                <a:gdLst>
                  <a:gd name="connsiteX0" fmla="*/ 475067 w 494117"/>
                  <a:gd name="connsiteY0" fmla="*/ 303614 h 494117"/>
                  <a:gd name="connsiteX1" fmla="*/ 494117 w 494117"/>
                  <a:gd name="connsiteY1" fmla="*/ 322664 h 494117"/>
                  <a:gd name="connsiteX2" fmla="*/ 494117 w 494117"/>
                  <a:gd name="connsiteY2" fmla="*/ 456016 h 494117"/>
                  <a:gd name="connsiteX3" fmla="*/ 456016 w 494117"/>
                  <a:gd name="connsiteY3" fmla="*/ 494117 h 494117"/>
                  <a:gd name="connsiteX4" fmla="*/ 322664 w 494117"/>
                  <a:gd name="connsiteY4" fmla="*/ 494117 h 494117"/>
                  <a:gd name="connsiteX5" fmla="*/ 303614 w 494117"/>
                  <a:gd name="connsiteY5" fmla="*/ 475067 h 494117"/>
                  <a:gd name="connsiteX6" fmla="*/ 322664 w 494117"/>
                  <a:gd name="connsiteY6" fmla="*/ 456016 h 494117"/>
                  <a:gd name="connsiteX7" fmla="*/ 455921 w 494117"/>
                  <a:gd name="connsiteY7" fmla="*/ 456016 h 494117"/>
                  <a:gd name="connsiteX8" fmla="*/ 456016 w 494117"/>
                  <a:gd name="connsiteY8" fmla="*/ 455969 h 494117"/>
                  <a:gd name="connsiteX9" fmla="*/ 456016 w 494117"/>
                  <a:gd name="connsiteY9" fmla="*/ 322664 h 494117"/>
                  <a:gd name="connsiteX10" fmla="*/ 475067 w 494117"/>
                  <a:gd name="connsiteY10" fmla="*/ 303614 h 494117"/>
                  <a:gd name="connsiteX11" fmla="*/ 19050 w 494117"/>
                  <a:gd name="connsiteY11" fmla="*/ 303566 h 494117"/>
                  <a:gd name="connsiteX12" fmla="*/ 38101 w 494117"/>
                  <a:gd name="connsiteY12" fmla="*/ 322617 h 494117"/>
                  <a:gd name="connsiteX13" fmla="*/ 38101 w 494117"/>
                  <a:gd name="connsiteY13" fmla="*/ 455874 h 494117"/>
                  <a:gd name="connsiteX14" fmla="*/ 38148 w 494117"/>
                  <a:gd name="connsiteY14" fmla="*/ 455969 h 494117"/>
                  <a:gd name="connsiteX15" fmla="*/ 171453 w 494117"/>
                  <a:gd name="connsiteY15" fmla="*/ 455969 h 494117"/>
                  <a:gd name="connsiteX16" fmla="*/ 190503 w 494117"/>
                  <a:gd name="connsiteY16" fmla="*/ 475019 h 494117"/>
                  <a:gd name="connsiteX17" fmla="*/ 171453 w 494117"/>
                  <a:gd name="connsiteY17" fmla="*/ 494069 h 494117"/>
                  <a:gd name="connsiteX18" fmla="*/ 38101 w 494117"/>
                  <a:gd name="connsiteY18" fmla="*/ 494069 h 494117"/>
                  <a:gd name="connsiteX19" fmla="*/ 0 w 494117"/>
                  <a:gd name="connsiteY19" fmla="*/ 455969 h 494117"/>
                  <a:gd name="connsiteX20" fmla="*/ 0 w 494117"/>
                  <a:gd name="connsiteY20" fmla="*/ 322617 h 494117"/>
                  <a:gd name="connsiteX21" fmla="*/ 19050 w 494117"/>
                  <a:gd name="connsiteY21" fmla="*/ 303566 h 494117"/>
                  <a:gd name="connsiteX22" fmla="*/ 115742 w 494117"/>
                  <a:gd name="connsiteY22" fmla="*/ 133079 h 494117"/>
                  <a:gd name="connsiteX23" fmla="*/ 128256 w 494117"/>
                  <a:gd name="connsiteY23" fmla="*/ 140544 h 494117"/>
                  <a:gd name="connsiteX24" fmla="*/ 198694 w 494117"/>
                  <a:gd name="connsiteY24" fmla="*/ 234652 h 494117"/>
                  <a:gd name="connsiteX25" fmla="*/ 198647 w 494117"/>
                  <a:gd name="connsiteY25" fmla="*/ 257512 h 494117"/>
                  <a:gd name="connsiteX26" fmla="*/ 126494 w 494117"/>
                  <a:gd name="connsiteY26" fmla="*/ 353478 h 494117"/>
                  <a:gd name="connsiteX27" fmla="*/ 111254 w 494117"/>
                  <a:gd name="connsiteY27" fmla="*/ 361098 h 494117"/>
                  <a:gd name="connsiteX28" fmla="*/ 99823 w 494117"/>
                  <a:gd name="connsiteY28" fmla="*/ 357288 h 494117"/>
                  <a:gd name="connsiteX29" fmla="*/ 95966 w 494117"/>
                  <a:gd name="connsiteY29" fmla="*/ 330618 h 494117"/>
                  <a:gd name="connsiteX30" fmla="*/ 159546 w 494117"/>
                  <a:gd name="connsiteY30" fmla="*/ 246082 h 494117"/>
                  <a:gd name="connsiteX31" fmla="*/ 97728 w 494117"/>
                  <a:gd name="connsiteY31" fmla="*/ 163356 h 494117"/>
                  <a:gd name="connsiteX32" fmla="*/ 101586 w 494117"/>
                  <a:gd name="connsiteY32" fmla="*/ 136686 h 494117"/>
                  <a:gd name="connsiteX33" fmla="*/ 115742 w 494117"/>
                  <a:gd name="connsiteY33" fmla="*/ 133079 h 494117"/>
                  <a:gd name="connsiteX34" fmla="*/ 314579 w 494117"/>
                  <a:gd name="connsiteY34" fmla="*/ 133076 h 494117"/>
                  <a:gd name="connsiteX35" fmla="*/ 327089 w 494117"/>
                  <a:gd name="connsiteY35" fmla="*/ 140541 h 494117"/>
                  <a:gd name="connsiteX36" fmla="*/ 397508 w 494117"/>
                  <a:gd name="connsiteY36" fmla="*/ 234743 h 494117"/>
                  <a:gd name="connsiteX37" fmla="*/ 397461 w 494117"/>
                  <a:gd name="connsiteY37" fmla="*/ 257603 h 494117"/>
                  <a:gd name="connsiteX38" fmla="*/ 325327 w 494117"/>
                  <a:gd name="connsiteY38" fmla="*/ 353568 h 494117"/>
                  <a:gd name="connsiteX39" fmla="*/ 309948 w 494117"/>
                  <a:gd name="connsiteY39" fmla="*/ 361093 h 494117"/>
                  <a:gd name="connsiteX40" fmla="*/ 298521 w 494117"/>
                  <a:gd name="connsiteY40" fmla="*/ 357283 h 494117"/>
                  <a:gd name="connsiteX41" fmla="*/ 294808 w 494117"/>
                  <a:gd name="connsiteY41" fmla="*/ 330613 h 494117"/>
                  <a:gd name="connsiteX42" fmla="*/ 358370 w 494117"/>
                  <a:gd name="connsiteY42" fmla="*/ 246078 h 494117"/>
                  <a:gd name="connsiteX43" fmla="*/ 296569 w 494117"/>
                  <a:gd name="connsiteY43" fmla="*/ 163353 h 494117"/>
                  <a:gd name="connsiteX44" fmla="*/ 300426 w 494117"/>
                  <a:gd name="connsiteY44" fmla="*/ 136683 h 494117"/>
                  <a:gd name="connsiteX45" fmla="*/ 314579 w 494117"/>
                  <a:gd name="connsiteY45" fmla="*/ 133076 h 494117"/>
                  <a:gd name="connsiteX46" fmla="*/ 213404 w 494117"/>
                  <a:gd name="connsiteY46" fmla="*/ 133076 h 494117"/>
                  <a:gd name="connsiteX47" fmla="*/ 225920 w 494117"/>
                  <a:gd name="connsiteY47" fmla="*/ 140541 h 494117"/>
                  <a:gd name="connsiteX48" fmla="*/ 296321 w 494117"/>
                  <a:gd name="connsiteY48" fmla="*/ 234742 h 494117"/>
                  <a:gd name="connsiteX49" fmla="*/ 296178 w 494117"/>
                  <a:gd name="connsiteY49" fmla="*/ 257506 h 494117"/>
                  <a:gd name="connsiteX50" fmla="*/ 224015 w 494117"/>
                  <a:gd name="connsiteY50" fmla="*/ 353469 h 494117"/>
                  <a:gd name="connsiteX51" fmla="*/ 208772 w 494117"/>
                  <a:gd name="connsiteY51" fmla="*/ 361089 h 494117"/>
                  <a:gd name="connsiteX52" fmla="*/ 197340 w 494117"/>
                  <a:gd name="connsiteY52" fmla="*/ 357279 h 494117"/>
                  <a:gd name="connsiteX53" fmla="*/ 193625 w 494117"/>
                  <a:gd name="connsiteY53" fmla="*/ 330609 h 494117"/>
                  <a:gd name="connsiteX54" fmla="*/ 257215 w 494117"/>
                  <a:gd name="connsiteY54" fmla="*/ 246076 h 494117"/>
                  <a:gd name="connsiteX55" fmla="*/ 195387 w 494117"/>
                  <a:gd name="connsiteY55" fmla="*/ 163353 h 494117"/>
                  <a:gd name="connsiteX56" fmla="*/ 199246 w 494117"/>
                  <a:gd name="connsiteY56" fmla="*/ 136683 h 494117"/>
                  <a:gd name="connsiteX57" fmla="*/ 213404 w 494117"/>
                  <a:gd name="connsiteY57" fmla="*/ 133076 h 494117"/>
                  <a:gd name="connsiteX58" fmla="*/ 322664 w 494117"/>
                  <a:gd name="connsiteY58" fmla="*/ 0 h 494117"/>
                  <a:gd name="connsiteX59" fmla="*/ 456016 w 494117"/>
                  <a:gd name="connsiteY59" fmla="*/ 0 h 494117"/>
                  <a:gd name="connsiteX60" fmla="*/ 494117 w 494117"/>
                  <a:gd name="connsiteY60" fmla="*/ 38101 h 494117"/>
                  <a:gd name="connsiteX61" fmla="*/ 494117 w 494117"/>
                  <a:gd name="connsiteY61" fmla="*/ 171453 h 494117"/>
                  <a:gd name="connsiteX62" fmla="*/ 475067 w 494117"/>
                  <a:gd name="connsiteY62" fmla="*/ 190503 h 494117"/>
                  <a:gd name="connsiteX63" fmla="*/ 456016 w 494117"/>
                  <a:gd name="connsiteY63" fmla="*/ 171453 h 494117"/>
                  <a:gd name="connsiteX64" fmla="*/ 456016 w 494117"/>
                  <a:gd name="connsiteY64" fmla="*/ 38148 h 494117"/>
                  <a:gd name="connsiteX65" fmla="*/ 455921 w 494117"/>
                  <a:gd name="connsiteY65" fmla="*/ 38101 h 494117"/>
                  <a:gd name="connsiteX66" fmla="*/ 322664 w 494117"/>
                  <a:gd name="connsiteY66" fmla="*/ 38101 h 494117"/>
                  <a:gd name="connsiteX67" fmla="*/ 303614 w 494117"/>
                  <a:gd name="connsiteY67" fmla="*/ 19050 h 494117"/>
                  <a:gd name="connsiteX68" fmla="*/ 322664 w 494117"/>
                  <a:gd name="connsiteY68" fmla="*/ 0 h 494117"/>
                  <a:gd name="connsiteX69" fmla="*/ 38101 w 494117"/>
                  <a:gd name="connsiteY69" fmla="*/ 0 h 494117"/>
                  <a:gd name="connsiteX70" fmla="*/ 171453 w 494117"/>
                  <a:gd name="connsiteY70" fmla="*/ 0 h 494117"/>
                  <a:gd name="connsiteX71" fmla="*/ 190503 w 494117"/>
                  <a:gd name="connsiteY71" fmla="*/ 19050 h 494117"/>
                  <a:gd name="connsiteX72" fmla="*/ 171453 w 494117"/>
                  <a:gd name="connsiteY72" fmla="*/ 38101 h 494117"/>
                  <a:gd name="connsiteX73" fmla="*/ 38148 w 494117"/>
                  <a:gd name="connsiteY73" fmla="*/ 38101 h 494117"/>
                  <a:gd name="connsiteX74" fmla="*/ 38101 w 494117"/>
                  <a:gd name="connsiteY74" fmla="*/ 38148 h 494117"/>
                  <a:gd name="connsiteX75" fmla="*/ 38101 w 494117"/>
                  <a:gd name="connsiteY75" fmla="*/ 171453 h 494117"/>
                  <a:gd name="connsiteX76" fmla="*/ 19050 w 494117"/>
                  <a:gd name="connsiteY76" fmla="*/ 190503 h 494117"/>
                  <a:gd name="connsiteX77" fmla="*/ 0 w 494117"/>
                  <a:gd name="connsiteY77" fmla="*/ 171453 h 494117"/>
                  <a:gd name="connsiteX78" fmla="*/ 0 w 494117"/>
                  <a:gd name="connsiteY78" fmla="*/ 38101 h 494117"/>
                  <a:gd name="connsiteX79" fmla="*/ 38101 w 494117"/>
                  <a:gd name="connsiteY79" fmla="*/ 0 h 494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494117" h="494117">
                    <a:moveTo>
                      <a:pt x="475067" y="303614"/>
                    </a:moveTo>
                    <a:cubicBezTo>
                      <a:pt x="485592" y="303614"/>
                      <a:pt x="494117" y="312091"/>
                      <a:pt x="494117" y="322664"/>
                    </a:cubicBezTo>
                    <a:lnTo>
                      <a:pt x="494117" y="456016"/>
                    </a:lnTo>
                    <a:cubicBezTo>
                      <a:pt x="494117" y="476972"/>
                      <a:pt x="476972" y="494117"/>
                      <a:pt x="456016" y="494117"/>
                    </a:cubicBezTo>
                    <a:lnTo>
                      <a:pt x="322664" y="494117"/>
                    </a:lnTo>
                    <a:cubicBezTo>
                      <a:pt x="312092" y="494117"/>
                      <a:pt x="303614" y="485592"/>
                      <a:pt x="303614" y="475067"/>
                    </a:cubicBezTo>
                    <a:cubicBezTo>
                      <a:pt x="303614" y="464541"/>
                      <a:pt x="312092" y="456016"/>
                      <a:pt x="322664" y="456016"/>
                    </a:cubicBezTo>
                    <a:lnTo>
                      <a:pt x="455921" y="456016"/>
                    </a:lnTo>
                    <a:lnTo>
                      <a:pt x="456016" y="455969"/>
                    </a:lnTo>
                    <a:lnTo>
                      <a:pt x="456016" y="322664"/>
                    </a:lnTo>
                    <a:cubicBezTo>
                      <a:pt x="456016" y="312091"/>
                      <a:pt x="464494" y="303614"/>
                      <a:pt x="475067" y="303614"/>
                    </a:cubicBezTo>
                    <a:close/>
                    <a:moveTo>
                      <a:pt x="19050" y="303566"/>
                    </a:moveTo>
                    <a:cubicBezTo>
                      <a:pt x="29576" y="303566"/>
                      <a:pt x="38101" y="312044"/>
                      <a:pt x="38101" y="322617"/>
                    </a:cubicBezTo>
                    <a:lnTo>
                      <a:pt x="38101" y="455874"/>
                    </a:lnTo>
                    <a:cubicBezTo>
                      <a:pt x="38101" y="455969"/>
                      <a:pt x="38148" y="455969"/>
                      <a:pt x="38148" y="455969"/>
                    </a:cubicBezTo>
                    <a:lnTo>
                      <a:pt x="171453" y="455969"/>
                    </a:lnTo>
                    <a:cubicBezTo>
                      <a:pt x="181978" y="455969"/>
                      <a:pt x="190503" y="464446"/>
                      <a:pt x="190503" y="475019"/>
                    </a:cubicBezTo>
                    <a:cubicBezTo>
                      <a:pt x="190503" y="485544"/>
                      <a:pt x="181978" y="494069"/>
                      <a:pt x="171453" y="494069"/>
                    </a:cubicBezTo>
                    <a:lnTo>
                      <a:pt x="38101" y="494069"/>
                    </a:lnTo>
                    <a:cubicBezTo>
                      <a:pt x="17145" y="494069"/>
                      <a:pt x="0" y="476924"/>
                      <a:pt x="0" y="455969"/>
                    </a:cubicBezTo>
                    <a:lnTo>
                      <a:pt x="0" y="322617"/>
                    </a:lnTo>
                    <a:cubicBezTo>
                      <a:pt x="0" y="312044"/>
                      <a:pt x="8477" y="303566"/>
                      <a:pt x="19050" y="303566"/>
                    </a:cubicBezTo>
                    <a:close/>
                    <a:moveTo>
                      <a:pt x="115742" y="133079"/>
                    </a:moveTo>
                    <a:cubicBezTo>
                      <a:pt x="120565" y="133781"/>
                      <a:pt x="125113" y="136329"/>
                      <a:pt x="128256" y="140544"/>
                    </a:cubicBezTo>
                    <a:lnTo>
                      <a:pt x="198694" y="234652"/>
                    </a:lnTo>
                    <a:cubicBezTo>
                      <a:pt x="203743" y="241462"/>
                      <a:pt x="203695" y="250749"/>
                      <a:pt x="198647" y="257512"/>
                    </a:cubicBezTo>
                    <a:lnTo>
                      <a:pt x="126494" y="353478"/>
                    </a:lnTo>
                    <a:cubicBezTo>
                      <a:pt x="122731" y="358479"/>
                      <a:pt x="117016" y="361098"/>
                      <a:pt x="111254" y="361098"/>
                    </a:cubicBezTo>
                    <a:cubicBezTo>
                      <a:pt x="107253" y="361098"/>
                      <a:pt x="103253" y="359860"/>
                      <a:pt x="99823" y="357288"/>
                    </a:cubicBezTo>
                    <a:cubicBezTo>
                      <a:pt x="91346" y="351002"/>
                      <a:pt x="89679" y="339095"/>
                      <a:pt x="95966" y="330618"/>
                    </a:cubicBezTo>
                    <a:lnTo>
                      <a:pt x="159546" y="246082"/>
                    </a:lnTo>
                    <a:lnTo>
                      <a:pt x="97728" y="163356"/>
                    </a:lnTo>
                    <a:cubicBezTo>
                      <a:pt x="91441" y="154879"/>
                      <a:pt x="93156" y="142972"/>
                      <a:pt x="101586" y="136686"/>
                    </a:cubicBezTo>
                    <a:cubicBezTo>
                      <a:pt x="105824" y="133519"/>
                      <a:pt x="110920" y="132376"/>
                      <a:pt x="115742" y="133079"/>
                    </a:cubicBezTo>
                    <a:close/>
                    <a:moveTo>
                      <a:pt x="314579" y="133076"/>
                    </a:moveTo>
                    <a:cubicBezTo>
                      <a:pt x="319399" y="133778"/>
                      <a:pt x="323947" y="136326"/>
                      <a:pt x="327089" y="140541"/>
                    </a:cubicBezTo>
                    <a:lnTo>
                      <a:pt x="397508" y="234743"/>
                    </a:lnTo>
                    <a:cubicBezTo>
                      <a:pt x="402555" y="241506"/>
                      <a:pt x="402507" y="250793"/>
                      <a:pt x="397461" y="257603"/>
                    </a:cubicBezTo>
                    <a:lnTo>
                      <a:pt x="325327" y="353568"/>
                    </a:lnTo>
                    <a:cubicBezTo>
                      <a:pt x="321566" y="358569"/>
                      <a:pt x="315852" y="361188"/>
                      <a:pt x="309948" y="361093"/>
                    </a:cubicBezTo>
                    <a:cubicBezTo>
                      <a:pt x="305997" y="361093"/>
                      <a:pt x="301997" y="359855"/>
                      <a:pt x="298521" y="357283"/>
                    </a:cubicBezTo>
                    <a:cubicBezTo>
                      <a:pt x="290142" y="350996"/>
                      <a:pt x="288475" y="339042"/>
                      <a:pt x="294808" y="330613"/>
                    </a:cubicBezTo>
                    <a:lnTo>
                      <a:pt x="358370" y="246078"/>
                    </a:lnTo>
                    <a:lnTo>
                      <a:pt x="296569" y="163353"/>
                    </a:lnTo>
                    <a:cubicBezTo>
                      <a:pt x="290284" y="154876"/>
                      <a:pt x="291998" y="142970"/>
                      <a:pt x="300426" y="136683"/>
                    </a:cubicBezTo>
                    <a:cubicBezTo>
                      <a:pt x="304663" y="133516"/>
                      <a:pt x="309758" y="132373"/>
                      <a:pt x="314579" y="133076"/>
                    </a:cubicBezTo>
                    <a:close/>
                    <a:moveTo>
                      <a:pt x="213404" y="133076"/>
                    </a:moveTo>
                    <a:cubicBezTo>
                      <a:pt x="218227" y="133778"/>
                      <a:pt x="222776" y="136326"/>
                      <a:pt x="225920" y="140541"/>
                    </a:cubicBezTo>
                    <a:lnTo>
                      <a:pt x="296321" y="234742"/>
                    </a:lnTo>
                    <a:cubicBezTo>
                      <a:pt x="301370" y="241504"/>
                      <a:pt x="301370" y="250791"/>
                      <a:pt x="296178" y="257506"/>
                    </a:cubicBezTo>
                    <a:lnTo>
                      <a:pt x="224015" y="353469"/>
                    </a:lnTo>
                    <a:cubicBezTo>
                      <a:pt x="220299" y="358470"/>
                      <a:pt x="214583" y="361089"/>
                      <a:pt x="208772" y="361089"/>
                    </a:cubicBezTo>
                    <a:cubicBezTo>
                      <a:pt x="204819" y="361089"/>
                      <a:pt x="200818" y="359851"/>
                      <a:pt x="197340" y="357279"/>
                    </a:cubicBezTo>
                    <a:cubicBezTo>
                      <a:pt x="188957" y="350993"/>
                      <a:pt x="187290" y="339039"/>
                      <a:pt x="193625" y="330609"/>
                    </a:cubicBezTo>
                    <a:lnTo>
                      <a:pt x="257215" y="246076"/>
                    </a:lnTo>
                    <a:lnTo>
                      <a:pt x="195387" y="163353"/>
                    </a:lnTo>
                    <a:cubicBezTo>
                      <a:pt x="189100" y="154876"/>
                      <a:pt x="190815" y="142969"/>
                      <a:pt x="199246" y="136683"/>
                    </a:cubicBezTo>
                    <a:cubicBezTo>
                      <a:pt x="203485" y="133516"/>
                      <a:pt x="208582" y="132373"/>
                      <a:pt x="213404" y="133076"/>
                    </a:cubicBezTo>
                    <a:close/>
                    <a:moveTo>
                      <a:pt x="322664" y="0"/>
                    </a:moveTo>
                    <a:lnTo>
                      <a:pt x="456016" y="0"/>
                    </a:lnTo>
                    <a:cubicBezTo>
                      <a:pt x="476972" y="0"/>
                      <a:pt x="494117" y="17145"/>
                      <a:pt x="494117" y="38101"/>
                    </a:cubicBezTo>
                    <a:lnTo>
                      <a:pt x="494117" y="171453"/>
                    </a:lnTo>
                    <a:cubicBezTo>
                      <a:pt x="494117" y="181978"/>
                      <a:pt x="485592" y="190503"/>
                      <a:pt x="475067" y="190503"/>
                    </a:cubicBezTo>
                    <a:cubicBezTo>
                      <a:pt x="464494" y="190503"/>
                      <a:pt x="456016" y="181978"/>
                      <a:pt x="456016" y="171453"/>
                    </a:cubicBezTo>
                    <a:lnTo>
                      <a:pt x="456016" y="38148"/>
                    </a:lnTo>
                    <a:lnTo>
                      <a:pt x="455921" y="38101"/>
                    </a:lnTo>
                    <a:lnTo>
                      <a:pt x="322664" y="38101"/>
                    </a:lnTo>
                    <a:cubicBezTo>
                      <a:pt x="312092" y="38101"/>
                      <a:pt x="303614" y="29576"/>
                      <a:pt x="303614" y="19050"/>
                    </a:cubicBezTo>
                    <a:cubicBezTo>
                      <a:pt x="303614" y="8525"/>
                      <a:pt x="312092" y="0"/>
                      <a:pt x="322664" y="0"/>
                    </a:cubicBezTo>
                    <a:close/>
                    <a:moveTo>
                      <a:pt x="38101" y="0"/>
                    </a:moveTo>
                    <a:lnTo>
                      <a:pt x="171453" y="0"/>
                    </a:lnTo>
                    <a:cubicBezTo>
                      <a:pt x="181978" y="0"/>
                      <a:pt x="190503" y="8525"/>
                      <a:pt x="190503" y="19050"/>
                    </a:cubicBezTo>
                    <a:cubicBezTo>
                      <a:pt x="190503" y="29576"/>
                      <a:pt x="181978" y="38101"/>
                      <a:pt x="171453" y="38101"/>
                    </a:cubicBezTo>
                    <a:lnTo>
                      <a:pt x="38148" y="38101"/>
                    </a:lnTo>
                    <a:lnTo>
                      <a:pt x="38101" y="38148"/>
                    </a:lnTo>
                    <a:lnTo>
                      <a:pt x="38101" y="171453"/>
                    </a:lnTo>
                    <a:cubicBezTo>
                      <a:pt x="38101" y="181978"/>
                      <a:pt x="29576" y="190503"/>
                      <a:pt x="19050" y="190503"/>
                    </a:cubicBezTo>
                    <a:cubicBezTo>
                      <a:pt x="8477" y="190503"/>
                      <a:pt x="0" y="181978"/>
                      <a:pt x="0" y="171453"/>
                    </a:cubicBezTo>
                    <a:lnTo>
                      <a:pt x="0" y="38101"/>
                    </a:lnTo>
                    <a:cubicBezTo>
                      <a:pt x="0" y="17145"/>
                      <a:pt x="17145" y="0"/>
                      <a:pt x="38101" y="0"/>
                    </a:cubicBezTo>
                    <a:close/>
                  </a:path>
                </a:pathLst>
              </a:cu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56" name="任意多边形: 形状 34"/>
              <p:cNvSpPr/>
              <p:nvPr>
                <p:custDataLst>
                  <p:tags r:id="rId40"/>
                </p:custDataLst>
              </p:nvPr>
            </p:nvSpPr>
            <p:spPr>
              <a:xfrm rot="21596683">
                <a:off x="1326285" y="2794309"/>
                <a:ext cx="307779" cy="307779"/>
              </a:xfrm>
              <a:custGeom>
                <a:avLst/>
                <a:gdLst>
                  <a:gd name="connsiteX0" fmla="*/ 1849679 w 1849679"/>
                  <a:gd name="connsiteY0" fmla="*/ 0 h 1849680"/>
                  <a:gd name="connsiteX1" fmla="*/ 1754378 w 1849679"/>
                  <a:gd name="connsiteY1" fmla="*/ 122199 h 1849680"/>
                  <a:gd name="connsiteX2" fmla="*/ 1277426 w 1849679"/>
                  <a:gd name="connsiteY2" fmla="*/ 599152 h 1849680"/>
                  <a:gd name="connsiteX3" fmla="*/ 1277426 w 1849679"/>
                  <a:gd name="connsiteY3" fmla="*/ 599153 h 1849680"/>
                  <a:gd name="connsiteX4" fmla="*/ 122199 w 1849679"/>
                  <a:gd name="connsiteY4" fmla="*/ 1754378 h 1849680"/>
                  <a:gd name="connsiteX5" fmla="*/ 0 w 1849679"/>
                  <a:gd name="connsiteY5" fmla="*/ 1849680 h 1849680"/>
                  <a:gd name="connsiteX6" fmla="*/ 206599 w 1849679"/>
                  <a:gd name="connsiteY6" fmla="*/ 1408604 h 1849680"/>
                  <a:gd name="connsiteX7" fmla="*/ 221276 w 1849679"/>
                  <a:gd name="connsiteY7" fmla="*/ 971061 h 1849680"/>
                  <a:gd name="connsiteX8" fmla="*/ 233586 w 1849679"/>
                  <a:gd name="connsiteY8" fmla="*/ 911860 h 1849680"/>
                  <a:gd name="connsiteX9" fmla="*/ 232380 w 1849679"/>
                  <a:gd name="connsiteY9" fmla="*/ 910654 h 1849680"/>
                  <a:gd name="connsiteX10" fmla="*/ 241230 w 1849679"/>
                  <a:gd name="connsiteY10" fmla="*/ 875098 h 1849680"/>
                  <a:gd name="connsiteX11" fmla="*/ 249154 w 1849679"/>
                  <a:gd name="connsiteY11" fmla="*/ 836988 h 1849680"/>
                  <a:gd name="connsiteX12" fmla="*/ 254069 w 1849679"/>
                  <a:gd name="connsiteY12" fmla="*/ 823513 h 1849680"/>
                  <a:gd name="connsiteX13" fmla="*/ 265106 w 1849679"/>
                  <a:gd name="connsiteY13" fmla="*/ 779166 h 1849680"/>
                  <a:gd name="connsiteX14" fmla="*/ 436763 w 1849679"/>
                  <a:gd name="connsiteY14" fmla="*/ 488078 h 1849680"/>
                  <a:gd name="connsiteX15" fmla="*/ 463106 w 1849679"/>
                  <a:gd name="connsiteY15" fmla="*/ 463091 h 1849680"/>
                  <a:gd name="connsiteX16" fmla="*/ 488078 w 1849679"/>
                  <a:gd name="connsiteY16" fmla="*/ 436764 h 1849680"/>
                  <a:gd name="connsiteX17" fmla="*/ 779166 w 1849679"/>
                  <a:gd name="connsiteY17" fmla="*/ 265106 h 1849680"/>
                  <a:gd name="connsiteX18" fmla="*/ 823507 w 1849679"/>
                  <a:gd name="connsiteY18" fmla="*/ 254071 h 1849680"/>
                  <a:gd name="connsiteX19" fmla="*/ 836987 w 1849679"/>
                  <a:gd name="connsiteY19" fmla="*/ 249154 h 1849680"/>
                  <a:gd name="connsiteX20" fmla="*/ 875114 w 1849679"/>
                  <a:gd name="connsiteY20" fmla="*/ 241226 h 1849680"/>
                  <a:gd name="connsiteX21" fmla="*/ 910654 w 1849679"/>
                  <a:gd name="connsiteY21" fmla="*/ 232381 h 1849680"/>
                  <a:gd name="connsiteX22" fmla="*/ 911859 w 1849679"/>
                  <a:gd name="connsiteY22" fmla="*/ 233586 h 1849680"/>
                  <a:gd name="connsiteX23" fmla="*/ 971060 w 1849679"/>
                  <a:gd name="connsiteY23" fmla="*/ 221276 h 1849680"/>
                  <a:gd name="connsiteX24" fmla="*/ 1408603 w 1849679"/>
                  <a:gd name="connsiteY24" fmla="*/ 206599 h 1849680"/>
                  <a:gd name="connsiteX25" fmla="*/ 1849679 w 1849679"/>
                  <a:gd name="connsiteY25" fmla="*/ 0 h 184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49679" h="1849680">
                    <a:moveTo>
                      <a:pt x="1849679" y="0"/>
                    </a:moveTo>
                    <a:cubicBezTo>
                      <a:pt x="1804744" y="67311"/>
                      <a:pt x="1787884" y="90738"/>
                      <a:pt x="1754378" y="122199"/>
                    </a:cubicBezTo>
                    <a:lnTo>
                      <a:pt x="1277426" y="599152"/>
                    </a:lnTo>
                    <a:lnTo>
                      <a:pt x="1277426" y="599153"/>
                    </a:lnTo>
                    <a:lnTo>
                      <a:pt x="122199" y="1754378"/>
                    </a:lnTo>
                    <a:cubicBezTo>
                      <a:pt x="90738" y="1787885"/>
                      <a:pt x="67311" y="1804745"/>
                      <a:pt x="0" y="1849680"/>
                    </a:cubicBezTo>
                    <a:cubicBezTo>
                      <a:pt x="104236" y="1719660"/>
                      <a:pt x="194467" y="1613607"/>
                      <a:pt x="206599" y="1408604"/>
                    </a:cubicBezTo>
                    <a:cubicBezTo>
                      <a:pt x="212666" y="1306102"/>
                      <a:pt x="195961" y="1146644"/>
                      <a:pt x="221276" y="971061"/>
                    </a:cubicBezTo>
                    <a:lnTo>
                      <a:pt x="233586" y="911860"/>
                    </a:lnTo>
                    <a:lnTo>
                      <a:pt x="232380" y="910654"/>
                    </a:lnTo>
                    <a:lnTo>
                      <a:pt x="241230" y="875098"/>
                    </a:lnTo>
                    <a:lnTo>
                      <a:pt x="249154" y="836988"/>
                    </a:lnTo>
                    <a:lnTo>
                      <a:pt x="254069" y="823513"/>
                    </a:lnTo>
                    <a:lnTo>
                      <a:pt x="265106" y="779166"/>
                    </a:lnTo>
                    <a:cubicBezTo>
                      <a:pt x="299827" y="674961"/>
                      <a:pt x="353261" y="575153"/>
                      <a:pt x="436763" y="488078"/>
                    </a:cubicBezTo>
                    <a:lnTo>
                      <a:pt x="463106" y="463091"/>
                    </a:lnTo>
                    <a:lnTo>
                      <a:pt x="488078" y="436764"/>
                    </a:lnTo>
                    <a:cubicBezTo>
                      <a:pt x="575153" y="353262"/>
                      <a:pt x="674961" y="299827"/>
                      <a:pt x="779166" y="265106"/>
                    </a:cubicBezTo>
                    <a:lnTo>
                      <a:pt x="823507" y="254071"/>
                    </a:lnTo>
                    <a:lnTo>
                      <a:pt x="836987" y="249154"/>
                    </a:lnTo>
                    <a:lnTo>
                      <a:pt x="875114" y="241226"/>
                    </a:lnTo>
                    <a:lnTo>
                      <a:pt x="910654" y="232381"/>
                    </a:lnTo>
                    <a:lnTo>
                      <a:pt x="911859" y="233586"/>
                    </a:lnTo>
                    <a:lnTo>
                      <a:pt x="971060" y="221276"/>
                    </a:lnTo>
                    <a:cubicBezTo>
                      <a:pt x="1146643" y="195960"/>
                      <a:pt x="1306101" y="212666"/>
                      <a:pt x="1408603" y="206599"/>
                    </a:cubicBezTo>
                    <a:cubicBezTo>
                      <a:pt x="1613606" y="194467"/>
                      <a:pt x="1719659" y="104236"/>
                      <a:pt x="1849679" y="0"/>
                    </a:cubicBezTo>
                    <a:close/>
                  </a:path>
                </a:pathLst>
              </a:custGeom>
              <a:gradFill>
                <a:gsLst>
                  <a:gs pos="18000">
                    <a:srgbClr val="D9D9D9">
                      <a:lumMod val="85000"/>
                    </a:srgbClr>
                  </a:gs>
                  <a:gs pos="35000">
                    <a:srgbClr val="FFFFFF"/>
                  </a:gs>
                  <a:gs pos="50000">
                    <a:srgbClr val="D9D9D9">
                      <a:lumMod val="85000"/>
                    </a:srgbClr>
                  </a:gs>
                </a:gsLst>
                <a:lin ang="2700000" scaled="0"/>
              </a:gradFill>
              <a:ln>
                <a:noFill/>
              </a:ln>
              <a:effectLst>
                <a:outerShdw blurRad="3810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nvGrpSpPr>
              <p:cNvPr id="57" name="组合 56"/>
              <p:cNvGrpSpPr/>
              <p:nvPr/>
            </p:nvGrpSpPr>
            <p:grpSpPr>
              <a:xfrm>
                <a:off x="964141" y="4159220"/>
                <a:ext cx="2583994" cy="413703"/>
                <a:chOff x="964141" y="3522464"/>
                <a:chExt cx="2583994" cy="413703"/>
              </a:xfrm>
            </p:grpSpPr>
            <p:sp>
              <p:nvSpPr>
                <p:cNvPr id="63" name="文本框 7"/>
                <p:cNvSpPr txBox="1"/>
                <p:nvPr>
                  <p:custDataLst>
                    <p:tags r:id="rId41"/>
                  </p:custDataLst>
                </p:nvPr>
              </p:nvSpPr>
              <p:spPr>
                <a:xfrm>
                  <a:off x="1244135" y="3522464"/>
                  <a:ext cx="2304000" cy="413703"/>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just">
                    <a:lnSpc>
                      <a:spcPct val="112000"/>
                    </a:lnSpc>
                    <a:defRPr/>
                  </a:pPr>
                  <a:r>
                    <a:rPr lang="zh-CN" altLang="en-US" sz="1200" dirty="0"/>
                    <a:t>建成科学系统的科技创新平台体系，具备高水平科技管理支撑能力；</a:t>
                  </a:r>
                  <a:endParaRPr kumimoji="0" lang="zh-CN" altLang="en-US" sz="1200" b="0" i="0" u="none" strike="noStrike" kern="1200" cap="none" spc="0" normalizeH="0" baseline="0" noProof="0" dirty="0">
                    <a:ln>
                      <a:noFill/>
                    </a:ln>
                    <a:solidFill>
                      <a:schemeClr val="dk1">
                        <a:lumMod val="85000"/>
                        <a:lumOff val="15000"/>
                      </a:schemeClr>
                    </a:solidFill>
                    <a:effectLst/>
                    <a:uLnTx/>
                    <a:uFillTx/>
                    <a:latin typeface="+mn-ea"/>
                    <a:cs typeface="+mn-cs"/>
                  </a:endParaRPr>
                </a:p>
              </p:txBody>
            </p:sp>
            <p:grpSp>
              <p:nvGrpSpPr>
                <p:cNvPr id="64" name="组合 63"/>
                <p:cNvGrpSpPr/>
                <p:nvPr/>
              </p:nvGrpSpPr>
              <p:grpSpPr>
                <a:xfrm>
                  <a:off x="964141" y="3562175"/>
                  <a:ext cx="120372" cy="120372"/>
                  <a:chOff x="1220559" y="3368814"/>
                  <a:chExt cx="120372" cy="120372"/>
                </a:xfrm>
              </p:grpSpPr>
              <p:sp>
                <p:nvSpPr>
                  <p:cNvPr id="65" name="椭圆 64"/>
                  <p:cNvSpPr/>
                  <p:nvPr>
                    <p:custDataLst>
                      <p:tags r:id="rId42"/>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66" name="椭圆 65"/>
                  <p:cNvSpPr/>
                  <p:nvPr>
                    <p:custDataLst>
                      <p:tags r:id="rId43"/>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grpSp>
            <p:nvGrpSpPr>
              <p:cNvPr id="58" name="组合 57"/>
              <p:cNvGrpSpPr/>
              <p:nvPr/>
            </p:nvGrpSpPr>
            <p:grpSpPr>
              <a:xfrm>
                <a:off x="964141" y="4863586"/>
                <a:ext cx="2583994" cy="553998"/>
                <a:chOff x="964141" y="3522464"/>
                <a:chExt cx="2583994" cy="553998"/>
              </a:xfrm>
            </p:grpSpPr>
            <p:sp>
              <p:nvSpPr>
                <p:cNvPr id="59" name="文本框 7"/>
                <p:cNvSpPr txBox="1"/>
                <p:nvPr>
                  <p:custDataLst>
                    <p:tags r:id="rId44"/>
                  </p:custDataLst>
                </p:nvPr>
              </p:nvSpPr>
              <p:spPr>
                <a:xfrm>
                  <a:off x="1244135" y="3522464"/>
                  <a:ext cx="2304000" cy="553998"/>
                </a:xfrm>
                <a:prstGeom prst="rect">
                  <a:avLst/>
                </a:prstGeom>
                <a:noFill/>
                <a:effectLst/>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zh-CN" altLang="en-US" sz="1200" dirty="0"/>
                    <a:t>建成科技成果转化服务基地，全面构建研发产业化服务</a:t>
                  </a:r>
                  <a:r>
                    <a:rPr lang="zh-CN" altLang="en-US" sz="1200" dirty="0" smtClean="0"/>
                    <a:t>链条，有力推动新质生产力培育。</a:t>
                  </a:r>
                  <a:endParaRPr lang="zh-CN" altLang="en-US" sz="1200" dirty="0"/>
                </a:p>
              </p:txBody>
            </p:sp>
            <p:grpSp>
              <p:nvGrpSpPr>
                <p:cNvPr id="60" name="组合 59"/>
                <p:cNvGrpSpPr/>
                <p:nvPr/>
              </p:nvGrpSpPr>
              <p:grpSpPr>
                <a:xfrm>
                  <a:off x="964141" y="3562175"/>
                  <a:ext cx="120372" cy="120372"/>
                  <a:chOff x="1220559" y="3368814"/>
                  <a:chExt cx="120372" cy="120372"/>
                </a:xfrm>
              </p:grpSpPr>
              <p:sp>
                <p:nvSpPr>
                  <p:cNvPr id="61" name="椭圆 60"/>
                  <p:cNvSpPr/>
                  <p:nvPr>
                    <p:custDataLst>
                      <p:tags r:id="rId45"/>
                    </p:custDataLst>
                  </p:nvPr>
                </p:nvSpPr>
                <p:spPr>
                  <a:xfrm>
                    <a:off x="1220559" y="3368814"/>
                    <a:ext cx="120372" cy="120372"/>
                  </a:xfrm>
                  <a:prstGeom prst="ellipse">
                    <a:avLst/>
                  </a:prstGeom>
                  <a:solidFill>
                    <a:schemeClr val="accent1">
                      <a:alpha val="70000"/>
                    </a:schemeClr>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62" name="椭圆 61"/>
                  <p:cNvSpPr/>
                  <p:nvPr>
                    <p:custDataLst>
                      <p:tags r:id="rId46"/>
                    </p:custDataLst>
                  </p:nvPr>
                </p:nvSpPr>
                <p:spPr>
                  <a:xfrm>
                    <a:off x="1242277" y="3390532"/>
                    <a:ext cx="76936" cy="76936"/>
                  </a:xfrm>
                  <a:prstGeom prst="ellipse">
                    <a:avLst/>
                  </a:prstGeom>
                  <a:solidFill>
                    <a:schemeClr val="accent1"/>
                  </a:solidFill>
                  <a:ln w="25400">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grpSp>
          </p:grpSp>
        </p:grpSp>
        <p:sp>
          <p:nvSpPr>
            <p:cNvPr id="75" name="文本框 74"/>
            <p:cNvSpPr txBox="1"/>
            <p:nvPr>
              <p:custDataLst>
                <p:tags r:id="rId47"/>
              </p:custDataLst>
            </p:nvPr>
          </p:nvSpPr>
          <p:spPr>
            <a:xfrm>
              <a:off x="9416314" y="2530875"/>
              <a:ext cx="1678938" cy="375920"/>
            </a:xfrm>
            <a:prstGeom prst="rect">
              <a:avLst/>
            </a:prstGeom>
            <a:noFill/>
            <a:ln>
              <a:noFill/>
            </a:ln>
          </p:spPr>
          <p:style>
            <a:lnRef idx="2">
              <a:schemeClr val="accent1"/>
            </a:lnRef>
            <a:fillRef idx="1">
              <a:schemeClr val="lt1"/>
            </a:fillRef>
            <a:effectRef idx="0">
              <a:schemeClr val="accent1"/>
            </a:effectRef>
            <a:fontRef idx="minor">
              <a:schemeClr val="dk1"/>
            </a:fontRef>
          </p:style>
          <p:txBody>
            <a:bodyPr vert="horz" wrap="square" lIns="57150" tIns="57150" rIns="57150" bIns="57150" numCol="1" spcCol="1270" anchor="ctr" anchorCtr="0" forceAA="0">
              <a:noAutofit/>
            </a:bodyPr>
            <a:lstStyle/>
            <a:p>
              <a:pPr algn="ctr" defTabSz="666750">
                <a:lnSpc>
                  <a:spcPct val="150000"/>
                </a:lnSpc>
                <a:spcBef>
                  <a:spcPct val="0"/>
                </a:spcBef>
                <a:spcAft>
                  <a:spcPct val="35000"/>
                </a:spcAft>
              </a:pPr>
              <a:r>
                <a:rPr lang="en-US" altLang="zh-CN" sz="2400" dirty="0" smtClean="0">
                  <a:solidFill>
                    <a:schemeClr val="accent3">
                      <a:lumMod val="75000"/>
                    </a:schemeClr>
                  </a:solidFill>
                </a:rPr>
                <a:t>2030</a:t>
              </a:r>
              <a:r>
                <a:rPr lang="zh-CN" altLang="en-US" sz="2400" dirty="0" smtClean="0">
                  <a:solidFill>
                    <a:schemeClr val="accent3">
                      <a:lumMod val="75000"/>
                    </a:schemeClr>
                  </a:solidFill>
                </a:rPr>
                <a:t>年底</a:t>
              </a:r>
              <a:endParaRPr lang="en-US" altLang="zh-CN" sz="2400" dirty="0">
                <a:solidFill>
                  <a:schemeClr val="accent3">
                    <a:lumMod val="75000"/>
                  </a:schemeClr>
                </a:solidFill>
              </a:endParaRPr>
            </a:p>
          </p:txBody>
        </p:sp>
      </p:grpSp>
      <p:sp>
        <p:nvSpPr>
          <p:cNvPr id="79"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5400000" flipH="1">
            <a:off x="4001420" y="3563148"/>
            <a:ext cx="361146" cy="55539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
        <p:nvSpPr>
          <p:cNvPr id="80"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5400000" flipH="1">
            <a:off x="7626338" y="3570857"/>
            <a:ext cx="361146" cy="55539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311761" y="262890"/>
            <a:ext cx="5996881" cy="465512"/>
          </a:xfrm>
          <a:prstGeom prst="rect">
            <a:avLst/>
          </a:prstGeom>
        </p:spPr>
        <p:txBody>
          <a:bodyPr>
            <a:norm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zh-CN" sz="2400" dirty="0">
                <a:solidFill>
                  <a:schemeClr val="accent3">
                    <a:lumMod val="75000"/>
                  </a:schemeClr>
                </a:solidFill>
                <a:latin typeface="+mj-ea"/>
              </a:rPr>
              <a:t>省创发院</a:t>
            </a:r>
            <a:r>
              <a:rPr lang="en-US" altLang="zh-CN" sz="2400" dirty="0" smtClean="0">
                <a:solidFill>
                  <a:schemeClr val="accent3">
                    <a:lumMod val="75000"/>
                  </a:schemeClr>
                </a:solidFill>
                <a:latin typeface="+mj-ea"/>
              </a:rPr>
              <a:t>2025-2030</a:t>
            </a:r>
            <a:r>
              <a:rPr lang="zh-CN" altLang="zh-CN" sz="2400" dirty="0" smtClean="0">
                <a:solidFill>
                  <a:schemeClr val="accent3">
                    <a:lumMod val="75000"/>
                  </a:schemeClr>
                </a:solidFill>
                <a:latin typeface="+mj-ea"/>
              </a:rPr>
              <a:t>年</a:t>
            </a:r>
            <a:r>
              <a:rPr lang="zh-CN" altLang="zh-CN" sz="2400" dirty="0">
                <a:solidFill>
                  <a:schemeClr val="accent3">
                    <a:lumMod val="75000"/>
                  </a:schemeClr>
                </a:solidFill>
                <a:latin typeface="+mj-ea"/>
              </a:rPr>
              <a:t>规划发展目标</a:t>
            </a:r>
            <a:endParaRPr lang="zh-CN" altLang="en-US" sz="2400" dirty="0">
              <a:solidFill>
                <a:schemeClr val="accent3">
                  <a:lumMod val="75000"/>
                </a:schemeClr>
              </a:solidFill>
              <a:latin typeface="+mj-ea"/>
              <a:sym typeface="Arial" panose="020B0604020202020204" pitchFamily="34" charset="0"/>
            </a:endParaRPr>
          </a:p>
        </p:txBody>
      </p:sp>
      <p:sp>
        <p:nvSpPr>
          <p:cNvPr id="4" name="文本框 3"/>
          <p:cNvSpPr txBox="1"/>
          <p:nvPr/>
        </p:nvSpPr>
        <p:spPr>
          <a:xfrm>
            <a:off x="747763" y="91440"/>
            <a:ext cx="598288"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lang="en-US" altLang="zh-CN" sz="2800" b="1" dirty="0">
                <a:solidFill>
                  <a:schemeClr val="bg1"/>
                </a:solidFill>
                <a:latin typeface="+mj-ea"/>
                <a:ea typeface="+mj-ea"/>
                <a:cs typeface="+mj-cs"/>
              </a:rPr>
              <a:t>2.2</a:t>
            </a:r>
            <a:endParaRPr lang="zh-CN" altLang="en-US" sz="2800" b="1" dirty="0">
              <a:solidFill>
                <a:schemeClr val="bg1"/>
              </a:solidFill>
              <a:latin typeface="+mj-ea"/>
              <a:ea typeface="+mj-ea"/>
              <a:cs typeface="+mj-cs"/>
            </a:endParaRPr>
          </a:p>
        </p:txBody>
      </p:sp>
      <p:pic>
        <p:nvPicPr>
          <p:cNvPr id="5" name="图片 4"/>
          <p:cNvPicPr>
            <a:picLocks noChangeAspect="1"/>
          </p:cNvPicPr>
          <p:nvPr/>
        </p:nvPicPr>
        <p:blipFill>
          <a:blip r:embed="rId1"/>
          <a:stretch>
            <a:fillRect/>
          </a:stretch>
        </p:blipFill>
        <p:spPr>
          <a:xfrm>
            <a:off x="0" y="1030605"/>
            <a:ext cx="12192000" cy="582739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smtClean="0">
                <a:solidFill>
                  <a:schemeClr val="accent3">
                    <a:lumMod val="75000"/>
                  </a:schemeClr>
                </a:solidFill>
                <a:latin typeface="+mj-ea"/>
                <a:sym typeface="Arial" panose="020B0604020202020204" pitchFamily="34" charset="0"/>
              </a:rPr>
              <a:t>组织</a:t>
            </a:r>
            <a:r>
              <a:rPr lang="zh-CN" altLang="en-US" dirty="0">
                <a:solidFill>
                  <a:schemeClr val="accent3">
                    <a:lumMod val="75000"/>
                  </a:schemeClr>
                </a:solidFill>
                <a:latin typeface="+mj-ea"/>
                <a:sym typeface="Arial" panose="020B0604020202020204" pitchFamily="34" charset="0"/>
              </a:rPr>
              <a:t>架构</a:t>
            </a:r>
            <a:endParaRPr lang="zh-CN" altLang="en-US" dirty="0">
              <a:solidFill>
                <a:schemeClr val="accent3">
                  <a:lumMod val="75000"/>
                </a:schemeClr>
              </a:solidFill>
              <a:latin typeface="+mj-ea"/>
              <a:sym typeface="Arial" panose="020B0604020202020204" pitchFamily="34" charset="0"/>
            </a:endParaRPr>
          </a:p>
        </p:txBody>
      </p:sp>
      <p:sp>
        <p:nvSpPr>
          <p:cNvPr id="6" name="文本框 5"/>
          <p:cNvSpPr txBox="1"/>
          <p:nvPr/>
        </p:nvSpPr>
        <p:spPr>
          <a:xfrm>
            <a:off x="679183" y="66507"/>
            <a:ext cx="788764"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smtClean="0">
                <a:solidFill>
                  <a:schemeClr val="bg1"/>
                </a:solidFill>
                <a:effectLst>
                  <a:outerShdw blurRad="50800" dist="38100" dir="2700000" algn="tl" rotWithShape="0">
                    <a:prstClr val="black">
                      <a:alpha val="40000"/>
                    </a:prstClr>
                  </a:outerShdw>
                </a:effectLst>
              </a:rPr>
              <a:t>2.3</a:t>
            </a:r>
            <a:endParaRPr kumimoji="1" lang="zh-CN" altLang="en-US" sz="3200" b="1" dirty="0">
              <a:solidFill>
                <a:schemeClr val="bg1"/>
              </a:solidFill>
              <a:effectLst>
                <a:outerShdw blurRad="50800" dist="38100" dir="2700000" algn="tl" rotWithShape="0">
                  <a:prstClr val="black">
                    <a:alpha val="40000"/>
                  </a:prstClr>
                </a:outerShdw>
              </a:effectLst>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266044"/>
            <a:ext cx="12275820" cy="5591955"/>
          </a:xfrm>
          <a:prstGeom prst="rect">
            <a:avLst/>
          </a:prstGeom>
        </p:spPr>
      </p:pic>
      <p:sp>
        <p:nvSpPr>
          <p:cNvPr id="3" name="文本框 2"/>
          <p:cNvSpPr txBox="1"/>
          <p:nvPr/>
        </p:nvSpPr>
        <p:spPr>
          <a:xfrm>
            <a:off x="226060" y="5554980"/>
            <a:ext cx="301625" cy="209550"/>
          </a:xfrm>
          <a:prstGeom prst="rect">
            <a:avLst/>
          </a:prstGeom>
          <a:solidFill>
            <a:schemeClr val="bg2">
              <a:lumMod val="90000"/>
            </a:schemeClr>
          </a:solidFill>
          <a:ln>
            <a:noFill/>
          </a:ln>
        </p:spPr>
        <p:style>
          <a:lnRef idx="2">
            <a:schemeClr val="accent1"/>
          </a:lnRef>
          <a:fillRef idx="1">
            <a:schemeClr val="lt1"/>
          </a:fillRef>
          <a:effectRef idx="0">
            <a:schemeClr val="accent1"/>
          </a:effectRef>
          <a:fontRef idx="minor">
            <a:schemeClr val="dk1"/>
          </a:fontRef>
        </p:style>
        <p:txBody>
          <a:bodyPr vert="horz" wrap="square" lIns="57150" tIns="57150" rIns="57150" bIns="57150" numCol="1" spcCol="1270" anchor="ctr" anchorCtr="0" forceAA="0">
            <a:noAutofit/>
          </a:bodyPr>
          <a:p>
            <a:pPr defTabSz="666750">
              <a:lnSpc>
                <a:spcPct val="150000"/>
              </a:lnSpc>
              <a:spcBef>
                <a:spcPct val="0"/>
              </a:spcBef>
              <a:spcAft>
                <a:spcPct val="35000"/>
              </a:spcAft>
            </a:pPr>
            <a:endParaRPr lang="zh-CN" altLang="en-US" sz="2400"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形状 152"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16200000" flipH="1">
            <a:off x="5314950" y="2470893"/>
            <a:ext cx="3457990" cy="2381812"/>
          </a:xfrm>
          <a:custGeom>
            <a:avLst/>
            <a:gdLst>
              <a:gd name="connsiteX0" fmla="*/ 4277415 w 4277415"/>
              <a:gd name="connsiteY0" fmla="*/ 3151554 h 3151554"/>
              <a:gd name="connsiteX1" fmla="*/ 0 w 4277415"/>
              <a:gd name="connsiteY1" fmla="*/ 3151554 h 3151554"/>
              <a:gd name="connsiteX2" fmla="*/ 1583473 w 4277415"/>
              <a:gd name="connsiteY2" fmla="*/ 297568 h 3151554"/>
              <a:gd name="connsiteX3" fmla="*/ 1694340 w 4277415"/>
              <a:gd name="connsiteY3" fmla="*/ 0 h 3151554"/>
              <a:gd name="connsiteX4" fmla="*/ 2604156 w 4277415"/>
              <a:gd name="connsiteY4" fmla="*/ 0 h 3151554"/>
              <a:gd name="connsiteX5" fmla="*/ 2709368 w 4277415"/>
              <a:gd name="connsiteY5" fmla="*/ 300930 h 3151554"/>
              <a:gd name="connsiteX6" fmla="*/ 4277415 w 4277415"/>
              <a:gd name="connsiteY6" fmla="*/ 3151554 h 315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77415" h="3151554">
                <a:moveTo>
                  <a:pt x="4277415" y="3151554"/>
                </a:moveTo>
                <a:lnTo>
                  <a:pt x="0" y="3151554"/>
                </a:lnTo>
                <a:cubicBezTo>
                  <a:pt x="664927" y="2265570"/>
                  <a:pt x="1192750" y="1304906"/>
                  <a:pt x="1583473" y="297568"/>
                </a:cubicBezTo>
                <a:lnTo>
                  <a:pt x="1694340" y="0"/>
                </a:lnTo>
                <a:lnTo>
                  <a:pt x="2604156" y="0"/>
                </a:lnTo>
                <a:lnTo>
                  <a:pt x="2709368" y="300930"/>
                </a:lnTo>
                <a:cubicBezTo>
                  <a:pt x="3077814" y="1281010"/>
                  <a:pt x="3557653" y="2193880"/>
                  <a:pt x="4277415" y="3151554"/>
                </a:cubicBezTo>
                <a:close/>
              </a:path>
            </a:pathLst>
          </a:custGeom>
          <a:gradFill flip="none" rotWithShape="1">
            <a:gsLst>
              <a:gs pos="0">
                <a:schemeClr val="accent1">
                  <a:alpha val="12000"/>
                </a:schemeClr>
              </a:gs>
              <a:gs pos="90000">
                <a:schemeClr val="accent1">
                  <a:alpha val="0"/>
                </a:schemeClr>
              </a:gs>
            </a:gsLst>
            <a:lin ang="5400000" scaled="1"/>
            <a:tileRect/>
          </a:gradFill>
          <a:ln>
            <a:gradFill flip="none" rotWithShape="1">
              <a:gsLst>
                <a:gs pos="90000">
                  <a:schemeClr val="accent1">
                    <a:alpha val="0"/>
                  </a:schemeClr>
                </a:gs>
                <a:gs pos="0">
                  <a:schemeClr val="accent1">
                    <a:alpha val="21000"/>
                  </a:schemeClr>
                </a:gs>
              </a:gsLst>
              <a:lin ang="54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solidFill>
                <a:prstClr val="white"/>
              </a:solidFill>
              <a:cs typeface="+mn-ea"/>
              <a:sym typeface="+mn-lt"/>
            </a:endParaRPr>
          </a:p>
        </p:txBody>
      </p:sp>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latin typeface="+mj-ea"/>
                <a:sym typeface="Arial" panose="020B0604020202020204" pitchFamily="34" charset="0"/>
              </a:rPr>
              <a:t>业务方向</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814648"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3</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11" name="组合 10"/>
          <p:cNvGrpSpPr/>
          <p:nvPr/>
        </p:nvGrpSpPr>
        <p:grpSpPr>
          <a:xfrm>
            <a:off x="2486428" y="2153976"/>
            <a:ext cx="2728020" cy="2811862"/>
            <a:chOff x="2799495" y="2133900"/>
            <a:chExt cx="2728020" cy="2811862"/>
          </a:xfrm>
        </p:grpSpPr>
        <p:sp>
          <p:nvSpPr>
            <p:cNvPr id="6" name="椭圆 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2799495" y="2217742"/>
              <a:ext cx="2728020" cy="2728020"/>
            </a:xfrm>
            <a:prstGeom prst="ellipse">
              <a:avLst/>
            </a:prstGeom>
            <a:gradFill flip="none" rotWithShape="1">
              <a:gsLst>
                <a:gs pos="0">
                  <a:schemeClr val="bg1"/>
                </a:gs>
                <a:gs pos="100000">
                  <a:schemeClr val="accent1">
                    <a:lumMod val="20000"/>
                    <a:lumOff val="80000"/>
                  </a:schemeClr>
                </a:gs>
              </a:gsLst>
              <a:lin ang="2700000" scaled="1"/>
              <a:tileRect/>
            </a:gradFill>
            <a:ln>
              <a:gradFill>
                <a:gsLst>
                  <a:gs pos="100000">
                    <a:schemeClr val="bg1">
                      <a:alpha val="0"/>
                    </a:schemeClr>
                  </a:gs>
                  <a:gs pos="0">
                    <a:schemeClr val="accent1">
                      <a:lumMod val="20000"/>
                      <a:lumOff val="80000"/>
                    </a:schemeClr>
                  </a:gs>
                </a:gsLst>
                <a:lin ang="5400000" scaled="1"/>
              </a:gradFill>
            </a:ln>
            <a:effectLst>
              <a:outerShdw blurRad="939800" dist="914400" dir="8100000" sx="92000" sy="92000" algn="tr" rotWithShape="0">
                <a:schemeClr val="accent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50000"/>
                  </a:schemeClr>
                </a:solidFill>
              </a:endParaRPr>
            </a:p>
          </p:txBody>
        </p:sp>
        <p:sp>
          <p:nvSpPr>
            <p:cNvPr id="7" name="文本框 6"/>
            <p:cNvSpPr txBox="1"/>
            <p:nvPr/>
          </p:nvSpPr>
          <p:spPr>
            <a:xfrm>
              <a:off x="2806497" y="3858608"/>
              <a:ext cx="2510513" cy="51434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spcBef>
                  <a:spcPct val="0"/>
                </a:spcBef>
                <a:spcAft>
                  <a:spcPct val="35000"/>
                </a:spcAft>
              </a:pPr>
              <a:r>
                <a:rPr kumimoji="1" lang="zh-CN" altLang="en-US" sz="2400" dirty="0">
                  <a:solidFill>
                    <a:schemeClr val="accent1"/>
                  </a:solidFill>
                </a:rPr>
                <a:t>服务</a:t>
              </a:r>
              <a:r>
                <a:rPr kumimoji="1" lang="zh-CN" altLang="en-US" sz="2400" dirty="0" smtClean="0">
                  <a:solidFill>
                    <a:schemeClr val="accent1"/>
                  </a:solidFill>
                </a:rPr>
                <a:t>创新生态</a:t>
              </a:r>
              <a:endParaRPr kumimoji="1" lang="zh-CN" altLang="en-US" sz="2400" dirty="0">
                <a:solidFill>
                  <a:schemeClr val="accent1"/>
                </a:solidFill>
              </a:endParaRPr>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160380" y="2133900"/>
              <a:ext cx="1870711" cy="1683640"/>
            </a:xfrm>
            <a:prstGeom prst="rect">
              <a:avLst/>
            </a:prstGeom>
          </p:spPr>
        </p:pic>
      </p:grpSp>
      <p:sp>
        <p:nvSpPr>
          <p:cNvPr id="12" name="矩形: 圆角 87"/>
          <p:cNvSpPr/>
          <p:nvPr/>
        </p:nvSpPr>
        <p:spPr>
          <a:xfrm>
            <a:off x="7464828" y="1852626"/>
            <a:ext cx="3974220" cy="3929827"/>
          </a:xfrm>
          <a:prstGeom prst="roundRect">
            <a:avLst>
              <a:gd name="adj" fmla="val 5063"/>
            </a:avLst>
          </a:prstGeom>
          <a:gradFill flip="none" rotWithShape="1">
            <a:gsLst>
              <a:gs pos="18000">
                <a:schemeClr val="accent1">
                  <a:alpha val="0"/>
                </a:schemeClr>
              </a:gs>
              <a:gs pos="100000">
                <a:schemeClr val="accent1">
                  <a:alpha val="18000"/>
                </a:schemeClr>
              </a:gs>
            </a:gsLst>
            <a:lin ang="2700000" scaled="1"/>
            <a:tileRect/>
          </a:gradFill>
          <a:ln w="15875">
            <a:noFill/>
          </a:ln>
          <a:effectLst>
            <a:outerShdw blurRad="266700" sx="102000" sy="102000" algn="ctr" rotWithShape="0">
              <a:schemeClr val="accent1">
                <a:lumMod val="40000"/>
                <a:lumOff val="6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 name="Title 6"/>
          <p:cNvSpPr txBox="1"/>
          <p:nvPr>
            <p:custDataLst>
              <p:tags r:id="rId2"/>
            </p:custDataLst>
          </p:nvPr>
        </p:nvSpPr>
        <p:spPr>
          <a:xfrm>
            <a:off x="7673659" y="2348458"/>
            <a:ext cx="3227703" cy="296673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nSpc>
                <a:spcPct val="150000"/>
              </a:lnSpc>
              <a:spcBef>
                <a:spcPts val="0"/>
              </a:spcBef>
              <a:spcAft>
                <a:spcPts val="800"/>
              </a:spcAft>
              <a:buSzPct val="100000"/>
            </a:pPr>
            <a:r>
              <a:rPr lang="zh-CN" altLang="en-US" sz="1200" spc="120" dirty="0">
                <a:ln w="3175">
                  <a:noFill/>
                  <a:prstDash val="dash"/>
                </a:ln>
                <a:solidFill>
                  <a:schemeClr val="accent1"/>
                </a:solidFill>
                <a:uFillTx/>
                <a:latin typeface="+mj-ea"/>
                <a:ea typeface="+mj-ea"/>
                <a:cs typeface="微软雅黑" panose="020B0503020204020204" pitchFamily="34" charset="-122"/>
              </a:rPr>
              <a:t>以</a:t>
            </a:r>
            <a:r>
              <a:rPr lang="zh-CN" altLang="en-US" sz="1200" spc="120" dirty="0">
                <a:ln w="3175">
                  <a:noFill/>
                  <a:prstDash val="dash"/>
                </a:ln>
                <a:solidFill>
                  <a:schemeClr val="accent1"/>
                </a:solidFill>
                <a:uFillTx/>
                <a:latin typeface="+mj-ea"/>
                <a:ea typeface="+mj-ea"/>
                <a:cs typeface="微软雅黑" panose="020B0503020204020204" pitchFamily="34" charset="-122"/>
                <a:sym typeface="+mn-ea"/>
              </a:rPr>
              <a:t>支撑省科技厅管理决策、</a:t>
            </a:r>
            <a:r>
              <a:rPr lang="zh-CN" altLang="en-US" sz="1200" spc="120" dirty="0">
                <a:ln w="3175">
                  <a:noFill/>
                  <a:prstDash val="dash"/>
                </a:ln>
                <a:solidFill>
                  <a:schemeClr val="accent1"/>
                </a:solidFill>
                <a:uFillTx/>
                <a:latin typeface="+mj-ea"/>
                <a:ea typeface="+mj-ea"/>
                <a:cs typeface="微软雅黑" panose="020B0503020204020204" pitchFamily="34" charset="-122"/>
              </a:rPr>
              <a:t>服务全省科技创新为目标，围绕我省高质量发展对科技创新的需求开展战略研究，</a:t>
            </a:r>
            <a:r>
              <a:rPr lang="zh-CN" altLang="en-US" sz="1200" dirty="0">
                <a:solidFill>
                  <a:schemeClr val="accent1"/>
                </a:solidFill>
                <a:latin typeface="+mj-ea"/>
                <a:ea typeface="+mj-ea"/>
                <a:sym typeface="+mn-ea"/>
              </a:rPr>
              <a:t>提炼重大任务需求 ；针对重点区域、重点领域和重点行业布局公共研发平台，开展创新生态试点； 集聚各类创新资源、优化成果转化服务体系，提升产业化</a:t>
            </a:r>
            <a:r>
              <a:rPr lang="zh-CN" altLang="en-US" sz="1200" dirty="0" smtClean="0">
                <a:solidFill>
                  <a:schemeClr val="accent1"/>
                </a:solidFill>
                <a:latin typeface="+mj-ea"/>
                <a:ea typeface="+mj-ea"/>
                <a:sym typeface="+mn-ea"/>
              </a:rPr>
              <a:t>水平，</a:t>
            </a:r>
            <a:r>
              <a:rPr lang="zh-CN" altLang="en-US" sz="1200" dirty="0">
                <a:solidFill>
                  <a:schemeClr val="accent1"/>
                </a:solidFill>
                <a:latin typeface="+mj-ea"/>
                <a:ea typeface="+mj-ea"/>
                <a:sym typeface="+mn-ea"/>
              </a:rPr>
              <a:t>助力培育新质生产力。</a:t>
            </a:r>
            <a:endParaRPr lang="en-US" altLang="zh-CN" sz="1200" dirty="0">
              <a:solidFill>
                <a:schemeClr val="accent1"/>
              </a:solidFill>
              <a:latin typeface="+mj-ea"/>
              <a:ea typeface="+mj-ea"/>
            </a:endParaRPr>
          </a:p>
          <a:p>
            <a:pPr lvl="0">
              <a:lnSpc>
                <a:spcPct val="150000"/>
              </a:lnSpc>
              <a:spcBef>
                <a:spcPts val="0"/>
              </a:spcBef>
              <a:spcAft>
                <a:spcPts val="800"/>
              </a:spcAft>
              <a:buSzPct val="100000"/>
            </a:pPr>
            <a:r>
              <a:rPr lang="zh-CN" altLang="en-US" sz="1200" spc="120" dirty="0">
                <a:ln w="3175">
                  <a:noFill/>
                  <a:prstDash val="dash"/>
                </a:ln>
                <a:solidFill>
                  <a:schemeClr val="accent1"/>
                </a:solidFill>
                <a:latin typeface="+mj-ea"/>
                <a:ea typeface="+mj-ea"/>
                <a:cs typeface="微软雅黑" panose="020B0503020204020204" pitchFamily="34" charset="-122"/>
              </a:rPr>
              <a:t>为全省科技创新体系建设</a:t>
            </a:r>
            <a:r>
              <a:rPr lang="zh-CN" altLang="en-US" sz="1200" spc="120" dirty="0">
                <a:ln w="3175">
                  <a:noFill/>
                  <a:prstDash val="dash"/>
                </a:ln>
                <a:solidFill>
                  <a:schemeClr val="accent1"/>
                </a:solidFill>
                <a:uFillTx/>
                <a:latin typeface="+mj-ea"/>
                <a:ea typeface="+mj-ea"/>
                <a:cs typeface="微软雅黑" panose="020B0503020204020204" pitchFamily="34" charset="-122"/>
              </a:rPr>
              <a:t>提供决策参考和应用示范</a:t>
            </a:r>
            <a:r>
              <a:rPr lang="zh-CN" altLang="en-US" sz="1200" spc="120" dirty="0">
                <a:ln w="3175">
                  <a:noFill/>
                  <a:prstDash val="dash"/>
                </a:ln>
                <a:solidFill>
                  <a:schemeClr val="accent1"/>
                </a:solidFill>
                <a:uFillTx/>
                <a:latin typeface="+mj-ea"/>
                <a:ea typeface="+mj-ea"/>
                <a:cs typeface="微软雅黑" panose="020B0503020204020204" pitchFamily="34" charset="-122"/>
                <a:sym typeface="+mn-ea"/>
              </a:rPr>
              <a:t>。</a:t>
            </a:r>
            <a:endParaRPr lang="zh-CN" altLang="en-US" sz="1200" spc="120" dirty="0">
              <a:ln w="3175">
                <a:noFill/>
                <a:prstDash val="dash"/>
              </a:ln>
              <a:solidFill>
                <a:schemeClr val="accent1"/>
              </a:solidFill>
              <a:uFillTx/>
              <a:latin typeface="+mj-ea"/>
              <a:ea typeface="+mj-ea"/>
              <a:cs typeface="微软雅黑" panose="020B0503020204020204" pitchFamily="34" charset="-122"/>
            </a:endParaRPr>
          </a:p>
        </p:txBody>
      </p:sp>
      <p:pic>
        <p:nvPicPr>
          <p:cNvPr id="17" name="图片 1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17833" y="2132331"/>
            <a:ext cx="1870711" cy="1683640"/>
          </a:xfrm>
          <a:prstGeom prst="rect">
            <a:avLst/>
          </a:prstGeom>
        </p:spPr>
      </p:pic>
      <p:grpSp>
        <p:nvGrpSpPr>
          <p:cNvPr id="8" name="组合 7"/>
          <p:cNvGrpSpPr/>
          <p:nvPr/>
        </p:nvGrpSpPr>
        <p:grpSpPr>
          <a:xfrm>
            <a:off x="-16527" y="2284731"/>
            <a:ext cx="2728020" cy="2791747"/>
            <a:chOff x="-16527" y="2284731"/>
            <a:chExt cx="2728020" cy="2791747"/>
          </a:xfrm>
        </p:grpSpPr>
        <p:sp>
          <p:nvSpPr>
            <p:cNvPr id="15" name="椭圆 14"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16527" y="2348458"/>
              <a:ext cx="2728020" cy="2728020"/>
            </a:xfrm>
            <a:prstGeom prst="ellipse">
              <a:avLst/>
            </a:prstGeom>
            <a:gradFill flip="none" rotWithShape="1">
              <a:gsLst>
                <a:gs pos="0">
                  <a:schemeClr val="bg1"/>
                </a:gs>
                <a:gs pos="100000">
                  <a:schemeClr val="accent1">
                    <a:lumMod val="20000"/>
                    <a:lumOff val="80000"/>
                  </a:schemeClr>
                </a:gs>
              </a:gsLst>
              <a:lin ang="2700000" scaled="1"/>
              <a:tileRect/>
            </a:gradFill>
            <a:ln>
              <a:gradFill>
                <a:gsLst>
                  <a:gs pos="100000">
                    <a:schemeClr val="bg1">
                      <a:alpha val="0"/>
                    </a:schemeClr>
                  </a:gs>
                  <a:gs pos="0">
                    <a:schemeClr val="accent1">
                      <a:lumMod val="20000"/>
                      <a:lumOff val="80000"/>
                    </a:schemeClr>
                  </a:gs>
                </a:gsLst>
                <a:lin ang="5400000" scaled="1"/>
              </a:gradFill>
            </a:ln>
            <a:effectLst>
              <a:outerShdw blurRad="939800" dist="914400" dir="8100000" sx="92000" sy="92000" algn="tr" rotWithShape="0">
                <a:schemeClr val="accent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50000"/>
                  </a:schemeClr>
                </a:solidFill>
              </a:endParaRPr>
            </a:p>
          </p:txBody>
        </p:sp>
        <p:sp>
          <p:nvSpPr>
            <p:cNvPr id="16" name="文本框 15"/>
            <p:cNvSpPr txBox="1"/>
            <p:nvPr/>
          </p:nvSpPr>
          <p:spPr>
            <a:xfrm>
              <a:off x="364071" y="3878817"/>
              <a:ext cx="1882122" cy="51434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spcBef>
                  <a:spcPct val="0"/>
                </a:spcBef>
                <a:spcAft>
                  <a:spcPct val="35000"/>
                </a:spcAft>
              </a:pPr>
              <a:r>
                <a:rPr kumimoji="1" lang="zh-CN" altLang="en-US" sz="2400" dirty="0" smtClean="0">
                  <a:solidFill>
                    <a:schemeClr val="accent1"/>
                  </a:solidFill>
                </a:rPr>
                <a:t>支撑战略决策</a:t>
              </a:r>
              <a:endParaRPr kumimoji="1" lang="en-US" altLang="zh-CN" sz="2400" dirty="0">
                <a:solidFill>
                  <a:schemeClr val="accent1"/>
                </a:solidFill>
              </a:endParaRPr>
            </a:p>
          </p:txBody>
        </p:sp>
        <p:pic>
          <p:nvPicPr>
            <p:cNvPr id="20" name="图片 1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0233" y="2284731"/>
              <a:ext cx="1870711" cy="1683640"/>
            </a:xfrm>
            <a:prstGeom prst="rect">
              <a:avLst/>
            </a:prstGeom>
          </p:spPr>
        </p:pic>
      </p:grpSp>
      <p:grpSp>
        <p:nvGrpSpPr>
          <p:cNvPr id="22" name="组合 21"/>
          <p:cNvGrpSpPr/>
          <p:nvPr/>
        </p:nvGrpSpPr>
        <p:grpSpPr>
          <a:xfrm>
            <a:off x="4954870" y="2265925"/>
            <a:ext cx="2728020" cy="2791747"/>
            <a:chOff x="-16527" y="2284731"/>
            <a:chExt cx="2728020" cy="2791747"/>
          </a:xfrm>
        </p:grpSpPr>
        <p:sp>
          <p:nvSpPr>
            <p:cNvPr id="23" name="椭圆 22"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16527" y="2348458"/>
              <a:ext cx="2728020" cy="2728020"/>
            </a:xfrm>
            <a:prstGeom prst="ellipse">
              <a:avLst/>
            </a:prstGeom>
            <a:gradFill flip="none" rotWithShape="1">
              <a:gsLst>
                <a:gs pos="0">
                  <a:schemeClr val="bg1"/>
                </a:gs>
                <a:gs pos="100000">
                  <a:schemeClr val="accent1">
                    <a:lumMod val="20000"/>
                    <a:lumOff val="80000"/>
                  </a:schemeClr>
                </a:gs>
              </a:gsLst>
              <a:lin ang="2700000" scaled="1"/>
              <a:tileRect/>
            </a:gradFill>
            <a:ln>
              <a:gradFill>
                <a:gsLst>
                  <a:gs pos="100000">
                    <a:schemeClr val="bg1">
                      <a:alpha val="0"/>
                    </a:schemeClr>
                  </a:gs>
                  <a:gs pos="0">
                    <a:schemeClr val="accent1">
                      <a:lumMod val="20000"/>
                      <a:lumOff val="80000"/>
                    </a:schemeClr>
                  </a:gs>
                </a:gsLst>
                <a:lin ang="5400000" scaled="1"/>
              </a:gradFill>
            </a:ln>
            <a:effectLst>
              <a:outerShdw blurRad="939800" dist="914400" dir="8100000" sx="92000" sy="92000" algn="tr" rotWithShape="0">
                <a:schemeClr val="accent1">
                  <a:alpha val="1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lumMod val="50000"/>
                  </a:schemeClr>
                </a:solidFill>
              </a:endParaRPr>
            </a:p>
          </p:txBody>
        </p:sp>
        <p:sp>
          <p:nvSpPr>
            <p:cNvPr id="24" name="文本框 23"/>
            <p:cNvSpPr txBox="1"/>
            <p:nvPr/>
          </p:nvSpPr>
          <p:spPr>
            <a:xfrm>
              <a:off x="375501" y="3877547"/>
              <a:ext cx="1882122" cy="51434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spcBef>
                  <a:spcPct val="0"/>
                </a:spcBef>
                <a:spcAft>
                  <a:spcPct val="35000"/>
                </a:spcAft>
              </a:pPr>
              <a:r>
                <a:rPr kumimoji="1" lang="zh-CN" altLang="en-US" sz="2400" dirty="0">
                  <a:solidFill>
                    <a:schemeClr val="accent1"/>
                  </a:solidFill>
                </a:rPr>
                <a:t>赋</a:t>
              </a:r>
              <a:r>
                <a:rPr kumimoji="1" lang="zh-CN" altLang="en-US" sz="2400" dirty="0" smtClean="0">
                  <a:solidFill>
                    <a:schemeClr val="accent1"/>
                  </a:solidFill>
                </a:rPr>
                <a:t>能产业发展</a:t>
              </a:r>
              <a:endParaRPr kumimoji="1" lang="en-US" altLang="zh-CN" sz="2400" dirty="0">
                <a:solidFill>
                  <a:schemeClr val="accent1"/>
                </a:solidFill>
              </a:endParaRPr>
            </a:p>
          </p:txBody>
        </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0233" y="2284731"/>
              <a:ext cx="1870711" cy="1683640"/>
            </a:xfrm>
            <a:prstGeom prst="rect">
              <a:avLst/>
            </a:prstGeom>
          </p:spPr>
        </p:pic>
      </p:gr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342686" y="2162516"/>
            <a:ext cx="3812994" cy="2867463"/>
            <a:chOff x="5958709" y="585789"/>
            <a:chExt cx="3694466" cy="2867463"/>
          </a:xfrm>
        </p:grpSpPr>
        <p:sp>
          <p:nvSpPr>
            <p:cNvPr id="5" name="等腰三角形 14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16200000">
              <a:off x="5506521" y="1037977"/>
              <a:ext cx="2867463" cy="1963088"/>
            </a:xfrm>
            <a:prstGeom prst="triangle">
              <a:avLst/>
            </a:prstGeom>
            <a:gradFill flip="none" rotWithShape="1">
              <a:gsLst>
                <a:gs pos="0">
                  <a:schemeClr val="accent1">
                    <a:lumMod val="5000"/>
                    <a:lumOff val="95000"/>
                    <a:alpha val="3000"/>
                  </a:schemeClr>
                </a:gs>
                <a:gs pos="97000">
                  <a:schemeClr val="accent1">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 name="椭圆 5"/>
            <p:cNvSpPr/>
            <p:nvPr/>
          </p:nvSpPr>
          <p:spPr>
            <a:xfrm>
              <a:off x="7253491" y="1018532"/>
              <a:ext cx="2124858" cy="2124858"/>
            </a:xfrm>
            <a:prstGeom prst="ellipse">
              <a:avLst/>
            </a:prstGeom>
            <a:gradFill flip="none" rotWithShape="1">
              <a:gsLst>
                <a:gs pos="35000">
                  <a:schemeClr val="accent1">
                    <a:lumMod val="60000"/>
                    <a:lumOff val="40000"/>
                  </a:schemeClr>
                </a:gs>
                <a:gs pos="100000">
                  <a:schemeClr val="accent1"/>
                </a:gs>
              </a:gsLst>
              <a:path path="circle">
                <a:fillToRect r="100000" b="100000"/>
              </a:path>
              <a:tileRect l="-100000" t="-100000"/>
            </a:gra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endParaRPr>
            </a:p>
          </p:txBody>
        </p:sp>
        <p:sp>
          <p:nvSpPr>
            <p:cNvPr id="9" name="椭圆 8"/>
            <p:cNvSpPr/>
            <p:nvPr/>
          </p:nvSpPr>
          <p:spPr>
            <a:xfrm>
              <a:off x="6905561" y="648487"/>
              <a:ext cx="2747614" cy="2747614"/>
            </a:xfrm>
            <a:prstGeom prst="ellipse">
              <a:avLst/>
            </a:prstGeom>
            <a:noFill/>
            <a:ln w="6350">
              <a:gradFill flip="none" rotWithShape="1">
                <a:gsLst>
                  <a:gs pos="7000">
                    <a:schemeClr val="bg1">
                      <a:alpha val="0"/>
                    </a:schemeClr>
                  </a:gs>
                  <a:gs pos="83000">
                    <a:schemeClr val="accent1">
                      <a:lumMod val="70000"/>
                      <a:lumOff val="30000"/>
                    </a:schemeClr>
                  </a:gs>
                </a:gsLst>
                <a:lin ang="30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5400000">
              <a:off x="6564486" y="1773734"/>
              <a:ext cx="361146" cy="54783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latin typeface="+mj-ea"/>
                <a:sym typeface="Arial" panose="020B0604020202020204" pitchFamily="34" charset="0"/>
              </a:rPr>
              <a:t>支撑战略决策</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679183" y="66507"/>
            <a:ext cx="448887"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3.1</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11" name="组合 10"/>
          <p:cNvGrpSpPr/>
          <p:nvPr/>
        </p:nvGrpSpPr>
        <p:grpSpPr>
          <a:xfrm flipH="1">
            <a:off x="1072586" y="2148675"/>
            <a:ext cx="3745449" cy="2867463"/>
            <a:chOff x="5958709" y="585789"/>
            <a:chExt cx="3694466" cy="2867463"/>
          </a:xfrm>
        </p:grpSpPr>
        <p:sp>
          <p:nvSpPr>
            <p:cNvPr id="12" name="等腰三角形 14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16200000">
              <a:off x="5506521" y="1037977"/>
              <a:ext cx="2867463" cy="1963088"/>
            </a:xfrm>
            <a:prstGeom prst="triangle">
              <a:avLst/>
            </a:prstGeom>
            <a:gradFill flip="none" rotWithShape="1">
              <a:gsLst>
                <a:gs pos="0">
                  <a:schemeClr val="accent1">
                    <a:lumMod val="5000"/>
                    <a:lumOff val="95000"/>
                    <a:alpha val="3000"/>
                  </a:schemeClr>
                </a:gs>
                <a:gs pos="97000">
                  <a:schemeClr val="accent1">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 name="椭圆 12"/>
            <p:cNvSpPr/>
            <p:nvPr/>
          </p:nvSpPr>
          <p:spPr>
            <a:xfrm>
              <a:off x="7253491" y="1018532"/>
              <a:ext cx="2124858" cy="2124858"/>
            </a:xfrm>
            <a:prstGeom prst="ellipse">
              <a:avLst/>
            </a:prstGeom>
            <a:gradFill flip="none" rotWithShape="1">
              <a:gsLst>
                <a:gs pos="35000">
                  <a:schemeClr val="accent1">
                    <a:lumMod val="60000"/>
                    <a:lumOff val="40000"/>
                  </a:schemeClr>
                </a:gs>
                <a:gs pos="100000">
                  <a:schemeClr val="accent1"/>
                </a:gs>
              </a:gsLst>
              <a:path path="circle">
                <a:fillToRect r="100000" b="100000"/>
              </a:path>
              <a:tileRect l="-100000" t="-100000"/>
            </a:gra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endParaRPr>
            </a:p>
          </p:txBody>
        </p:sp>
        <p:sp>
          <p:nvSpPr>
            <p:cNvPr id="15" name="文本框 14"/>
            <p:cNvSpPr txBox="1"/>
            <p:nvPr/>
          </p:nvSpPr>
          <p:spPr>
            <a:xfrm>
              <a:off x="7498564" y="1549567"/>
              <a:ext cx="1561609" cy="1384995"/>
            </a:xfrm>
            <a:prstGeom prst="rect">
              <a:avLst/>
            </a:prstGeom>
            <a:noFill/>
          </p:spPr>
          <p:txBody>
            <a:bodyPr wrap="square" rtlCol="0">
              <a:spAutoFit/>
            </a:bodyPr>
            <a:lstStyle/>
            <a:p>
              <a:pPr algn="ctr"/>
              <a:r>
                <a:rPr lang="zh-CN" altLang="en-US" sz="1200" dirty="0">
                  <a:solidFill>
                    <a:schemeClr val="bg1"/>
                  </a:solidFill>
                </a:rPr>
                <a:t>围绕省科技厅科技创新管理工作，瞄准世界科技前沿和</a:t>
              </a:r>
              <a:r>
                <a:rPr lang="zh-CN" altLang="en-US" sz="1200" dirty="0" smtClean="0">
                  <a:solidFill>
                    <a:schemeClr val="bg1"/>
                  </a:solidFill>
                </a:rPr>
                <a:t>产业发展需求</a:t>
              </a:r>
              <a:r>
                <a:rPr lang="zh-CN" altLang="en-US" sz="1200" dirty="0">
                  <a:solidFill>
                    <a:schemeClr val="bg1"/>
                  </a:solidFill>
                </a:rPr>
                <a:t>，开展具有前瞻性、针对性、储备性战略问题</a:t>
              </a:r>
              <a:r>
                <a:rPr lang="zh-CN" altLang="en-US" sz="1200" dirty="0" smtClean="0">
                  <a:solidFill>
                    <a:schemeClr val="bg1"/>
                  </a:solidFill>
                </a:rPr>
                <a:t>研究。</a:t>
              </a:r>
              <a:endParaRPr lang="zh-CN" altLang="en-US" sz="1200" dirty="0">
                <a:solidFill>
                  <a:schemeClr val="bg1"/>
                </a:solidFill>
              </a:endParaRPr>
            </a:p>
            <a:p>
              <a:pPr algn="ctr"/>
              <a:endParaRPr lang="zh-CN" altLang="en-US" sz="1200" dirty="0">
                <a:solidFill>
                  <a:schemeClr val="bg1"/>
                </a:solidFill>
              </a:endParaRPr>
            </a:p>
          </p:txBody>
        </p:sp>
        <p:sp>
          <p:nvSpPr>
            <p:cNvPr id="16" name="椭圆 15"/>
            <p:cNvSpPr/>
            <p:nvPr/>
          </p:nvSpPr>
          <p:spPr>
            <a:xfrm>
              <a:off x="6905561" y="648487"/>
              <a:ext cx="2747614" cy="2747614"/>
            </a:xfrm>
            <a:prstGeom prst="ellipse">
              <a:avLst/>
            </a:prstGeom>
            <a:noFill/>
            <a:ln w="6350">
              <a:gradFill flip="none" rotWithShape="1">
                <a:gsLst>
                  <a:gs pos="7000">
                    <a:schemeClr val="bg1">
                      <a:alpha val="0"/>
                    </a:schemeClr>
                  </a:gs>
                  <a:gs pos="83000">
                    <a:schemeClr val="accent1">
                      <a:lumMod val="70000"/>
                      <a:lumOff val="30000"/>
                    </a:schemeClr>
                  </a:gs>
                </a:gsLst>
                <a:lin ang="30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16200000">
              <a:off x="6564486" y="1759445"/>
              <a:ext cx="361146" cy="54783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 name="文本框 17"/>
          <p:cNvSpPr txBox="1"/>
          <p:nvPr/>
        </p:nvSpPr>
        <p:spPr>
          <a:xfrm flipH="1">
            <a:off x="8961106" y="3101791"/>
            <a:ext cx="1668793" cy="1200329"/>
          </a:xfrm>
          <a:prstGeom prst="rect">
            <a:avLst/>
          </a:prstGeom>
          <a:noFill/>
        </p:spPr>
        <p:txBody>
          <a:bodyPr wrap="square" rtlCol="0">
            <a:spAutoFit/>
          </a:bodyPr>
          <a:lstStyle/>
          <a:p>
            <a:pPr algn="ctr"/>
            <a:r>
              <a:rPr lang="zh-CN" altLang="en-US" sz="1200" dirty="0">
                <a:solidFill>
                  <a:schemeClr val="bg1"/>
                </a:solidFill>
              </a:rPr>
              <a:t>建成国内知名、省内有影响力、重点领域有优势领导力的，</a:t>
            </a:r>
            <a:r>
              <a:rPr lang="zh-CN" altLang="en-US" sz="1200" dirty="0" smtClean="0">
                <a:solidFill>
                  <a:schemeClr val="bg1"/>
                </a:solidFill>
              </a:rPr>
              <a:t>有</a:t>
            </a:r>
            <a:r>
              <a:rPr lang="zh-CN" altLang="en-US" sz="1200" dirty="0">
                <a:solidFill>
                  <a:schemeClr val="bg1"/>
                </a:solidFill>
              </a:rPr>
              <a:t>特色、有格局的开放型创新</a:t>
            </a:r>
            <a:r>
              <a:rPr lang="zh-CN" altLang="en-US" sz="1200" dirty="0" smtClean="0">
                <a:solidFill>
                  <a:schemeClr val="bg1"/>
                </a:solidFill>
              </a:rPr>
              <a:t>智库。</a:t>
            </a:r>
            <a:endParaRPr lang="zh-CN" altLang="en-US" sz="1200" dirty="0">
              <a:solidFill>
                <a:schemeClr val="bg1"/>
              </a:solidFill>
            </a:endParaRPr>
          </a:p>
          <a:p>
            <a:pPr algn="ctr"/>
            <a:endParaRPr lang="zh-CN" altLang="en-US" sz="1200" dirty="0">
              <a:solidFill>
                <a:schemeClr val="bg1"/>
              </a:solidFill>
            </a:endParaRPr>
          </a:p>
        </p:txBody>
      </p:sp>
      <p:grpSp>
        <p:nvGrpSpPr>
          <p:cNvPr id="14" name="组合 13"/>
          <p:cNvGrpSpPr/>
          <p:nvPr/>
        </p:nvGrpSpPr>
        <p:grpSpPr>
          <a:xfrm>
            <a:off x="4358680" y="2148675"/>
            <a:ext cx="3405623" cy="579027"/>
            <a:chOff x="4358680" y="2148675"/>
            <a:chExt cx="3405623" cy="579027"/>
          </a:xfrm>
        </p:grpSpPr>
        <p:sp>
          <p:nvSpPr>
            <p:cNvPr id="19"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8" name="文本框 7"/>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zh-CN" sz="1400" dirty="0"/>
                <a:t>着力加强科技创新咨政研究</a:t>
              </a:r>
              <a:endParaRPr lang="zh-CN" altLang="zh-CN" sz="1400" dirty="0"/>
            </a:p>
          </p:txBody>
        </p:sp>
      </p:grpSp>
      <p:grpSp>
        <p:nvGrpSpPr>
          <p:cNvPr id="20" name="组合 19"/>
          <p:cNvGrpSpPr/>
          <p:nvPr/>
        </p:nvGrpSpPr>
        <p:grpSpPr>
          <a:xfrm>
            <a:off x="4357581" y="2864778"/>
            <a:ext cx="3405623" cy="579027"/>
            <a:chOff x="4358680" y="2148675"/>
            <a:chExt cx="3405623" cy="579027"/>
          </a:xfrm>
        </p:grpSpPr>
        <p:sp>
          <p:nvSpPr>
            <p:cNvPr id="21"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2" name="文本框 21"/>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zh-CN" sz="1400" dirty="0"/>
                <a:t>着力</a:t>
              </a:r>
              <a:r>
                <a:rPr lang="zh-CN" altLang="en-US" sz="1400" dirty="0"/>
                <a:t>推动</a:t>
              </a:r>
              <a:r>
                <a:rPr lang="zh-CN" altLang="zh-CN" sz="1400" dirty="0"/>
                <a:t>决策咨询</a:t>
              </a:r>
              <a:r>
                <a:rPr lang="zh-CN" altLang="en-US" sz="1400" dirty="0"/>
                <a:t>成果应用</a:t>
              </a:r>
              <a:endParaRPr lang="zh-CN" altLang="zh-CN" sz="1400" dirty="0"/>
            </a:p>
          </p:txBody>
        </p:sp>
      </p:grpSp>
      <p:grpSp>
        <p:nvGrpSpPr>
          <p:cNvPr id="23" name="组合 22"/>
          <p:cNvGrpSpPr/>
          <p:nvPr/>
        </p:nvGrpSpPr>
        <p:grpSpPr>
          <a:xfrm>
            <a:off x="4357580" y="3608880"/>
            <a:ext cx="3405623" cy="579027"/>
            <a:chOff x="4358680" y="2148675"/>
            <a:chExt cx="3405623" cy="579027"/>
          </a:xfrm>
        </p:grpSpPr>
        <p:sp>
          <p:nvSpPr>
            <p:cNvPr id="24"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5" name="文本框 24"/>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zh-CN" sz="1400" dirty="0"/>
                <a:t>着力建设智库高端人才队伍</a:t>
              </a:r>
              <a:endParaRPr lang="zh-CN" altLang="zh-CN" sz="1400" dirty="0"/>
            </a:p>
          </p:txBody>
        </p:sp>
      </p:grpSp>
      <p:grpSp>
        <p:nvGrpSpPr>
          <p:cNvPr id="26" name="组合 25"/>
          <p:cNvGrpSpPr/>
          <p:nvPr/>
        </p:nvGrpSpPr>
        <p:grpSpPr>
          <a:xfrm>
            <a:off x="4357579" y="4352982"/>
            <a:ext cx="3405623" cy="579027"/>
            <a:chOff x="4358680" y="2148675"/>
            <a:chExt cx="3405623" cy="579027"/>
          </a:xfrm>
        </p:grpSpPr>
        <p:sp>
          <p:nvSpPr>
            <p:cNvPr id="27"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8" name="文本框 27"/>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zh-CN" sz="1400" dirty="0"/>
                <a:t>着力健全决策咨询工作体系</a:t>
              </a:r>
              <a:endParaRPr lang="zh-CN" altLang="zh-CN" sz="1400" dirty="0"/>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sz="2800" dirty="0">
                <a:solidFill>
                  <a:schemeClr val="accent3">
                    <a:lumMod val="75000"/>
                  </a:schemeClr>
                </a:solidFill>
                <a:sym typeface="+mn-ea"/>
              </a:rPr>
              <a:t>服务创新生态</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679183" y="66507"/>
            <a:ext cx="788764"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3.2</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4" name="组合 3"/>
          <p:cNvGrpSpPr/>
          <p:nvPr/>
        </p:nvGrpSpPr>
        <p:grpSpPr>
          <a:xfrm>
            <a:off x="7342686" y="2740737"/>
            <a:ext cx="3694466" cy="2867463"/>
            <a:chOff x="5958709" y="585789"/>
            <a:chExt cx="3694466" cy="2867463"/>
          </a:xfrm>
        </p:grpSpPr>
        <p:sp>
          <p:nvSpPr>
            <p:cNvPr id="5" name="等腰三角形 14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16200000">
              <a:off x="5506521" y="1037977"/>
              <a:ext cx="2867463" cy="1963088"/>
            </a:xfrm>
            <a:prstGeom prst="triangle">
              <a:avLst/>
            </a:prstGeom>
            <a:gradFill flip="none" rotWithShape="1">
              <a:gsLst>
                <a:gs pos="0">
                  <a:schemeClr val="accent1">
                    <a:lumMod val="5000"/>
                    <a:lumOff val="95000"/>
                    <a:alpha val="3000"/>
                  </a:schemeClr>
                </a:gs>
                <a:gs pos="97000">
                  <a:schemeClr val="accent1">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 name="椭圆 5"/>
            <p:cNvSpPr/>
            <p:nvPr/>
          </p:nvSpPr>
          <p:spPr>
            <a:xfrm>
              <a:off x="7253491" y="1018532"/>
              <a:ext cx="2124858" cy="2124858"/>
            </a:xfrm>
            <a:prstGeom prst="ellipse">
              <a:avLst/>
            </a:prstGeom>
            <a:gradFill flip="none" rotWithShape="1">
              <a:gsLst>
                <a:gs pos="35000">
                  <a:schemeClr val="accent1">
                    <a:lumMod val="60000"/>
                    <a:lumOff val="40000"/>
                  </a:schemeClr>
                </a:gs>
                <a:gs pos="100000">
                  <a:schemeClr val="accent1"/>
                </a:gs>
              </a:gsLst>
              <a:path path="circle">
                <a:fillToRect r="100000" b="100000"/>
              </a:path>
              <a:tileRect l="-100000" t="-100000"/>
            </a:gra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endParaRPr>
            </a:p>
          </p:txBody>
        </p:sp>
        <p:sp>
          <p:nvSpPr>
            <p:cNvPr id="9" name="椭圆 8"/>
            <p:cNvSpPr/>
            <p:nvPr/>
          </p:nvSpPr>
          <p:spPr>
            <a:xfrm>
              <a:off x="6905561" y="648487"/>
              <a:ext cx="2747614" cy="2747614"/>
            </a:xfrm>
            <a:prstGeom prst="ellipse">
              <a:avLst/>
            </a:prstGeom>
            <a:noFill/>
            <a:ln w="6350">
              <a:gradFill flip="none" rotWithShape="1">
                <a:gsLst>
                  <a:gs pos="7000">
                    <a:schemeClr val="bg1">
                      <a:alpha val="0"/>
                    </a:schemeClr>
                  </a:gs>
                  <a:gs pos="83000">
                    <a:schemeClr val="accent1">
                      <a:lumMod val="70000"/>
                      <a:lumOff val="30000"/>
                    </a:schemeClr>
                  </a:gs>
                </a:gsLst>
                <a:lin ang="30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5400000">
              <a:off x="6564486" y="1773734"/>
              <a:ext cx="361146" cy="54783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1" name="组合 10"/>
          <p:cNvGrpSpPr/>
          <p:nvPr/>
        </p:nvGrpSpPr>
        <p:grpSpPr>
          <a:xfrm flipH="1">
            <a:off x="1072586" y="2726896"/>
            <a:ext cx="3745449" cy="2867463"/>
            <a:chOff x="5958709" y="585789"/>
            <a:chExt cx="3694466" cy="2867463"/>
          </a:xfrm>
        </p:grpSpPr>
        <p:sp>
          <p:nvSpPr>
            <p:cNvPr id="12" name="等腰三角形 14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16200000">
              <a:off x="5506521" y="1037977"/>
              <a:ext cx="2867463" cy="1963088"/>
            </a:xfrm>
            <a:prstGeom prst="triangle">
              <a:avLst/>
            </a:prstGeom>
            <a:gradFill flip="none" rotWithShape="1">
              <a:gsLst>
                <a:gs pos="0">
                  <a:schemeClr val="accent1">
                    <a:lumMod val="5000"/>
                    <a:lumOff val="95000"/>
                    <a:alpha val="3000"/>
                  </a:schemeClr>
                </a:gs>
                <a:gs pos="97000">
                  <a:schemeClr val="accent1">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 name="椭圆 12"/>
            <p:cNvSpPr/>
            <p:nvPr/>
          </p:nvSpPr>
          <p:spPr>
            <a:xfrm>
              <a:off x="7253491" y="1018532"/>
              <a:ext cx="2124858" cy="2124858"/>
            </a:xfrm>
            <a:prstGeom prst="ellipse">
              <a:avLst/>
            </a:prstGeom>
            <a:gradFill flip="none" rotWithShape="1">
              <a:gsLst>
                <a:gs pos="35000">
                  <a:schemeClr val="accent1">
                    <a:lumMod val="60000"/>
                    <a:lumOff val="40000"/>
                  </a:schemeClr>
                </a:gs>
                <a:gs pos="100000">
                  <a:schemeClr val="accent1"/>
                </a:gs>
              </a:gsLst>
              <a:path path="circle">
                <a:fillToRect r="100000" b="100000"/>
              </a:path>
              <a:tileRect l="-100000" t="-100000"/>
            </a:gra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endParaRPr>
            </a:p>
          </p:txBody>
        </p:sp>
        <p:sp>
          <p:nvSpPr>
            <p:cNvPr id="15" name="文本框 14"/>
            <p:cNvSpPr txBox="1"/>
            <p:nvPr/>
          </p:nvSpPr>
          <p:spPr>
            <a:xfrm>
              <a:off x="7476015" y="1335087"/>
              <a:ext cx="1561609" cy="1754326"/>
            </a:xfrm>
            <a:prstGeom prst="rect">
              <a:avLst/>
            </a:prstGeom>
            <a:noFill/>
          </p:spPr>
          <p:txBody>
            <a:bodyPr wrap="square" rtlCol="0">
              <a:spAutoFit/>
            </a:bodyPr>
            <a:lstStyle/>
            <a:p>
              <a:pPr algn="ctr"/>
              <a:r>
                <a:rPr lang="zh-CN" altLang="en-US" sz="1200" dirty="0">
                  <a:solidFill>
                    <a:schemeClr val="bg1"/>
                  </a:solidFill>
                </a:rPr>
                <a:t>围绕落实新型举国体制，服务省重点创新方向，以产业需求为牵引，以平台为支撑，加强前瞻性技术布局，聚集教育、科技、人才等</a:t>
              </a:r>
              <a:r>
                <a:rPr lang="zh-CN" altLang="en-US" sz="1200" dirty="0" smtClean="0">
                  <a:solidFill>
                    <a:schemeClr val="bg1"/>
                  </a:solidFill>
                </a:rPr>
                <a:t>要素，</a:t>
              </a:r>
              <a:r>
                <a:rPr lang="zh-CN" altLang="en-US" sz="1200" dirty="0">
                  <a:solidFill>
                    <a:schemeClr val="bg1"/>
                  </a:solidFill>
                </a:rPr>
                <a:t>培育</a:t>
              </a:r>
              <a:r>
                <a:rPr lang="zh-CN" altLang="zh-CN" sz="1200" dirty="0">
                  <a:solidFill>
                    <a:schemeClr val="bg1"/>
                  </a:solidFill>
                </a:rPr>
                <a:t>创新生态</a:t>
              </a:r>
              <a:r>
                <a:rPr lang="zh-CN" altLang="en-US" sz="1200" dirty="0" smtClean="0">
                  <a:solidFill>
                    <a:schemeClr val="bg1"/>
                  </a:solidFill>
                </a:rPr>
                <a:t>试点。</a:t>
              </a:r>
              <a:endParaRPr lang="zh-CN" altLang="en-US" sz="1200" dirty="0">
                <a:solidFill>
                  <a:schemeClr val="bg1"/>
                </a:solidFill>
              </a:endParaRPr>
            </a:p>
            <a:p>
              <a:pPr algn="ctr"/>
              <a:endParaRPr lang="zh-CN" altLang="en-US" sz="1200" dirty="0">
                <a:solidFill>
                  <a:schemeClr val="bg1"/>
                </a:solidFill>
              </a:endParaRPr>
            </a:p>
          </p:txBody>
        </p:sp>
        <p:sp>
          <p:nvSpPr>
            <p:cNvPr id="16" name="椭圆 15"/>
            <p:cNvSpPr/>
            <p:nvPr/>
          </p:nvSpPr>
          <p:spPr>
            <a:xfrm>
              <a:off x="6905561" y="648487"/>
              <a:ext cx="2747614" cy="2747614"/>
            </a:xfrm>
            <a:prstGeom prst="ellipse">
              <a:avLst/>
            </a:prstGeom>
            <a:noFill/>
            <a:ln w="6350">
              <a:gradFill flip="none" rotWithShape="1">
                <a:gsLst>
                  <a:gs pos="7000">
                    <a:schemeClr val="bg1">
                      <a:alpha val="0"/>
                    </a:schemeClr>
                  </a:gs>
                  <a:gs pos="83000">
                    <a:schemeClr val="accent1">
                      <a:lumMod val="70000"/>
                      <a:lumOff val="30000"/>
                    </a:schemeClr>
                  </a:gs>
                </a:gsLst>
                <a:lin ang="30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16200000">
              <a:off x="6564486" y="1759445"/>
              <a:ext cx="361146" cy="54783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 name="文本框 17"/>
          <p:cNvSpPr txBox="1"/>
          <p:nvPr/>
        </p:nvSpPr>
        <p:spPr>
          <a:xfrm flipH="1">
            <a:off x="9013181" y="3636886"/>
            <a:ext cx="1583159" cy="1015663"/>
          </a:xfrm>
          <a:prstGeom prst="rect">
            <a:avLst/>
          </a:prstGeom>
          <a:noFill/>
        </p:spPr>
        <p:txBody>
          <a:bodyPr wrap="square" rtlCol="0">
            <a:spAutoFit/>
          </a:bodyPr>
          <a:lstStyle/>
          <a:p>
            <a:pPr algn="ctr"/>
            <a:r>
              <a:rPr lang="zh-CN" altLang="en-US" sz="1200" dirty="0">
                <a:solidFill>
                  <a:schemeClr val="bg1"/>
                </a:solidFill>
              </a:rPr>
              <a:t>引育高水平新型研发机构，吸引集聚一批高层次人才，服务省“</a:t>
            </a:r>
            <a:r>
              <a:rPr lang="en-US" altLang="zh-CN" sz="1200" dirty="0">
                <a:solidFill>
                  <a:schemeClr val="bg1"/>
                </a:solidFill>
              </a:rPr>
              <a:t>1313”</a:t>
            </a:r>
            <a:r>
              <a:rPr lang="zh-CN" altLang="en-US" sz="1200" dirty="0">
                <a:solidFill>
                  <a:schemeClr val="bg1"/>
                </a:solidFill>
              </a:rPr>
              <a:t>实验室等创新平台体系建设</a:t>
            </a:r>
            <a:endParaRPr lang="zh-CN" altLang="en-US" sz="1200" dirty="0">
              <a:solidFill>
                <a:schemeClr val="bg1"/>
              </a:solidFill>
            </a:endParaRPr>
          </a:p>
        </p:txBody>
      </p:sp>
      <p:grpSp>
        <p:nvGrpSpPr>
          <p:cNvPr id="14" name="组合 13"/>
          <p:cNvGrpSpPr/>
          <p:nvPr/>
        </p:nvGrpSpPr>
        <p:grpSpPr>
          <a:xfrm>
            <a:off x="4358680" y="2726896"/>
            <a:ext cx="3405623" cy="579027"/>
            <a:chOff x="4358680" y="2148675"/>
            <a:chExt cx="3405623" cy="579027"/>
          </a:xfrm>
        </p:grpSpPr>
        <p:sp>
          <p:nvSpPr>
            <p:cNvPr id="19"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8" name="文本框 7"/>
            <p:cNvSpPr txBox="1"/>
            <p:nvPr/>
          </p:nvSpPr>
          <p:spPr>
            <a:xfrm>
              <a:off x="4506027" y="2268911"/>
              <a:ext cx="305835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打造科技创新平台支撑服务体系</a:t>
              </a:r>
              <a:endParaRPr lang="zh-CN" altLang="en-US" sz="1400" dirty="0"/>
            </a:p>
          </p:txBody>
        </p:sp>
      </p:grpSp>
      <p:grpSp>
        <p:nvGrpSpPr>
          <p:cNvPr id="20" name="组合 19"/>
          <p:cNvGrpSpPr/>
          <p:nvPr/>
        </p:nvGrpSpPr>
        <p:grpSpPr>
          <a:xfrm>
            <a:off x="4357581" y="3442999"/>
            <a:ext cx="3405623" cy="579027"/>
            <a:chOff x="4358680" y="2148675"/>
            <a:chExt cx="3405623" cy="579027"/>
          </a:xfrm>
        </p:grpSpPr>
        <p:sp>
          <p:nvSpPr>
            <p:cNvPr id="21"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2" name="文本框 21"/>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打造专业化公共技术研发服务平台</a:t>
              </a:r>
              <a:endParaRPr lang="zh-CN" altLang="en-US" sz="1400" dirty="0"/>
            </a:p>
          </p:txBody>
        </p:sp>
      </p:grpSp>
      <p:grpSp>
        <p:nvGrpSpPr>
          <p:cNvPr id="23" name="组合 22"/>
          <p:cNvGrpSpPr/>
          <p:nvPr/>
        </p:nvGrpSpPr>
        <p:grpSpPr>
          <a:xfrm>
            <a:off x="4357580" y="4187101"/>
            <a:ext cx="3405623" cy="579027"/>
            <a:chOff x="4358680" y="2148675"/>
            <a:chExt cx="3405623" cy="579027"/>
          </a:xfrm>
        </p:grpSpPr>
        <p:sp>
          <p:nvSpPr>
            <p:cNvPr id="24"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5" name="文本框 24"/>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打造新型研发机构</a:t>
              </a:r>
              <a:endParaRPr lang="zh-CN" altLang="zh-CN" sz="1400" dirty="0"/>
            </a:p>
          </p:txBody>
        </p:sp>
      </p:grpSp>
      <p:grpSp>
        <p:nvGrpSpPr>
          <p:cNvPr id="26" name="组合 25"/>
          <p:cNvGrpSpPr/>
          <p:nvPr/>
        </p:nvGrpSpPr>
        <p:grpSpPr>
          <a:xfrm>
            <a:off x="4357579" y="4931203"/>
            <a:ext cx="3405623" cy="579027"/>
            <a:chOff x="4358680" y="2148675"/>
            <a:chExt cx="3405623" cy="579027"/>
          </a:xfrm>
        </p:grpSpPr>
        <p:sp>
          <p:nvSpPr>
            <p:cNvPr id="27"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8" name="文本框 27"/>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打造科技产业联合体</a:t>
              </a:r>
              <a:endParaRPr lang="zh-CN" altLang="en-US" sz="1400" dirty="0"/>
            </a:p>
          </p:txBody>
        </p:sp>
      </p:grpSp>
      <p:grpSp>
        <p:nvGrpSpPr>
          <p:cNvPr id="31" name="组合 30"/>
          <p:cNvGrpSpPr/>
          <p:nvPr/>
        </p:nvGrpSpPr>
        <p:grpSpPr>
          <a:xfrm>
            <a:off x="1395728" y="1294131"/>
            <a:ext cx="9690622" cy="1288460"/>
            <a:chOff x="1250042" y="1443321"/>
            <a:chExt cx="9690622" cy="1288460"/>
          </a:xfrm>
        </p:grpSpPr>
        <p:sp>
          <p:nvSpPr>
            <p:cNvPr id="32" name="文本框 31"/>
            <p:cNvSpPr txBox="1"/>
            <p:nvPr/>
          </p:nvSpPr>
          <p:spPr>
            <a:xfrm>
              <a:off x="2488104" y="2058994"/>
              <a:ext cx="7028248" cy="13681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algn="ctr" defTabSz="666750">
                <a:spcBef>
                  <a:spcPct val="0"/>
                </a:spcBef>
                <a:spcAft>
                  <a:spcPct val="35000"/>
                </a:spcAft>
              </a:pPr>
              <a:r>
                <a:rPr lang="zh-CN" altLang="en-US" sz="1600" dirty="0">
                  <a:solidFill>
                    <a:schemeClr val="accent1"/>
                  </a:solidFill>
                  <a:latin typeface="+mj-ea"/>
                  <a:ea typeface="+mj-ea"/>
                </a:rPr>
                <a:t>新一代信息技术、高端装备制造、</a:t>
              </a:r>
              <a:r>
                <a:rPr lang="zh-CN" altLang="en-US" sz="1600" dirty="0">
                  <a:solidFill>
                    <a:schemeClr val="accent1"/>
                  </a:solidFill>
                  <a:latin typeface="+mj-ea"/>
                  <a:ea typeface="+mj-ea"/>
                  <a:sym typeface="+mn-ea"/>
                </a:rPr>
                <a:t>生物医药</a:t>
              </a:r>
              <a:r>
                <a:rPr lang="zh-CN" altLang="zh-CN" sz="1600" dirty="0">
                  <a:solidFill>
                    <a:schemeClr val="accent1"/>
                  </a:solidFill>
                  <a:latin typeface="+mj-ea"/>
                  <a:ea typeface="+mj-ea"/>
                </a:rPr>
                <a:t>等战略</a:t>
              </a:r>
              <a:r>
                <a:rPr lang="zh-CN" altLang="zh-CN" sz="1600" dirty="0" smtClean="0">
                  <a:solidFill>
                    <a:schemeClr val="accent1"/>
                  </a:solidFill>
                  <a:latin typeface="+mj-ea"/>
                  <a:ea typeface="+mj-ea"/>
                </a:rPr>
                <a:t>新兴产业</a:t>
              </a:r>
              <a:r>
                <a:rPr lang="zh-CN" altLang="en-US" sz="1600" dirty="0" smtClean="0">
                  <a:solidFill>
                    <a:schemeClr val="accent1"/>
                  </a:solidFill>
                  <a:latin typeface="+mj-ea"/>
                  <a:ea typeface="+mj-ea"/>
                </a:rPr>
                <a:t> </a:t>
              </a:r>
              <a:endParaRPr lang="en-US" altLang="zh-CN" sz="1600" dirty="0">
                <a:solidFill>
                  <a:schemeClr val="accent1"/>
                </a:solidFill>
                <a:latin typeface="+mj-ea"/>
                <a:ea typeface="+mj-ea"/>
              </a:endParaRPr>
            </a:p>
            <a:p>
              <a:pPr algn="ctr" defTabSz="666750">
                <a:spcBef>
                  <a:spcPct val="0"/>
                </a:spcBef>
                <a:spcAft>
                  <a:spcPct val="35000"/>
                </a:spcAft>
              </a:pPr>
              <a:r>
                <a:rPr lang="zh-CN" altLang="en-US" sz="1600" dirty="0" smtClean="0">
                  <a:solidFill>
                    <a:schemeClr val="accent1"/>
                  </a:solidFill>
                  <a:latin typeface="+mj-ea"/>
                  <a:ea typeface="+mj-ea"/>
                  <a:sym typeface="+mn-ea"/>
                </a:rPr>
                <a:t>量子</a:t>
              </a:r>
              <a:r>
                <a:rPr lang="zh-CN" altLang="en-US" sz="1600" dirty="0">
                  <a:solidFill>
                    <a:schemeClr val="accent1"/>
                  </a:solidFill>
                  <a:latin typeface="+mj-ea"/>
                  <a:ea typeface="+mj-ea"/>
                  <a:sym typeface="+mn-ea"/>
                </a:rPr>
                <a:t>信息</a:t>
              </a:r>
              <a:r>
                <a:rPr lang="zh-CN" altLang="en-US" sz="1600" dirty="0" smtClean="0">
                  <a:solidFill>
                    <a:schemeClr val="accent1"/>
                  </a:solidFill>
                  <a:latin typeface="+mj-ea"/>
                  <a:ea typeface="+mj-ea"/>
                  <a:sym typeface="+mn-ea"/>
                </a:rPr>
                <a:t>、人工智能等</a:t>
              </a:r>
              <a:r>
                <a:rPr lang="zh-CN" altLang="en-US" sz="1600" dirty="0">
                  <a:solidFill>
                    <a:schemeClr val="accent1"/>
                  </a:solidFill>
                  <a:latin typeface="+mj-ea"/>
                  <a:ea typeface="+mj-ea"/>
                  <a:sym typeface="+mn-ea"/>
                </a:rPr>
                <a:t>未来产业</a:t>
              </a:r>
              <a:endParaRPr lang="zh-CN" altLang="en-US" sz="1600" dirty="0">
                <a:solidFill>
                  <a:schemeClr val="accent1"/>
                </a:solidFill>
                <a:latin typeface="+mj-ea"/>
                <a:ea typeface="+mj-ea"/>
                <a:sym typeface="+mn-ea"/>
              </a:endParaRPr>
            </a:p>
            <a:p>
              <a:pPr algn="ctr" defTabSz="666750">
                <a:spcBef>
                  <a:spcPct val="0"/>
                </a:spcBef>
                <a:spcAft>
                  <a:spcPct val="35000"/>
                </a:spcAft>
              </a:pPr>
              <a:endParaRPr lang="zh-CN" altLang="en-US" dirty="0">
                <a:solidFill>
                  <a:schemeClr val="accent1"/>
                </a:solidFill>
                <a:sym typeface="+mn-ea"/>
              </a:endParaRPr>
            </a:p>
          </p:txBody>
        </p:sp>
        <p:pic>
          <p:nvPicPr>
            <p:cNvPr id="33" name="图片 3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0800000">
              <a:off x="10352783" y="1453778"/>
              <a:ext cx="587881" cy="1278003"/>
            </a:xfrm>
            <a:prstGeom prst="rect">
              <a:avLst/>
            </a:prstGeom>
          </p:spPr>
        </p:pic>
        <p:pic>
          <p:nvPicPr>
            <p:cNvPr id="34" name="图片 3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50042" y="1443321"/>
              <a:ext cx="587881" cy="1278003"/>
            </a:xfrm>
            <a:prstGeom prst="rect">
              <a:avLst/>
            </a:prstGeom>
          </p:spPr>
        </p:pic>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a:solidFill>
                  <a:schemeClr val="accent3">
                    <a:lumMod val="75000"/>
                  </a:schemeClr>
                </a:solidFill>
                <a:latin typeface="+mj-ea"/>
                <a:sym typeface="Arial" panose="020B0604020202020204" pitchFamily="34" charset="0"/>
              </a:rPr>
              <a:t>赋能产业发展</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679183"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3.3</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4" name="组合 3"/>
          <p:cNvGrpSpPr/>
          <p:nvPr/>
        </p:nvGrpSpPr>
        <p:grpSpPr>
          <a:xfrm>
            <a:off x="7342686" y="2162516"/>
            <a:ext cx="3694466" cy="2867463"/>
            <a:chOff x="5958709" y="585789"/>
            <a:chExt cx="3694466" cy="2867463"/>
          </a:xfrm>
        </p:grpSpPr>
        <p:sp>
          <p:nvSpPr>
            <p:cNvPr id="5" name="等腰三角形 14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16200000">
              <a:off x="5506521" y="1037977"/>
              <a:ext cx="2867463" cy="1963088"/>
            </a:xfrm>
            <a:prstGeom prst="triangle">
              <a:avLst/>
            </a:prstGeom>
            <a:gradFill flip="none" rotWithShape="1">
              <a:gsLst>
                <a:gs pos="0">
                  <a:schemeClr val="accent1">
                    <a:lumMod val="5000"/>
                    <a:lumOff val="95000"/>
                    <a:alpha val="3000"/>
                  </a:schemeClr>
                </a:gs>
                <a:gs pos="97000">
                  <a:schemeClr val="accent1">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 name="椭圆 5"/>
            <p:cNvSpPr/>
            <p:nvPr/>
          </p:nvSpPr>
          <p:spPr>
            <a:xfrm>
              <a:off x="7253491" y="1018532"/>
              <a:ext cx="2124858" cy="2124858"/>
            </a:xfrm>
            <a:prstGeom prst="ellipse">
              <a:avLst/>
            </a:prstGeom>
            <a:gradFill flip="none" rotWithShape="1">
              <a:gsLst>
                <a:gs pos="35000">
                  <a:schemeClr val="accent1">
                    <a:lumMod val="60000"/>
                    <a:lumOff val="40000"/>
                  </a:schemeClr>
                </a:gs>
                <a:gs pos="100000">
                  <a:schemeClr val="accent1"/>
                </a:gs>
              </a:gsLst>
              <a:path path="circle">
                <a:fillToRect r="100000" b="100000"/>
              </a:path>
              <a:tileRect l="-100000" t="-100000"/>
            </a:gra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endParaRPr>
            </a:p>
          </p:txBody>
        </p:sp>
        <p:sp>
          <p:nvSpPr>
            <p:cNvPr id="9" name="椭圆 8"/>
            <p:cNvSpPr/>
            <p:nvPr/>
          </p:nvSpPr>
          <p:spPr>
            <a:xfrm>
              <a:off x="6905561" y="648487"/>
              <a:ext cx="2747614" cy="2747614"/>
            </a:xfrm>
            <a:prstGeom prst="ellipse">
              <a:avLst/>
            </a:prstGeom>
            <a:noFill/>
            <a:ln w="6350">
              <a:gradFill flip="none" rotWithShape="1">
                <a:gsLst>
                  <a:gs pos="7000">
                    <a:schemeClr val="bg1">
                      <a:alpha val="0"/>
                    </a:schemeClr>
                  </a:gs>
                  <a:gs pos="83000">
                    <a:schemeClr val="accent1">
                      <a:lumMod val="70000"/>
                      <a:lumOff val="30000"/>
                    </a:schemeClr>
                  </a:gs>
                </a:gsLst>
                <a:lin ang="30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5400000">
              <a:off x="6564486" y="1773734"/>
              <a:ext cx="361146" cy="54783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grpSp>
        <p:nvGrpSpPr>
          <p:cNvPr id="11" name="组合 10"/>
          <p:cNvGrpSpPr/>
          <p:nvPr/>
        </p:nvGrpSpPr>
        <p:grpSpPr>
          <a:xfrm flipH="1">
            <a:off x="1072586" y="2148675"/>
            <a:ext cx="3745449" cy="2867463"/>
            <a:chOff x="5958709" y="585789"/>
            <a:chExt cx="3694466" cy="2867463"/>
          </a:xfrm>
        </p:grpSpPr>
        <p:sp>
          <p:nvSpPr>
            <p:cNvPr id="12" name="等腰三角形 145"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rot="16200000">
              <a:off x="5506521" y="1037977"/>
              <a:ext cx="2867463" cy="1963088"/>
            </a:xfrm>
            <a:prstGeom prst="triangle">
              <a:avLst/>
            </a:prstGeom>
            <a:gradFill flip="none" rotWithShape="1">
              <a:gsLst>
                <a:gs pos="0">
                  <a:schemeClr val="accent1">
                    <a:lumMod val="5000"/>
                    <a:lumOff val="95000"/>
                    <a:alpha val="3000"/>
                  </a:schemeClr>
                </a:gs>
                <a:gs pos="97000">
                  <a:schemeClr val="accent1">
                    <a:lumMod val="40000"/>
                    <a:lumOff val="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 name="椭圆 12"/>
            <p:cNvSpPr/>
            <p:nvPr/>
          </p:nvSpPr>
          <p:spPr>
            <a:xfrm>
              <a:off x="7253491" y="1018532"/>
              <a:ext cx="2124858" cy="2124858"/>
            </a:xfrm>
            <a:prstGeom prst="ellipse">
              <a:avLst/>
            </a:prstGeom>
            <a:gradFill flip="none" rotWithShape="1">
              <a:gsLst>
                <a:gs pos="35000">
                  <a:schemeClr val="accent1">
                    <a:lumMod val="60000"/>
                    <a:lumOff val="40000"/>
                  </a:schemeClr>
                </a:gs>
                <a:gs pos="100000">
                  <a:schemeClr val="accent1"/>
                </a:gs>
              </a:gsLst>
              <a:path path="circle">
                <a:fillToRect r="100000" b="100000"/>
              </a:path>
              <a:tileRect l="-100000" t="-100000"/>
            </a:gradFill>
            <a:ln>
              <a:noFill/>
            </a:ln>
            <a:effectLst>
              <a:outerShdw blurRad="3683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cs typeface="+mn-ea"/>
              </a:endParaRPr>
            </a:p>
          </p:txBody>
        </p:sp>
        <p:sp>
          <p:nvSpPr>
            <p:cNvPr id="15" name="文本框 14"/>
            <p:cNvSpPr txBox="1"/>
            <p:nvPr/>
          </p:nvSpPr>
          <p:spPr>
            <a:xfrm>
              <a:off x="7345692" y="1435575"/>
              <a:ext cx="1892201" cy="1615827"/>
            </a:xfrm>
            <a:prstGeom prst="rect">
              <a:avLst/>
            </a:prstGeom>
            <a:noFill/>
          </p:spPr>
          <p:txBody>
            <a:bodyPr wrap="square" rtlCol="0">
              <a:spAutoFit/>
            </a:bodyPr>
            <a:lstStyle/>
            <a:p>
              <a:pPr algn="ctr"/>
              <a:r>
                <a:rPr lang="zh-CN" altLang="en-US" sz="1100" dirty="0">
                  <a:solidFill>
                    <a:schemeClr val="bg1"/>
                  </a:solidFill>
                </a:rPr>
                <a:t>以省科技厅科技成果转化工作为抓手，集聚“政产学研</a:t>
              </a:r>
              <a:r>
                <a:rPr lang="zh-CN" altLang="en-US" sz="1100" dirty="0" smtClean="0">
                  <a:solidFill>
                    <a:schemeClr val="bg1"/>
                  </a:solidFill>
                </a:rPr>
                <a:t>金服用</a:t>
              </a:r>
              <a:r>
                <a:rPr lang="zh-CN" altLang="en-US" sz="1100" dirty="0">
                  <a:solidFill>
                    <a:schemeClr val="bg1"/>
                  </a:solidFill>
                </a:rPr>
                <a:t>”创新资源，科学谋划、系统布局，探索成立科创产业联盟、科创飞地等成果转化载体，优化成果转化体系，推动科技成果转化政策落地</a:t>
              </a:r>
              <a:r>
                <a:rPr lang="zh-CN" altLang="zh-CN" sz="1100" dirty="0">
                  <a:solidFill>
                    <a:schemeClr val="bg1"/>
                  </a:solidFill>
                </a:rPr>
                <a:t>。</a:t>
              </a:r>
              <a:endParaRPr lang="zh-CN" altLang="en-US" sz="1100" dirty="0">
                <a:solidFill>
                  <a:schemeClr val="bg1"/>
                </a:solidFill>
              </a:endParaRPr>
            </a:p>
            <a:p>
              <a:pPr algn="ctr"/>
              <a:endParaRPr lang="zh-CN" altLang="en-US" sz="1100" dirty="0">
                <a:solidFill>
                  <a:schemeClr val="bg1"/>
                </a:solidFill>
              </a:endParaRPr>
            </a:p>
          </p:txBody>
        </p:sp>
        <p:sp>
          <p:nvSpPr>
            <p:cNvPr id="16" name="椭圆 15"/>
            <p:cNvSpPr/>
            <p:nvPr/>
          </p:nvSpPr>
          <p:spPr>
            <a:xfrm>
              <a:off x="6905561" y="648487"/>
              <a:ext cx="2747614" cy="2747614"/>
            </a:xfrm>
            <a:prstGeom prst="ellipse">
              <a:avLst/>
            </a:prstGeom>
            <a:noFill/>
            <a:ln w="6350">
              <a:gradFill flip="none" rotWithShape="1">
                <a:gsLst>
                  <a:gs pos="7000">
                    <a:schemeClr val="bg1">
                      <a:alpha val="0"/>
                    </a:schemeClr>
                  </a:gs>
                  <a:gs pos="83000">
                    <a:schemeClr val="accent1">
                      <a:lumMod val="70000"/>
                      <a:lumOff val="30000"/>
                    </a:schemeClr>
                  </a:gs>
                </a:gsLst>
                <a:lin ang="30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 66" descr="e7d195523061f1c0c30ee18c1b05f65d12b38e2533cb2ccdAE0CC34CB5CBEBFAEC353FED4DECE97C3E379FD1D933F5E4DC18EF8EA6B7A1130D5F6DE9DD2BE4B0A8C9126ACE5083D1F5A9E323B29CCFC7DEADAAD02728B0B26805FC0164F031F02466FB02A7B77F86C82C4F768F0913E1F1903D27BA3D7A86E37F24010CBB9F297DA6371F3AC76D34"/>
            <p:cNvSpPr/>
            <p:nvPr/>
          </p:nvSpPr>
          <p:spPr>
            <a:xfrm rot="16200000">
              <a:off x="6564486" y="1759445"/>
              <a:ext cx="361146" cy="547834"/>
            </a:xfrm>
            <a:prstGeom prst="upArrow">
              <a:avLst>
                <a:gd name="adj1" fmla="val 50000"/>
                <a:gd name="adj2" fmla="val 60378"/>
              </a:avLst>
            </a:prstGeom>
            <a:gradFill flip="none" rotWithShape="1">
              <a:gsLst>
                <a:gs pos="96000">
                  <a:schemeClr val="accent1">
                    <a:alpha val="0"/>
                  </a:schemeClr>
                </a:gs>
                <a:gs pos="0">
                  <a:srgbClr val="6BB6DB"/>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cs typeface="+mn-ea"/>
                <a:sym typeface="+mn-lt"/>
              </a:endParaRPr>
            </a:p>
          </p:txBody>
        </p:sp>
      </p:grpSp>
      <p:sp>
        <p:nvSpPr>
          <p:cNvPr id="18" name="文本框 17"/>
          <p:cNvSpPr txBox="1"/>
          <p:nvPr/>
        </p:nvSpPr>
        <p:spPr>
          <a:xfrm flipH="1">
            <a:off x="9026628" y="3026668"/>
            <a:ext cx="1583159" cy="1446550"/>
          </a:xfrm>
          <a:prstGeom prst="rect">
            <a:avLst/>
          </a:prstGeom>
          <a:noFill/>
        </p:spPr>
        <p:txBody>
          <a:bodyPr wrap="square" rtlCol="0">
            <a:spAutoFit/>
          </a:bodyPr>
          <a:lstStyle/>
          <a:p>
            <a:pPr algn="ctr"/>
            <a:r>
              <a:rPr lang="zh-CN" altLang="en-US" sz="1100" dirty="0">
                <a:solidFill>
                  <a:schemeClr val="bg1"/>
                </a:solidFill>
              </a:rPr>
              <a:t>建设省级技术转移平台，构建</a:t>
            </a:r>
            <a:r>
              <a:rPr lang="zh-CN" altLang="zh-CN" sz="1100" dirty="0">
                <a:solidFill>
                  <a:schemeClr val="bg1"/>
                </a:solidFill>
              </a:rPr>
              <a:t>覆盖科技创新全</a:t>
            </a:r>
            <a:r>
              <a:rPr lang="zh-CN" altLang="zh-CN" sz="1100" dirty="0" smtClean="0">
                <a:solidFill>
                  <a:schemeClr val="bg1"/>
                </a:solidFill>
              </a:rPr>
              <a:t>链条</a:t>
            </a:r>
            <a:r>
              <a:rPr lang="zh-CN" altLang="en-US" sz="1100" dirty="0" smtClean="0">
                <a:solidFill>
                  <a:schemeClr val="bg1"/>
                </a:solidFill>
              </a:rPr>
              <a:t>、</a:t>
            </a:r>
            <a:r>
              <a:rPr lang="zh-CN" altLang="zh-CN" sz="1100" dirty="0" smtClean="0">
                <a:solidFill>
                  <a:schemeClr val="bg1"/>
                </a:solidFill>
              </a:rPr>
              <a:t>全</a:t>
            </a:r>
            <a:r>
              <a:rPr lang="zh-CN" altLang="zh-CN" sz="1100" dirty="0">
                <a:solidFill>
                  <a:schemeClr val="bg1"/>
                </a:solidFill>
              </a:rPr>
              <a:t>过程的成果转化服务</a:t>
            </a:r>
            <a:r>
              <a:rPr lang="zh-CN" altLang="en-US" sz="1100" dirty="0">
                <a:solidFill>
                  <a:schemeClr val="bg1"/>
                </a:solidFill>
              </a:rPr>
              <a:t>示范</a:t>
            </a:r>
            <a:r>
              <a:rPr lang="zh-CN" altLang="zh-CN" sz="1100" dirty="0">
                <a:solidFill>
                  <a:schemeClr val="bg1"/>
                </a:solidFill>
              </a:rPr>
              <a:t>体系，</a:t>
            </a:r>
            <a:r>
              <a:rPr lang="zh-CN" altLang="en-US" sz="1100" dirty="0">
                <a:solidFill>
                  <a:schemeClr val="bg1"/>
                </a:solidFill>
              </a:rPr>
              <a:t>突出重点、明确定位，</a:t>
            </a:r>
            <a:r>
              <a:rPr lang="zh-CN" altLang="en-US" sz="1100" dirty="0" smtClean="0">
                <a:solidFill>
                  <a:schemeClr val="bg1"/>
                </a:solidFill>
              </a:rPr>
              <a:t>探索科技创新</a:t>
            </a:r>
            <a:r>
              <a:rPr lang="zh-CN" altLang="zh-CN" sz="1100" dirty="0" smtClean="0">
                <a:solidFill>
                  <a:schemeClr val="bg1"/>
                </a:solidFill>
              </a:rPr>
              <a:t>赋</a:t>
            </a:r>
            <a:r>
              <a:rPr lang="zh-CN" altLang="zh-CN" sz="1100" dirty="0">
                <a:solidFill>
                  <a:schemeClr val="bg1"/>
                </a:solidFill>
              </a:rPr>
              <a:t>能产业高质量发展</a:t>
            </a:r>
            <a:r>
              <a:rPr lang="zh-CN" altLang="en-US" sz="1100" dirty="0">
                <a:solidFill>
                  <a:schemeClr val="bg1"/>
                </a:solidFill>
              </a:rPr>
              <a:t>新</a:t>
            </a:r>
            <a:r>
              <a:rPr lang="zh-CN" altLang="en-US" sz="1100" dirty="0" smtClean="0">
                <a:solidFill>
                  <a:schemeClr val="bg1"/>
                </a:solidFill>
              </a:rPr>
              <a:t>模式，丰富新质生产力创新实践。</a:t>
            </a:r>
            <a:endParaRPr lang="zh-CN" altLang="en-US" sz="1100" dirty="0">
              <a:solidFill>
                <a:schemeClr val="bg1"/>
              </a:solidFill>
            </a:endParaRPr>
          </a:p>
        </p:txBody>
      </p:sp>
      <p:grpSp>
        <p:nvGrpSpPr>
          <p:cNvPr id="14" name="组合 13"/>
          <p:cNvGrpSpPr/>
          <p:nvPr/>
        </p:nvGrpSpPr>
        <p:grpSpPr>
          <a:xfrm>
            <a:off x="4358680" y="2148675"/>
            <a:ext cx="3405623" cy="579027"/>
            <a:chOff x="4358680" y="2148675"/>
            <a:chExt cx="3405623" cy="579027"/>
          </a:xfrm>
        </p:grpSpPr>
        <p:sp>
          <p:nvSpPr>
            <p:cNvPr id="19"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8" name="文本框 7"/>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探索建设成果转化区域协同体系</a:t>
              </a:r>
              <a:endParaRPr lang="zh-CN" altLang="en-US" sz="1400" dirty="0"/>
            </a:p>
          </p:txBody>
        </p:sp>
      </p:grpSp>
      <p:grpSp>
        <p:nvGrpSpPr>
          <p:cNvPr id="20" name="组合 19"/>
          <p:cNvGrpSpPr/>
          <p:nvPr/>
        </p:nvGrpSpPr>
        <p:grpSpPr>
          <a:xfrm>
            <a:off x="4357581" y="2864778"/>
            <a:ext cx="3405623" cy="579027"/>
            <a:chOff x="4358680" y="2148675"/>
            <a:chExt cx="3405623" cy="579027"/>
          </a:xfrm>
        </p:grpSpPr>
        <p:sp>
          <p:nvSpPr>
            <p:cNvPr id="21"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2" name="文本框 21"/>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探索建设成果转化对外合作体系</a:t>
              </a:r>
              <a:endParaRPr lang="zh-CN" altLang="en-US" sz="1400" dirty="0"/>
            </a:p>
          </p:txBody>
        </p:sp>
      </p:grpSp>
      <p:grpSp>
        <p:nvGrpSpPr>
          <p:cNvPr id="23" name="组合 22"/>
          <p:cNvGrpSpPr/>
          <p:nvPr/>
        </p:nvGrpSpPr>
        <p:grpSpPr>
          <a:xfrm>
            <a:off x="4357580" y="3608880"/>
            <a:ext cx="3405623" cy="579027"/>
            <a:chOff x="4358680" y="2148675"/>
            <a:chExt cx="3405623" cy="579027"/>
          </a:xfrm>
        </p:grpSpPr>
        <p:sp>
          <p:nvSpPr>
            <p:cNvPr id="24"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5" name="文本框 24"/>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探索建设成果转化公共服务体系</a:t>
              </a:r>
              <a:endParaRPr lang="zh-CN" altLang="en-US" sz="1400" dirty="0"/>
            </a:p>
          </p:txBody>
        </p:sp>
      </p:grpSp>
      <p:grpSp>
        <p:nvGrpSpPr>
          <p:cNvPr id="26" name="组合 25"/>
          <p:cNvGrpSpPr/>
          <p:nvPr/>
        </p:nvGrpSpPr>
        <p:grpSpPr>
          <a:xfrm>
            <a:off x="4357579" y="4352982"/>
            <a:ext cx="3405623" cy="579027"/>
            <a:chOff x="4358680" y="2148675"/>
            <a:chExt cx="3405623" cy="579027"/>
          </a:xfrm>
        </p:grpSpPr>
        <p:sp>
          <p:nvSpPr>
            <p:cNvPr id="27" name="矩形: 圆角 46" descr="e7d195523061f1c0c30ee18c1b05f65d12b38e2533cb2ccdAE0CC34CB5CBEBFAEC353FED4DECE97C3E379FD1D933F5E4DC18EF8EA6B7A1130D5F6DE9DD2BE4B0A8C9126ACE5083D1F5A9E323B29CCFC7A0F015870C7EDFD497DF10C5E614BBE82DF23E8101B4FD55052F7945C8867B77930E0CA200F91730BB78567110BDAEEFF7FF113567E2D723"/>
            <p:cNvSpPr/>
            <p:nvPr/>
          </p:nvSpPr>
          <p:spPr>
            <a:xfrm>
              <a:off x="4358680" y="2148675"/>
              <a:ext cx="3405623" cy="579027"/>
            </a:xfrm>
            <a:prstGeom prst="roundRect">
              <a:avLst>
                <a:gd name="adj" fmla="val 21888"/>
              </a:avLst>
            </a:prstGeom>
            <a:gradFill flip="none" rotWithShape="1">
              <a:gsLst>
                <a:gs pos="0">
                  <a:schemeClr val="accent1">
                    <a:lumMod val="60000"/>
                    <a:lumOff val="40000"/>
                    <a:alpha val="0"/>
                  </a:schemeClr>
                </a:gs>
                <a:gs pos="100000">
                  <a:schemeClr val="accent1"/>
                </a:gs>
              </a:gsLst>
              <a:lin ang="7800000" scaled="0"/>
              <a:tileRect/>
            </a:gradFill>
            <a:ln>
              <a:noFill/>
            </a:ln>
            <a:effectLst>
              <a:outerShdw blurRad="317500" dist="88900" dir="2700000" sx="99000" sy="99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28" name="文本框 27"/>
            <p:cNvSpPr txBox="1"/>
            <p:nvPr/>
          </p:nvSpPr>
          <p:spPr>
            <a:xfrm>
              <a:off x="4566749" y="2268911"/>
              <a:ext cx="2943846" cy="307777"/>
            </a:xfrm>
            <a:prstGeom prst="rect">
              <a:avLst/>
            </a:prstGeom>
            <a:noFill/>
          </p:spPr>
          <p:txBody>
            <a:bodyPr wrap="square" rtlCol="0">
              <a:spAutoFit/>
            </a:bodyPr>
            <a:lstStyle>
              <a:defPPr>
                <a:defRPr lang="zh-CN"/>
              </a:defPPr>
              <a:lvl1pPr>
                <a:defRPr sz="3200">
                  <a:solidFill>
                    <a:schemeClr val="bg1"/>
                  </a:solidFill>
                  <a:latin typeface="+mj-lt"/>
                  <a:ea typeface="+mj-ea"/>
                </a:defRPr>
              </a:lvl1pPr>
            </a:lstStyle>
            <a:p>
              <a:pPr algn="ctr">
                <a:defRPr/>
              </a:pPr>
              <a:r>
                <a:rPr lang="zh-CN" altLang="en-US" sz="1400" dirty="0"/>
                <a:t>探索建设成果转化省市联动体系</a:t>
              </a:r>
              <a:endParaRPr lang="zh-CN" altLang="zh-CN" sz="1400" dirty="0"/>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467947" y="282634"/>
            <a:ext cx="5996881" cy="465512"/>
          </a:xfrm>
          <a:prstGeom prst="rect">
            <a:avLst/>
          </a:prstGeom>
        </p:spPr>
        <p:txBody>
          <a:bodyPr>
            <a:normAutofit lnSpcReduction="100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sz="2800" b="1" dirty="0">
                <a:solidFill>
                  <a:schemeClr val="accent3">
                    <a:lumMod val="75000"/>
                  </a:schemeClr>
                </a:solidFill>
                <a:latin typeface="+mj-lt"/>
                <a:ea typeface="+mj-ea"/>
                <a:cs typeface="+mj-cs"/>
                <a:sym typeface="宋体" panose="02010600030101010101" pitchFamily="2" charset="-122"/>
              </a:rPr>
              <a:t>实施五大重点任务</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759865"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a:t>
            </a:r>
            <a:endParaRPr kumimoji="1" lang="zh-CN" altLang="en-US" sz="3200" b="1" dirty="0">
              <a:solidFill>
                <a:schemeClr val="bg1"/>
              </a:solidFill>
              <a:effectLst>
                <a:outerShdw blurRad="50800" dist="38100" dir="2700000" algn="tl" rotWithShape="0">
                  <a:prstClr val="black">
                    <a:alpha val="40000"/>
                  </a:prstClr>
                </a:outerShdw>
              </a:effectLst>
            </a:endParaRPr>
          </a:p>
        </p:txBody>
      </p:sp>
      <p:sp>
        <p:nvSpPr>
          <p:cNvPr id="7" name="任意多边形: 形状 7"/>
          <p:cNvSpPr/>
          <p:nvPr>
            <p:custDataLst>
              <p:tags r:id="rId1"/>
            </p:custDataLst>
          </p:nvPr>
        </p:nvSpPr>
        <p:spPr>
          <a:xfrm>
            <a:off x="654300" y="3381227"/>
            <a:ext cx="11227238" cy="1015350"/>
          </a:xfrm>
          <a:custGeom>
            <a:avLst/>
            <a:gdLst>
              <a:gd name="connsiteX0" fmla="*/ 3543301 w 10901045"/>
              <a:gd name="connsiteY0" fmla="*/ 279 h 1134452"/>
              <a:gd name="connsiteX1" fmla="*/ 7848600 w 10901045"/>
              <a:gd name="connsiteY1" fmla="*/ 736879 h 1134452"/>
              <a:gd name="connsiteX2" fmla="*/ 10767295 w 10901045"/>
              <a:gd name="connsiteY2" fmla="*/ 85004 h 1134452"/>
              <a:gd name="connsiteX3" fmla="*/ 10901045 w 10901045"/>
              <a:gd name="connsiteY3" fmla="*/ 42139 h 1134452"/>
              <a:gd name="connsiteX4" fmla="*/ 10901045 w 10901045"/>
              <a:gd name="connsiteY4" fmla="*/ 43808 h 1134452"/>
              <a:gd name="connsiteX5" fmla="*/ 10822831 w 10901045"/>
              <a:gd name="connsiteY5" fmla="*/ 78873 h 1134452"/>
              <a:gd name="connsiteX6" fmla="*/ 7734300 w 10901045"/>
              <a:gd name="connsiteY6" fmla="*/ 1130579 h 1134452"/>
              <a:gd name="connsiteX7" fmla="*/ 3670301 w 10901045"/>
              <a:gd name="connsiteY7" fmla="*/ 305079 h 1134452"/>
              <a:gd name="connsiteX8" fmla="*/ 7082 w 10901045"/>
              <a:gd name="connsiteY8" fmla="*/ 719280 h 1134452"/>
              <a:gd name="connsiteX9" fmla="*/ 0 w 10901045"/>
              <a:gd name="connsiteY9" fmla="*/ 720709 h 1134452"/>
              <a:gd name="connsiteX10" fmla="*/ 0 w 10901045"/>
              <a:gd name="connsiteY10" fmla="*/ 720136 h 1134452"/>
              <a:gd name="connsiteX11" fmla="*/ 108540 w 10901045"/>
              <a:gd name="connsiteY11" fmla="*/ 685260 h 1134452"/>
              <a:gd name="connsiteX12" fmla="*/ 3543301 w 10901045"/>
              <a:gd name="connsiteY12" fmla="*/ 279 h 113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01045" h="1134452">
                <a:moveTo>
                  <a:pt x="3543301" y="279"/>
                </a:moveTo>
                <a:cubicBezTo>
                  <a:pt x="4912783" y="-16654"/>
                  <a:pt x="6576483" y="743229"/>
                  <a:pt x="7848600" y="736879"/>
                </a:cubicBezTo>
                <a:cubicBezTo>
                  <a:pt x="8882195" y="731720"/>
                  <a:pt x="10058317" y="315745"/>
                  <a:pt x="10767295" y="85004"/>
                </a:cubicBezTo>
                <a:lnTo>
                  <a:pt x="10901045" y="42139"/>
                </a:lnTo>
                <a:lnTo>
                  <a:pt x="10901045" y="43808"/>
                </a:lnTo>
                <a:lnTo>
                  <a:pt x="10822831" y="78873"/>
                </a:lnTo>
                <a:cubicBezTo>
                  <a:pt x="10063005" y="425249"/>
                  <a:pt x="8761016" y="1075546"/>
                  <a:pt x="7734300" y="1130579"/>
                </a:cubicBezTo>
                <a:cubicBezTo>
                  <a:pt x="6470650" y="1198312"/>
                  <a:pt x="5046133" y="355879"/>
                  <a:pt x="3670301" y="305079"/>
                </a:cubicBezTo>
                <a:cubicBezTo>
                  <a:pt x="2466447" y="260629"/>
                  <a:pt x="1238283" y="473850"/>
                  <a:pt x="7082" y="719280"/>
                </a:cubicBezTo>
                <a:lnTo>
                  <a:pt x="0" y="720709"/>
                </a:lnTo>
                <a:lnTo>
                  <a:pt x="0" y="720136"/>
                </a:lnTo>
                <a:lnTo>
                  <a:pt x="108540" y="685260"/>
                </a:lnTo>
                <a:cubicBezTo>
                  <a:pt x="1222061" y="331338"/>
                  <a:pt x="2345003" y="15096"/>
                  <a:pt x="3543301" y="279"/>
                </a:cubicBezTo>
                <a:close/>
              </a:path>
            </a:pathLst>
          </a:custGeom>
          <a:gradFill>
            <a:gsLst>
              <a:gs pos="0">
                <a:schemeClr val="accent1">
                  <a:lumMod val="40000"/>
                  <a:lumOff val="60000"/>
                </a:schemeClr>
              </a:gs>
              <a:gs pos="100000">
                <a:schemeClr val="accent1">
                  <a:lumMod val="40000"/>
                  <a:lumOff val="60000"/>
                </a:schemeClr>
              </a:gs>
            </a:gsLst>
            <a:lin ang="5400000" scaled="0"/>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29" name="任意多边形: 形状 6"/>
          <p:cNvSpPr/>
          <p:nvPr>
            <p:custDataLst>
              <p:tags r:id="rId2"/>
            </p:custDataLst>
          </p:nvPr>
        </p:nvSpPr>
        <p:spPr>
          <a:xfrm>
            <a:off x="737589" y="3557857"/>
            <a:ext cx="10581445" cy="696849"/>
          </a:xfrm>
          <a:custGeom>
            <a:avLst/>
            <a:gdLst>
              <a:gd name="connsiteX0" fmla="*/ 3543301 w 10901045"/>
              <a:gd name="connsiteY0" fmla="*/ 279 h 1134452"/>
              <a:gd name="connsiteX1" fmla="*/ 7848600 w 10901045"/>
              <a:gd name="connsiteY1" fmla="*/ 736879 h 1134452"/>
              <a:gd name="connsiteX2" fmla="*/ 10767295 w 10901045"/>
              <a:gd name="connsiteY2" fmla="*/ 85004 h 1134452"/>
              <a:gd name="connsiteX3" fmla="*/ 10901045 w 10901045"/>
              <a:gd name="connsiteY3" fmla="*/ 42139 h 1134452"/>
              <a:gd name="connsiteX4" fmla="*/ 10901045 w 10901045"/>
              <a:gd name="connsiteY4" fmla="*/ 43808 h 1134452"/>
              <a:gd name="connsiteX5" fmla="*/ 10822831 w 10901045"/>
              <a:gd name="connsiteY5" fmla="*/ 78873 h 1134452"/>
              <a:gd name="connsiteX6" fmla="*/ 7734300 w 10901045"/>
              <a:gd name="connsiteY6" fmla="*/ 1130579 h 1134452"/>
              <a:gd name="connsiteX7" fmla="*/ 3670301 w 10901045"/>
              <a:gd name="connsiteY7" fmla="*/ 305079 h 1134452"/>
              <a:gd name="connsiteX8" fmla="*/ 7082 w 10901045"/>
              <a:gd name="connsiteY8" fmla="*/ 719280 h 1134452"/>
              <a:gd name="connsiteX9" fmla="*/ 0 w 10901045"/>
              <a:gd name="connsiteY9" fmla="*/ 720709 h 1134452"/>
              <a:gd name="connsiteX10" fmla="*/ 0 w 10901045"/>
              <a:gd name="connsiteY10" fmla="*/ 720136 h 1134452"/>
              <a:gd name="connsiteX11" fmla="*/ 108540 w 10901045"/>
              <a:gd name="connsiteY11" fmla="*/ 685260 h 1134452"/>
              <a:gd name="connsiteX12" fmla="*/ 3543301 w 10901045"/>
              <a:gd name="connsiteY12" fmla="*/ 279 h 1134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901045" h="1134452">
                <a:moveTo>
                  <a:pt x="3543301" y="279"/>
                </a:moveTo>
                <a:cubicBezTo>
                  <a:pt x="4912783" y="-16654"/>
                  <a:pt x="6576483" y="743229"/>
                  <a:pt x="7848600" y="736879"/>
                </a:cubicBezTo>
                <a:cubicBezTo>
                  <a:pt x="8882195" y="731720"/>
                  <a:pt x="10058317" y="315745"/>
                  <a:pt x="10767295" y="85004"/>
                </a:cubicBezTo>
                <a:lnTo>
                  <a:pt x="10901045" y="42139"/>
                </a:lnTo>
                <a:lnTo>
                  <a:pt x="10901045" y="43808"/>
                </a:lnTo>
                <a:lnTo>
                  <a:pt x="10822831" y="78873"/>
                </a:lnTo>
                <a:cubicBezTo>
                  <a:pt x="10063005" y="425249"/>
                  <a:pt x="8761016" y="1075546"/>
                  <a:pt x="7734300" y="1130579"/>
                </a:cubicBezTo>
                <a:cubicBezTo>
                  <a:pt x="6470650" y="1198312"/>
                  <a:pt x="5046133" y="355879"/>
                  <a:pt x="3670301" y="305079"/>
                </a:cubicBezTo>
                <a:cubicBezTo>
                  <a:pt x="2466447" y="260629"/>
                  <a:pt x="1238283" y="473850"/>
                  <a:pt x="7082" y="719280"/>
                </a:cubicBezTo>
                <a:lnTo>
                  <a:pt x="0" y="720709"/>
                </a:lnTo>
                <a:lnTo>
                  <a:pt x="0" y="720136"/>
                </a:lnTo>
                <a:lnTo>
                  <a:pt x="108540" y="685260"/>
                </a:lnTo>
                <a:cubicBezTo>
                  <a:pt x="1222061" y="331338"/>
                  <a:pt x="2345003" y="15096"/>
                  <a:pt x="3543301" y="279"/>
                </a:cubicBezTo>
                <a:close/>
              </a:path>
            </a:pathLst>
          </a:custGeom>
          <a:gradFill>
            <a:gsLst>
              <a:gs pos="0">
                <a:srgbClr val="FFFFFF"/>
              </a:gs>
              <a:gs pos="74000">
                <a:schemeClr val="accent1"/>
              </a:gs>
              <a:gs pos="100000">
                <a:schemeClr val="accent1"/>
              </a:gs>
            </a:gsLst>
            <a:lin ang="5400000" scaled="0"/>
          </a:gradFill>
          <a:ln w="254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cxnSp>
        <p:nvCxnSpPr>
          <p:cNvPr id="30" name="直接连接符 41"/>
          <p:cNvCxnSpPr>
            <a:stCxn id="31" idx="4"/>
          </p:cNvCxnSpPr>
          <p:nvPr>
            <p:custDataLst>
              <p:tags r:id="rId3"/>
            </p:custDataLst>
          </p:nvPr>
        </p:nvCxnSpPr>
        <p:spPr>
          <a:xfrm>
            <a:off x="1054464" y="2150297"/>
            <a:ext cx="0" cy="1827570"/>
          </a:xfrm>
          <a:prstGeom prst="line">
            <a:avLst/>
          </a:prstGeom>
          <a:ln w="12700">
            <a:gradFill>
              <a:gsLst>
                <a:gs pos="0">
                  <a:srgbClr val="254AB9"/>
                </a:gs>
                <a:gs pos="100000">
                  <a:srgbClr val="254AB9">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31" name="椭圆 30"/>
          <p:cNvSpPr/>
          <p:nvPr>
            <p:custDataLst>
              <p:tags r:id="rId4"/>
            </p:custDataLst>
          </p:nvPr>
        </p:nvSpPr>
        <p:spPr>
          <a:xfrm>
            <a:off x="860790" y="1762949"/>
            <a:ext cx="387348" cy="387348"/>
          </a:xfrm>
          <a:prstGeom prst="ellipse">
            <a:avLst/>
          </a:prstGeom>
          <a:solidFill>
            <a:schemeClr val="accent1"/>
          </a:solidFill>
          <a:ln w="25400">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32" name="文本框 22"/>
          <p:cNvSpPr txBox="1"/>
          <p:nvPr>
            <p:custDataLst>
              <p:tags r:id="rId5"/>
            </p:custDataLst>
          </p:nvPr>
        </p:nvSpPr>
        <p:spPr>
          <a:xfrm>
            <a:off x="4392368" y="4230173"/>
            <a:ext cx="2486690" cy="913455"/>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30000"/>
              </a:lnSpc>
              <a:defRPr/>
            </a:pPr>
            <a:r>
              <a:rPr lang="zh-CN" altLang="en-US" sz="2400" b="1" dirty="0">
                <a:solidFill>
                  <a:schemeClr val="accent3">
                    <a:lumMod val="75000"/>
                  </a:schemeClr>
                </a:solidFill>
                <a:latin typeface="+mn-ea"/>
              </a:rPr>
              <a:t>打造高端科技</a:t>
            </a:r>
            <a:endParaRPr lang="en-US" altLang="zh-CN" sz="2400" b="1" dirty="0">
              <a:solidFill>
                <a:schemeClr val="accent3">
                  <a:lumMod val="75000"/>
                </a:schemeClr>
              </a:solidFill>
              <a:latin typeface="+mn-ea"/>
            </a:endParaRPr>
          </a:p>
          <a:p>
            <a:pPr lvl="0">
              <a:lnSpc>
                <a:spcPct val="130000"/>
              </a:lnSpc>
              <a:defRPr/>
            </a:pPr>
            <a:r>
              <a:rPr lang="zh-CN" altLang="en-US" sz="2400" b="1" dirty="0">
                <a:solidFill>
                  <a:schemeClr val="accent3">
                    <a:lumMod val="75000"/>
                  </a:schemeClr>
                </a:solidFill>
                <a:latin typeface="+mn-ea"/>
              </a:rPr>
              <a:t>创新智库</a:t>
            </a:r>
            <a:endParaRPr lang="zh-CN" altLang="en-US" sz="2400" b="1" dirty="0">
              <a:solidFill>
                <a:schemeClr val="accent3">
                  <a:lumMod val="75000"/>
                </a:schemeClr>
              </a:solidFill>
              <a:latin typeface="+mn-ea"/>
            </a:endParaRPr>
          </a:p>
        </p:txBody>
      </p:sp>
      <p:cxnSp>
        <p:nvCxnSpPr>
          <p:cNvPr id="34" name="直接连接符 56"/>
          <p:cNvCxnSpPr/>
          <p:nvPr>
            <p:custDataLst>
              <p:tags r:id="rId6"/>
            </p:custDataLst>
          </p:nvPr>
        </p:nvCxnSpPr>
        <p:spPr>
          <a:xfrm>
            <a:off x="2856369" y="3977867"/>
            <a:ext cx="0" cy="1231900"/>
          </a:xfrm>
          <a:prstGeom prst="line">
            <a:avLst/>
          </a:prstGeom>
          <a:ln w="12700">
            <a:gradFill>
              <a:gsLst>
                <a:gs pos="0">
                  <a:srgbClr val="254AB9"/>
                </a:gs>
                <a:gs pos="100000">
                  <a:srgbClr val="254AB9">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35" name="椭圆 34"/>
          <p:cNvSpPr/>
          <p:nvPr>
            <p:custDataLst>
              <p:tags r:id="rId7"/>
            </p:custDataLst>
          </p:nvPr>
        </p:nvSpPr>
        <p:spPr>
          <a:xfrm>
            <a:off x="2662695" y="5120955"/>
            <a:ext cx="387348" cy="387348"/>
          </a:xfrm>
          <a:prstGeom prst="ellipse">
            <a:avLst/>
          </a:prstGeom>
          <a:solidFill>
            <a:schemeClr val="accent1"/>
          </a:solidFill>
          <a:ln w="25400">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cxnSp>
        <p:nvCxnSpPr>
          <p:cNvPr id="36" name="直接连接符 58"/>
          <p:cNvCxnSpPr/>
          <p:nvPr>
            <p:custDataLst>
              <p:tags r:id="rId8"/>
            </p:custDataLst>
          </p:nvPr>
        </p:nvCxnSpPr>
        <p:spPr>
          <a:xfrm>
            <a:off x="4661207" y="2302551"/>
            <a:ext cx="0" cy="928190"/>
          </a:xfrm>
          <a:prstGeom prst="line">
            <a:avLst/>
          </a:prstGeom>
          <a:ln w="12700">
            <a:gradFill>
              <a:gsLst>
                <a:gs pos="0">
                  <a:srgbClr val="254AB9"/>
                </a:gs>
                <a:gs pos="100000">
                  <a:srgbClr val="254AB9">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37" name="椭圆 36"/>
          <p:cNvSpPr/>
          <p:nvPr>
            <p:custDataLst>
              <p:tags r:id="rId9"/>
            </p:custDataLst>
          </p:nvPr>
        </p:nvSpPr>
        <p:spPr>
          <a:xfrm>
            <a:off x="4467533" y="1915203"/>
            <a:ext cx="387348" cy="387348"/>
          </a:xfrm>
          <a:prstGeom prst="ellipse">
            <a:avLst/>
          </a:prstGeom>
          <a:solidFill>
            <a:schemeClr val="accent1"/>
          </a:solidFill>
          <a:ln w="25400">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cxnSp>
        <p:nvCxnSpPr>
          <p:cNvPr id="38" name="直接连接符 60"/>
          <p:cNvCxnSpPr/>
          <p:nvPr>
            <p:custDataLst>
              <p:tags r:id="rId10"/>
            </p:custDataLst>
          </p:nvPr>
        </p:nvCxnSpPr>
        <p:spPr>
          <a:xfrm>
            <a:off x="6461593" y="4304529"/>
            <a:ext cx="0" cy="1365874"/>
          </a:xfrm>
          <a:prstGeom prst="line">
            <a:avLst/>
          </a:prstGeom>
          <a:ln w="12700">
            <a:gradFill>
              <a:gsLst>
                <a:gs pos="0">
                  <a:srgbClr val="254AB9"/>
                </a:gs>
                <a:gs pos="100000">
                  <a:srgbClr val="254AB9">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39" name="椭圆 38"/>
          <p:cNvSpPr/>
          <p:nvPr>
            <p:custDataLst>
              <p:tags r:id="rId11"/>
            </p:custDataLst>
          </p:nvPr>
        </p:nvSpPr>
        <p:spPr>
          <a:xfrm>
            <a:off x="6267919" y="5476729"/>
            <a:ext cx="387348" cy="387348"/>
          </a:xfrm>
          <a:prstGeom prst="ellipse">
            <a:avLst/>
          </a:prstGeom>
          <a:solidFill>
            <a:schemeClr val="accent1"/>
          </a:solidFill>
          <a:ln w="25400">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cxnSp>
        <p:nvCxnSpPr>
          <p:cNvPr id="40" name="直接连接符 62"/>
          <p:cNvCxnSpPr/>
          <p:nvPr>
            <p:custDataLst>
              <p:tags r:id="rId12"/>
            </p:custDataLst>
          </p:nvPr>
        </p:nvCxnSpPr>
        <p:spPr>
          <a:xfrm>
            <a:off x="8133412" y="2781879"/>
            <a:ext cx="0" cy="1003123"/>
          </a:xfrm>
          <a:prstGeom prst="line">
            <a:avLst/>
          </a:prstGeom>
          <a:ln w="12700">
            <a:gradFill>
              <a:gsLst>
                <a:gs pos="0">
                  <a:srgbClr val="254AB9"/>
                </a:gs>
                <a:gs pos="100000">
                  <a:srgbClr val="254AB9">
                    <a:alpha val="0"/>
                  </a:srgbClr>
                </a:gs>
              </a:gsLst>
              <a:lin ang="5400000" scaled="0"/>
            </a:gradFill>
          </a:ln>
        </p:spPr>
        <p:style>
          <a:lnRef idx="1">
            <a:schemeClr val="accent1"/>
          </a:lnRef>
          <a:fillRef idx="0">
            <a:schemeClr val="accent1"/>
          </a:fillRef>
          <a:effectRef idx="0">
            <a:schemeClr val="accent1"/>
          </a:effectRef>
          <a:fontRef idx="minor">
            <a:schemeClr val="tx1"/>
          </a:fontRef>
        </p:style>
      </p:cxnSp>
      <p:sp>
        <p:nvSpPr>
          <p:cNvPr id="41" name="椭圆 40"/>
          <p:cNvSpPr/>
          <p:nvPr>
            <p:custDataLst>
              <p:tags r:id="rId13"/>
            </p:custDataLst>
          </p:nvPr>
        </p:nvSpPr>
        <p:spPr>
          <a:xfrm>
            <a:off x="7953114" y="2239791"/>
            <a:ext cx="387348" cy="387348"/>
          </a:xfrm>
          <a:prstGeom prst="ellipse">
            <a:avLst/>
          </a:prstGeom>
          <a:solidFill>
            <a:schemeClr val="accent1"/>
          </a:solidFill>
          <a:ln w="25400">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panose="00020600040101010101" charset="-122"/>
              <a:ea typeface="OPPOSans R" panose="00020600040101010101" charset="-122"/>
              <a:cs typeface="+mn-cs"/>
            </a:endParaRPr>
          </a:p>
        </p:txBody>
      </p:sp>
      <p:sp>
        <p:nvSpPr>
          <p:cNvPr id="42" name="文本框 22"/>
          <p:cNvSpPr txBox="1"/>
          <p:nvPr>
            <p:custDataLst>
              <p:tags r:id="rId14"/>
            </p:custDataLst>
          </p:nvPr>
        </p:nvSpPr>
        <p:spPr>
          <a:xfrm>
            <a:off x="6036182" y="2294387"/>
            <a:ext cx="2110606" cy="73866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chemeClr val="accent3">
                    <a:lumMod val="75000"/>
                  </a:schemeClr>
                </a:solidFill>
              </a:rPr>
              <a:t>打造科技</a:t>
            </a:r>
            <a:r>
              <a:rPr lang="zh-CN" sz="2400" b="1" dirty="0">
                <a:solidFill>
                  <a:schemeClr val="accent3">
                    <a:lumMod val="75000"/>
                  </a:schemeClr>
                </a:solidFill>
              </a:rPr>
              <a:t>数据</a:t>
            </a:r>
            <a:endParaRPr lang="en-US" altLang="zh-CN" sz="2400" b="1" dirty="0">
              <a:solidFill>
                <a:schemeClr val="accent3">
                  <a:lumMod val="75000"/>
                </a:schemeClr>
              </a:solidFill>
            </a:endParaRPr>
          </a:p>
          <a:p>
            <a:r>
              <a:rPr lang="zh-CN" sz="2400" b="1" dirty="0">
                <a:solidFill>
                  <a:schemeClr val="accent3">
                    <a:lumMod val="75000"/>
                  </a:schemeClr>
                </a:solidFill>
              </a:rPr>
              <a:t>服务</a:t>
            </a:r>
            <a:r>
              <a:rPr lang="zh-CN" altLang="en-US" sz="2400" b="1" dirty="0">
                <a:solidFill>
                  <a:schemeClr val="accent3">
                    <a:lumMod val="75000"/>
                  </a:schemeClr>
                </a:solidFill>
              </a:rPr>
              <a:t>平台</a:t>
            </a:r>
            <a:endParaRPr lang="zh-CN" altLang="en-US" sz="2400" b="1" dirty="0">
              <a:solidFill>
                <a:schemeClr val="accent3">
                  <a:lumMod val="75000"/>
                </a:schemeClr>
              </a:solidFill>
            </a:endParaRPr>
          </a:p>
        </p:txBody>
      </p:sp>
      <p:sp>
        <p:nvSpPr>
          <p:cNvPr id="46" name="文本框 22"/>
          <p:cNvSpPr txBox="1"/>
          <p:nvPr>
            <p:custDataLst>
              <p:tags r:id="rId15"/>
            </p:custDataLst>
          </p:nvPr>
        </p:nvSpPr>
        <p:spPr>
          <a:xfrm>
            <a:off x="2539562" y="2284569"/>
            <a:ext cx="1927972" cy="73866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chemeClr val="accent3">
                    <a:lumMod val="75000"/>
                  </a:schemeClr>
                </a:solidFill>
                <a:latin typeface="+mn-ea"/>
              </a:rPr>
              <a:t>提升科技管理</a:t>
            </a:r>
            <a:endParaRPr lang="en-US" altLang="zh-CN" sz="2400" b="1" dirty="0">
              <a:solidFill>
                <a:schemeClr val="accent3">
                  <a:lumMod val="75000"/>
                </a:schemeClr>
              </a:solidFill>
              <a:latin typeface="+mn-ea"/>
            </a:endParaRPr>
          </a:p>
          <a:p>
            <a:r>
              <a:rPr lang="zh-CN" altLang="en-US" sz="2400" b="1" dirty="0">
                <a:solidFill>
                  <a:schemeClr val="accent3">
                    <a:lumMod val="75000"/>
                  </a:schemeClr>
                </a:solidFill>
                <a:latin typeface="+mn-ea"/>
              </a:rPr>
              <a:t>支撑能力</a:t>
            </a:r>
            <a:endParaRPr lang="zh-CN" altLang="en-US" sz="2400" b="1" dirty="0">
              <a:solidFill>
                <a:schemeClr val="accent3">
                  <a:lumMod val="75000"/>
                </a:schemeClr>
              </a:solidFill>
              <a:latin typeface="+mn-ea"/>
            </a:endParaRPr>
          </a:p>
        </p:txBody>
      </p:sp>
      <p:sp>
        <p:nvSpPr>
          <p:cNvPr id="50" name="文本框 22"/>
          <p:cNvSpPr txBox="1"/>
          <p:nvPr>
            <p:custDataLst>
              <p:tags r:id="rId16"/>
            </p:custDataLst>
          </p:nvPr>
        </p:nvSpPr>
        <p:spPr>
          <a:xfrm>
            <a:off x="8074746" y="4798746"/>
            <a:ext cx="3218199" cy="96026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defRPr/>
            </a:pPr>
            <a:r>
              <a:rPr lang="zh-CN" altLang="en-US" sz="2400" b="1" dirty="0">
                <a:solidFill>
                  <a:schemeClr val="accent3">
                    <a:lumMod val="75000"/>
                  </a:schemeClr>
                </a:solidFill>
              </a:rPr>
              <a:t>打造公共技术</a:t>
            </a:r>
            <a:endParaRPr lang="en-US" altLang="zh-CN" sz="2400" b="1" dirty="0">
              <a:solidFill>
                <a:schemeClr val="accent3">
                  <a:lumMod val="75000"/>
                </a:schemeClr>
              </a:solidFill>
            </a:endParaRPr>
          </a:p>
          <a:p>
            <a:pPr>
              <a:lnSpc>
                <a:spcPct val="130000"/>
              </a:lnSpc>
              <a:defRPr/>
            </a:pPr>
            <a:r>
              <a:rPr lang="zh-CN" altLang="en-US" sz="2400" b="1" dirty="0" smtClean="0">
                <a:solidFill>
                  <a:schemeClr val="accent3">
                    <a:lumMod val="75000"/>
                  </a:schemeClr>
                </a:solidFill>
              </a:rPr>
              <a:t>服务</a:t>
            </a:r>
            <a:r>
              <a:rPr lang="zh-CN" altLang="en-US" sz="2400" b="1" dirty="0">
                <a:solidFill>
                  <a:schemeClr val="accent3">
                    <a:lumMod val="75000"/>
                  </a:schemeClr>
                </a:solidFill>
              </a:rPr>
              <a:t>平台</a:t>
            </a:r>
            <a:endParaRPr lang="zh-CN" altLang="en-US" sz="2400" b="1" dirty="0">
              <a:solidFill>
                <a:schemeClr val="accent3">
                  <a:lumMod val="75000"/>
                </a:schemeClr>
              </a:solidFill>
            </a:endParaRPr>
          </a:p>
        </p:txBody>
      </p:sp>
      <p:sp>
        <p:nvSpPr>
          <p:cNvPr id="54" name="文本框 22"/>
          <p:cNvSpPr txBox="1"/>
          <p:nvPr>
            <p:custDataLst>
              <p:tags r:id="rId17"/>
            </p:custDataLst>
          </p:nvPr>
        </p:nvSpPr>
        <p:spPr>
          <a:xfrm>
            <a:off x="9577522" y="2512179"/>
            <a:ext cx="1982061" cy="73866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solidFill>
                  <a:schemeClr val="accent3">
                    <a:lumMod val="75000"/>
                  </a:schemeClr>
                </a:solidFill>
              </a:rPr>
              <a:t>提升成果转化</a:t>
            </a:r>
            <a:endParaRPr lang="en-US" altLang="zh-CN" sz="2400" b="1" dirty="0">
              <a:solidFill>
                <a:schemeClr val="accent3">
                  <a:lumMod val="75000"/>
                </a:schemeClr>
              </a:solidFill>
            </a:endParaRPr>
          </a:p>
          <a:p>
            <a:r>
              <a:rPr lang="zh-CN" altLang="en-US" sz="2400" b="1" dirty="0">
                <a:solidFill>
                  <a:schemeClr val="accent3">
                    <a:lumMod val="75000"/>
                  </a:schemeClr>
                </a:solidFill>
              </a:rPr>
              <a:t>服务能力</a:t>
            </a:r>
            <a:endParaRPr lang="zh-CN" altLang="en-US" sz="2400" b="1" dirty="0">
              <a:solidFill>
                <a:schemeClr val="accent3">
                  <a:lumMod val="75000"/>
                </a:schemeClr>
              </a:solidFill>
            </a:endParaRPr>
          </a:p>
        </p:txBody>
      </p:sp>
      <p:sp>
        <p:nvSpPr>
          <p:cNvPr id="63" name="任意多边形: 形状 47"/>
          <p:cNvSpPr/>
          <p:nvPr/>
        </p:nvSpPr>
        <p:spPr>
          <a:xfrm>
            <a:off x="2286685" y="3308231"/>
            <a:ext cx="45522" cy="45434"/>
          </a:xfrm>
          <a:custGeom>
            <a:avLst/>
            <a:gdLst>
              <a:gd name="connsiteX0" fmla="*/ 48187 w 96029"/>
              <a:gd name="connsiteY0" fmla="*/ 95843 h 95842"/>
              <a:gd name="connsiteX1" fmla="*/ 1 w 96029"/>
              <a:gd name="connsiteY1" fmla="*/ 48425 h 95842"/>
              <a:gd name="connsiteX2" fmla="*/ 48347 w 96029"/>
              <a:gd name="connsiteY2" fmla="*/ 0 h 95842"/>
              <a:gd name="connsiteX3" fmla="*/ 96029 w 96029"/>
              <a:gd name="connsiteY3" fmla="*/ 48107 h 95842"/>
              <a:gd name="connsiteX4" fmla="*/ 48187 w 96029"/>
              <a:gd name="connsiteY4" fmla="*/ 95843 h 95842"/>
              <a:gd name="connsiteX5" fmla="*/ 69881 w 96029"/>
              <a:gd name="connsiteY5" fmla="*/ 47789 h 95842"/>
              <a:gd name="connsiteX6" fmla="*/ 47551 w 96029"/>
              <a:gd name="connsiteY6" fmla="*/ 25883 h 95842"/>
              <a:gd name="connsiteX7" fmla="*/ 26123 w 96029"/>
              <a:gd name="connsiteY7" fmla="*/ 48637 h 95842"/>
              <a:gd name="connsiteX8" fmla="*/ 47923 w 96029"/>
              <a:gd name="connsiteY8" fmla="*/ 69773 h 95842"/>
              <a:gd name="connsiteX9" fmla="*/ 69881 w 96029"/>
              <a:gd name="connsiteY9" fmla="*/ 47789 h 95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029" h="95842">
                <a:moveTo>
                  <a:pt x="48187" y="95843"/>
                </a:moveTo>
                <a:cubicBezTo>
                  <a:pt x="21111" y="95895"/>
                  <a:pt x="187" y="75316"/>
                  <a:pt x="1" y="48425"/>
                </a:cubicBezTo>
                <a:cubicBezTo>
                  <a:pt x="-185" y="21243"/>
                  <a:pt x="21111" y="-79"/>
                  <a:pt x="48347" y="0"/>
                </a:cubicBezTo>
                <a:cubicBezTo>
                  <a:pt x="74973" y="80"/>
                  <a:pt x="96109" y="21401"/>
                  <a:pt x="96029" y="48107"/>
                </a:cubicBezTo>
                <a:cubicBezTo>
                  <a:pt x="95976" y="75077"/>
                  <a:pt x="75211" y="95789"/>
                  <a:pt x="48187" y="95843"/>
                </a:cubicBezTo>
                <a:close/>
                <a:moveTo>
                  <a:pt x="69881" y="47789"/>
                </a:moveTo>
                <a:cubicBezTo>
                  <a:pt x="69775" y="35643"/>
                  <a:pt x="59617" y="25671"/>
                  <a:pt x="47551" y="25883"/>
                </a:cubicBezTo>
                <a:cubicBezTo>
                  <a:pt x="35565" y="26096"/>
                  <a:pt x="25805" y="36465"/>
                  <a:pt x="26123" y="48637"/>
                </a:cubicBezTo>
                <a:cubicBezTo>
                  <a:pt x="26415" y="60438"/>
                  <a:pt x="35989" y="69747"/>
                  <a:pt x="47923" y="69773"/>
                </a:cubicBezTo>
                <a:cubicBezTo>
                  <a:pt x="60280" y="69800"/>
                  <a:pt x="69987" y="60067"/>
                  <a:pt x="69881" y="47789"/>
                </a:cubicBezTo>
                <a:close/>
              </a:path>
            </a:pathLst>
          </a:custGeom>
          <a:solidFill>
            <a:schemeClr val="bg1"/>
          </a:solidFill>
          <a:ln w="2652" cap="flat">
            <a:noFill/>
            <a:prstDash val="solid"/>
            <a:miter/>
          </a:ln>
        </p:spPr>
        <p:txBody>
          <a:bodyPr rtlCol="0" anchor="ctr"/>
          <a:lstStyle/>
          <a:p>
            <a:endParaRPr lang="zh-CN" altLang="en-US"/>
          </a:p>
        </p:txBody>
      </p:sp>
      <p:grpSp>
        <p:nvGrpSpPr>
          <p:cNvPr id="64" name="组合 63"/>
          <p:cNvGrpSpPr/>
          <p:nvPr/>
        </p:nvGrpSpPr>
        <p:grpSpPr>
          <a:xfrm>
            <a:off x="1236483" y="2125381"/>
            <a:ext cx="1152000" cy="1152000"/>
            <a:chOff x="1602581" y="1147854"/>
            <a:chExt cx="1152000" cy="1152000"/>
          </a:xfrm>
        </p:grpSpPr>
        <p:sp>
          <p:nvSpPr>
            <p:cNvPr id="61" name="椭圆 60"/>
            <p:cNvSpPr>
              <a:spLocks noChangeAspect="1"/>
            </p:cNvSpPr>
            <p:nvPr/>
          </p:nvSpPr>
          <p:spPr>
            <a:xfrm rot="19741494">
              <a:off x="1602581" y="1147854"/>
              <a:ext cx="1152000" cy="11520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panose="020B0500000000000000" pitchFamily="34" charset="-122"/>
                <a:cs typeface="+mn-cs"/>
              </a:endParaRPr>
            </a:p>
          </p:txBody>
        </p:sp>
        <p:sp>
          <p:nvSpPr>
            <p:cNvPr id="62" name="椭圆 61"/>
            <p:cNvSpPr>
              <a:spLocks noChangeAspect="1"/>
            </p:cNvSpPr>
            <p:nvPr/>
          </p:nvSpPr>
          <p:spPr>
            <a:xfrm>
              <a:off x="1735577" y="1280851"/>
              <a:ext cx="886008" cy="886006"/>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prstClr val="white"/>
                </a:solidFill>
                <a:latin typeface="Hanson" pitchFamily="2" charset="0"/>
                <a:ea typeface="思源黑体 CN Regular" panose="020B0500000000000000" pitchFamily="34" charset="-122"/>
              </a:endParaRPr>
            </a:p>
          </p:txBody>
        </p:sp>
        <p:sp>
          <p:nvSpPr>
            <p:cNvPr id="60" name="文本框 59"/>
            <p:cNvSpPr txBox="1"/>
            <p:nvPr/>
          </p:nvSpPr>
          <p:spPr>
            <a:xfrm>
              <a:off x="1940572" y="1406071"/>
              <a:ext cx="362600" cy="646331"/>
            </a:xfrm>
            <a:prstGeom prst="rect">
              <a:avLst/>
            </a:prstGeom>
            <a:noFill/>
          </p:spPr>
          <p:txBody>
            <a:bodyPr wrap="none" rtlCol="0">
              <a:spAutoFit/>
            </a:bodyPr>
            <a:lstStyle/>
            <a:p>
              <a:r>
                <a:rPr kumimoji="1" lang="en-US" altLang="zh-CN" sz="3600" i="1" dirty="0">
                  <a:solidFill>
                    <a:schemeClr val="bg1"/>
                  </a:solidFill>
                  <a:latin typeface="YouSheBiaoTiHei" panose="00000500000000000000" pitchFamily="2" charset="-122"/>
                  <a:ea typeface="YouSheBiaoTiHei" panose="00000500000000000000" pitchFamily="2" charset="-122"/>
                </a:rPr>
                <a:t>1</a:t>
              </a:r>
              <a:endParaRPr kumimoji="1" lang="zh-CN" altLang="en-US" sz="3600" i="1" dirty="0">
                <a:solidFill>
                  <a:schemeClr val="bg1"/>
                </a:solidFill>
                <a:latin typeface="YouSheBiaoTiHei" panose="00000500000000000000" pitchFamily="2" charset="-122"/>
                <a:ea typeface="YouSheBiaoTiHei" panose="00000500000000000000" pitchFamily="2" charset="-122"/>
              </a:endParaRPr>
            </a:p>
          </p:txBody>
        </p:sp>
      </p:grpSp>
      <p:grpSp>
        <p:nvGrpSpPr>
          <p:cNvPr id="66" name="组合 65"/>
          <p:cNvGrpSpPr/>
          <p:nvPr/>
        </p:nvGrpSpPr>
        <p:grpSpPr>
          <a:xfrm>
            <a:off x="3086490" y="4127689"/>
            <a:ext cx="1152000" cy="1152000"/>
            <a:chOff x="1602581" y="1147854"/>
            <a:chExt cx="1152000" cy="1152000"/>
          </a:xfrm>
        </p:grpSpPr>
        <p:sp>
          <p:nvSpPr>
            <p:cNvPr id="67" name="椭圆 66"/>
            <p:cNvSpPr>
              <a:spLocks noChangeAspect="1"/>
            </p:cNvSpPr>
            <p:nvPr/>
          </p:nvSpPr>
          <p:spPr>
            <a:xfrm rot="19741494">
              <a:off x="1602581" y="1147854"/>
              <a:ext cx="1152000" cy="11520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panose="020B0500000000000000" pitchFamily="34" charset="-122"/>
                <a:cs typeface="+mn-cs"/>
              </a:endParaRPr>
            </a:p>
          </p:txBody>
        </p:sp>
        <p:sp>
          <p:nvSpPr>
            <p:cNvPr id="68" name="椭圆 67"/>
            <p:cNvSpPr>
              <a:spLocks noChangeAspect="1"/>
            </p:cNvSpPr>
            <p:nvPr/>
          </p:nvSpPr>
          <p:spPr>
            <a:xfrm>
              <a:off x="1735577" y="1280851"/>
              <a:ext cx="886008" cy="886006"/>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prstClr val="white"/>
                </a:solidFill>
                <a:latin typeface="Hanson" pitchFamily="2" charset="0"/>
                <a:ea typeface="思源黑体 CN Regular" panose="020B0500000000000000" pitchFamily="34" charset="-122"/>
              </a:endParaRPr>
            </a:p>
          </p:txBody>
        </p:sp>
        <p:sp>
          <p:nvSpPr>
            <p:cNvPr id="69" name="文本框 68"/>
            <p:cNvSpPr txBox="1"/>
            <p:nvPr/>
          </p:nvSpPr>
          <p:spPr>
            <a:xfrm>
              <a:off x="1873337" y="1406071"/>
              <a:ext cx="522900" cy="646331"/>
            </a:xfrm>
            <a:prstGeom prst="rect">
              <a:avLst/>
            </a:prstGeom>
            <a:noFill/>
          </p:spPr>
          <p:txBody>
            <a:bodyPr wrap="none" rtlCol="0">
              <a:spAutoFit/>
            </a:bodyPr>
            <a:lstStyle/>
            <a:p>
              <a:r>
                <a:rPr kumimoji="1" lang="en-US" altLang="zh-CN" sz="3600" i="1" dirty="0">
                  <a:solidFill>
                    <a:schemeClr val="bg1"/>
                  </a:solidFill>
                  <a:latin typeface="YouSheBiaoTiHei" panose="00000500000000000000" pitchFamily="2" charset="-122"/>
                  <a:ea typeface="YouSheBiaoTiHei" panose="00000500000000000000" pitchFamily="2" charset="-122"/>
                </a:rPr>
                <a:t>2</a:t>
              </a:r>
              <a:endParaRPr kumimoji="1" lang="zh-CN" altLang="en-US" sz="3600" i="1" dirty="0">
                <a:solidFill>
                  <a:schemeClr val="bg1"/>
                </a:solidFill>
                <a:latin typeface="YouSheBiaoTiHei" panose="00000500000000000000" pitchFamily="2" charset="-122"/>
                <a:ea typeface="YouSheBiaoTiHei" panose="00000500000000000000" pitchFamily="2" charset="-122"/>
              </a:endParaRPr>
            </a:p>
          </p:txBody>
        </p:sp>
      </p:grpSp>
      <p:grpSp>
        <p:nvGrpSpPr>
          <p:cNvPr id="70" name="组合 69"/>
          <p:cNvGrpSpPr/>
          <p:nvPr/>
        </p:nvGrpSpPr>
        <p:grpSpPr>
          <a:xfrm>
            <a:off x="4854881" y="1999418"/>
            <a:ext cx="1152000" cy="1152000"/>
            <a:chOff x="1602581" y="1147854"/>
            <a:chExt cx="1152000" cy="1152000"/>
          </a:xfrm>
        </p:grpSpPr>
        <p:sp>
          <p:nvSpPr>
            <p:cNvPr id="71" name="椭圆 70"/>
            <p:cNvSpPr>
              <a:spLocks noChangeAspect="1"/>
            </p:cNvSpPr>
            <p:nvPr/>
          </p:nvSpPr>
          <p:spPr>
            <a:xfrm rot="19741494">
              <a:off x="1602581" y="1147854"/>
              <a:ext cx="1152000" cy="11520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panose="020B0500000000000000" pitchFamily="34" charset="-122"/>
                <a:cs typeface="+mn-cs"/>
              </a:endParaRPr>
            </a:p>
          </p:txBody>
        </p:sp>
        <p:sp>
          <p:nvSpPr>
            <p:cNvPr id="72" name="椭圆 71"/>
            <p:cNvSpPr>
              <a:spLocks noChangeAspect="1"/>
            </p:cNvSpPr>
            <p:nvPr/>
          </p:nvSpPr>
          <p:spPr>
            <a:xfrm>
              <a:off x="1735577" y="1280851"/>
              <a:ext cx="886008" cy="886006"/>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prstClr val="white"/>
                </a:solidFill>
                <a:latin typeface="Hanson" pitchFamily="2" charset="0"/>
                <a:ea typeface="思源黑体 CN Regular" panose="020B0500000000000000" pitchFamily="34" charset="-122"/>
              </a:endParaRPr>
            </a:p>
          </p:txBody>
        </p:sp>
        <p:sp>
          <p:nvSpPr>
            <p:cNvPr id="73" name="文本框 72"/>
            <p:cNvSpPr txBox="1"/>
            <p:nvPr/>
          </p:nvSpPr>
          <p:spPr>
            <a:xfrm>
              <a:off x="1873337" y="1406071"/>
              <a:ext cx="510076" cy="646331"/>
            </a:xfrm>
            <a:prstGeom prst="rect">
              <a:avLst/>
            </a:prstGeom>
            <a:noFill/>
          </p:spPr>
          <p:txBody>
            <a:bodyPr wrap="none" rtlCol="0">
              <a:spAutoFit/>
            </a:bodyPr>
            <a:lstStyle/>
            <a:p>
              <a:r>
                <a:rPr kumimoji="1" lang="en-US" altLang="zh-CN" sz="3600" i="1" dirty="0">
                  <a:solidFill>
                    <a:schemeClr val="bg1"/>
                  </a:solidFill>
                  <a:latin typeface="YouSheBiaoTiHei" panose="00000500000000000000" pitchFamily="2" charset="-122"/>
                  <a:ea typeface="YouSheBiaoTiHei" panose="00000500000000000000" pitchFamily="2" charset="-122"/>
                </a:rPr>
                <a:t>3</a:t>
              </a:r>
              <a:endParaRPr kumimoji="1" lang="zh-CN" altLang="en-US" sz="3600" i="1" dirty="0">
                <a:solidFill>
                  <a:schemeClr val="bg1"/>
                </a:solidFill>
                <a:latin typeface="YouSheBiaoTiHei" panose="00000500000000000000" pitchFamily="2" charset="-122"/>
                <a:ea typeface="YouSheBiaoTiHei" panose="00000500000000000000" pitchFamily="2" charset="-122"/>
              </a:endParaRPr>
            </a:p>
          </p:txBody>
        </p:sp>
      </p:grpSp>
      <p:grpSp>
        <p:nvGrpSpPr>
          <p:cNvPr id="74" name="组合 73"/>
          <p:cNvGrpSpPr/>
          <p:nvPr/>
        </p:nvGrpSpPr>
        <p:grpSpPr>
          <a:xfrm>
            <a:off x="8317541" y="2243237"/>
            <a:ext cx="1152000" cy="1152000"/>
            <a:chOff x="1602581" y="1147854"/>
            <a:chExt cx="1152000" cy="1152000"/>
          </a:xfrm>
        </p:grpSpPr>
        <p:sp>
          <p:nvSpPr>
            <p:cNvPr id="75" name="椭圆 74"/>
            <p:cNvSpPr>
              <a:spLocks noChangeAspect="1"/>
            </p:cNvSpPr>
            <p:nvPr/>
          </p:nvSpPr>
          <p:spPr>
            <a:xfrm rot="19741494">
              <a:off x="1602581" y="1147854"/>
              <a:ext cx="1152000" cy="11520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panose="020B0500000000000000" pitchFamily="34" charset="-122"/>
                <a:cs typeface="+mn-cs"/>
              </a:endParaRPr>
            </a:p>
          </p:txBody>
        </p:sp>
        <p:sp>
          <p:nvSpPr>
            <p:cNvPr id="76" name="椭圆 75"/>
            <p:cNvSpPr>
              <a:spLocks noChangeAspect="1"/>
            </p:cNvSpPr>
            <p:nvPr/>
          </p:nvSpPr>
          <p:spPr>
            <a:xfrm>
              <a:off x="1735577" y="1280851"/>
              <a:ext cx="886008" cy="886006"/>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prstClr val="white"/>
                </a:solidFill>
                <a:latin typeface="Hanson" pitchFamily="2" charset="0"/>
                <a:ea typeface="思源黑体 CN Regular" panose="020B0500000000000000" pitchFamily="34" charset="-122"/>
              </a:endParaRPr>
            </a:p>
          </p:txBody>
        </p:sp>
        <p:sp>
          <p:nvSpPr>
            <p:cNvPr id="77" name="文本框 76"/>
            <p:cNvSpPr txBox="1"/>
            <p:nvPr/>
          </p:nvSpPr>
          <p:spPr>
            <a:xfrm>
              <a:off x="1873337" y="1406071"/>
              <a:ext cx="526106" cy="646331"/>
            </a:xfrm>
            <a:prstGeom prst="rect">
              <a:avLst/>
            </a:prstGeom>
            <a:noFill/>
          </p:spPr>
          <p:txBody>
            <a:bodyPr wrap="none" rtlCol="0">
              <a:spAutoFit/>
            </a:bodyPr>
            <a:lstStyle/>
            <a:p>
              <a:r>
                <a:rPr kumimoji="1" lang="en-US" altLang="zh-CN" sz="3600" i="1" dirty="0">
                  <a:solidFill>
                    <a:schemeClr val="bg1"/>
                  </a:solidFill>
                  <a:latin typeface="YouSheBiaoTiHei" panose="00000500000000000000" pitchFamily="2" charset="-122"/>
                  <a:ea typeface="YouSheBiaoTiHei" panose="00000500000000000000" pitchFamily="2" charset="-122"/>
                </a:rPr>
                <a:t>5</a:t>
              </a:r>
              <a:endParaRPr kumimoji="1" lang="zh-CN" altLang="en-US" sz="3600" i="1" dirty="0">
                <a:solidFill>
                  <a:schemeClr val="bg1"/>
                </a:solidFill>
                <a:latin typeface="YouSheBiaoTiHei" panose="00000500000000000000" pitchFamily="2" charset="-122"/>
                <a:ea typeface="YouSheBiaoTiHei" panose="00000500000000000000" pitchFamily="2" charset="-122"/>
              </a:endParaRPr>
            </a:p>
          </p:txBody>
        </p:sp>
      </p:grpSp>
      <p:grpSp>
        <p:nvGrpSpPr>
          <p:cNvPr id="78" name="组合 77"/>
          <p:cNvGrpSpPr/>
          <p:nvPr/>
        </p:nvGrpSpPr>
        <p:grpSpPr>
          <a:xfrm>
            <a:off x="6747370" y="4712077"/>
            <a:ext cx="1152000" cy="1152000"/>
            <a:chOff x="1602581" y="1147854"/>
            <a:chExt cx="1152000" cy="1152000"/>
          </a:xfrm>
        </p:grpSpPr>
        <p:sp>
          <p:nvSpPr>
            <p:cNvPr id="79" name="椭圆 78"/>
            <p:cNvSpPr>
              <a:spLocks noChangeAspect="1"/>
            </p:cNvSpPr>
            <p:nvPr/>
          </p:nvSpPr>
          <p:spPr>
            <a:xfrm rot="19741494">
              <a:off x="1602581" y="1147854"/>
              <a:ext cx="1152000" cy="1152000"/>
            </a:xfrm>
            <a:prstGeom prst="ellipse">
              <a:avLst/>
            </a:prstGeom>
            <a:gradFill flip="none" rotWithShape="1">
              <a:gsLst>
                <a:gs pos="53000">
                  <a:schemeClr val="accent1">
                    <a:lumMod val="20000"/>
                    <a:lumOff val="80000"/>
                    <a:alpha val="22000"/>
                  </a:schemeClr>
                </a:gs>
                <a:gs pos="100000">
                  <a:schemeClr val="accent1">
                    <a:alpha val="1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a:ea typeface="思源黑体 CN Regular" panose="020B0500000000000000" pitchFamily="34" charset="-122"/>
                <a:cs typeface="+mn-cs"/>
              </a:endParaRPr>
            </a:p>
          </p:txBody>
        </p:sp>
        <p:sp>
          <p:nvSpPr>
            <p:cNvPr id="80" name="椭圆 79"/>
            <p:cNvSpPr>
              <a:spLocks noChangeAspect="1"/>
            </p:cNvSpPr>
            <p:nvPr/>
          </p:nvSpPr>
          <p:spPr>
            <a:xfrm>
              <a:off x="1735577" y="1280851"/>
              <a:ext cx="886008" cy="886006"/>
            </a:xfrm>
            <a:prstGeom prst="ellipse">
              <a:avLst/>
            </a:prstGeom>
            <a:gradFill>
              <a:gsLst>
                <a:gs pos="30000">
                  <a:schemeClr val="accent1">
                    <a:lumMod val="60000"/>
                    <a:lumOff val="40000"/>
                  </a:schemeClr>
                </a:gs>
                <a:gs pos="76000">
                  <a:schemeClr val="accent1"/>
                </a:gs>
              </a:gsLst>
              <a:path path="circle">
                <a:fillToRect r="100000" b="100000"/>
              </a:path>
            </a:gradFill>
            <a:ln>
              <a:noFill/>
            </a:ln>
            <a:effectLst>
              <a:outerShdw blurRad="279400" dist="342900" dir="5400000" sx="88000" sy="88000" algn="t" rotWithShape="0">
                <a:schemeClr val="accent1">
                  <a:alpha val="4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sz="2400" dirty="0">
                <a:solidFill>
                  <a:prstClr val="white"/>
                </a:solidFill>
                <a:latin typeface="Hanson" pitchFamily="2" charset="0"/>
                <a:ea typeface="思源黑体 CN Regular" panose="020B0500000000000000" pitchFamily="34" charset="-122"/>
              </a:endParaRPr>
            </a:p>
          </p:txBody>
        </p:sp>
        <p:sp>
          <p:nvSpPr>
            <p:cNvPr id="81" name="文本框 80"/>
            <p:cNvSpPr txBox="1"/>
            <p:nvPr/>
          </p:nvSpPr>
          <p:spPr>
            <a:xfrm>
              <a:off x="1873337" y="1406071"/>
              <a:ext cx="503664" cy="646331"/>
            </a:xfrm>
            <a:prstGeom prst="rect">
              <a:avLst/>
            </a:prstGeom>
            <a:noFill/>
          </p:spPr>
          <p:txBody>
            <a:bodyPr wrap="none" rtlCol="0">
              <a:spAutoFit/>
            </a:bodyPr>
            <a:lstStyle/>
            <a:p>
              <a:r>
                <a:rPr kumimoji="1" lang="en-US" altLang="zh-CN" sz="3600" i="1" dirty="0">
                  <a:solidFill>
                    <a:schemeClr val="bg1"/>
                  </a:solidFill>
                  <a:latin typeface="YouSheBiaoTiHei" panose="00000500000000000000" pitchFamily="2" charset="-122"/>
                  <a:ea typeface="YouSheBiaoTiHei" panose="00000500000000000000" pitchFamily="2" charset="-122"/>
                </a:rPr>
                <a:t>4</a:t>
              </a:r>
              <a:endParaRPr kumimoji="1" lang="zh-CN" altLang="en-US" sz="3600" i="1" dirty="0">
                <a:solidFill>
                  <a:schemeClr val="bg1"/>
                </a:solidFill>
                <a:latin typeface="YouSheBiaoTiHei" panose="00000500000000000000" pitchFamily="2" charset="-122"/>
                <a:ea typeface="YouSheBiaoTiHei" panose="00000500000000000000" pitchFamily="2" charset="-122"/>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1371600" y="216895"/>
            <a:ext cx="5226050" cy="685800"/>
          </a:xfrm>
          <a:prstGeom prst="rect">
            <a:avLst/>
          </a:prstGeom>
        </p:spPr>
        <p:txBody>
          <a:bodyPr>
            <a:noAutofit/>
          </a:bodyPr>
          <a:lstStyle/>
          <a:p>
            <a:r>
              <a:rPr lang="zh-CN" altLang="en-US" sz="2700" dirty="0">
                <a:solidFill>
                  <a:schemeClr val="accent3">
                    <a:lumMod val="75000"/>
                  </a:schemeClr>
                </a:solidFill>
                <a:sym typeface="+mn-ea"/>
              </a:rPr>
              <a:t>提升科技管理支撑能力</a:t>
            </a:r>
            <a:br>
              <a:rPr lang="zh-CN" altLang="en-US" sz="3000" dirty="0">
                <a:solidFill>
                  <a:schemeClr val="accent3">
                    <a:lumMod val="75000"/>
                  </a:schemeClr>
                </a:solidFill>
                <a:sym typeface="+mn-ea"/>
              </a:rPr>
            </a:br>
            <a:endParaRPr lang="zh-CN" altLang="en-US" sz="3000" dirty="0">
              <a:solidFill>
                <a:schemeClr val="accent3">
                  <a:lumMod val="75000"/>
                </a:schemeClr>
              </a:solidFill>
            </a:endParaRPr>
          </a:p>
        </p:txBody>
      </p:sp>
      <p:sp>
        <p:nvSpPr>
          <p:cNvPr id="4" name="矩形 3"/>
          <p:cNvSpPr/>
          <p:nvPr/>
        </p:nvSpPr>
        <p:spPr>
          <a:xfrm>
            <a:off x="703007" y="2711196"/>
            <a:ext cx="4188542" cy="450215"/>
          </a:xfrm>
          <a:prstGeom prst="rect">
            <a:avLst/>
          </a:prstGeom>
        </p:spPr>
        <p:txBody>
          <a:bodyPr wrap="square">
            <a:spAutoFit/>
          </a:bodyPr>
          <a:lstStyle/>
          <a:p>
            <a:pPr algn="just">
              <a:lnSpc>
                <a:spcPts val="2800"/>
              </a:lnSpc>
              <a:spcAft>
                <a:spcPts val="0"/>
              </a:spcAft>
            </a:pPr>
            <a:endParaRPr lang="zh-CN" altLang="zh-CN" sz="2400" kern="100" dirty="0">
              <a:latin typeface="Calibri" panose="020F0502020204030204" charset="0"/>
              <a:ea typeface="仿宋_GB2312" panose="02010609030101010101" charset="-122"/>
              <a:cs typeface="Times New Roman" panose="02020603050405020304" pitchFamily="18" charset="0"/>
            </a:endParaRPr>
          </a:p>
        </p:txBody>
      </p:sp>
      <p:sp>
        <p:nvSpPr>
          <p:cNvPr id="3" name="文本框 2"/>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4.1</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21" name="组合 20"/>
          <p:cNvGrpSpPr/>
          <p:nvPr/>
        </p:nvGrpSpPr>
        <p:grpSpPr>
          <a:xfrm>
            <a:off x="703007" y="1375940"/>
            <a:ext cx="10558241" cy="3893671"/>
            <a:chOff x="591669" y="599778"/>
            <a:chExt cx="10558241" cy="3893671"/>
          </a:xfrm>
        </p:grpSpPr>
        <p:grpSp>
          <p:nvGrpSpPr>
            <p:cNvPr id="20" name="组合 19"/>
            <p:cNvGrpSpPr/>
            <p:nvPr/>
          </p:nvGrpSpPr>
          <p:grpSpPr>
            <a:xfrm>
              <a:off x="591669" y="599778"/>
              <a:ext cx="10558241" cy="3893671"/>
              <a:chOff x="591669" y="599778"/>
              <a:chExt cx="10558241" cy="3893671"/>
            </a:xfrm>
          </p:grpSpPr>
          <p:grpSp>
            <p:nvGrpSpPr>
              <p:cNvPr id="19" name="组合 18"/>
              <p:cNvGrpSpPr/>
              <p:nvPr/>
            </p:nvGrpSpPr>
            <p:grpSpPr>
              <a:xfrm>
                <a:off x="591669" y="1685475"/>
                <a:ext cx="10558241" cy="2499250"/>
                <a:chOff x="591669" y="1685475"/>
                <a:chExt cx="10558241" cy="2499250"/>
              </a:xfrm>
            </p:grpSpPr>
            <p:sp>
              <p:nvSpPr>
                <p:cNvPr id="6" name="矩形 5"/>
                <p:cNvSpPr/>
                <p:nvPr/>
              </p:nvSpPr>
              <p:spPr>
                <a:xfrm>
                  <a:off x="591669" y="1689522"/>
                  <a:ext cx="10558241" cy="2495203"/>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1" name="矩形 10"/>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2" name="文本框 11"/>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建设目标</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579" y="599778"/>
                <a:ext cx="3827516" cy="3893671"/>
              </a:xfrm>
              <a:prstGeom prst="rect">
                <a:avLst/>
              </a:prstGeom>
            </p:spPr>
          </p:pic>
        </p:grpSp>
        <p:sp>
          <p:nvSpPr>
            <p:cNvPr id="15" name="矩形 14"/>
            <p:cNvSpPr/>
            <p:nvPr/>
          </p:nvSpPr>
          <p:spPr>
            <a:xfrm>
              <a:off x="924409" y="2388573"/>
              <a:ext cx="5435600" cy="1630045"/>
            </a:xfrm>
            <a:prstGeom prst="rect">
              <a:avLst/>
            </a:prstGeom>
          </p:spPr>
          <p:txBody>
            <a:bodyPr wrap="square">
              <a:spAutoFit/>
            </a:bodyPr>
            <a:lstStyle/>
            <a:p>
              <a:pPr indent="0" algn="just" fontAlgn="auto">
                <a:lnSpc>
                  <a:spcPts val="4000"/>
                </a:lnSpc>
              </a:pPr>
              <a:r>
                <a:rPr lang="en-US" altLang="zh-CN" sz="2000" kern="100" dirty="0">
                  <a:latin typeface="+mn-ea"/>
                  <a:cs typeface="Times New Roman" panose="02020603050405020304" pitchFamily="18" charset="0"/>
                </a:rPr>
                <a:t>       </a:t>
              </a:r>
              <a:r>
                <a:rPr lang="zh-CN" altLang="en-US" sz="2000" kern="100" dirty="0">
                  <a:latin typeface="+mn-ea"/>
                  <a:cs typeface="Times New Roman" panose="02020603050405020304" pitchFamily="18" charset="0"/>
                </a:rPr>
                <a:t>完善承接省科技厅相关业务工作体制机制</a:t>
              </a:r>
              <a:r>
                <a:rPr lang="zh-CN" altLang="en-US" sz="2000" kern="100" dirty="0" smtClean="0">
                  <a:latin typeface="+mn-ea"/>
                  <a:cs typeface="Times New Roman" panose="02020603050405020304" pitchFamily="18" charset="0"/>
                </a:rPr>
                <a:t>，落实“三个协同”，</a:t>
              </a:r>
              <a:r>
                <a:rPr lang="zh-CN" altLang="en-US" sz="2000" kern="100" dirty="0">
                  <a:latin typeface="+mn-ea"/>
                  <a:cs typeface="Times New Roman" panose="02020603050405020304" pitchFamily="18" charset="0"/>
                </a:rPr>
                <a:t>全面提升对厅机关的支撑保障</a:t>
              </a:r>
              <a:r>
                <a:rPr lang="zh-CN" altLang="en-US" sz="2000" kern="100">
                  <a:latin typeface="+mn-ea"/>
                  <a:cs typeface="Times New Roman" panose="02020603050405020304" pitchFamily="18" charset="0"/>
                </a:rPr>
                <a:t>能力</a:t>
              </a:r>
              <a:r>
                <a:rPr lang="zh-CN" altLang="en-US" sz="2000" kern="100" smtClean="0">
                  <a:latin typeface="+mn-ea"/>
                  <a:cs typeface="Times New Roman" panose="02020603050405020304" pitchFamily="18" charset="0"/>
                </a:rPr>
                <a:t>。</a:t>
              </a:r>
              <a:endParaRPr lang="zh-CN" altLang="en-US" sz="2000" kern="100" dirty="0">
                <a:latin typeface="+mn-ea"/>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77620" y="1937385"/>
            <a:ext cx="4064000" cy="368300"/>
          </a:xfrm>
          <a:prstGeom prst="rect">
            <a:avLst/>
          </a:prstGeom>
          <a:noFill/>
        </p:spPr>
        <p:txBody>
          <a:bodyPr wrap="square" rtlCol="0">
            <a:spAutoFit/>
          </a:bodyPr>
          <a:lstStyle/>
          <a:p>
            <a:endParaRPr lang="zh-CN" altLang="en-US"/>
          </a:p>
        </p:txBody>
      </p:sp>
      <p:sp>
        <p:nvSpPr>
          <p:cNvPr id="9"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700" dirty="0">
                <a:solidFill>
                  <a:schemeClr val="accent3">
                    <a:lumMod val="75000"/>
                  </a:schemeClr>
                </a:solidFill>
                <a:sym typeface="+mn-ea"/>
              </a:rPr>
              <a:t>提升科技管理支撑能力</a:t>
            </a:r>
            <a:endParaRPr lang="zh-CN" altLang="en-US" sz="2700" dirty="0">
              <a:solidFill>
                <a:schemeClr val="accent3">
                  <a:lumMod val="75000"/>
                </a:schemeClr>
              </a:solidFill>
            </a:endParaRPr>
          </a:p>
        </p:txBody>
      </p:sp>
      <p:sp>
        <p:nvSpPr>
          <p:cNvPr id="10" name="文本框 9"/>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4.1</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11" name="组合 10"/>
          <p:cNvGrpSpPr/>
          <p:nvPr/>
        </p:nvGrpSpPr>
        <p:grpSpPr>
          <a:xfrm>
            <a:off x="703007" y="2121535"/>
            <a:ext cx="10558241" cy="3335368"/>
            <a:chOff x="591669" y="1685475"/>
            <a:chExt cx="10558241" cy="3335368"/>
          </a:xfrm>
        </p:grpSpPr>
        <p:grpSp>
          <p:nvGrpSpPr>
            <p:cNvPr id="14" name="组合 13"/>
            <p:cNvGrpSpPr/>
            <p:nvPr/>
          </p:nvGrpSpPr>
          <p:grpSpPr>
            <a:xfrm>
              <a:off x="591669" y="1685475"/>
              <a:ext cx="10558241" cy="3335368"/>
              <a:chOff x="591669" y="1685475"/>
              <a:chExt cx="10558241" cy="3335368"/>
            </a:xfrm>
          </p:grpSpPr>
          <p:sp>
            <p:nvSpPr>
              <p:cNvPr id="16" name="矩形 15"/>
              <p:cNvSpPr/>
              <p:nvPr/>
            </p:nvSpPr>
            <p:spPr>
              <a:xfrm>
                <a:off x="591669" y="1689522"/>
                <a:ext cx="10558241" cy="333132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7" name="矩形 16"/>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8" name="文本框 17"/>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建设内容</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3" name="矩形 12"/>
            <p:cNvSpPr/>
            <p:nvPr/>
          </p:nvSpPr>
          <p:spPr>
            <a:xfrm>
              <a:off x="924334" y="2388571"/>
              <a:ext cx="9745399" cy="738664"/>
            </a:xfrm>
            <a:prstGeom prst="rect">
              <a:avLst/>
            </a:prstGeom>
          </p:spPr>
          <p:txBody>
            <a:bodyPr wrap="square">
              <a:spAutoFit/>
            </a:bodyPr>
            <a:lstStyle/>
            <a:p>
              <a:pPr indent="0" algn="just" fontAlgn="auto">
                <a:lnSpc>
                  <a:spcPct val="150000"/>
                </a:lnSpc>
              </a:pPr>
              <a:r>
                <a:rPr lang="en-US" altLang="zh-CN" sz="1400" kern="100" dirty="0">
                  <a:latin typeface="+mn-ea"/>
                  <a:cs typeface="Times New Roman" panose="02020603050405020304" pitchFamily="18" charset="0"/>
                </a:rPr>
                <a:t>       </a:t>
              </a:r>
              <a:r>
                <a:rPr lang="en-US" altLang="zh-CN" sz="1400" kern="100" dirty="0">
                  <a:latin typeface="+mn-ea"/>
                  <a:cs typeface="Times New Roman" panose="02020603050405020304" pitchFamily="18" charset="0"/>
                  <a:sym typeface="+mn-ea"/>
                </a:rPr>
                <a:t> </a:t>
              </a:r>
              <a:r>
                <a:rPr lang="zh-CN" altLang="en-US" sz="1400" kern="100" dirty="0">
                  <a:latin typeface="+mn-ea"/>
                  <a:cs typeface="Times New Roman" panose="02020603050405020304" pitchFamily="18" charset="0"/>
                  <a:sym typeface="+mn-ea"/>
                </a:rPr>
                <a:t>围绕支撑省科技厅重大战略、重大规划、重大政策的制定</a:t>
              </a:r>
              <a:r>
                <a:rPr lang="en-US" altLang="zh-CN" sz="1400" kern="100" dirty="0">
                  <a:latin typeface="+mn-ea"/>
                  <a:cs typeface="Times New Roman" panose="02020603050405020304" pitchFamily="18" charset="0"/>
                  <a:sym typeface="+mn-ea"/>
                </a:rPr>
                <a:t>,</a:t>
              </a:r>
              <a:r>
                <a:rPr lang="zh-CN" altLang="en-US" sz="1400" kern="100" dirty="0">
                  <a:latin typeface="+mn-ea"/>
                  <a:cs typeface="Times New Roman" panose="02020603050405020304" pitchFamily="18" charset="0"/>
                  <a:sym typeface="+mn-ea"/>
                </a:rPr>
                <a:t>服务科技政策落实、强化科技管理业务协同等方面，提升专业化承接服务能力，以核心能力支撑核心业务，</a:t>
              </a:r>
              <a:r>
                <a:rPr lang="zh-CN" altLang="en-US" sz="1400" kern="100" dirty="0" smtClean="0">
                  <a:latin typeface="+mn-ea"/>
                  <a:cs typeface="Times New Roman" panose="02020603050405020304" pitchFamily="18" charset="0"/>
                  <a:sym typeface="+mn-ea"/>
                </a:rPr>
                <a:t>为科技创新事业提供</a:t>
              </a:r>
              <a:r>
                <a:rPr lang="zh-CN" altLang="en-US" sz="1400" kern="100" dirty="0">
                  <a:latin typeface="+mn-ea"/>
                  <a:cs typeface="Times New Roman" panose="02020603050405020304" pitchFamily="18" charset="0"/>
                  <a:sym typeface="+mn-ea"/>
                </a:rPr>
                <a:t>专业化支撑。</a:t>
              </a:r>
              <a:endParaRPr lang="zh-CN" altLang="en-US" sz="1400" kern="100" dirty="0">
                <a:latin typeface="+mn-ea"/>
                <a:cs typeface="Times New Roman" panose="02020603050405020304" pitchFamily="18" charset="0"/>
              </a:endParaRPr>
            </a:p>
          </p:txBody>
        </p:sp>
      </p:grpSp>
      <p:grpSp>
        <p:nvGrpSpPr>
          <p:cNvPr id="19" name="组合 18"/>
          <p:cNvGrpSpPr/>
          <p:nvPr/>
        </p:nvGrpSpPr>
        <p:grpSpPr>
          <a:xfrm>
            <a:off x="1196094" y="3686793"/>
            <a:ext cx="9627372" cy="1171220"/>
            <a:chOff x="1268125" y="3679107"/>
            <a:chExt cx="9627372" cy="1171220"/>
          </a:xfrm>
        </p:grpSpPr>
        <p:cxnSp>
          <p:nvCxnSpPr>
            <p:cNvPr id="20" name="肘形连接符 19"/>
            <p:cNvCxnSpPr/>
            <p:nvPr>
              <p:custDataLst>
                <p:tags r:id="rId2"/>
              </p:custDataLst>
            </p:nvPr>
          </p:nvCxnSpPr>
          <p:spPr>
            <a:xfrm rot="5400000">
              <a:off x="4457217" y="2720570"/>
              <a:ext cx="514353" cy="2431427"/>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164"/>
            <p:cNvCxnSpPr/>
            <p:nvPr>
              <p:custDataLst>
                <p:tags r:id="rId3"/>
              </p:custDataLst>
            </p:nvPr>
          </p:nvCxnSpPr>
          <p:spPr>
            <a:xfrm>
              <a:off x="5940577" y="3925370"/>
              <a:ext cx="3323" cy="259093"/>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grpSp>
          <p:nvGrpSpPr>
            <p:cNvPr id="22" name="组合 21"/>
            <p:cNvGrpSpPr/>
            <p:nvPr/>
          </p:nvGrpSpPr>
          <p:grpSpPr>
            <a:xfrm>
              <a:off x="1268125" y="3931452"/>
              <a:ext cx="9627372" cy="918875"/>
              <a:chOff x="1257850" y="3386922"/>
              <a:chExt cx="9627372" cy="918875"/>
            </a:xfrm>
          </p:grpSpPr>
          <p:sp>
            <p:nvSpPr>
              <p:cNvPr id="23" name="矩形 22"/>
              <p:cNvSpPr/>
              <p:nvPr>
                <p:custDataLst>
                  <p:tags r:id="rId4"/>
                </p:custDataLst>
              </p:nvPr>
            </p:nvSpPr>
            <p:spPr>
              <a:xfrm>
                <a:off x="1257850" y="3721792"/>
                <a:ext cx="3202157"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sym typeface="+mn-ea"/>
                  </a:rPr>
                  <a:t>提升科技</a:t>
                </a:r>
                <a:r>
                  <a:rPr lang="zh-CN" altLang="en-US" sz="1600" dirty="0" smtClean="0">
                    <a:latin typeface="+mj-ea"/>
                    <a:ea typeface="+mj-ea"/>
                    <a:sym typeface="+mn-ea"/>
                  </a:rPr>
                  <a:t>决策支撑</a:t>
                </a:r>
                <a:r>
                  <a:rPr lang="zh-CN" altLang="en-US" sz="1600" dirty="0">
                    <a:latin typeface="+mj-ea"/>
                    <a:ea typeface="+mj-ea"/>
                    <a:sym typeface="+mn-ea"/>
                  </a:rPr>
                  <a:t>能力</a:t>
                </a:r>
                <a:endParaRPr lang="zh-CN" altLang="en-US" sz="1600" dirty="0">
                  <a:latin typeface="+mj-ea"/>
                  <a:ea typeface="+mj-ea"/>
                </a:endParaRPr>
              </a:p>
            </p:txBody>
          </p:sp>
          <p:sp>
            <p:nvSpPr>
              <p:cNvPr id="24" name="矩形 23"/>
              <p:cNvSpPr/>
              <p:nvPr>
                <p:custDataLst>
                  <p:tags r:id="rId5"/>
                </p:custDataLst>
              </p:nvPr>
            </p:nvSpPr>
            <p:spPr>
              <a:xfrm>
                <a:off x="7996407" y="3692296"/>
                <a:ext cx="2888815"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sym typeface="+mn-ea"/>
                  </a:rPr>
                  <a:t>提升科技管理专业化</a:t>
                </a:r>
                <a:r>
                  <a:rPr lang="zh-CN" altLang="en-US" sz="1600" dirty="0" smtClean="0">
                    <a:latin typeface="+mj-ea"/>
                    <a:ea typeface="+mj-ea"/>
                    <a:sym typeface="+mn-ea"/>
                  </a:rPr>
                  <a:t>协同</a:t>
                </a:r>
                <a:endParaRPr lang="en-US" altLang="zh-CN" sz="1600" dirty="0" smtClean="0">
                  <a:latin typeface="+mj-ea"/>
                  <a:ea typeface="+mj-ea"/>
                  <a:sym typeface="+mn-ea"/>
                </a:endParaRPr>
              </a:p>
              <a:p>
                <a:pPr algn="ctr"/>
                <a:r>
                  <a:rPr lang="zh-CN" altLang="en-US" sz="1600" dirty="0" smtClean="0">
                    <a:latin typeface="+mj-ea"/>
                    <a:ea typeface="+mj-ea"/>
                    <a:sym typeface="+mn-ea"/>
                  </a:rPr>
                  <a:t>服务</a:t>
                </a:r>
                <a:r>
                  <a:rPr lang="zh-CN" altLang="en-US" sz="1600" dirty="0">
                    <a:latin typeface="+mj-ea"/>
                    <a:ea typeface="+mj-ea"/>
                    <a:sym typeface="+mn-ea"/>
                  </a:rPr>
                  <a:t>能力</a:t>
                </a:r>
                <a:endParaRPr lang="zh-CN" altLang="en-US" sz="1600" dirty="0">
                  <a:latin typeface="+mj-ea"/>
                  <a:ea typeface="+mj-ea"/>
                </a:endParaRPr>
              </a:p>
            </p:txBody>
          </p:sp>
          <p:sp>
            <p:nvSpPr>
              <p:cNvPr id="25" name="矩形 24"/>
              <p:cNvSpPr/>
              <p:nvPr>
                <p:custDataLst>
                  <p:tags r:id="rId6"/>
                </p:custDataLst>
              </p:nvPr>
            </p:nvSpPr>
            <p:spPr>
              <a:xfrm>
                <a:off x="4704117" y="3709188"/>
                <a:ext cx="2995453"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600" dirty="0">
                    <a:latin typeface="+mj-ea"/>
                    <a:ea typeface="+mj-ea"/>
                    <a:sym typeface="+mn-ea"/>
                  </a:rPr>
                  <a:t>提升</a:t>
                </a:r>
                <a:r>
                  <a:rPr lang="zh-CN" sz="1600" dirty="0" smtClean="0">
                    <a:latin typeface="+mj-ea"/>
                    <a:ea typeface="+mj-ea"/>
                    <a:sym typeface="+mn-ea"/>
                  </a:rPr>
                  <a:t>科技</a:t>
                </a:r>
                <a:r>
                  <a:rPr lang="zh-CN" altLang="en-US" sz="1600" dirty="0" smtClean="0">
                    <a:latin typeface="+mj-ea"/>
                    <a:ea typeface="+mj-ea"/>
                    <a:sym typeface="+mn-ea"/>
                  </a:rPr>
                  <a:t>政策宣传</a:t>
                </a:r>
                <a:r>
                  <a:rPr lang="zh-CN" sz="1600" dirty="0" smtClean="0">
                    <a:latin typeface="+mj-ea"/>
                    <a:ea typeface="+mj-ea"/>
                    <a:sym typeface="+mn-ea"/>
                  </a:rPr>
                  <a:t>能力</a:t>
                </a:r>
                <a:endParaRPr lang="zh-CN" altLang="en-US" sz="1600" dirty="0">
                  <a:latin typeface="+mj-ea"/>
                  <a:ea typeface="+mj-ea"/>
                  <a:sym typeface="+mn-ea"/>
                </a:endParaRPr>
              </a:p>
            </p:txBody>
          </p:sp>
          <p:cxnSp>
            <p:nvCxnSpPr>
              <p:cNvPr id="26" name="肘形连接符 25"/>
              <p:cNvCxnSpPr/>
              <p:nvPr>
                <p:custDataLst>
                  <p:tags r:id="rId7"/>
                </p:custDataLst>
              </p:nvPr>
            </p:nvCxnSpPr>
            <p:spPr>
              <a:xfrm>
                <a:off x="5917445" y="3386922"/>
                <a:ext cx="2585809" cy="271285"/>
              </a:xfrm>
              <a:prstGeom prst="bentConnector2">
                <a:avLst/>
              </a:prstGeom>
              <a:ln w="22225">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74530" y="1581173"/>
            <a:ext cx="10785985" cy="425919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5" name="icon"/>
          <p:cNvSpPr/>
          <p:nvPr>
            <p:custDataLst>
              <p:tags r:id="rId1"/>
            </p:custDataLst>
          </p:nvPr>
        </p:nvSpPr>
        <p:spPr bwMode="auto">
          <a:xfrm>
            <a:off x="6269161" y="4564706"/>
            <a:ext cx="184253" cy="184253"/>
          </a:xfrm>
          <a:custGeom>
            <a:avLst/>
            <a:gdLst>
              <a:gd name="T0" fmla="*/ 5481 w 6554"/>
              <a:gd name="T1" fmla="*/ 5052 h 6554"/>
              <a:gd name="T2" fmla="*/ 5052 w 6554"/>
              <a:gd name="T3" fmla="*/ 3848 h 6554"/>
              <a:gd name="T4" fmla="*/ 5252 w 6554"/>
              <a:gd name="T5" fmla="*/ 1649 h 6554"/>
              <a:gd name="T6" fmla="*/ 3974 w 6554"/>
              <a:gd name="T7" fmla="*/ 0 h 6554"/>
              <a:gd name="T8" fmla="*/ 2728 w 6554"/>
              <a:gd name="T9" fmla="*/ 803 h 6554"/>
              <a:gd name="T10" fmla="*/ 1164 w 6554"/>
              <a:gd name="T11" fmla="*/ 1253 h 6554"/>
              <a:gd name="T12" fmla="*/ 546 w 6554"/>
              <a:gd name="T13" fmla="*/ 2731 h 6554"/>
              <a:gd name="T14" fmla="*/ 1502 w 6554"/>
              <a:gd name="T15" fmla="*/ 5052 h 6554"/>
              <a:gd name="T16" fmla="*/ 546 w 6554"/>
              <a:gd name="T17" fmla="*/ 4642 h 6554"/>
              <a:gd name="T18" fmla="*/ 546 w 6554"/>
              <a:gd name="T19" fmla="*/ 5734 h 6554"/>
              <a:gd name="T20" fmla="*/ 1775 w 6554"/>
              <a:gd name="T21" fmla="*/ 5325 h 6554"/>
              <a:gd name="T22" fmla="*/ 1824 w 6554"/>
              <a:gd name="T23" fmla="*/ 3882 h 6554"/>
              <a:gd name="T24" fmla="*/ 2458 w 6554"/>
              <a:gd name="T25" fmla="*/ 5481 h 6554"/>
              <a:gd name="T26" fmla="*/ 2594 w 6554"/>
              <a:gd name="T27" fmla="*/ 6554 h 6554"/>
              <a:gd name="T28" fmla="*/ 2731 w 6554"/>
              <a:gd name="T29" fmla="*/ 5481 h 6554"/>
              <a:gd name="T30" fmla="*/ 3823 w 6554"/>
              <a:gd name="T31" fmla="*/ 3882 h 6554"/>
              <a:gd name="T32" fmla="*/ 3413 w 6554"/>
              <a:gd name="T33" fmla="*/ 6008 h 6554"/>
              <a:gd name="T34" fmla="*/ 4506 w 6554"/>
              <a:gd name="T35" fmla="*/ 6008 h 6554"/>
              <a:gd name="T36" fmla="*/ 4096 w 6554"/>
              <a:gd name="T37" fmla="*/ 3882 h 6554"/>
              <a:gd name="T38" fmla="*/ 4779 w 6554"/>
              <a:gd name="T39" fmla="*/ 3880 h 6554"/>
              <a:gd name="T40" fmla="*/ 5481 w 6554"/>
              <a:gd name="T41" fmla="*/ 5325 h 6554"/>
              <a:gd name="T42" fmla="*/ 6554 w 6554"/>
              <a:gd name="T43" fmla="*/ 5188 h 6554"/>
              <a:gd name="T44" fmla="*/ 546 w 6554"/>
              <a:gd name="T45" fmla="*/ 5461 h 6554"/>
              <a:gd name="T46" fmla="*/ 546 w 6554"/>
              <a:gd name="T47" fmla="*/ 4915 h 6554"/>
              <a:gd name="T48" fmla="*/ 546 w 6554"/>
              <a:gd name="T49" fmla="*/ 5461 h 6554"/>
              <a:gd name="T50" fmla="*/ 2594 w 6554"/>
              <a:gd name="T51" fmla="*/ 6281 h 6554"/>
              <a:gd name="T52" fmla="*/ 2594 w 6554"/>
              <a:gd name="T53" fmla="*/ 5734 h 6554"/>
              <a:gd name="T54" fmla="*/ 4233 w 6554"/>
              <a:gd name="T55" fmla="*/ 6008 h 6554"/>
              <a:gd name="T56" fmla="*/ 3686 w 6554"/>
              <a:gd name="T57" fmla="*/ 6008 h 6554"/>
              <a:gd name="T58" fmla="*/ 4233 w 6554"/>
              <a:gd name="T59" fmla="*/ 6008 h 6554"/>
              <a:gd name="T60" fmla="*/ 1824 w 6554"/>
              <a:gd name="T61" fmla="*/ 3609 h 6554"/>
              <a:gd name="T62" fmla="*/ 1328 w 6554"/>
              <a:gd name="T63" fmla="*/ 1934 h 6554"/>
              <a:gd name="T64" fmla="*/ 1402 w 6554"/>
              <a:gd name="T65" fmla="*/ 1774 h 6554"/>
              <a:gd name="T66" fmla="*/ 2039 w 6554"/>
              <a:gd name="T67" fmla="*/ 877 h 6554"/>
              <a:gd name="T68" fmla="*/ 2688 w 6554"/>
              <a:gd name="T69" fmla="*/ 1136 h 6554"/>
              <a:gd name="T70" fmla="*/ 2925 w 6554"/>
              <a:gd name="T71" fmla="*/ 1078 h 6554"/>
              <a:gd name="T72" fmla="*/ 3972 w 6554"/>
              <a:gd name="T73" fmla="*/ 273 h 6554"/>
              <a:gd name="T74" fmla="*/ 4948 w 6554"/>
              <a:gd name="T75" fmla="*/ 1683 h 6554"/>
              <a:gd name="T76" fmla="*/ 5044 w 6554"/>
              <a:gd name="T77" fmla="*/ 1872 h 6554"/>
              <a:gd name="T78" fmla="*/ 4730 w 6554"/>
              <a:gd name="T79" fmla="*/ 3609 h 6554"/>
              <a:gd name="T80" fmla="*/ 5734 w 6554"/>
              <a:gd name="T81" fmla="*/ 5188 h 6554"/>
              <a:gd name="T82" fmla="*/ 6281 w 6554"/>
              <a:gd name="T83" fmla="*/ 5188 h 6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4" h="6554">
                <a:moveTo>
                  <a:pt x="6008" y="4642"/>
                </a:moveTo>
                <a:cubicBezTo>
                  <a:pt x="5754" y="4642"/>
                  <a:pt x="5542" y="4817"/>
                  <a:pt x="5481" y="5052"/>
                </a:cubicBezTo>
                <a:lnTo>
                  <a:pt x="5052" y="5052"/>
                </a:lnTo>
                <a:lnTo>
                  <a:pt x="5052" y="3848"/>
                </a:lnTo>
                <a:cubicBezTo>
                  <a:pt x="5621" y="3729"/>
                  <a:pt x="6008" y="3296"/>
                  <a:pt x="6008" y="2731"/>
                </a:cubicBezTo>
                <a:cubicBezTo>
                  <a:pt x="6008" y="2246"/>
                  <a:pt x="5698" y="1813"/>
                  <a:pt x="5252" y="1649"/>
                </a:cubicBezTo>
                <a:cubicBezTo>
                  <a:pt x="5293" y="1514"/>
                  <a:pt x="5307" y="1375"/>
                  <a:pt x="5298" y="1219"/>
                </a:cubicBezTo>
                <a:cubicBezTo>
                  <a:pt x="5257" y="552"/>
                  <a:pt x="4663" y="5"/>
                  <a:pt x="3974" y="0"/>
                </a:cubicBezTo>
                <a:cubicBezTo>
                  <a:pt x="3971" y="0"/>
                  <a:pt x="3967" y="0"/>
                  <a:pt x="3964" y="0"/>
                </a:cubicBezTo>
                <a:cubicBezTo>
                  <a:pt x="3419" y="0"/>
                  <a:pt x="2932" y="326"/>
                  <a:pt x="2728" y="803"/>
                </a:cubicBezTo>
                <a:cubicBezTo>
                  <a:pt x="2527" y="653"/>
                  <a:pt x="2273" y="581"/>
                  <a:pt x="2014" y="606"/>
                </a:cubicBezTo>
                <a:cubicBezTo>
                  <a:pt x="1641" y="640"/>
                  <a:pt x="1315" y="889"/>
                  <a:pt x="1164" y="1253"/>
                </a:cubicBezTo>
                <a:cubicBezTo>
                  <a:pt x="1091" y="1426"/>
                  <a:pt x="1101" y="1619"/>
                  <a:pt x="1117" y="1736"/>
                </a:cubicBezTo>
                <a:cubicBezTo>
                  <a:pt x="767" y="1941"/>
                  <a:pt x="546" y="2320"/>
                  <a:pt x="546" y="2731"/>
                </a:cubicBezTo>
                <a:cubicBezTo>
                  <a:pt x="546" y="3286"/>
                  <a:pt x="940" y="3725"/>
                  <a:pt x="1502" y="3847"/>
                </a:cubicBezTo>
                <a:lnTo>
                  <a:pt x="1502" y="5052"/>
                </a:lnTo>
                <a:lnTo>
                  <a:pt x="1073" y="5052"/>
                </a:lnTo>
                <a:cubicBezTo>
                  <a:pt x="1012" y="4817"/>
                  <a:pt x="800" y="4642"/>
                  <a:pt x="546" y="4642"/>
                </a:cubicBezTo>
                <a:cubicBezTo>
                  <a:pt x="245" y="4642"/>
                  <a:pt x="0" y="4887"/>
                  <a:pt x="0" y="5188"/>
                </a:cubicBezTo>
                <a:cubicBezTo>
                  <a:pt x="0" y="5489"/>
                  <a:pt x="245" y="5734"/>
                  <a:pt x="546" y="5734"/>
                </a:cubicBezTo>
                <a:cubicBezTo>
                  <a:pt x="800" y="5734"/>
                  <a:pt x="1012" y="5560"/>
                  <a:pt x="1073" y="5325"/>
                </a:cubicBezTo>
                <a:lnTo>
                  <a:pt x="1775" y="5325"/>
                </a:lnTo>
                <a:lnTo>
                  <a:pt x="1775" y="3880"/>
                </a:lnTo>
                <a:cubicBezTo>
                  <a:pt x="1791" y="3881"/>
                  <a:pt x="1807" y="3882"/>
                  <a:pt x="1824" y="3882"/>
                </a:cubicBezTo>
                <a:lnTo>
                  <a:pt x="2458" y="3882"/>
                </a:lnTo>
                <a:lnTo>
                  <a:pt x="2458" y="5481"/>
                </a:lnTo>
                <a:cubicBezTo>
                  <a:pt x="2223" y="5542"/>
                  <a:pt x="2048" y="5754"/>
                  <a:pt x="2048" y="6008"/>
                </a:cubicBezTo>
                <a:cubicBezTo>
                  <a:pt x="2048" y="6309"/>
                  <a:pt x="2293" y="6554"/>
                  <a:pt x="2594" y="6554"/>
                </a:cubicBezTo>
                <a:cubicBezTo>
                  <a:pt x="2895" y="6554"/>
                  <a:pt x="3140" y="6309"/>
                  <a:pt x="3140" y="6008"/>
                </a:cubicBezTo>
                <a:cubicBezTo>
                  <a:pt x="3140" y="5754"/>
                  <a:pt x="2966" y="5542"/>
                  <a:pt x="2731" y="5481"/>
                </a:cubicBezTo>
                <a:lnTo>
                  <a:pt x="2731" y="3882"/>
                </a:lnTo>
                <a:lnTo>
                  <a:pt x="3823" y="3882"/>
                </a:lnTo>
                <a:lnTo>
                  <a:pt x="3823" y="5481"/>
                </a:lnTo>
                <a:cubicBezTo>
                  <a:pt x="3588" y="5542"/>
                  <a:pt x="3413" y="5754"/>
                  <a:pt x="3413" y="6008"/>
                </a:cubicBezTo>
                <a:cubicBezTo>
                  <a:pt x="3413" y="6309"/>
                  <a:pt x="3658" y="6554"/>
                  <a:pt x="3960" y="6554"/>
                </a:cubicBezTo>
                <a:cubicBezTo>
                  <a:pt x="4261" y="6554"/>
                  <a:pt x="4506" y="6309"/>
                  <a:pt x="4506" y="6008"/>
                </a:cubicBezTo>
                <a:cubicBezTo>
                  <a:pt x="4506" y="5754"/>
                  <a:pt x="4331" y="5542"/>
                  <a:pt x="4096" y="5481"/>
                </a:cubicBezTo>
                <a:lnTo>
                  <a:pt x="4096" y="3882"/>
                </a:lnTo>
                <a:lnTo>
                  <a:pt x="4730" y="3882"/>
                </a:lnTo>
                <a:cubicBezTo>
                  <a:pt x="4746" y="3882"/>
                  <a:pt x="4762" y="3881"/>
                  <a:pt x="4779" y="3880"/>
                </a:cubicBezTo>
                <a:lnTo>
                  <a:pt x="4779" y="5325"/>
                </a:lnTo>
                <a:lnTo>
                  <a:pt x="5481" y="5325"/>
                </a:lnTo>
                <a:cubicBezTo>
                  <a:pt x="5542" y="5560"/>
                  <a:pt x="5754" y="5734"/>
                  <a:pt x="6008" y="5734"/>
                </a:cubicBezTo>
                <a:cubicBezTo>
                  <a:pt x="6309" y="5734"/>
                  <a:pt x="6554" y="5489"/>
                  <a:pt x="6554" y="5188"/>
                </a:cubicBezTo>
                <a:cubicBezTo>
                  <a:pt x="6554" y="4887"/>
                  <a:pt x="6309" y="4642"/>
                  <a:pt x="6008" y="4642"/>
                </a:cubicBezTo>
                <a:close/>
                <a:moveTo>
                  <a:pt x="546" y="5461"/>
                </a:moveTo>
                <a:cubicBezTo>
                  <a:pt x="396" y="5461"/>
                  <a:pt x="273" y="5339"/>
                  <a:pt x="273" y="5188"/>
                </a:cubicBezTo>
                <a:cubicBezTo>
                  <a:pt x="273" y="5038"/>
                  <a:pt x="396" y="4915"/>
                  <a:pt x="546" y="4915"/>
                </a:cubicBezTo>
                <a:cubicBezTo>
                  <a:pt x="697" y="4915"/>
                  <a:pt x="819" y="5038"/>
                  <a:pt x="819" y="5188"/>
                </a:cubicBezTo>
                <a:cubicBezTo>
                  <a:pt x="819" y="5339"/>
                  <a:pt x="697" y="5461"/>
                  <a:pt x="546" y="5461"/>
                </a:cubicBezTo>
                <a:close/>
                <a:moveTo>
                  <a:pt x="2867" y="6008"/>
                </a:moveTo>
                <a:cubicBezTo>
                  <a:pt x="2867" y="6158"/>
                  <a:pt x="2745" y="6281"/>
                  <a:pt x="2594" y="6281"/>
                </a:cubicBezTo>
                <a:cubicBezTo>
                  <a:pt x="2444" y="6281"/>
                  <a:pt x="2321" y="6158"/>
                  <a:pt x="2321" y="6008"/>
                </a:cubicBezTo>
                <a:cubicBezTo>
                  <a:pt x="2321" y="5857"/>
                  <a:pt x="2444" y="5734"/>
                  <a:pt x="2594" y="5734"/>
                </a:cubicBezTo>
                <a:cubicBezTo>
                  <a:pt x="2745" y="5734"/>
                  <a:pt x="2867" y="5857"/>
                  <a:pt x="2867" y="6008"/>
                </a:cubicBezTo>
                <a:close/>
                <a:moveTo>
                  <a:pt x="4233" y="6008"/>
                </a:moveTo>
                <a:cubicBezTo>
                  <a:pt x="4233" y="6158"/>
                  <a:pt x="4110" y="6281"/>
                  <a:pt x="3960" y="6281"/>
                </a:cubicBezTo>
                <a:cubicBezTo>
                  <a:pt x="3809" y="6281"/>
                  <a:pt x="3686" y="6158"/>
                  <a:pt x="3686" y="6008"/>
                </a:cubicBezTo>
                <a:cubicBezTo>
                  <a:pt x="3686" y="5857"/>
                  <a:pt x="3809" y="5734"/>
                  <a:pt x="3960" y="5734"/>
                </a:cubicBezTo>
                <a:cubicBezTo>
                  <a:pt x="4110" y="5734"/>
                  <a:pt x="4233" y="5857"/>
                  <a:pt x="4233" y="6008"/>
                </a:cubicBezTo>
                <a:close/>
                <a:moveTo>
                  <a:pt x="4730" y="3609"/>
                </a:moveTo>
                <a:lnTo>
                  <a:pt x="1824" y="3609"/>
                </a:lnTo>
                <a:cubicBezTo>
                  <a:pt x="1242" y="3609"/>
                  <a:pt x="819" y="3240"/>
                  <a:pt x="819" y="2731"/>
                </a:cubicBezTo>
                <a:cubicBezTo>
                  <a:pt x="819" y="2390"/>
                  <a:pt x="1019" y="2077"/>
                  <a:pt x="1328" y="1934"/>
                </a:cubicBezTo>
                <a:lnTo>
                  <a:pt x="1432" y="1885"/>
                </a:lnTo>
                <a:lnTo>
                  <a:pt x="1402" y="1774"/>
                </a:lnTo>
                <a:cubicBezTo>
                  <a:pt x="1402" y="1772"/>
                  <a:pt x="1341" y="1538"/>
                  <a:pt x="1416" y="1358"/>
                </a:cubicBezTo>
                <a:cubicBezTo>
                  <a:pt x="1529" y="1087"/>
                  <a:pt x="1768" y="903"/>
                  <a:pt x="2039" y="877"/>
                </a:cubicBezTo>
                <a:cubicBezTo>
                  <a:pt x="2064" y="875"/>
                  <a:pt x="2088" y="874"/>
                  <a:pt x="2113" y="874"/>
                </a:cubicBezTo>
                <a:cubicBezTo>
                  <a:pt x="2335" y="874"/>
                  <a:pt x="2546" y="969"/>
                  <a:pt x="2688" y="1136"/>
                </a:cubicBezTo>
                <a:lnTo>
                  <a:pt x="2864" y="1345"/>
                </a:lnTo>
                <a:lnTo>
                  <a:pt x="2925" y="1078"/>
                </a:lnTo>
                <a:cubicBezTo>
                  <a:pt x="3031" y="611"/>
                  <a:pt x="3467" y="273"/>
                  <a:pt x="3964" y="273"/>
                </a:cubicBezTo>
                <a:cubicBezTo>
                  <a:pt x="3967" y="273"/>
                  <a:pt x="3969" y="273"/>
                  <a:pt x="3972" y="273"/>
                </a:cubicBezTo>
                <a:cubicBezTo>
                  <a:pt x="4520" y="277"/>
                  <a:pt x="4993" y="709"/>
                  <a:pt x="5025" y="1236"/>
                </a:cubicBezTo>
                <a:cubicBezTo>
                  <a:pt x="5036" y="1404"/>
                  <a:pt x="5012" y="1542"/>
                  <a:pt x="4948" y="1683"/>
                </a:cubicBezTo>
                <a:lnTo>
                  <a:pt x="4879" y="1836"/>
                </a:lnTo>
                <a:lnTo>
                  <a:pt x="5044" y="1872"/>
                </a:lnTo>
                <a:cubicBezTo>
                  <a:pt x="5444" y="1959"/>
                  <a:pt x="5734" y="2320"/>
                  <a:pt x="5734" y="2731"/>
                </a:cubicBezTo>
                <a:cubicBezTo>
                  <a:pt x="5734" y="3248"/>
                  <a:pt x="5321" y="3609"/>
                  <a:pt x="4730" y="3609"/>
                </a:cubicBezTo>
                <a:close/>
                <a:moveTo>
                  <a:pt x="6008" y="5461"/>
                </a:moveTo>
                <a:cubicBezTo>
                  <a:pt x="5857" y="5461"/>
                  <a:pt x="5734" y="5339"/>
                  <a:pt x="5734" y="5188"/>
                </a:cubicBezTo>
                <a:cubicBezTo>
                  <a:pt x="5734" y="5038"/>
                  <a:pt x="5857" y="4915"/>
                  <a:pt x="6008" y="4915"/>
                </a:cubicBezTo>
                <a:cubicBezTo>
                  <a:pt x="6158" y="4915"/>
                  <a:pt x="6281" y="5038"/>
                  <a:pt x="6281" y="5188"/>
                </a:cubicBezTo>
                <a:cubicBezTo>
                  <a:pt x="6281" y="5339"/>
                  <a:pt x="6158" y="5461"/>
                  <a:pt x="6008" y="5461"/>
                </a:cubicBezTo>
                <a:close/>
              </a:path>
            </a:pathLst>
          </a:custGeom>
          <a:solidFill>
            <a:schemeClr val="bg1"/>
          </a:solidFill>
          <a:ln>
            <a:noFill/>
          </a:ln>
        </p:spPr>
      </p:sp>
      <p:sp>
        <p:nvSpPr>
          <p:cNvPr id="6"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700" dirty="0">
                <a:solidFill>
                  <a:schemeClr val="accent3">
                    <a:lumMod val="75000"/>
                  </a:schemeClr>
                </a:solidFill>
                <a:sym typeface="+mn-ea"/>
              </a:rPr>
              <a:t>提升科技管理支撑能力</a:t>
            </a:r>
            <a:endParaRPr lang="zh-CN" altLang="en-US" sz="2700" dirty="0">
              <a:solidFill>
                <a:schemeClr val="accent3">
                  <a:lumMod val="75000"/>
                </a:schemeClr>
              </a:solidFill>
            </a:endParaRPr>
          </a:p>
        </p:txBody>
      </p:sp>
      <p:sp>
        <p:nvSpPr>
          <p:cNvPr id="8" name="文本框 7"/>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4.1</a:t>
            </a:r>
            <a:endParaRPr kumimoji="1" lang="zh-CN" altLang="en-US" sz="3200" b="1" dirty="0">
              <a:solidFill>
                <a:schemeClr val="bg1"/>
              </a:solidFill>
              <a:effectLst>
                <a:outerShdw blurRad="50800" dist="38100" dir="2700000" algn="tl" rotWithShape="0">
                  <a:prstClr val="black">
                    <a:alpha val="40000"/>
                  </a:prstClr>
                </a:outerShdw>
              </a:effectLst>
            </a:endParaRPr>
          </a:p>
        </p:txBody>
      </p:sp>
      <p:sp>
        <p:nvSpPr>
          <p:cNvPr id="11" name="矩形 10"/>
          <p:cNvSpPr/>
          <p:nvPr>
            <p:custDataLst>
              <p:tags r:id="rId2"/>
            </p:custDataLst>
          </p:nvPr>
        </p:nvSpPr>
        <p:spPr>
          <a:xfrm>
            <a:off x="688260" y="1587317"/>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4" name="文本框 13"/>
          <p:cNvSpPr txBox="1"/>
          <p:nvPr/>
        </p:nvSpPr>
        <p:spPr>
          <a:xfrm>
            <a:off x="935686" y="1624904"/>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具体工作</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1111971" y="2461046"/>
            <a:ext cx="3106258" cy="2799280"/>
            <a:chOff x="1111971" y="2549535"/>
            <a:chExt cx="3106258" cy="2799280"/>
          </a:xfrm>
        </p:grpSpPr>
        <p:grpSp>
          <p:nvGrpSpPr>
            <p:cNvPr id="19" name="组合 18"/>
            <p:cNvGrpSpPr/>
            <p:nvPr/>
          </p:nvGrpSpPr>
          <p:grpSpPr>
            <a:xfrm>
              <a:off x="1111971" y="2549535"/>
              <a:ext cx="3106258" cy="2799280"/>
              <a:chOff x="1250760" y="2655532"/>
              <a:chExt cx="3106258" cy="2799280"/>
            </a:xfrm>
          </p:grpSpPr>
          <p:sp>
            <p:nvSpPr>
              <p:cNvPr id="52" name="文本框 51"/>
              <p:cNvSpPr txBox="1"/>
              <p:nvPr>
                <p:custDataLst>
                  <p:tags r:id="rId3"/>
                </p:custDataLst>
              </p:nvPr>
            </p:nvSpPr>
            <p:spPr>
              <a:xfrm>
                <a:off x="1689466" y="2658867"/>
                <a:ext cx="2667552" cy="379954"/>
              </a:xfrm>
              <a:prstGeom prst="rect">
                <a:avLst/>
              </a:prstGeom>
              <a:noFill/>
            </p:spPr>
            <p:txBody>
              <a:bodyPr wrap="square" rtlCol="0">
                <a:noAutofit/>
              </a:bodyPr>
              <a:lstStyle/>
              <a:p>
                <a:pPr>
                  <a:buSzPct val="100000"/>
                </a:pPr>
                <a:r>
                  <a:rPr lang="zh-CN" altLang="zh-CN" sz="1600" b="1" spc="80" dirty="0">
                    <a:latin typeface="Arial" panose="020B0604020202020204" pitchFamily="34" charset="0"/>
                    <a:ea typeface="微软雅黑" panose="020B0503020204020204" pitchFamily="34" charset="-122"/>
                  </a:rPr>
                  <a:t>提升科技决策支撑能力</a:t>
                </a:r>
                <a:endParaRPr lang="zh-CN" altLang="zh-CN" sz="1600" b="1" spc="80" dirty="0">
                  <a:latin typeface="Arial" panose="020B0604020202020204" pitchFamily="34" charset="0"/>
                  <a:ea typeface="微软雅黑" panose="020B0503020204020204" pitchFamily="34" charset="-122"/>
                </a:endParaRPr>
              </a:p>
            </p:txBody>
          </p:sp>
          <p:grpSp>
            <p:nvGrpSpPr>
              <p:cNvPr id="18" name="组合 17"/>
              <p:cNvGrpSpPr/>
              <p:nvPr/>
            </p:nvGrpSpPr>
            <p:grpSpPr>
              <a:xfrm>
                <a:off x="1318463" y="2655532"/>
                <a:ext cx="339665" cy="339665"/>
                <a:chOff x="504698" y="2554152"/>
                <a:chExt cx="339665" cy="339665"/>
              </a:xfrm>
            </p:grpSpPr>
            <p:sp>
              <p:nvSpPr>
                <p:cNvPr id="13" name="椭圆 12"/>
                <p:cNvSpPr/>
                <p:nvPr>
                  <p:custDataLst>
                    <p:tags r:id="rId4"/>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40" name="icon"/>
                <p:cNvSpPr/>
                <p:nvPr>
                  <p:custDataLst>
                    <p:tags r:id="rId5"/>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16" name="矩形 15"/>
              <p:cNvSpPr/>
              <p:nvPr/>
            </p:nvSpPr>
            <p:spPr>
              <a:xfrm>
                <a:off x="1250760" y="3461959"/>
                <a:ext cx="2804859" cy="1992853"/>
              </a:xfrm>
              <a:prstGeom prst="rect">
                <a:avLst/>
              </a:prstGeom>
            </p:spPr>
            <p:txBody>
              <a:bodyPr wrap="square">
                <a:spAutoFit/>
              </a:bodyPr>
              <a:lstStyle/>
              <a:p>
                <a:pPr algn="just">
                  <a:lnSpc>
                    <a:spcPct val="150000"/>
                  </a:lnSpc>
                </a:pPr>
                <a:r>
                  <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rPr>
                  <a:t>围绕厅重点工作，梳理研究方向，加强实地调查，开展相关研究，重点围绕科技创新体系建设、科技发展规划、科技统计与监测评价、科技成果转移转化等方面做好服务支撑。</a:t>
                </a:r>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29" name="直线连接符 28"/>
            <p:cNvCxnSpPr/>
            <p:nvPr/>
          </p:nvCxnSpPr>
          <p:spPr>
            <a:xfrm>
              <a:off x="1179674" y="3151385"/>
              <a:ext cx="2552696"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4368370" y="2461046"/>
            <a:ext cx="2804859" cy="2792745"/>
            <a:chOff x="4249567" y="2461046"/>
            <a:chExt cx="2804859" cy="2792745"/>
          </a:xfrm>
        </p:grpSpPr>
        <p:grpSp>
          <p:nvGrpSpPr>
            <p:cNvPr id="21" name="组合 20"/>
            <p:cNvGrpSpPr/>
            <p:nvPr/>
          </p:nvGrpSpPr>
          <p:grpSpPr>
            <a:xfrm>
              <a:off x="4249567" y="2461046"/>
              <a:ext cx="2804859" cy="2792745"/>
              <a:chOff x="1250760" y="2655532"/>
              <a:chExt cx="2804859" cy="2792745"/>
            </a:xfrm>
          </p:grpSpPr>
          <p:sp>
            <p:nvSpPr>
              <p:cNvPr id="23" name="文本框 22"/>
              <p:cNvSpPr txBox="1"/>
              <p:nvPr>
                <p:custDataLst>
                  <p:tags r:id="rId6"/>
                </p:custDataLst>
              </p:nvPr>
            </p:nvSpPr>
            <p:spPr>
              <a:xfrm>
                <a:off x="1689466" y="2658867"/>
                <a:ext cx="2327887" cy="379954"/>
              </a:xfrm>
              <a:prstGeom prst="rect">
                <a:avLst/>
              </a:prstGeom>
              <a:noFill/>
            </p:spPr>
            <p:txBody>
              <a:bodyPr wrap="square" rtlCol="0">
                <a:noAutofit/>
              </a:bodyPr>
              <a:lstStyle/>
              <a:p>
                <a:pPr algn="ctr"/>
                <a:r>
                  <a:rPr lang="zh-CN" altLang="zh-CN" sz="1600" b="1" dirty="0">
                    <a:latin typeface="+mj-ea"/>
                    <a:sym typeface="+mn-ea"/>
                  </a:rPr>
                  <a:t>提升科技</a:t>
                </a:r>
                <a:r>
                  <a:rPr lang="zh-CN" altLang="en-US" sz="1600" b="1" dirty="0">
                    <a:latin typeface="+mj-ea"/>
                    <a:sym typeface="+mn-ea"/>
                  </a:rPr>
                  <a:t>政策宣传</a:t>
                </a:r>
                <a:r>
                  <a:rPr lang="zh-CN" altLang="zh-CN" sz="1600" b="1" dirty="0">
                    <a:latin typeface="+mj-ea"/>
                    <a:sym typeface="+mn-ea"/>
                  </a:rPr>
                  <a:t>能力</a:t>
                </a:r>
                <a:endParaRPr lang="zh-CN" altLang="en-US" sz="1600" b="1" dirty="0">
                  <a:latin typeface="+mj-ea"/>
                  <a:sym typeface="+mn-ea"/>
                </a:endParaRPr>
              </a:p>
              <a:p>
                <a:pPr>
                  <a:buSzPct val="100000"/>
                </a:pPr>
                <a:endParaRPr lang="zh-CN" altLang="zh-CN" sz="1600" b="1" spc="80" dirty="0">
                  <a:latin typeface="Arial" panose="020B0604020202020204" pitchFamily="34" charset="0"/>
                  <a:ea typeface="微软雅黑" panose="020B0503020204020204" pitchFamily="34" charset="-122"/>
                </a:endParaRPr>
              </a:p>
            </p:txBody>
          </p:sp>
          <p:grpSp>
            <p:nvGrpSpPr>
              <p:cNvPr id="24" name="组合 23"/>
              <p:cNvGrpSpPr/>
              <p:nvPr/>
            </p:nvGrpSpPr>
            <p:grpSpPr>
              <a:xfrm>
                <a:off x="1318463" y="2655532"/>
                <a:ext cx="339665" cy="339665"/>
                <a:chOff x="504698" y="2554152"/>
                <a:chExt cx="339665" cy="339665"/>
              </a:xfrm>
            </p:grpSpPr>
            <p:sp>
              <p:nvSpPr>
                <p:cNvPr id="26" name="椭圆 25"/>
                <p:cNvSpPr/>
                <p:nvPr>
                  <p:custDataLst>
                    <p:tags r:id="rId7"/>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27" name="icon"/>
                <p:cNvSpPr/>
                <p:nvPr>
                  <p:custDataLst>
                    <p:tags r:id="rId8"/>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25" name="矩形 24"/>
              <p:cNvSpPr/>
              <p:nvPr/>
            </p:nvSpPr>
            <p:spPr>
              <a:xfrm>
                <a:off x="1250760" y="3416952"/>
                <a:ext cx="2804859" cy="2031325"/>
              </a:xfrm>
              <a:prstGeom prst="rect">
                <a:avLst/>
              </a:prstGeom>
            </p:spPr>
            <p:txBody>
              <a:bodyPr wrap="square">
                <a:spAutoFit/>
              </a:bodyPr>
              <a:lstStyle/>
              <a:p>
                <a:pPr algn="just">
                  <a:lnSpc>
                    <a:spcPct val="150000"/>
                  </a:lnSpc>
                </a:pPr>
                <a:r>
                  <a:rPr lang="zh-CN" altLang="en-US" sz="1400" spc="90" dirty="0" smtClean="0">
                    <a:solidFill>
                      <a:schemeClr val="tx1">
                        <a:lumMod val="85000"/>
                        <a:lumOff val="15000"/>
                      </a:schemeClr>
                    </a:solidFill>
                    <a:latin typeface="Arial" panose="020B0604020202020204" pitchFamily="34" charset="0"/>
                    <a:ea typeface="微软雅黑" panose="020B0503020204020204" pitchFamily="34" charset="-122"/>
                  </a:rPr>
                  <a:t>打造</a:t>
                </a:r>
                <a:r>
                  <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rPr>
                  <a:t>专业化宣传策划能力和品牌，打造专业服务团队，多方式组织科技政策培训宣讲、科技重大事件宣传</a:t>
                </a:r>
                <a:r>
                  <a:rPr lang="zh-CN" altLang="en-US" sz="1400" spc="90" dirty="0" smtClean="0">
                    <a:solidFill>
                      <a:schemeClr val="tx1">
                        <a:lumMod val="85000"/>
                        <a:lumOff val="15000"/>
                      </a:schemeClr>
                    </a:solidFill>
                    <a:latin typeface="Arial" panose="020B0604020202020204" pitchFamily="34" charset="0"/>
                    <a:ea typeface="微软雅黑" panose="020B0503020204020204" pitchFamily="34" charset="-122"/>
                  </a:rPr>
                  <a:t>，以</a:t>
                </a:r>
                <a:r>
                  <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rPr>
                  <a:t>“政策打包宣讲”的形式，开展系列培训和宣讲。</a:t>
                </a:r>
                <a:endPar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31" name="直线连接符 30"/>
            <p:cNvCxnSpPr/>
            <p:nvPr/>
          </p:nvCxnSpPr>
          <p:spPr>
            <a:xfrm>
              <a:off x="4317270" y="3062896"/>
              <a:ext cx="2552696"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7526529" y="2461046"/>
            <a:ext cx="3497147" cy="999812"/>
            <a:chOff x="4215277" y="2461046"/>
            <a:chExt cx="3497147" cy="999812"/>
          </a:xfrm>
        </p:grpSpPr>
        <p:grpSp>
          <p:nvGrpSpPr>
            <p:cNvPr id="34" name="组合 33"/>
            <p:cNvGrpSpPr/>
            <p:nvPr/>
          </p:nvGrpSpPr>
          <p:grpSpPr>
            <a:xfrm>
              <a:off x="4215277" y="2461046"/>
              <a:ext cx="3497147" cy="999812"/>
              <a:chOff x="1216470" y="2655532"/>
              <a:chExt cx="3497147" cy="999812"/>
            </a:xfrm>
          </p:grpSpPr>
          <p:sp>
            <p:nvSpPr>
              <p:cNvPr id="36" name="文本框 35"/>
              <p:cNvSpPr txBox="1"/>
              <p:nvPr>
                <p:custDataLst>
                  <p:tags r:id="rId9"/>
                </p:custDataLst>
              </p:nvPr>
            </p:nvSpPr>
            <p:spPr>
              <a:xfrm>
                <a:off x="1689466" y="2658867"/>
                <a:ext cx="2501327" cy="379954"/>
              </a:xfrm>
              <a:prstGeom prst="rect">
                <a:avLst/>
              </a:prstGeom>
              <a:noFill/>
            </p:spPr>
            <p:txBody>
              <a:bodyPr wrap="square" rtlCol="0">
                <a:noAutofit/>
              </a:bodyPr>
              <a:lstStyle/>
              <a:p>
                <a:r>
                  <a:rPr lang="zh-CN" altLang="en-US" sz="1600" b="1" dirty="0">
                    <a:latin typeface="+mj-ea"/>
                    <a:sym typeface="+mn-ea"/>
                  </a:rPr>
                  <a:t>提升科技管理专业化协同服务能力</a:t>
                </a:r>
                <a:endParaRPr lang="zh-CN" altLang="en-US" sz="1600" b="1" dirty="0">
                  <a:latin typeface="+mj-ea"/>
                </a:endParaRPr>
              </a:p>
            </p:txBody>
          </p:sp>
          <p:grpSp>
            <p:nvGrpSpPr>
              <p:cNvPr id="37" name="组合 36"/>
              <p:cNvGrpSpPr/>
              <p:nvPr/>
            </p:nvGrpSpPr>
            <p:grpSpPr>
              <a:xfrm>
                <a:off x="1318463" y="2655532"/>
                <a:ext cx="339665" cy="339665"/>
                <a:chOff x="504698" y="2554152"/>
                <a:chExt cx="339665" cy="339665"/>
              </a:xfrm>
            </p:grpSpPr>
            <p:sp>
              <p:nvSpPr>
                <p:cNvPr id="41" name="椭圆 40"/>
                <p:cNvSpPr/>
                <p:nvPr>
                  <p:custDataLst>
                    <p:tags r:id="rId10"/>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42" name="icon"/>
                <p:cNvSpPr/>
                <p:nvPr>
                  <p:custDataLst>
                    <p:tags r:id="rId11"/>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38" name="矩形 37"/>
              <p:cNvSpPr/>
              <p:nvPr/>
            </p:nvSpPr>
            <p:spPr>
              <a:xfrm>
                <a:off x="1216470" y="3279792"/>
                <a:ext cx="3497147" cy="375552"/>
              </a:xfrm>
              <a:prstGeom prst="rect">
                <a:avLst/>
              </a:prstGeom>
            </p:spPr>
            <p:txBody>
              <a:bodyPr wrap="square">
                <a:spAutoFit/>
              </a:bodyPr>
              <a:lstStyle/>
              <a:p>
                <a:pPr algn="just">
                  <a:lnSpc>
                    <a:spcPct val="150000"/>
                  </a:lnSpc>
                </a:pPr>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35" name="直线连接符 34"/>
            <p:cNvCxnSpPr/>
            <p:nvPr/>
          </p:nvCxnSpPr>
          <p:spPr>
            <a:xfrm>
              <a:off x="4317270" y="3062896"/>
              <a:ext cx="3270536"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sp>
        <p:nvSpPr>
          <p:cNvPr id="39" name="矩形 38"/>
          <p:cNvSpPr/>
          <p:nvPr/>
        </p:nvSpPr>
        <p:spPr>
          <a:xfrm>
            <a:off x="7812610" y="3214846"/>
            <a:ext cx="3114470" cy="1708160"/>
          </a:xfrm>
          <a:prstGeom prst="rect">
            <a:avLst/>
          </a:prstGeom>
        </p:spPr>
        <p:txBody>
          <a:bodyPr wrap="square">
            <a:spAutoFit/>
          </a:bodyPr>
          <a:lstStyle/>
          <a:p>
            <a:pPr algn="just">
              <a:lnSpc>
                <a:spcPct val="150000"/>
              </a:lnSpc>
            </a:pPr>
            <a:r>
              <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rPr>
              <a:t>梳理现有承接业务标准、流程，强化业务承接能力培训</a:t>
            </a:r>
            <a:r>
              <a:rPr lang="zh-CN" altLang="en-US" sz="1400" spc="90" dirty="0" smtClean="0">
                <a:solidFill>
                  <a:schemeClr val="tx1">
                    <a:lumMod val="85000"/>
                    <a:lumOff val="15000"/>
                  </a:schemeClr>
                </a:solidFill>
                <a:latin typeface="Arial" panose="020B0604020202020204" pitchFamily="34" charset="0"/>
                <a:ea typeface="微软雅黑" panose="020B0503020204020204" pitchFamily="34" charset="-122"/>
              </a:rPr>
              <a:t>，强化</a:t>
            </a:r>
            <a:r>
              <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rPr>
              <a:t>协调配合、形成合力，确保协同工作取得</a:t>
            </a:r>
            <a:r>
              <a:rPr lang="zh-CN" altLang="en-US" sz="1400" spc="90" dirty="0" smtClean="0">
                <a:solidFill>
                  <a:schemeClr val="tx1">
                    <a:lumMod val="85000"/>
                    <a:lumOff val="15000"/>
                  </a:schemeClr>
                </a:solidFill>
                <a:latin typeface="Arial" panose="020B0604020202020204" pitchFamily="34" charset="0"/>
                <a:ea typeface="微软雅黑" panose="020B0503020204020204" pitchFamily="34" charset="-122"/>
              </a:rPr>
              <a:t>实效，</a:t>
            </a:r>
            <a:r>
              <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rPr>
              <a:t>全面提升科技管理专业化</a:t>
            </a:r>
            <a:r>
              <a:rPr lang="zh-CN" altLang="en-US" sz="1400" spc="90" dirty="0" smtClean="0">
                <a:solidFill>
                  <a:schemeClr val="tx1">
                    <a:lumMod val="85000"/>
                    <a:lumOff val="15000"/>
                  </a:schemeClr>
                </a:solidFill>
                <a:latin typeface="Arial" panose="020B0604020202020204" pitchFamily="34" charset="0"/>
                <a:ea typeface="微软雅黑" panose="020B0503020204020204" pitchFamily="34" charset="-122"/>
              </a:rPr>
              <a:t>服务水平。</a:t>
            </a:r>
            <a:endParaRPr lang="zh-CN" altLang="en-US" sz="1400" spc="90" dirty="0">
              <a:solidFill>
                <a:schemeClr val="tx1">
                  <a:lumMod val="85000"/>
                  <a:lumOff val="15000"/>
                </a:schemeClr>
              </a:solidFill>
              <a:latin typeface="Arial" panose="020B0604020202020204" pitchFamily="34" charset="0"/>
              <a:ea typeface="微软雅黑" panose="020B0503020204020204" pitchFamily="34" charset="-122"/>
            </a:endParaRPr>
          </a:p>
        </p:txBody>
      </p:sp>
    </p:spTree>
    <p:custDataLst>
      <p:tags r:id="rId12"/>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16940" y="2469515"/>
            <a:ext cx="10096957" cy="422680"/>
          </a:xfrm>
          <a:prstGeom prst="rect">
            <a:avLst/>
          </a:prstGeom>
        </p:spPr>
        <p:txBody>
          <a:bodyPr wrap="square">
            <a:spAutoFit/>
          </a:bodyPr>
          <a:lstStyle/>
          <a:p>
            <a:pPr algn="just">
              <a:lnSpc>
                <a:spcPts val="2800"/>
              </a:lnSpc>
            </a:pPr>
            <a:r>
              <a:rPr lang="zh-CN" altLang="en-US" sz="2000" kern="100" dirty="0">
                <a:latin typeface="+mn-ea"/>
                <a:cs typeface="Times New Roman" panose="02020603050405020304" pitchFamily="18" charset="0"/>
              </a:rPr>
              <a:t> </a:t>
            </a:r>
            <a:endParaRPr lang="zh-CN" altLang="en-US" sz="2000" kern="100" dirty="0">
              <a:latin typeface="+mn-ea"/>
              <a:cs typeface="Times New Roman" panose="02020603050405020304" pitchFamily="18" charset="0"/>
            </a:endParaRPr>
          </a:p>
        </p:txBody>
      </p:sp>
      <p:sp>
        <p:nvSpPr>
          <p:cNvPr id="3"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打造高端科技创新智库</a:t>
            </a:r>
            <a:endParaRPr lang="zh-CN" altLang="en-US" dirty="0">
              <a:solidFill>
                <a:schemeClr val="accent3">
                  <a:lumMod val="75000"/>
                </a:schemeClr>
              </a:solidFill>
            </a:endParaRPr>
          </a:p>
        </p:txBody>
      </p:sp>
      <p:sp>
        <p:nvSpPr>
          <p:cNvPr id="7" name="文本框 6"/>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4.2</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18" name="组合 17"/>
          <p:cNvGrpSpPr/>
          <p:nvPr/>
        </p:nvGrpSpPr>
        <p:grpSpPr>
          <a:xfrm>
            <a:off x="703007" y="1758563"/>
            <a:ext cx="10558241" cy="3432869"/>
            <a:chOff x="703007" y="1758563"/>
            <a:chExt cx="10558241" cy="3432869"/>
          </a:xfrm>
        </p:grpSpPr>
        <p:grpSp>
          <p:nvGrpSpPr>
            <p:cNvPr id="8" name="组合 7"/>
            <p:cNvGrpSpPr/>
            <p:nvPr/>
          </p:nvGrpSpPr>
          <p:grpSpPr>
            <a:xfrm>
              <a:off x="703007" y="2138780"/>
              <a:ext cx="10558241" cy="3052652"/>
              <a:chOff x="591669" y="1685475"/>
              <a:chExt cx="10558241" cy="3052652"/>
            </a:xfrm>
          </p:grpSpPr>
          <p:grpSp>
            <p:nvGrpSpPr>
              <p:cNvPr id="11" name="组合 10"/>
              <p:cNvGrpSpPr/>
              <p:nvPr/>
            </p:nvGrpSpPr>
            <p:grpSpPr>
              <a:xfrm>
                <a:off x="591669" y="1685475"/>
                <a:ext cx="10558241" cy="3052652"/>
                <a:chOff x="591669" y="1685475"/>
                <a:chExt cx="10558241" cy="3052652"/>
              </a:xfrm>
            </p:grpSpPr>
            <p:sp>
              <p:nvSpPr>
                <p:cNvPr id="13" name="矩形 12"/>
                <p:cNvSpPr/>
                <p:nvPr/>
              </p:nvSpPr>
              <p:spPr>
                <a:xfrm>
                  <a:off x="591669" y="1689522"/>
                  <a:ext cx="10558241" cy="3048605"/>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4" name="矩形 13"/>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5" name="文本框 14"/>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建设目标</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0" name="矩形 9"/>
              <p:cNvSpPr/>
              <p:nvPr/>
            </p:nvSpPr>
            <p:spPr>
              <a:xfrm>
                <a:off x="924334" y="2388571"/>
                <a:ext cx="5060327" cy="1670073"/>
              </a:xfrm>
              <a:prstGeom prst="rect">
                <a:avLst/>
              </a:prstGeom>
            </p:spPr>
            <p:txBody>
              <a:bodyPr wrap="square">
                <a:spAutoFit/>
              </a:bodyPr>
              <a:lstStyle/>
              <a:p>
                <a:pPr indent="0" algn="just" fontAlgn="auto">
                  <a:lnSpc>
                    <a:spcPct val="150000"/>
                  </a:lnSpc>
                </a:pPr>
                <a:r>
                  <a:rPr lang="zh-CN" altLang="en-US" sz="1400" kern="100" dirty="0">
                    <a:latin typeface="+mn-ea"/>
                    <a:cs typeface="Times New Roman" panose="02020603050405020304" pitchFamily="18" charset="0"/>
                  </a:rPr>
                  <a:t>      按照“小中心、大外围”的模式，遵循“提升能力、支撑省厅、服务全省、面向社会”的发展路径</a:t>
                </a:r>
                <a:r>
                  <a:rPr lang="zh-CN" altLang="en-US" sz="1400" kern="100" dirty="0">
                    <a:latin typeface="+mn-ea"/>
                    <a:cs typeface="Times New Roman" panose="02020603050405020304" pitchFamily="18" charset="0"/>
                    <a:sym typeface="+mn-ea"/>
                  </a:rPr>
                  <a:t>，</a:t>
                </a:r>
                <a:r>
                  <a:rPr lang="zh-CN" altLang="en-US" sz="1400" kern="100" dirty="0">
                    <a:latin typeface="+mn-ea"/>
                    <a:cs typeface="Times New Roman" panose="02020603050405020304" pitchFamily="18" charset="0"/>
                  </a:rPr>
                  <a:t>系统优化资源配置，围绕</a:t>
                </a:r>
                <a:r>
                  <a:rPr lang="zh-CN" altLang="en-US" sz="1400" dirty="0"/>
                  <a:t>战略科技目标和重大需求，</a:t>
                </a:r>
                <a:r>
                  <a:rPr lang="zh-CN" altLang="en-US" sz="1400" kern="100" dirty="0">
                    <a:latin typeface="+mn-ea"/>
                    <a:cs typeface="Times New Roman" panose="02020603050405020304" pitchFamily="18" charset="0"/>
                  </a:rPr>
                  <a:t>集聚各</a:t>
                </a:r>
                <a:r>
                  <a:rPr lang="zh-CN" altLang="en-US" sz="1400" kern="100" dirty="0">
                    <a:solidFill>
                      <a:schemeClr val="tx1"/>
                    </a:solidFill>
                    <a:latin typeface="+mn-ea"/>
                    <a:cs typeface="Times New Roman" panose="02020603050405020304" pitchFamily="18" charset="0"/>
                  </a:rPr>
                  <a:t>层级智库智力资源，逐步建成开放型高水平智库，推行全方位、立体化支撑</a:t>
                </a:r>
                <a:r>
                  <a:rPr lang="zh-CN" altLang="en-US" sz="1400" kern="100" dirty="0" smtClean="0">
                    <a:solidFill>
                      <a:schemeClr val="tx1"/>
                    </a:solidFill>
                    <a:latin typeface="+mn-ea"/>
                    <a:cs typeface="Times New Roman" panose="02020603050405020304" pitchFamily="18" charset="0"/>
                  </a:rPr>
                  <a:t>，为省委科技咨询委员会提供决策</a:t>
                </a:r>
                <a:r>
                  <a:rPr lang="zh-CN" altLang="en-US" sz="1400" kern="100" dirty="0">
                    <a:solidFill>
                      <a:schemeClr val="tx1"/>
                    </a:solidFill>
                    <a:latin typeface="+mn-ea"/>
                    <a:cs typeface="Times New Roman" panose="02020603050405020304" pitchFamily="18" charset="0"/>
                  </a:rPr>
                  <a:t>咨询服务。</a:t>
                </a:r>
                <a:endParaRPr lang="zh-CN" altLang="en-US" sz="1400" kern="100" dirty="0">
                  <a:latin typeface="+mn-ea"/>
                  <a:cs typeface="Times New Roman" panose="02020603050405020304" pitchFamily="18" charset="0"/>
                </a:endParaRPr>
              </a:p>
            </p:txBody>
          </p:sp>
        </p:grpSp>
        <p:pic>
          <p:nvPicPr>
            <p:cNvPr id="17" name="图片 1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8664" y="1758563"/>
              <a:ext cx="4694879" cy="2845381"/>
            </a:xfrm>
            <a:prstGeom prst="rect">
              <a:avLst/>
            </a:prstGeom>
          </p:spPr>
        </p:pic>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77620" y="1937385"/>
            <a:ext cx="4064000" cy="368300"/>
          </a:xfrm>
          <a:prstGeom prst="rect">
            <a:avLst/>
          </a:prstGeom>
          <a:noFill/>
        </p:spPr>
        <p:txBody>
          <a:bodyPr wrap="square" rtlCol="0">
            <a:spAutoFit/>
          </a:bodyPr>
          <a:lstStyle/>
          <a:p>
            <a:endParaRPr lang="zh-CN" altLang="en-US"/>
          </a:p>
        </p:txBody>
      </p:sp>
      <p:sp>
        <p:nvSpPr>
          <p:cNvPr id="9"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solidFill>
                  <a:schemeClr val="accent3">
                    <a:lumMod val="75000"/>
                  </a:schemeClr>
                </a:solidFill>
                <a:sym typeface="+mn-ea"/>
              </a:rPr>
              <a:t>打造高端科技创新智库</a:t>
            </a:r>
            <a:endParaRPr lang="zh-CN" altLang="en-US" dirty="0">
              <a:solidFill>
                <a:schemeClr val="accent3">
                  <a:lumMod val="75000"/>
                </a:schemeClr>
              </a:solidFill>
            </a:endParaRPr>
          </a:p>
        </p:txBody>
      </p:sp>
      <p:sp>
        <p:nvSpPr>
          <p:cNvPr id="10" name="文本框 9"/>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smtClean="0">
                <a:solidFill>
                  <a:schemeClr val="bg1"/>
                </a:solidFill>
                <a:effectLst>
                  <a:outerShdw blurRad="50800" dist="38100" dir="2700000" algn="tl" rotWithShape="0">
                    <a:prstClr val="black">
                      <a:alpha val="40000"/>
                    </a:prstClr>
                  </a:outerShdw>
                </a:effectLst>
              </a:rPr>
              <a:t>4.2</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nvGrpSpPr>
          <p:cNvPr id="50" name="组合 49"/>
          <p:cNvGrpSpPr/>
          <p:nvPr/>
        </p:nvGrpSpPr>
        <p:grpSpPr>
          <a:xfrm>
            <a:off x="508388" y="2121535"/>
            <a:ext cx="10752860" cy="3335368"/>
            <a:chOff x="508388" y="2121535"/>
            <a:chExt cx="10752860" cy="3335368"/>
          </a:xfrm>
        </p:grpSpPr>
        <p:grpSp>
          <p:nvGrpSpPr>
            <p:cNvPr id="11" name="组合 10"/>
            <p:cNvGrpSpPr/>
            <p:nvPr/>
          </p:nvGrpSpPr>
          <p:grpSpPr>
            <a:xfrm>
              <a:off x="703007" y="2121535"/>
              <a:ext cx="10558241" cy="3335368"/>
              <a:chOff x="591669" y="1685475"/>
              <a:chExt cx="10558241" cy="3335368"/>
            </a:xfrm>
          </p:grpSpPr>
          <p:grpSp>
            <p:nvGrpSpPr>
              <p:cNvPr id="14" name="组合 13"/>
              <p:cNvGrpSpPr/>
              <p:nvPr/>
            </p:nvGrpSpPr>
            <p:grpSpPr>
              <a:xfrm>
                <a:off x="591669" y="1685475"/>
                <a:ext cx="10558241" cy="3335368"/>
                <a:chOff x="591669" y="1685475"/>
                <a:chExt cx="10558241" cy="3335368"/>
              </a:xfrm>
            </p:grpSpPr>
            <p:sp>
              <p:nvSpPr>
                <p:cNvPr id="16" name="矩形 15"/>
                <p:cNvSpPr/>
                <p:nvPr/>
              </p:nvSpPr>
              <p:spPr>
                <a:xfrm>
                  <a:off x="591669" y="1689522"/>
                  <a:ext cx="10558241" cy="333132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7" name="矩形 16"/>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8" name="文本框 17"/>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建设内容</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3" name="矩形 12"/>
              <p:cNvSpPr/>
              <p:nvPr/>
            </p:nvSpPr>
            <p:spPr>
              <a:xfrm>
                <a:off x="924334" y="2285701"/>
                <a:ext cx="9745399" cy="700576"/>
              </a:xfrm>
              <a:prstGeom prst="rect">
                <a:avLst/>
              </a:prstGeom>
            </p:spPr>
            <p:txBody>
              <a:bodyPr wrap="square">
                <a:spAutoFit/>
              </a:bodyPr>
              <a:lstStyle/>
              <a:p>
                <a:pPr indent="0" algn="just" fontAlgn="auto">
                  <a:lnSpc>
                    <a:spcPct val="150000"/>
                  </a:lnSpc>
                </a:pPr>
                <a:r>
                  <a:rPr lang="zh-CN" altLang="en-US" sz="1400" kern="100" dirty="0">
                    <a:latin typeface="+mn-ea"/>
                    <a:cs typeface="Times New Roman" panose="02020603050405020304" pitchFamily="18" charset="0"/>
                  </a:rPr>
                  <a:t>       打造以智库决策咨询产品为核心，以数字化科技赋能平台为支撑，科创智库联盟、未来产业服务、系列高峰论坛协同发力的“1+1+3”智库品牌体系，建设成为“创新引领、政府倚重、社会信任、国内知名”的开放型智库。</a:t>
                </a:r>
                <a:endParaRPr lang="zh-CN" altLang="en-US" sz="1400" kern="100" dirty="0">
                  <a:latin typeface="+mn-ea"/>
                  <a:cs typeface="Times New Roman" panose="02020603050405020304" pitchFamily="18" charset="0"/>
                </a:endParaRPr>
              </a:p>
            </p:txBody>
          </p:sp>
        </p:grpSp>
        <p:grpSp>
          <p:nvGrpSpPr>
            <p:cNvPr id="4" name="组合 3"/>
            <p:cNvGrpSpPr/>
            <p:nvPr/>
          </p:nvGrpSpPr>
          <p:grpSpPr>
            <a:xfrm>
              <a:off x="508388" y="3791242"/>
              <a:ext cx="10249872" cy="1186281"/>
              <a:chOff x="287948" y="3682388"/>
              <a:chExt cx="10249872" cy="1186281"/>
            </a:xfrm>
          </p:grpSpPr>
          <p:sp>
            <p:nvSpPr>
              <p:cNvPr id="6" name="文本框 5"/>
              <p:cNvSpPr txBox="1"/>
              <p:nvPr/>
            </p:nvSpPr>
            <p:spPr>
              <a:xfrm>
                <a:off x="287948" y="3682388"/>
                <a:ext cx="4064000" cy="368300"/>
              </a:xfrm>
              <a:prstGeom prst="rect">
                <a:avLst/>
              </a:prstGeom>
              <a:noFill/>
            </p:spPr>
            <p:txBody>
              <a:bodyPr wrap="square" rtlCol="0">
                <a:spAutoFit/>
              </a:bodyPr>
              <a:lstStyle/>
              <a:p>
                <a:endParaRPr lang="zh-CN" altLang="en-US"/>
              </a:p>
            </p:txBody>
          </p:sp>
          <p:sp>
            <p:nvSpPr>
              <p:cNvPr id="7" name="矩形 6"/>
              <p:cNvSpPr/>
              <p:nvPr>
                <p:custDataLst>
                  <p:tags r:id="rId2"/>
                </p:custDataLst>
              </p:nvPr>
            </p:nvSpPr>
            <p:spPr>
              <a:xfrm>
                <a:off x="1284896"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ym typeface="+mn-ea"/>
                  </a:rPr>
                  <a:t>支撑</a:t>
                </a:r>
                <a:r>
                  <a:rPr lang="zh-CN" altLang="en-US" sz="1600" dirty="0">
                    <a:sym typeface="+mn-ea"/>
                  </a:rPr>
                  <a:t>重大</a:t>
                </a:r>
                <a:r>
                  <a:rPr lang="zh-CN" altLang="en-US" sz="1600" dirty="0" smtClean="0">
                    <a:sym typeface="+mn-ea"/>
                  </a:rPr>
                  <a:t>决策研究</a:t>
                </a:r>
                <a:endParaRPr lang="zh-CN" altLang="en-US" sz="1600" dirty="0"/>
              </a:p>
            </p:txBody>
          </p:sp>
          <p:sp>
            <p:nvSpPr>
              <p:cNvPr id="8" name="矩形 7"/>
              <p:cNvSpPr/>
              <p:nvPr>
                <p:custDataLst>
                  <p:tags r:id="rId3"/>
                </p:custDataLst>
              </p:nvPr>
            </p:nvSpPr>
            <p:spPr>
              <a:xfrm>
                <a:off x="3710277"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ym typeface="+mn-ea"/>
                  </a:rPr>
                  <a:t>塑造核心</a:t>
                </a:r>
                <a:r>
                  <a:rPr lang="zh-CN" altLang="en-US" sz="1600" dirty="0" smtClean="0">
                    <a:sym typeface="+mn-ea"/>
                  </a:rPr>
                  <a:t>能力优势</a:t>
                </a:r>
                <a:endParaRPr lang="zh-CN" altLang="en-US" sz="1600" dirty="0"/>
              </a:p>
            </p:txBody>
          </p:sp>
          <p:sp>
            <p:nvSpPr>
              <p:cNvPr id="12" name="矩形 11"/>
              <p:cNvSpPr/>
              <p:nvPr>
                <p:custDataLst>
                  <p:tags r:id="rId4"/>
                </p:custDataLst>
              </p:nvPr>
            </p:nvSpPr>
            <p:spPr>
              <a:xfrm>
                <a:off x="6162866"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1600" dirty="0">
                    <a:sym typeface="+mn-ea"/>
                  </a:rPr>
                  <a:t>培养高水平智</a:t>
                </a:r>
                <a:r>
                  <a:rPr lang="zh-CN" sz="1600" dirty="0" smtClean="0">
                    <a:sym typeface="+mn-ea"/>
                  </a:rPr>
                  <a:t>库</a:t>
                </a:r>
                <a:endParaRPr lang="en-US" altLang="zh-CN" sz="1600" dirty="0" smtClean="0">
                  <a:sym typeface="+mn-ea"/>
                </a:endParaRPr>
              </a:p>
              <a:p>
                <a:pPr algn="ctr"/>
                <a:r>
                  <a:rPr lang="zh-CN" sz="1600" dirty="0" smtClean="0">
                    <a:sym typeface="+mn-ea"/>
                  </a:rPr>
                  <a:t>人才</a:t>
                </a:r>
                <a:r>
                  <a:rPr lang="zh-CN" sz="1600" dirty="0">
                    <a:sym typeface="+mn-ea"/>
                  </a:rPr>
                  <a:t>队伍</a:t>
                </a:r>
                <a:endParaRPr lang="zh-CN" altLang="en-US" sz="1600" dirty="0">
                  <a:sym typeface="+mn-ea"/>
                </a:endParaRPr>
              </a:p>
            </p:txBody>
          </p:sp>
          <p:cxnSp>
            <p:nvCxnSpPr>
              <p:cNvPr id="15" name="肘形连接符 14"/>
              <p:cNvCxnSpPr>
                <a:endCxn id="7" idx="0"/>
              </p:cNvCxnSpPr>
              <p:nvPr>
                <p:custDataLst>
                  <p:tags r:id="rId5"/>
                </p:custDataLst>
              </p:nvPr>
            </p:nvCxnSpPr>
            <p:spPr>
              <a:xfrm rot="5400000">
                <a:off x="3207798" y="2811286"/>
                <a:ext cx="514353" cy="2431427"/>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164"/>
              <p:cNvCxnSpPr>
                <a:endCxn id="8" idx="0"/>
              </p:cNvCxnSpPr>
              <p:nvPr>
                <p:custDataLst>
                  <p:tags r:id="rId6"/>
                </p:custDataLst>
              </p:nvPr>
            </p:nvCxnSpPr>
            <p:spPr>
              <a:xfrm flipH="1">
                <a:off x="4674642" y="3769823"/>
                <a:ext cx="6478" cy="514353"/>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8" name="肘形连接符 27"/>
              <p:cNvCxnSpPr/>
              <p:nvPr>
                <p:custDataLst>
                  <p:tags r:id="rId7"/>
                </p:custDataLst>
              </p:nvPr>
            </p:nvCxnSpPr>
            <p:spPr>
              <a:xfrm rot="5400000" flipV="1">
                <a:off x="5640521" y="2803728"/>
                <a:ext cx="514353" cy="2446543"/>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29" name="矩形 28"/>
              <p:cNvSpPr/>
              <p:nvPr>
                <p:custDataLst>
                  <p:tags r:id="rId8"/>
                </p:custDataLst>
              </p:nvPr>
            </p:nvSpPr>
            <p:spPr>
              <a:xfrm>
                <a:off x="8609521"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sym typeface="+mn-ea"/>
                  </a:rPr>
                  <a:t>建立</a:t>
                </a:r>
                <a:r>
                  <a:rPr lang="zh-CN" altLang="en-US" sz="1600" dirty="0">
                    <a:sym typeface="+mn-ea"/>
                  </a:rPr>
                  <a:t>开放</a:t>
                </a:r>
                <a:r>
                  <a:rPr lang="zh-CN" altLang="en-US" sz="1600" dirty="0" smtClean="0">
                    <a:sym typeface="+mn-ea"/>
                  </a:rPr>
                  <a:t>协同的</a:t>
                </a:r>
                <a:endParaRPr lang="en-US" altLang="zh-CN" sz="1600" dirty="0" smtClean="0">
                  <a:sym typeface="+mn-ea"/>
                </a:endParaRPr>
              </a:p>
              <a:p>
                <a:pPr algn="ctr"/>
                <a:r>
                  <a:rPr lang="zh-CN" altLang="en-US" sz="1600" dirty="0" smtClean="0">
                    <a:sym typeface="+mn-ea"/>
                  </a:rPr>
                  <a:t>智库生态体系</a:t>
                </a:r>
                <a:endParaRPr lang="zh-CN" altLang="en-US" sz="1600" dirty="0">
                  <a:sym typeface="+mn-ea"/>
                </a:endParaRPr>
              </a:p>
            </p:txBody>
          </p:sp>
          <p:cxnSp>
            <p:nvCxnSpPr>
              <p:cNvPr id="30" name="肘形连接符 29"/>
              <p:cNvCxnSpPr/>
              <p:nvPr>
                <p:custDataLst>
                  <p:tags r:id="rId9"/>
                </p:custDataLst>
              </p:nvPr>
            </p:nvCxnSpPr>
            <p:spPr>
              <a:xfrm rot="5400000" flipV="1">
                <a:off x="8083717" y="2803728"/>
                <a:ext cx="514353" cy="2446543"/>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06077" y="66507"/>
            <a:ext cx="5891573" cy="836188"/>
            <a:chOff x="706077" y="66507"/>
            <a:chExt cx="5891573" cy="836188"/>
          </a:xfrm>
        </p:grpSpPr>
        <p:sp>
          <p:nvSpPr>
            <p:cNvPr id="3"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b="1" dirty="0">
                  <a:solidFill>
                    <a:schemeClr val="accent3">
                      <a:lumMod val="75000"/>
                    </a:schemeClr>
                  </a:solidFill>
                  <a:sym typeface="+mn-ea"/>
                </a:rPr>
                <a:t>打造高端科技创新智库</a:t>
              </a:r>
              <a:endParaRPr lang="zh-CN" altLang="en-US" dirty="0">
                <a:solidFill>
                  <a:schemeClr val="accent3">
                    <a:lumMod val="75000"/>
                  </a:schemeClr>
                </a:solidFill>
              </a:endParaRPr>
            </a:p>
          </p:txBody>
        </p:sp>
        <p:sp>
          <p:nvSpPr>
            <p:cNvPr id="4" name="文本框 3"/>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4.2</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
        <p:nvSpPr>
          <p:cNvPr id="5" name="矩形 4"/>
          <p:cNvSpPr/>
          <p:nvPr/>
        </p:nvSpPr>
        <p:spPr>
          <a:xfrm>
            <a:off x="674530" y="1581173"/>
            <a:ext cx="10785985" cy="425919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6" name="icon"/>
          <p:cNvSpPr/>
          <p:nvPr>
            <p:custDataLst>
              <p:tags r:id="rId1"/>
            </p:custDataLst>
          </p:nvPr>
        </p:nvSpPr>
        <p:spPr bwMode="auto">
          <a:xfrm>
            <a:off x="6269161" y="4564706"/>
            <a:ext cx="184253" cy="184253"/>
          </a:xfrm>
          <a:custGeom>
            <a:avLst/>
            <a:gdLst>
              <a:gd name="T0" fmla="*/ 5481 w 6554"/>
              <a:gd name="T1" fmla="*/ 5052 h 6554"/>
              <a:gd name="T2" fmla="*/ 5052 w 6554"/>
              <a:gd name="T3" fmla="*/ 3848 h 6554"/>
              <a:gd name="T4" fmla="*/ 5252 w 6554"/>
              <a:gd name="T5" fmla="*/ 1649 h 6554"/>
              <a:gd name="T6" fmla="*/ 3974 w 6554"/>
              <a:gd name="T7" fmla="*/ 0 h 6554"/>
              <a:gd name="T8" fmla="*/ 2728 w 6554"/>
              <a:gd name="T9" fmla="*/ 803 h 6554"/>
              <a:gd name="T10" fmla="*/ 1164 w 6554"/>
              <a:gd name="T11" fmla="*/ 1253 h 6554"/>
              <a:gd name="T12" fmla="*/ 546 w 6554"/>
              <a:gd name="T13" fmla="*/ 2731 h 6554"/>
              <a:gd name="T14" fmla="*/ 1502 w 6554"/>
              <a:gd name="T15" fmla="*/ 5052 h 6554"/>
              <a:gd name="T16" fmla="*/ 546 w 6554"/>
              <a:gd name="T17" fmla="*/ 4642 h 6554"/>
              <a:gd name="T18" fmla="*/ 546 w 6554"/>
              <a:gd name="T19" fmla="*/ 5734 h 6554"/>
              <a:gd name="T20" fmla="*/ 1775 w 6554"/>
              <a:gd name="T21" fmla="*/ 5325 h 6554"/>
              <a:gd name="T22" fmla="*/ 1824 w 6554"/>
              <a:gd name="T23" fmla="*/ 3882 h 6554"/>
              <a:gd name="T24" fmla="*/ 2458 w 6554"/>
              <a:gd name="T25" fmla="*/ 5481 h 6554"/>
              <a:gd name="T26" fmla="*/ 2594 w 6554"/>
              <a:gd name="T27" fmla="*/ 6554 h 6554"/>
              <a:gd name="T28" fmla="*/ 2731 w 6554"/>
              <a:gd name="T29" fmla="*/ 5481 h 6554"/>
              <a:gd name="T30" fmla="*/ 3823 w 6554"/>
              <a:gd name="T31" fmla="*/ 3882 h 6554"/>
              <a:gd name="T32" fmla="*/ 3413 w 6554"/>
              <a:gd name="T33" fmla="*/ 6008 h 6554"/>
              <a:gd name="T34" fmla="*/ 4506 w 6554"/>
              <a:gd name="T35" fmla="*/ 6008 h 6554"/>
              <a:gd name="T36" fmla="*/ 4096 w 6554"/>
              <a:gd name="T37" fmla="*/ 3882 h 6554"/>
              <a:gd name="T38" fmla="*/ 4779 w 6554"/>
              <a:gd name="T39" fmla="*/ 3880 h 6554"/>
              <a:gd name="T40" fmla="*/ 5481 w 6554"/>
              <a:gd name="T41" fmla="*/ 5325 h 6554"/>
              <a:gd name="T42" fmla="*/ 6554 w 6554"/>
              <a:gd name="T43" fmla="*/ 5188 h 6554"/>
              <a:gd name="T44" fmla="*/ 546 w 6554"/>
              <a:gd name="T45" fmla="*/ 5461 h 6554"/>
              <a:gd name="T46" fmla="*/ 546 w 6554"/>
              <a:gd name="T47" fmla="*/ 4915 h 6554"/>
              <a:gd name="T48" fmla="*/ 546 w 6554"/>
              <a:gd name="T49" fmla="*/ 5461 h 6554"/>
              <a:gd name="T50" fmla="*/ 2594 w 6554"/>
              <a:gd name="T51" fmla="*/ 6281 h 6554"/>
              <a:gd name="T52" fmla="*/ 2594 w 6554"/>
              <a:gd name="T53" fmla="*/ 5734 h 6554"/>
              <a:gd name="T54" fmla="*/ 4233 w 6554"/>
              <a:gd name="T55" fmla="*/ 6008 h 6554"/>
              <a:gd name="T56" fmla="*/ 3686 w 6554"/>
              <a:gd name="T57" fmla="*/ 6008 h 6554"/>
              <a:gd name="T58" fmla="*/ 4233 w 6554"/>
              <a:gd name="T59" fmla="*/ 6008 h 6554"/>
              <a:gd name="T60" fmla="*/ 1824 w 6554"/>
              <a:gd name="T61" fmla="*/ 3609 h 6554"/>
              <a:gd name="T62" fmla="*/ 1328 w 6554"/>
              <a:gd name="T63" fmla="*/ 1934 h 6554"/>
              <a:gd name="T64" fmla="*/ 1402 w 6554"/>
              <a:gd name="T65" fmla="*/ 1774 h 6554"/>
              <a:gd name="T66" fmla="*/ 2039 w 6554"/>
              <a:gd name="T67" fmla="*/ 877 h 6554"/>
              <a:gd name="T68" fmla="*/ 2688 w 6554"/>
              <a:gd name="T69" fmla="*/ 1136 h 6554"/>
              <a:gd name="T70" fmla="*/ 2925 w 6554"/>
              <a:gd name="T71" fmla="*/ 1078 h 6554"/>
              <a:gd name="T72" fmla="*/ 3972 w 6554"/>
              <a:gd name="T73" fmla="*/ 273 h 6554"/>
              <a:gd name="T74" fmla="*/ 4948 w 6554"/>
              <a:gd name="T75" fmla="*/ 1683 h 6554"/>
              <a:gd name="T76" fmla="*/ 5044 w 6554"/>
              <a:gd name="T77" fmla="*/ 1872 h 6554"/>
              <a:gd name="T78" fmla="*/ 4730 w 6554"/>
              <a:gd name="T79" fmla="*/ 3609 h 6554"/>
              <a:gd name="T80" fmla="*/ 5734 w 6554"/>
              <a:gd name="T81" fmla="*/ 5188 h 6554"/>
              <a:gd name="T82" fmla="*/ 6281 w 6554"/>
              <a:gd name="T83" fmla="*/ 5188 h 6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4" h="6554">
                <a:moveTo>
                  <a:pt x="6008" y="4642"/>
                </a:moveTo>
                <a:cubicBezTo>
                  <a:pt x="5754" y="4642"/>
                  <a:pt x="5542" y="4817"/>
                  <a:pt x="5481" y="5052"/>
                </a:cubicBezTo>
                <a:lnTo>
                  <a:pt x="5052" y="5052"/>
                </a:lnTo>
                <a:lnTo>
                  <a:pt x="5052" y="3848"/>
                </a:lnTo>
                <a:cubicBezTo>
                  <a:pt x="5621" y="3729"/>
                  <a:pt x="6008" y="3296"/>
                  <a:pt x="6008" y="2731"/>
                </a:cubicBezTo>
                <a:cubicBezTo>
                  <a:pt x="6008" y="2246"/>
                  <a:pt x="5698" y="1813"/>
                  <a:pt x="5252" y="1649"/>
                </a:cubicBezTo>
                <a:cubicBezTo>
                  <a:pt x="5293" y="1514"/>
                  <a:pt x="5307" y="1375"/>
                  <a:pt x="5298" y="1219"/>
                </a:cubicBezTo>
                <a:cubicBezTo>
                  <a:pt x="5257" y="552"/>
                  <a:pt x="4663" y="5"/>
                  <a:pt x="3974" y="0"/>
                </a:cubicBezTo>
                <a:cubicBezTo>
                  <a:pt x="3971" y="0"/>
                  <a:pt x="3967" y="0"/>
                  <a:pt x="3964" y="0"/>
                </a:cubicBezTo>
                <a:cubicBezTo>
                  <a:pt x="3419" y="0"/>
                  <a:pt x="2932" y="326"/>
                  <a:pt x="2728" y="803"/>
                </a:cubicBezTo>
                <a:cubicBezTo>
                  <a:pt x="2527" y="653"/>
                  <a:pt x="2273" y="581"/>
                  <a:pt x="2014" y="606"/>
                </a:cubicBezTo>
                <a:cubicBezTo>
                  <a:pt x="1641" y="640"/>
                  <a:pt x="1315" y="889"/>
                  <a:pt x="1164" y="1253"/>
                </a:cubicBezTo>
                <a:cubicBezTo>
                  <a:pt x="1091" y="1426"/>
                  <a:pt x="1101" y="1619"/>
                  <a:pt x="1117" y="1736"/>
                </a:cubicBezTo>
                <a:cubicBezTo>
                  <a:pt x="767" y="1941"/>
                  <a:pt x="546" y="2320"/>
                  <a:pt x="546" y="2731"/>
                </a:cubicBezTo>
                <a:cubicBezTo>
                  <a:pt x="546" y="3286"/>
                  <a:pt x="940" y="3725"/>
                  <a:pt x="1502" y="3847"/>
                </a:cubicBezTo>
                <a:lnTo>
                  <a:pt x="1502" y="5052"/>
                </a:lnTo>
                <a:lnTo>
                  <a:pt x="1073" y="5052"/>
                </a:lnTo>
                <a:cubicBezTo>
                  <a:pt x="1012" y="4817"/>
                  <a:pt x="800" y="4642"/>
                  <a:pt x="546" y="4642"/>
                </a:cubicBezTo>
                <a:cubicBezTo>
                  <a:pt x="245" y="4642"/>
                  <a:pt x="0" y="4887"/>
                  <a:pt x="0" y="5188"/>
                </a:cubicBezTo>
                <a:cubicBezTo>
                  <a:pt x="0" y="5489"/>
                  <a:pt x="245" y="5734"/>
                  <a:pt x="546" y="5734"/>
                </a:cubicBezTo>
                <a:cubicBezTo>
                  <a:pt x="800" y="5734"/>
                  <a:pt x="1012" y="5560"/>
                  <a:pt x="1073" y="5325"/>
                </a:cubicBezTo>
                <a:lnTo>
                  <a:pt x="1775" y="5325"/>
                </a:lnTo>
                <a:lnTo>
                  <a:pt x="1775" y="3880"/>
                </a:lnTo>
                <a:cubicBezTo>
                  <a:pt x="1791" y="3881"/>
                  <a:pt x="1807" y="3882"/>
                  <a:pt x="1824" y="3882"/>
                </a:cubicBezTo>
                <a:lnTo>
                  <a:pt x="2458" y="3882"/>
                </a:lnTo>
                <a:lnTo>
                  <a:pt x="2458" y="5481"/>
                </a:lnTo>
                <a:cubicBezTo>
                  <a:pt x="2223" y="5542"/>
                  <a:pt x="2048" y="5754"/>
                  <a:pt x="2048" y="6008"/>
                </a:cubicBezTo>
                <a:cubicBezTo>
                  <a:pt x="2048" y="6309"/>
                  <a:pt x="2293" y="6554"/>
                  <a:pt x="2594" y="6554"/>
                </a:cubicBezTo>
                <a:cubicBezTo>
                  <a:pt x="2895" y="6554"/>
                  <a:pt x="3140" y="6309"/>
                  <a:pt x="3140" y="6008"/>
                </a:cubicBezTo>
                <a:cubicBezTo>
                  <a:pt x="3140" y="5754"/>
                  <a:pt x="2966" y="5542"/>
                  <a:pt x="2731" y="5481"/>
                </a:cubicBezTo>
                <a:lnTo>
                  <a:pt x="2731" y="3882"/>
                </a:lnTo>
                <a:lnTo>
                  <a:pt x="3823" y="3882"/>
                </a:lnTo>
                <a:lnTo>
                  <a:pt x="3823" y="5481"/>
                </a:lnTo>
                <a:cubicBezTo>
                  <a:pt x="3588" y="5542"/>
                  <a:pt x="3413" y="5754"/>
                  <a:pt x="3413" y="6008"/>
                </a:cubicBezTo>
                <a:cubicBezTo>
                  <a:pt x="3413" y="6309"/>
                  <a:pt x="3658" y="6554"/>
                  <a:pt x="3960" y="6554"/>
                </a:cubicBezTo>
                <a:cubicBezTo>
                  <a:pt x="4261" y="6554"/>
                  <a:pt x="4506" y="6309"/>
                  <a:pt x="4506" y="6008"/>
                </a:cubicBezTo>
                <a:cubicBezTo>
                  <a:pt x="4506" y="5754"/>
                  <a:pt x="4331" y="5542"/>
                  <a:pt x="4096" y="5481"/>
                </a:cubicBezTo>
                <a:lnTo>
                  <a:pt x="4096" y="3882"/>
                </a:lnTo>
                <a:lnTo>
                  <a:pt x="4730" y="3882"/>
                </a:lnTo>
                <a:cubicBezTo>
                  <a:pt x="4746" y="3882"/>
                  <a:pt x="4762" y="3881"/>
                  <a:pt x="4779" y="3880"/>
                </a:cubicBezTo>
                <a:lnTo>
                  <a:pt x="4779" y="5325"/>
                </a:lnTo>
                <a:lnTo>
                  <a:pt x="5481" y="5325"/>
                </a:lnTo>
                <a:cubicBezTo>
                  <a:pt x="5542" y="5560"/>
                  <a:pt x="5754" y="5734"/>
                  <a:pt x="6008" y="5734"/>
                </a:cubicBezTo>
                <a:cubicBezTo>
                  <a:pt x="6309" y="5734"/>
                  <a:pt x="6554" y="5489"/>
                  <a:pt x="6554" y="5188"/>
                </a:cubicBezTo>
                <a:cubicBezTo>
                  <a:pt x="6554" y="4887"/>
                  <a:pt x="6309" y="4642"/>
                  <a:pt x="6008" y="4642"/>
                </a:cubicBezTo>
                <a:close/>
                <a:moveTo>
                  <a:pt x="546" y="5461"/>
                </a:moveTo>
                <a:cubicBezTo>
                  <a:pt x="396" y="5461"/>
                  <a:pt x="273" y="5339"/>
                  <a:pt x="273" y="5188"/>
                </a:cubicBezTo>
                <a:cubicBezTo>
                  <a:pt x="273" y="5038"/>
                  <a:pt x="396" y="4915"/>
                  <a:pt x="546" y="4915"/>
                </a:cubicBezTo>
                <a:cubicBezTo>
                  <a:pt x="697" y="4915"/>
                  <a:pt x="819" y="5038"/>
                  <a:pt x="819" y="5188"/>
                </a:cubicBezTo>
                <a:cubicBezTo>
                  <a:pt x="819" y="5339"/>
                  <a:pt x="697" y="5461"/>
                  <a:pt x="546" y="5461"/>
                </a:cubicBezTo>
                <a:close/>
                <a:moveTo>
                  <a:pt x="2867" y="6008"/>
                </a:moveTo>
                <a:cubicBezTo>
                  <a:pt x="2867" y="6158"/>
                  <a:pt x="2745" y="6281"/>
                  <a:pt x="2594" y="6281"/>
                </a:cubicBezTo>
                <a:cubicBezTo>
                  <a:pt x="2444" y="6281"/>
                  <a:pt x="2321" y="6158"/>
                  <a:pt x="2321" y="6008"/>
                </a:cubicBezTo>
                <a:cubicBezTo>
                  <a:pt x="2321" y="5857"/>
                  <a:pt x="2444" y="5734"/>
                  <a:pt x="2594" y="5734"/>
                </a:cubicBezTo>
                <a:cubicBezTo>
                  <a:pt x="2745" y="5734"/>
                  <a:pt x="2867" y="5857"/>
                  <a:pt x="2867" y="6008"/>
                </a:cubicBezTo>
                <a:close/>
                <a:moveTo>
                  <a:pt x="4233" y="6008"/>
                </a:moveTo>
                <a:cubicBezTo>
                  <a:pt x="4233" y="6158"/>
                  <a:pt x="4110" y="6281"/>
                  <a:pt x="3960" y="6281"/>
                </a:cubicBezTo>
                <a:cubicBezTo>
                  <a:pt x="3809" y="6281"/>
                  <a:pt x="3686" y="6158"/>
                  <a:pt x="3686" y="6008"/>
                </a:cubicBezTo>
                <a:cubicBezTo>
                  <a:pt x="3686" y="5857"/>
                  <a:pt x="3809" y="5734"/>
                  <a:pt x="3960" y="5734"/>
                </a:cubicBezTo>
                <a:cubicBezTo>
                  <a:pt x="4110" y="5734"/>
                  <a:pt x="4233" y="5857"/>
                  <a:pt x="4233" y="6008"/>
                </a:cubicBezTo>
                <a:close/>
                <a:moveTo>
                  <a:pt x="4730" y="3609"/>
                </a:moveTo>
                <a:lnTo>
                  <a:pt x="1824" y="3609"/>
                </a:lnTo>
                <a:cubicBezTo>
                  <a:pt x="1242" y="3609"/>
                  <a:pt x="819" y="3240"/>
                  <a:pt x="819" y="2731"/>
                </a:cubicBezTo>
                <a:cubicBezTo>
                  <a:pt x="819" y="2390"/>
                  <a:pt x="1019" y="2077"/>
                  <a:pt x="1328" y="1934"/>
                </a:cubicBezTo>
                <a:lnTo>
                  <a:pt x="1432" y="1885"/>
                </a:lnTo>
                <a:lnTo>
                  <a:pt x="1402" y="1774"/>
                </a:lnTo>
                <a:cubicBezTo>
                  <a:pt x="1402" y="1772"/>
                  <a:pt x="1341" y="1538"/>
                  <a:pt x="1416" y="1358"/>
                </a:cubicBezTo>
                <a:cubicBezTo>
                  <a:pt x="1529" y="1087"/>
                  <a:pt x="1768" y="903"/>
                  <a:pt x="2039" y="877"/>
                </a:cubicBezTo>
                <a:cubicBezTo>
                  <a:pt x="2064" y="875"/>
                  <a:pt x="2088" y="874"/>
                  <a:pt x="2113" y="874"/>
                </a:cubicBezTo>
                <a:cubicBezTo>
                  <a:pt x="2335" y="874"/>
                  <a:pt x="2546" y="969"/>
                  <a:pt x="2688" y="1136"/>
                </a:cubicBezTo>
                <a:lnTo>
                  <a:pt x="2864" y="1345"/>
                </a:lnTo>
                <a:lnTo>
                  <a:pt x="2925" y="1078"/>
                </a:lnTo>
                <a:cubicBezTo>
                  <a:pt x="3031" y="611"/>
                  <a:pt x="3467" y="273"/>
                  <a:pt x="3964" y="273"/>
                </a:cubicBezTo>
                <a:cubicBezTo>
                  <a:pt x="3967" y="273"/>
                  <a:pt x="3969" y="273"/>
                  <a:pt x="3972" y="273"/>
                </a:cubicBezTo>
                <a:cubicBezTo>
                  <a:pt x="4520" y="277"/>
                  <a:pt x="4993" y="709"/>
                  <a:pt x="5025" y="1236"/>
                </a:cubicBezTo>
                <a:cubicBezTo>
                  <a:pt x="5036" y="1404"/>
                  <a:pt x="5012" y="1542"/>
                  <a:pt x="4948" y="1683"/>
                </a:cubicBezTo>
                <a:lnTo>
                  <a:pt x="4879" y="1836"/>
                </a:lnTo>
                <a:lnTo>
                  <a:pt x="5044" y="1872"/>
                </a:lnTo>
                <a:cubicBezTo>
                  <a:pt x="5444" y="1959"/>
                  <a:pt x="5734" y="2320"/>
                  <a:pt x="5734" y="2731"/>
                </a:cubicBezTo>
                <a:cubicBezTo>
                  <a:pt x="5734" y="3248"/>
                  <a:pt x="5321" y="3609"/>
                  <a:pt x="4730" y="3609"/>
                </a:cubicBezTo>
                <a:close/>
                <a:moveTo>
                  <a:pt x="6008" y="5461"/>
                </a:moveTo>
                <a:cubicBezTo>
                  <a:pt x="5857" y="5461"/>
                  <a:pt x="5734" y="5339"/>
                  <a:pt x="5734" y="5188"/>
                </a:cubicBezTo>
                <a:cubicBezTo>
                  <a:pt x="5734" y="5038"/>
                  <a:pt x="5857" y="4915"/>
                  <a:pt x="6008" y="4915"/>
                </a:cubicBezTo>
                <a:cubicBezTo>
                  <a:pt x="6158" y="4915"/>
                  <a:pt x="6281" y="5038"/>
                  <a:pt x="6281" y="5188"/>
                </a:cubicBezTo>
                <a:cubicBezTo>
                  <a:pt x="6281" y="5339"/>
                  <a:pt x="6158" y="5461"/>
                  <a:pt x="6008" y="5461"/>
                </a:cubicBezTo>
                <a:close/>
              </a:path>
            </a:pathLst>
          </a:custGeom>
          <a:solidFill>
            <a:schemeClr val="bg1"/>
          </a:solidFill>
          <a:ln>
            <a:noFill/>
          </a:ln>
        </p:spPr>
      </p:sp>
      <p:sp>
        <p:nvSpPr>
          <p:cNvPr id="8" name="矩形 7"/>
          <p:cNvSpPr/>
          <p:nvPr>
            <p:custDataLst>
              <p:tags r:id="rId2"/>
            </p:custDataLst>
          </p:nvPr>
        </p:nvSpPr>
        <p:spPr>
          <a:xfrm>
            <a:off x="688260" y="1587317"/>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0" name="文本框 9"/>
          <p:cNvSpPr txBox="1"/>
          <p:nvPr/>
        </p:nvSpPr>
        <p:spPr>
          <a:xfrm>
            <a:off x="935686" y="1624904"/>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具体工作</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1111971" y="2405389"/>
            <a:ext cx="2309371" cy="2062413"/>
            <a:chOff x="1111971" y="2493878"/>
            <a:chExt cx="2309371" cy="2062413"/>
          </a:xfrm>
        </p:grpSpPr>
        <p:grpSp>
          <p:nvGrpSpPr>
            <p:cNvPr id="14" name="组合 13"/>
            <p:cNvGrpSpPr/>
            <p:nvPr/>
          </p:nvGrpSpPr>
          <p:grpSpPr>
            <a:xfrm>
              <a:off x="1111971" y="2493878"/>
              <a:ext cx="2309371" cy="2062413"/>
              <a:chOff x="1250760" y="2599875"/>
              <a:chExt cx="2309371" cy="2062413"/>
            </a:xfrm>
          </p:grpSpPr>
          <p:sp>
            <p:nvSpPr>
              <p:cNvPr id="18" name="文本框 17"/>
              <p:cNvSpPr txBox="1"/>
              <p:nvPr>
                <p:custDataLst>
                  <p:tags r:id="rId3"/>
                </p:custDataLst>
              </p:nvPr>
            </p:nvSpPr>
            <p:spPr>
              <a:xfrm>
                <a:off x="1689465" y="2599875"/>
                <a:ext cx="1870665" cy="379954"/>
              </a:xfrm>
              <a:prstGeom prst="rect">
                <a:avLst/>
              </a:prstGeom>
              <a:noFill/>
            </p:spPr>
            <p:txBody>
              <a:bodyPr wrap="square" rtlCol="0">
                <a:noAutofit/>
              </a:bodyPr>
              <a:lstStyle/>
              <a:p>
                <a:pPr>
                  <a:buSzPct val="100000"/>
                </a:pPr>
                <a:r>
                  <a:rPr lang="zh-CN" altLang="en-US" sz="1600" b="1" dirty="0" smtClean="0">
                    <a:sym typeface="+mn-ea"/>
                  </a:rPr>
                  <a:t>支撑</a:t>
                </a:r>
                <a:r>
                  <a:rPr lang="zh-CN" altLang="en-US" sz="1600" b="1" dirty="0">
                    <a:sym typeface="+mn-ea"/>
                  </a:rPr>
                  <a:t>重大</a:t>
                </a:r>
                <a:r>
                  <a:rPr lang="zh-CN" altLang="en-US" sz="1600" b="1" dirty="0" smtClean="0">
                    <a:sym typeface="+mn-ea"/>
                  </a:rPr>
                  <a:t>决策研究</a:t>
                </a:r>
                <a:endParaRPr lang="zh-CN" altLang="en-US" sz="1600" b="1" dirty="0"/>
              </a:p>
              <a:p>
                <a:pPr>
                  <a:buSzPct val="100000"/>
                </a:pPr>
                <a:endParaRPr lang="zh-CN" altLang="zh-CN" sz="1600" b="1" spc="80" dirty="0">
                  <a:latin typeface="Arial" panose="020B0604020202020204" pitchFamily="34" charset="0"/>
                  <a:ea typeface="微软雅黑" panose="020B0503020204020204" pitchFamily="34" charset="-122"/>
                </a:endParaRPr>
              </a:p>
            </p:txBody>
          </p:sp>
          <p:grpSp>
            <p:nvGrpSpPr>
              <p:cNvPr id="19" name="组合 18"/>
              <p:cNvGrpSpPr/>
              <p:nvPr/>
            </p:nvGrpSpPr>
            <p:grpSpPr>
              <a:xfrm>
                <a:off x="1318463" y="2655532"/>
                <a:ext cx="339665" cy="339665"/>
                <a:chOff x="504698" y="2554152"/>
                <a:chExt cx="339665" cy="339665"/>
              </a:xfrm>
            </p:grpSpPr>
            <p:sp>
              <p:nvSpPr>
                <p:cNvPr id="21" name="椭圆 20"/>
                <p:cNvSpPr/>
                <p:nvPr>
                  <p:custDataLst>
                    <p:tags r:id="rId4"/>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23" name="icon"/>
                <p:cNvSpPr/>
                <p:nvPr>
                  <p:custDataLst>
                    <p:tags r:id="rId5"/>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20" name="矩形 19"/>
              <p:cNvSpPr/>
              <p:nvPr/>
            </p:nvSpPr>
            <p:spPr>
              <a:xfrm>
                <a:off x="1250760" y="3461959"/>
                <a:ext cx="2309371" cy="1200329"/>
              </a:xfrm>
              <a:prstGeom prst="rect">
                <a:avLst/>
              </a:prstGeom>
            </p:spPr>
            <p:txBody>
              <a:bodyPr wrap="square">
                <a:spAutoFit/>
              </a:bodyPr>
              <a:lstStyle/>
              <a:p>
                <a:r>
                  <a:rPr lang="zh-CN" altLang="en-US" sz="1200" spc="100" dirty="0">
                    <a:solidFill>
                      <a:schemeClr val="tx1">
                        <a:lumMod val="85000"/>
                        <a:lumOff val="15000"/>
                      </a:schemeClr>
                    </a:solidFill>
                    <a:latin typeface="Arial" panose="020B0604020202020204" pitchFamily="34" charset="0"/>
                    <a:ea typeface="微软雅黑" panose="020B0503020204020204" pitchFamily="34" charset="-122"/>
                  </a:rPr>
                  <a:t>围绕科技发展战略与规划、科技发展政策与体制、科技支撑实体经济、科技创新能力建设、科技创新前沿预见等</a:t>
                </a:r>
                <a:r>
                  <a:rPr lang="en-US" altLang="zh-CN" sz="1200" spc="100" dirty="0">
                    <a:solidFill>
                      <a:schemeClr val="tx1">
                        <a:lumMod val="85000"/>
                        <a:lumOff val="15000"/>
                      </a:schemeClr>
                    </a:solidFill>
                    <a:latin typeface="Arial" panose="020B0604020202020204" pitchFamily="34" charset="0"/>
                    <a:ea typeface="微软雅黑" panose="020B0503020204020204" pitchFamily="34" charset="-122"/>
                  </a:rPr>
                  <a:t>5</a:t>
                </a:r>
                <a:r>
                  <a:rPr lang="zh-CN" altLang="en-US" sz="1200" spc="100" dirty="0">
                    <a:solidFill>
                      <a:schemeClr val="tx1">
                        <a:lumMod val="85000"/>
                        <a:lumOff val="15000"/>
                      </a:schemeClr>
                    </a:solidFill>
                    <a:latin typeface="Arial" panose="020B0604020202020204" pitchFamily="34" charset="0"/>
                    <a:ea typeface="微软雅黑" panose="020B0503020204020204" pitchFamily="34" charset="-122"/>
                  </a:rPr>
                  <a:t>个方向，持续跟踪研究，形成标志性智库产品。</a:t>
                </a:r>
                <a:endParaRPr lang="zh-CN" altLang="en-US" sz="1200" spc="10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16" name="直线连接符 15"/>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3668866" y="2420137"/>
            <a:ext cx="2423994" cy="2490863"/>
            <a:chOff x="1111972" y="2508626"/>
            <a:chExt cx="2423994" cy="2490863"/>
          </a:xfrm>
        </p:grpSpPr>
        <p:grpSp>
          <p:nvGrpSpPr>
            <p:cNvPr id="45" name="组合 44"/>
            <p:cNvGrpSpPr/>
            <p:nvPr/>
          </p:nvGrpSpPr>
          <p:grpSpPr>
            <a:xfrm>
              <a:off x="1111972" y="2508626"/>
              <a:ext cx="2423994" cy="2490863"/>
              <a:chOff x="1250761" y="2614623"/>
              <a:chExt cx="2423994" cy="2490863"/>
            </a:xfrm>
          </p:grpSpPr>
          <p:sp>
            <p:nvSpPr>
              <p:cNvPr id="47" name="文本框 46"/>
              <p:cNvSpPr txBox="1"/>
              <p:nvPr>
                <p:custDataLst>
                  <p:tags r:id="rId6"/>
                </p:custDataLst>
              </p:nvPr>
            </p:nvSpPr>
            <p:spPr>
              <a:xfrm>
                <a:off x="1689465" y="2614623"/>
                <a:ext cx="1973190" cy="379954"/>
              </a:xfrm>
              <a:prstGeom prst="rect">
                <a:avLst/>
              </a:prstGeom>
              <a:noFill/>
            </p:spPr>
            <p:txBody>
              <a:bodyPr wrap="square" rtlCol="0">
                <a:noAutofit/>
              </a:bodyPr>
              <a:lstStyle/>
              <a:p>
                <a:pPr>
                  <a:buSzPct val="100000"/>
                </a:pPr>
                <a:r>
                  <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rPr>
                  <a:t>塑造核心</a:t>
                </a:r>
                <a:r>
                  <a:rPr lang="zh-CN" altLang="en-US" sz="1600" b="1" spc="11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能力优势</a:t>
                </a:r>
                <a:endParaRPr lang="zh-CN" altLang="zh-CN" sz="1600" b="1" spc="80" dirty="0">
                  <a:latin typeface="Arial" panose="020B0604020202020204" pitchFamily="34" charset="0"/>
                  <a:ea typeface="微软雅黑" panose="020B0503020204020204" pitchFamily="34" charset="-122"/>
                </a:endParaRPr>
              </a:p>
            </p:txBody>
          </p:sp>
          <p:grpSp>
            <p:nvGrpSpPr>
              <p:cNvPr id="48" name="组合 47"/>
              <p:cNvGrpSpPr/>
              <p:nvPr/>
            </p:nvGrpSpPr>
            <p:grpSpPr>
              <a:xfrm>
                <a:off x="1318463" y="2655532"/>
                <a:ext cx="339665" cy="339665"/>
                <a:chOff x="504698" y="2554152"/>
                <a:chExt cx="339665" cy="339665"/>
              </a:xfrm>
            </p:grpSpPr>
            <p:sp>
              <p:nvSpPr>
                <p:cNvPr id="53" name="椭圆 52"/>
                <p:cNvSpPr/>
                <p:nvPr>
                  <p:custDataLst>
                    <p:tags r:id="rId7"/>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54" name="icon"/>
                <p:cNvSpPr/>
                <p:nvPr>
                  <p:custDataLst>
                    <p:tags r:id="rId8"/>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49" name="矩形 48"/>
              <p:cNvSpPr/>
              <p:nvPr/>
            </p:nvSpPr>
            <p:spPr>
              <a:xfrm>
                <a:off x="1250761" y="3461959"/>
                <a:ext cx="2423994" cy="1643527"/>
              </a:xfrm>
              <a:prstGeom prst="rect">
                <a:avLst/>
              </a:prstGeom>
            </p:spPr>
            <p:txBody>
              <a:bodyPr wrap="square">
                <a:spAutoFit/>
              </a:bodyPr>
              <a:lstStyle/>
              <a:p>
                <a:pPr lvl="0">
                  <a:lnSpc>
                    <a:spcPct val="120000"/>
                  </a:lnSpc>
                  <a:spcAft>
                    <a:spcPts val="800"/>
                  </a:spcAft>
                  <a:buSzPct val="100000"/>
                </a:pPr>
                <a:r>
                  <a:rPr lang="zh-CN" altLang="en-US" sz="1200" spc="100" dirty="0" smtClean="0">
                    <a:solidFill>
                      <a:schemeClr val="tx1">
                        <a:lumMod val="85000"/>
                        <a:lumOff val="15000"/>
                      </a:schemeClr>
                    </a:solidFill>
                    <a:latin typeface="Arial" panose="020B0604020202020204" pitchFamily="34" charset="0"/>
                    <a:ea typeface="微软雅黑" panose="020B0503020204020204" pitchFamily="34" charset="-122"/>
                  </a:rPr>
                  <a:t>凝聚</a:t>
                </a:r>
                <a:r>
                  <a:rPr lang="zh-CN" altLang="en-US" sz="1200" spc="100" dirty="0">
                    <a:solidFill>
                      <a:schemeClr val="tx1">
                        <a:lumMod val="85000"/>
                        <a:lumOff val="15000"/>
                      </a:schemeClr>
                    </a:solidFill>
                    <a:latin typeface="Arial" panose="020B0604020202020204" pitchFamily="34" charset="0"/>
                    <a:ea typeface="微软雅黑" panose="020B0503020204020204" pitchFamily="34" charset="-122"/>
                  </a:rPr>
                  <a:t>研究领域持续跟踪、长期积累，秉承系统观念，把研究做深、做透，力争在研究领域形成系列标志性成果，做到有项目、有专报、有批示、有论文，塑造智库团队领域竞争优势。</a:t>
                </a:r>
                <a:endParaRPr lang="zh-CN" altLang="en-US" sz="1200" spc="100" dirty="0">
                  <a:solidFill>
                    <a:schemeClr val="tx1">
                      <a:lumMod val="85000"/>
                      <a:lumOff val="15000"/>
                    </a:schemeClr>
                  </a:solidFill>
                  <a:uFillTx/>
                  <a:latin typeface="Arial" panose="020B0604020202020204" pitchFamily="34" charset="0"/>
                  <a:ea typeface="微软雅黑" panose="020B0503020204020204" pitchFamily="34" charset="-122"/>
                </a:endParaRPr>
              </a:p>
            </p:txBody>
          </p:sp>
        </p:grpSp>
        <p:cxnSp>
          <p:nvCxnSpPr>
            <p:cNvPr id="46" name="直线连接符 45"/>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6254246" y="2390641"/>
            <a:ext cx="2176475" cy="2247079"/>
            <a:chOff x="1111971" y="2493878"/>
            <a:chExt cx="2176475" cy="2247079"/>
          </a:xfrm>
        </p:grpSpPr>
        <p:grpSp>
          <p:nvGrpSpPr>
            <p:cNvPr id="56" name="组合 55"/>
            <p:cNvGrpSpPr/>
            <p:nvPr/>
          </p:nvGrpSpPr>
          <p:grpSpPr>
            <a:xfrm>
              <a:off x="1111971" y="2493878"/>
              <a:ext cx="2176475" cy="2247079"/>
              <a:chOff x="1250760" y="2599875"/>
              <a:chExt cx="2176475" cy="2247079"/>
            </a:xfrm>
          </p:grpSpPr>
          <p:sp>
            <p:nvSpPr>
              <p:cNvPr id="59" name="文本框 58"/>
              <p:cNvSpPr txBox="1"/>
              <p:nvPr>
                <p:custDataLst>
                  <p:tags r:id="rId9"/>
                </p:custDataLst>
              </p:nvPr>
            </p:nvSpPr>
            <p:spPr>
              <a:xfrm>
                <a:off x="1689466" y="2599875"/>
                <a:ext cx="1679220" cy="379954"/>
              </a:xfrm>
              <a:prstGeom prst="rect">
                <a:avLst/>
              </a:prstGeom>
              <a:noFill/>
            </p:spPr>
            <p:txBody>
              <a:bodyPr wrap="square" rtlCol="0">
                <a:noAutofit/>
              </a:bodyPr>
              <a:lstStyle/>
              <a:p>
                <a:pPr>
                  <a:buSzPct val="100000"/>
                </a:pPr>
                <a:r>
                  <a:rPr lang="zh-CN" altLang="zh-CN"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rPr>
                  <a:t>培养高水平智库人才队伍</a:t>
                </a:r>
                <a:endParaRPr lang="zh-CN" altLang="zh-CN"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60" name="组合 59"/>
              <p:cNvGrpSpPr/>
              <p:nvPr/>
            </p:nvGrpSpPr>
            <p:grpSpPr>
              <a:xfrm>
                <a:off x="1318463" y="2655532"/>
                <a:ext cx="339665" cy="339665"/>
                <a:chOff x="504698" y="2554152"/>
                <a:chExt cx="339665" cy="339665"/>
              </a:xfrm>
            </p:grpSpPr>
            <p:sp>
              <p:nvSpPr>
                <p:cNvPr id="62" name="椭圆 61"/>
                <p:cNvSpPr/>
                <p:nvPr>
                  <p:custDataLst>
                    <p:tags r:id="rId10"/>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63" name="icon"/>
                <p:cNvSpPr/>
                <p:nvPr>
                  <p:custDataLst>
                    <p:tags r:id="rId11"/>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61" name="矩形 60"/>
              <p:cNvSpPr/>
              <p:nvPr/>
            </p:nvSpPr>
            <p:spPr>
              <a:xfrm>
                <a:off x="1250760" y="3461959"/>
                <a:ext cx="2176475" cy="1384995"/>
              </a:xfrm>
              <a:prstGeom prst="rect">
                <a:avLst/>
              </a:prstGeom>
            </p:spPr>
            <p:txBody>
              <a:bodyPr wrap="square">
                <a:spAutoFit/>
              </a:bodyPr>
              <a:lstStyle/>
              <a:p>
                <a:pPr algn="just"/>
                <a:r>
                  <a:rPr lang="en-US" altLang="zh-CN" sz="1200" spc="90" dirty="0">
                    <a:solidFill>
                      <a:schemeClr val="tx1">
                        <a:lumMod val="85000"/>
                        <a:lumOff val="15000"/>
                      </a:schemeClr>
                    </a:solidFill>
                    <a:uFillTx/>
                    <a:latin typeface="+mn-ea"/>
                  </a:rPr>
                  <a:t>营造良好环境，跨行业、跨单位集聚高水平智库人才，组建总量适度、素质一流、结构合理、专兼结合的战略性咨政研究团队，重视人员配置的合理性和科学性，推动人才、知识和思想的集</a:t>
                </a:r>
                <a:r>
                  <a:rPr lang="zh-CN" altLang="en-US" sz="1200" spc="90" dirty="0">
                    <a:solidFill>
                      <a:schemeClr val="tx1">
                        <a:lumMod val="85000"/>
                        <a:lumOff val="15000"/>
                      </a:schemeClr>
                    </a:solidFill>
                    <a:uFillTx/>
                    <a:latin typeface="+mn-ea"/>
                  </a:rPr>
                  <a:t>聚。</a:t>
                </a:r>
                <a:endParaRPr lang="en-US" altLang="zh-CN" sz="1200" spc="90" dirty="0">
                  <a:solidFill>
                    <a:schemeClr val="tx1">
                      <a:lumMod val="85000"/>
                      <a:lumOff val="15000"/>
                    </a:schemeClr>
                  </a:solidFill>
                  <a:uFillTx/>
                  <a:latin typeface="+mn-ea"/>
                </a:endParaRPr>
              </a:p>
            </p:txBody>
          </p:sp>
        </p:grpSp>
        <p:cxnSp>
          <p:nvCxnSpPr>
            <p:cNvPr id="58" name="直线连接符 57"/>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64" name="组合 63"/>
          <p:cNvGrpSpPr/>
          <p:nvPr/>
        </p:nvGrpSpPr>
        <p:grpSpPr>
          <a:xfrm>
            <a:off x="8678244" y="2405389"/>
            <a:ext cx="2401784" cy="3016328"/>
            <a:chOff x="1111972" y="2508626"/>
            <a:chExt cx="2401784" cy="3016328"/>
          </a:xfrm>
        </p:grpSpPr>
        <p:grpSp>
          <p:nvGrpSpPr>
            <p:cNvPr id="65" name="组合 64"/>
            <p:cNvGrpSpPr/>
            <p:nvPr/>
          </p:nvGrpSpPr>
          <p:grpSpPr>
            <a:xfrm>
              <a:off x="1111972" y="2508626"/>
              <a:ext cx="2401784" cy="3016328"/>
              <a:chOff x="1250761" y="2614623"/>
              <a:chExt cx="2401784" cy="3016328"/>
            </a:xfrm>
          </p:grpSpPr>
          <p:sp>
            <p:nvSpPr>
              <p:cNvPr id="67" name="文本框 66"/>
              <p:cNvSpPr txBox="1"/>
              <p:nvPr>
                <p:custDataLst>
                  <p:tags r:id="rId12"/>
                </p:custDataLst>
              </p:nvPr>
            </p:nvSpPr>
            <p:spPr>
              <a:xfrm>
                <a:off x="1689465" y="2614623"/>
                <a:ext cx="1830063" cy="379954"/>
              </a:xfrm>
              <a:prstGeom prst="rect">
                <a:avLst/>
              </a:prstGeom>
              <a:noFill/>
            </p:spPr>
            <p:txBody>
              <a:bodyPr wrap="square" rtlCol="0">
                <a:noAutofit/>
              </a:bodyPr>
              <a:lstStyle/>
              <a:p>
                <a:pPr>
                  <a:buSzPct val="100000"/>
                </a:pPr>
                <a:r>
                  <a:rPr lang="zh-CN" altLang="en-US" sz="1600" b="1" spc="11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建立</a:t>
                </a:r>
                <a:r>
                  <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rPr>
                  <a:t>开放</a:t>
                </a:r>
                <a:r>
                  <a:rPr lang="zh-CN" altLang="en-US" sz="1600" b="1" spc="11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协同的</a:t>
                </a:r>
                <a:r>
                  <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rPr>
                  <a:t>智库</a:t>
                </a:r>
                <a:r>
                  <a:rPr lang="zh-CN" altLang="en-US" sz="1600" b="1" spc="110" dirty="0" smtClean="0">
                    <a:solidFill>
                      <a:schemeClr val="tx1">
                        <a:lumMod val="85000"/>
                        <a:lumOff val="15000"/>
                      </a:schemeClr>
                    </a:solidFill>
                    <a:latin typeface="微软雅黑" panose="020B0503020204020204" pitchFamily="34" charset="-122"/>
                    <a:ea typeface="微软雅黑" panose="020B0503020204020204" pitchFamily="34" charset="-122"/>
                    <a:sym typeface="+mn-ea"/>
                  </a:rPr>
                  <a:t>生态体系</a:t>
                </a:r>
                <a:endPar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68" name="组合 67"/>
              <p:cNvGrpSpPr/>
              <p:nvPr/>
            </p:nvGrpSpPr>
            <p:grpSpPr>
              <a:xfrm>
                <a:off x="1318463" y="2655532"/>
                <a:ext cx="339665" cy="339665"/>
                <a:chOff x="504698" y="2554152"/>
                <a:chExt cx="339665" cy="339665"/>
              </a:xfrm>
            </p:grpSpPr>
            <p:sp>
              <p:nvSpPr>
                <p:cNvPr id="70" name="椭圆 69"/>
                <p:cNvSpPr/>
                <p:nvPr>
                  <p:custDataLst>
                    <p:tags r:id="rId13"/>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71" name="icon"/>
                <p:cNvSpPr/>
                <p:nvPr>
                  <p:custDataLst>
                    <p:tags r:id="rId14"/>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69" name="矩形 68"/>
              <p:cNvSpPr/>
              <p:nvPr/>
            </p:nvSpPr>
            <p:spPr>
              <a:xfrm>
                <a:off x="1250761" y="3461959"/>
                <a:ext cx="2401784" cy="2168992"/>
              </a:xfrm>
              <a:prstGeom prst="rect">
                <a:avLst/>
              </a:prstGeom>
            </p:spPr>
            <p:txBody>
              <a:bodyPr wrap="square">
                <a:spAutoFit/>
              </a:bodyPr>
              <a:lstStyle/>
              <a:p>
                <a:pPr>
                  <a:lnSpc>
                    <a:spcPct val="120000"/>
                  </a:lnSpc>
                  <a:spcAft>
                    <a:spcPts val="800"/>
                  </a:spcAft>
                  <a:buSzPct val="100000"/>
                </a:pPr>
                <a:r>
                  <a:rPr lang="en-US" altLang="zh-CN" sz="1200" spc="70" dirty="0" err="1">
                    <a:solidFill>
                      <a:schemeClr val="tx1">
                        <a:lumMod val="85000"/>
                        <a:lumOff val="15000"/>
                      </a:schemeClr>
                    </a:solidFill>
                    <a:uFillTx/>
                    <a:latin typeface="+mn-ea"/>
                  </a:rPr>
                  <a:t>建立一体化科技创新智库组织体系，广泛吸纳</a:t>
                </a:r>
                <a:r>
                  <a:rPr lang="zh-CN" altLang="en-US" sz="1200" spc="70" dirty="0">
                    <a:solidFill>
                      <a:schemeClr val="tx1">
                        <a:lumMod val="85000"/>
                        <a:lumOff val="15000"/>
                      </a:schemeClr>
                    </a:solidFill>
                    <a:uFillTx/>
                    <a:latin typeface="+mn-ea"/>
                  </a:rPr>
                  <a:t>国内外</a:t>
                </a:r>
                <a:r>
                  <a:rPr lang="en-US" altLang="zh-CN" sz="1200" spc="70" dirty="0" err="1">
                    <a:solidFill>
                      <a:schemeClr val="tx1">
                        <a:lumMod val="85000"/>
                        <a:lumOff val="15000"/>
                      </a:schemeClr>
                    </a:solidFill>
                    <a:uFillTx/>
                    <a:latin typeface="+mn-ea"/>
                  </a:rPr>
                  <a:t>高校、院所、企业等单位共建智库联盟，加深协同合作，对接各类需求，开展联合专项研究、产业项目服务、高峰论坛等活动</a:t>
                </a:r>
                <a:r>
                  <a:rPr lang="en-US" altLang="zh-CN" sz="1200" spc="70" dirty="0">
                    <a:solidFill>
                      <a:schemeClr val="tx1">
                        <a:lumMod val="85000"/>
                        <a:lumOff val="15000"/>
                      </a:schemeClr>
                    </a:solidFill>
                    <a:uFillTx/>
                    <a:latin typeface="+mn-ea"/>
                  </a:rPr>
                  <a:t>，</a:t>
                </a:r>
                <a:r>
                  <a:rPr lang="zh-CN" altLang="en-US" sz="1200" spc="70" dirty="0">
                    <a:solidFill>
                      <a:schemeClr val="tx1">
                        <a:lumMod val="85000"/>
                        <a:lumOff val="15000"/>
                      </a:schemeClr>
                    </a:solidFill>
                    <a:uFillTx/>
                    <a:latin typeface="+mn-ea"/>
                  </a:rPr>
                  <a:t>系统化支撑山东省科技创新事业发展。</a:t>
                </a:r>
                <a:endParaRPr lang="en-US" altLang="zh-CN" sz="1200" spc="70" dirty="0">
                  <a:solidFill>
                    <a:schemeClr val="tx1">
                      <a:lumMod val="85000"/>
                      <a:lumOff val="15000"/>
                    </a:schemeClr>
                  </a:solidFill>
                  <a:uFillTx/>
                  <a:latin typeface="Arial" panose="020B0604020202020204" pitchFamily="34" charset="0"/>
                  <a:ea typeface="微软雅黑" panose="020B0503020204020204" pitchFamily="34" charset="-122"/>
                </a:endParaRPr>
              </a:p>
              <a:p>
                <a:pPr marL="0" lvl="0" indent="0" algn="l">
                  <a:lnSpc>
                    <a:spcPct val="120000"/>
                  </a:lnSpc>
                  <a:spcBef>
                    <a:spcPts val="0"/>
                  </a:spcBef>
                  <a:spcAft>
                    <a:spcPts val="800"/>
                  </a:spcAft>
                  <a:buSzPct val="100000"/>
                  <a:buNone/>
                </a:pPr>
                <a:endParaRPr lang="zh-CN" altLang="en-US" sz="1200" spc="100" dirty="0">
                  <a:solidFill>
                    <a:schemeClr val="tx1">
                      <a:lumMod val="85000"/>
                      <a:lumOff val="15000"/>
                    </a:schemeClr>
                  </a:solidFill>
                  <a:uFillTx/>
                  <a:latin typeface="Arial" panose="020B0604020202020204" pitchFamily="34" charset="0"/>
                  <a:ea typeface="微软雅黑" panose="020B0503020204020204" pitchFamily="34" charset="-122"/>
                </a:endParaRPr>
              </a:p>
            </p:txBody>
          </p:sp>
        </p:grpSp>
        <p:cxnSp>
          <p:nvCxnSpPr>
            <p:cNvPr id="66" name="直线连接符 65"/>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spTree>
    <p:custDataLst>
      <p:tags r:id="rId15"/>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06077" y="66507"/>
            <a:ext cx="5891573" cy="836188"/>
            <a:chOff x="706077" y="66507"/>
            <a:chExt cx="5891573" cy="836188"/>
          </a:xfrm>
        </p:grpSpPr>
        <p:sp>
          <p:nvSpPr>
            <p:cNvPr id="3"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打造科技数据服务平台</a:t>
              </a:r>
              <a:endParaRPr lang="zh-CN" altLang="en-US" dirty="0">
                <a:solidFill>
                  <a:schemeClr val="accent3">
                    <a:lumMod val="75000"/>
                  </a:schemeClr>
                </a:solidFill>
              </a:endParaRPr>
            </a:p>
          </p:txBody>
        </p:sp>
        <p:sp>
          <p:nvSpPr>
            <p:cNvPr id="4" name="文本框 3"/>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4.3</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7" name="组合 6"/>
          <p:cNvGrpSpPr/>
          <p:nvPr/>
        </p:nvGrpSpPr>
        <p:grpSpPr>
          <a:xfrm>
            <a:off x="703007" y="1375940"/>
            <a:ext cx="10558241" cy="3893671"/>
            <a:chOff x="591669" y="599778"/>
            <a:chExt cx="10558241" cy="3893671"/>
          </a:xfrm>
        </p:grpSpPr>
        <p:grpSp>
          <p:nvGrpSpPr>
            <p:cNvPr id="8" name="组合 7"/>
            <p:cNvGrpSpPr/>
            <p:nvPr/>
          </p:nvGrpSpPr>
          <p:grpSpPr>
            <a:xfrm>
              <a:off x="591669" y="599778"/>
              <a:ext cx="10558241" cy="3893671"/>
              <a:chOff x="591669" y="599778"/>
              <a:chExt cx="10558241" cy="3893671"/>
            </a:xfrm>
          </p:grpSpPr>
          <p:grpSp>
            <p:nvGrpSpPr>
              <p:cNvPr id="10" name="组合 9"/>
              <p:cNvGrpSpPr/>
              <p:nvPr/>
            </p:nvGrpSpPr>
            <p:grpSpPr>
              <a:xfrm>
                <a:off x="591669" y="1685475"/>
                <a:ext cx="10558241" cy="2499250"/>
                <a:chOff x="591669" y="1685475"/>
                <a:chExt cx="10558241" cy="2499250"/>
              </a:xfrm>
            </p:grpSpPr>
            <p:sp>
              <p:nvSpPr>
                <p:cNvPr id="12" name="矩形 11"/>
                <p:cNvSpPr/>
                <p:nvPr/>
              </p:nvSpPr>
              <p:spPr>
                <a:xfrm>
                  <a:off x="591669" y="1689522"/>
                  <a:ext cx="10558241" cy="2495203"/>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3" name="矩形 12"/>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4" name="文本框 13"/>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建设目标</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579" y="599778"/>
                <a:ext cx="3827516" cy="3893671"/>
              </a:xfrm>
              <a:prstGeom prst="rect">
                <a:avLst/>
              </a:prstGeom>
            </p:spPr>
          </p:pic>
        </p:grpSp>
        <p:sp>
          <p:nvSpPr>
            <p:cNvPr id="9" name="矩形 8"/>
            <p:cNvSpPr/>
            <p:nvPr/>
          </p:nvSpPr>
          <p:spPr>
            <a:xfrm>
              <a:off x="924334" y="2388571"/>
              <a:ext cx="5561978" cy="1346907"/>
            </a:xfrm>
            <a:prstGeom prst="rect">
              <a:avLst/>
            </a:prstGeom>
          </p:spPr>
          <p:txBody>
            <a:bodyPr wrap="square">
              <a:spAutoFit/>
            </a:bodyPr>
            <a:lstStyle/>
            <a:p>
              <a:pPr indent="0" algn="just" fontAlgn="auto">
                <a:lnSpc>
                  <a:spcPct val="150000"/>
                </a:lnSpc>
              </a:pPr>
              <a:r>
                <a:rPr lang="zh-CN" altLang="en-US" sz="1400" kern="100" dirty="0">
                  <a:latin typeface="+mn-ea"/>
                  <a:cs typeface="Times New Roman" panose="02020603050405020304" pitchFamily="18" charset="0"/>
                </a:rPr>
                <a:t>       加快构建数字化、智能化的政府运行新形态，建设“科技大脑”，高效配置数据资源，充分发挥数据价值，全面建成高效协同的数字化</a:t>
              </a:r>
              <a:r>
                <a:rPr lang="zh-CN" altLang="en-US" sz="1400" kern="100" dirty="0">
                  <a:solidFill>
                    <a:schemeClr val="tx1"/>
                  </a:solidFill>
                  <a:latin typeface="+mn-ea"/>
                  <a:cs typeface="Times New Roman" panose="02020603050405020304" pitchFamily="18" charset="0"/>
                </a:rPr>
                <a:t>服务</a:t>
              </a:r>
              <a:r>
                <a:rPr lang="zh-CN" altLang="en-US" sz="1400" kern="100" dirty="0">
                  <a:latin typeface="+mn-ea"/>
                  <a:cs typeface="Times New Roman" panose="02020603050405020304" pitchFamily="18" charset="0"/>
                </a:rPr>
                <a:t>体系，为科技创新发展管理决策、公共技术平台建设和科技成果转化提供信息化支撑。</a:t>
              </a:r>
              <a:endParaRPr lang="zh-CN" altLang="en-US" sz="1400" kern="100" dirty="0">
                <a:latin typeface="+mn-ea"/>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打造科技数据服务平台</a:t>
              </a:r>
              <a:endParaRPr lang="zh-CN" altLang="en-US" dirty="0">
                <a:solidFill>
                  <a:schemeClr val="accent3">
                    <a:lumMod val="75000"/>
                  </a:schemeClr>
                </a:solidFill>
              </a:endParaRPr>
            </a:p>
          </p:txBody>
        </p:sp>
        <p:sp>
          <p:nvSpPr>
            <p:cNvPr id="7" name="文本框 6"/>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4.3</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40" name="组合 39"/>
          <p:cNvGrpSpPr/>
          <p:nvPr/>
        </p:nvGrpSpPr>
        <p:grpSpPr>
          <a:xfrm>
            <a:off x="714437" y="1895516"/>
            <a:ext cx="10558241" cy="3468104"/>
            <a:chOff x="703007" y="1929806"/>
            <a:chExt cx="10558241" cy="3468104"/>
          </a:xfrm>
        </p:grpSpPr>
        <p:grpSp>
          <p:nvGrpSpPr>
            <p:cNvPr id="11" name="组合 10"/>
            <p:cNvGrpSpPr/>
            <p:nvPr/>
          </p:nvGrpSpPr>
          <p:grpSpPr>
            <a:xfrm>
              <a:off x="703007" y="1929806"/>
              <a:ext cx="10558241" cy="3468104"/>
              <a:chOff x="591669" y="1685475"/>
              <a:chExt cx="10558241" cy="3468104"/>
            </a:xfrm>
          </p:grpSpPr>
          <p:grpSp>
            <p:nvGrpSpPr>
              <p:cNvPr id="14" name="组合 13"/>
              <p:cNvGrpSpPr/>
              <p:nvPr/>
            </p:nvGrpSpPr>
            <p:grpSpPr>
              <a:xfrm>
                <a:off x="591669" y="1685475"/>
                <a:ext cx="10558241" cy="3468104"/>
                <a:chOff x="591669" y="1685475"/>
                <a:chExt cx="10558241" cy="3468104"/>
              </a:xfrm>
            </p:grpSpPr>
            <p:sp>
              <p:nvSpPr>
                <p:cNvPr id="17" name="矩形 16"/>
                <p:cNvSpPr/>
                <p:nvPr/>
              </p:nvSpPr>
              <p:spPr>
                <a:xfrm>
                  <a:off x="591669" y="1689522"/>
                  <a:ext cx="10558241" cy="3464057"/>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9" name="矩形 18"/>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20" name="文本框 19"/>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建设内容</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16" name="矩形 15"/>
              <p:cNvSpPr/>
              <p:nvPr/>
            </p:nvSpPr>
            <p:spPr>
              <a:xfrm>
                <a:off x="924334" y="2388571"/>
                <a:ext cx="9745399" cy="1061829"/>
              </a:xfrm>
              <a:prstGeom prst="rect">
                <a:avLst/>
              </a:prstGeom>
            </p:spPr>
            <p:txBody>
              <a:bodyPr wrap="square">
                <a:spAutoFit/>
              </a:bodyPr>
              <a:lstStyle/>
              <a:p>
                <a:pPr indent="0" algn="just" fontAlgn="auto">
                  <a:lnSpc>
                    <a:spcPct val="150000"/>
                  </a:lnSpc>
                </a:pPr>
                <a:r>
                  <a:rPr lang="zh-CN" altLang="en-US" sz="1400" kern="100" dirty="0">
                    <a:latin typeface="+mn-ea"/>
                    <a:cs typeface="Times New Roman" panose="02020603050405020304" pitchFamily="18" charset="0"/>
                  </a:rPr>
                  <a:t>       </a:t>
                </a:r>
                <a:r>
                  <a:rPr lang="zh-CN" altLang="en-US" sz="1400" kern="100" dirty="0" smtClean="0">
                    <a:latin typeface="+mn-ea"/>
                    <a:cs typeface="Times New Roman" panose="02020603050405020304" pitchFamily="18" charset="0"/>
                  </a:rPr>
                  <a:t>围绕服务科技厅信息化建设需要，搭建</a:t>
                </a:r>
                <a:r>
                  <a:rPr lang="zh-CN" altLang="en-US" sz="1400" kern="100" dirty="0">
                    <a:latin typeface="+mn-ea"/>
                    <a:cs typeface="Times New Roman" panose="02020603050405020304" pitchFamily="18" charset="0"/>
                  </a:rPr>
                  <a:t>科技大数据体系及平台，利用数据关联分析、数学建模、虚拟仿真、人工智能等技术，有效整合分散数据，面向重点区域、重点领域、重点行业，开展监测评价、预警分析和科研活动全过程管理服务，全面形成以大数据为支撑的科学化、精准化决策支撑服务体系。</a:t>
                </a:r>
                <a:endParaRPr lang="zh-CN" altLang="en-US" sz="1400" kern="100" dirty="0">
                  <a:latin typeface="+mn-ea"/>
                  <a:cs typeface="Times New Roman" panose="02020603050405020304" pitchFamily="18" charset="0"/>
                </a:endParaRPr>
              </a:p>
            </p:txBody>
          </p:sp>
        </p:grpSp>
        <p:grpSp>
          <p:nvGrpSpPr>
            <p:cNvPr id="32" name="组合 31"/>
            <p:cNvGrpSpPr/>
            <p:nvPr/>
          </p:nvGrpSpPr>
          <p:grpSpPr>
            <a:xfrm>
              <a:off x="1150374" y="3686793"/>
              <a:ext cx="9627372" cy="1171220"/>
              <a:chOff x="1268125" y="3679107"/>
              <a:chExt cx="9627372" cy="1171220"/>
            </a:xfrm>
          </p:grpSpPr>
          <p:cxnSp>
            <p:nvCxnSpPr>
              <p:cNvPr id="33" name="肘形连接符 32"/>
              <p:cNvCxnSpPr/>
              <p:nvPr>
                <p:custDataLst>
                  <p:tags r:id="rId2"/>
                </p:custDataLst>
              </p:nvPr>
            </p:nvCxnSpPr>
            <p:spPr>
              <a:xfrm rot="5400000">
                <a:off x="4457217" y="2720570"/>
                <a:ext cx="514353" cy="2431427"/>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34" name="直接箭头连接符 164"/>
              <p:cNvCxnSpPr/>
              <p:nvPr>
                <p:custDataLst>
                  <p:tags r:id="rId3"/>
                </p:custDataLst>
              </p:nvPr>
            </p:nvCxnSpPr>
            <p:spPr>
              <a:xfrm>
                <a:off x="5939150" y="3952235"/>
                <a:ext cx="3323" cy="259093"/>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a:xfrm>
                <a:off x="1268125" y="3931452"/>
                <a:ext cx="9627372" cy="918875"/>
                <a:chOff x="1257850" y="3386922"/>
                <a:chExt cx="9627372" cy="918875"/>
              </a:xfrm>
            </p:grpSpPr>
            <p:sp>
              <p:nvSpPr>
                <p:cNvPr id="36" name="矩形 35"/>
                <p:cNvSpPr/>
                <p:nvPr>
                  <p:custDataLst>
                    <p:tags r:id="rId4"/>
                  </p:custDataLst>
                </p:nvPr>
              </p:nvSpPr>
              <p:spPr>
                <a:xfrm>
                  <a:off x="1257850" y="3721792"/>
                  <a:ext cx="3202157"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mj-ea"/>
                      <a:ea typeface="+mj-ea"/>
                    </a:rPr>
                    <a:t>搭建创新资源</a:t>
                  </a:r>
                  <a:endParaRPr lang="en-US" altLang="zh-CN" sz="1600" dirty="0">
                    <a:latin typeface="+mj-ea"/>
                    <a:ea typeface="+mj-ea"/>
                  </a:endParaRPr>
                </a:p>
                <a:p>
                  <a:pPr algn="ctr"/>
                  <a:r>
                    <a:rPr lang="zh-CN" altLang="en-US" sz="1600" dirty="0">
                      <a:latin typeface="+mj-ea"/>
                      <a:ea typeface="+mj-ea"/>
                    </a:rPr>
                    <a:t>集聚平台</a:t>
                  </a:r>
                  <a:endParaRPr lang="zh-CN" altLang="en-US" sz="1600" dirty="0">
                    <a:latin typeface="+mj-ea"/>
                    <a:ea typeface="+mj-ea"/>
                  </a:endParaRPr>
                </a:p>
              </p:txBody>
            </p:sp>
            <p:sp>
              <p:nvSpPr>
                <p:cNvPr id="37" name="矩形 36"/>
                <p:cNvSpPr/>
                <p:nvPr>
                  <p:custDataLst>
                    <p:tags r:id="rId5"/>
                  </p:custDataLst>
                </p:nvPr>
              </p:nvSpPr>
              <p:spPr>
                <a:xfrm>
                  <a:off x="7996407" y="3692296"/>
                  <a:ext cx="2888815"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t>实现科</a:t>
                  </a:r>
                  <a:r>
                    <a:rPr lang="zh-CN" altLang="en-US" sz="1600" dirty="0"/>
                    <a:t>研活动</a:t>
                  </a:r>
                  <a:r>
                    <a:rPr lang="zh-CN" altLang="zh-CN" sz="1600" dirty="0"/>
                    <a:t>全</a:t>
                  </a:r>
                  <a:endParaRPr lang="en-US" altLang="zh-CN" sz="1600" dirty="0"/>
                </a:p>
                <a:p>
                  <a:pPr algn="ctr"/>
                  <a:r>
                    <a:rPr lang="zh-CN" altLang="zh-CN" sz="1600" dirty="0"/>
                    <a:t>生命周期管理</a:t>
                  </a:r>
                  <a:endParaRPr lang="zh-CN" altLang="zh-CN" sz="1600" dirty="0"/>
                </a:p>
              </p:txBody>
            </p:sp>
            <p:sp>
              <p:nvSpPr>
                <p:cNvPr id="38" name="矩形 37"/>
                <p:cNvSpPr/>
                <p:nvPr>
                  <p:custDataLst>
                    <p:tags r:id="rId6"/>
                  </p:custDataLst>
                </p:nvPr>
              </p:nvSpPr>
              <p:spPr>
                <a:xfrm>
                  <a:off x="4704117" y="3709188"/>
                  <a:ext cx="2995453"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构建智能化辅助</a:t>
                  </a:r>
                  <a:endParaRPr lang="en-US" altLang="zh-CN" sz="1600" dirty="0"/>
                </a:p>
                <a:p>
                  <a:pPr algn="ctr"/>
                  <a:r>
                    <a:rPr lang="zh-CN" altLang="en-US" sz="1600" dirty="0"/>
                    <a:t>决策系统</a:t>
                  </a:r>
                  <a:endParaRPr lang="zh-CN" altLang="en-US" sz="1600" dirty="0"/>
                </a:p>
              </p:txBody>
            </p:sp>
            <p:cxnSp>
              <p:nvCxnSpPr>
                <p:cNvPr id="39" name="肘形连接符 38"/>
                <p:cNvCxnSpPr/>
                <p:nvPr>
                  <p:custDataLst>
                    <p:tags r:id="rId7"/>
                  </p:custDataLst>
                </p:nvPr>
              </p:nvCxnSpPr>
              <p:spPr>
                <a:xfrm>
                  <a:off x="5917445" y="3386922"/>
                  <a:ext cx="2585809" cy="271285"/>
                </a:xfrm>
                <a:prstGeom prst="bentConnector2">
                  <a:avLst/>
                </a:prstGeom>
                <a:ln w="22225">
                  <a:tailEnd type="arrow"/>
                </a:ln>
              </p:spPr>
              <p:style>
                <a:lnRef idx="1">
                  <a:schemeClr val="accent1"/>
                </a:lnRef>
                <a:fillRef idx="0">
                  <a:schemeClr val="accent1"/>
                </a:fillRef>
                <a:effectRef idx="0">
                  <a:schemeClr val="accent1"/>
                </a:effectRef>
                <a:fontRef idx="minor">
                  <a:schemeClr val="tx1"/>
                </a:fontRef>
              </p:style>
            </p:cxnSp>
          </p:grpSp>
        </p:gr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706077" y="66507"/>
            <a:ext cx="5891573" cy="836188"/>
            <a:chOff x="706077" y="66507"/>
            <a:chExt cx="5891573" cy="836188"/>
          </a:xfrm>
        </p:grpSpPr>
        <p:sp>
          <p:nvSpPr>
            <p:cNvPr id="8"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打造科技数据服务平台</a:t>
              </a:r>
              <a:endParaRPr lang="zh-CN" altLang="en-US" dirty="0">
                <a:solidFill>
                  <a:schemeClr val="accent3">
                    <a:lumMod val="75000"/>
                  </a:schemeClr>
                </a:solidFill>
              </a:endParaRPr>
            </a:p>
          </p:txBody>
        </p:sp>
        <p:sp>
          <p:nvSpPr>
            <p:cNvPr id="10" name="文本框 9"/>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4.3</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48" name="组合 47"/>
          <p:cNvGrpSpPr/>
          <p:nvPr/>
        </p:nvGrpSpPr>
        <p:grpSpPr>
          <a:xfrm>
            <a:off x="525940" y="1587317"/>
            <a:ext cx="10904060" cy="4321627"/>
            <a:chOff x="525940" y="1587317"/>
            <a:chExt cx="10904060" cy="4321627"/>
          </a:xfrm>
        </p:grpSpPr>
        <p:sp>
          <p:nvSpPr>
            <p:cNvPr id="11" name="矩形 10"/>
            <p:cNvSpPr/>
            <p:nvPr/>
          </p:nvSpPr>
          <p:spPr>
            <a:xfrm>
              <a:off x="525940" y="1649753"/>
              <a:ext cx="10785985" cy="425919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4" name="icon"/>
            <p:cNvSpPr/>
            <p:nvPr>
              <p:custDataLst>
                <p:tags r:id="rId1"/>
              </p:custDataLst>
            </p:nvPr>
          </p:nvSpPr>
          <p:spPr bwMode="auto">
            <a:xfrm>
              <a:off x="6269161" y="4564706"/>
              <a:ext cx="184253" cy="184253"/>
            </a:xfrm>
            <a:custGeom>
              <a:avLst/>
              <a:gdLst>
                <a:gd name="T0" fmla="*/ 5481 w 6554"/>
                <a:gd name="T1" fmla="*/ 5052 h 6554"/>
                <a:gd name="T2" fmla="*/ 5052 w 6554"/>
                <a:gd name="T3" fmla="*/ 3848 h 6554"/>
                <a:gd name="T4" fmla="*/ 5252 w 6554"/>
                <a:gd name="T5" fmla="*/ 1649 h 6554"/>
                <a:gd name="T6" fmla="*/ 3974 w 6554"/>
                <a:gd name="T7" fmla="*/ 0 h 6554"/>
                <a:gd name="T8" fmla="*/ 2728 w 6554"/>
                <a:gd name="T9" fmla="*/ 803 h 6554"/>
                <a:gd name="T10" fmla="*/ 1164 w 6554"/>
                <a:gd name="T11" fmla="*/ 1253 h 6554"/>
                <a:gd name="T12" fmla="*/ 546 w 6554"/>
                <a:gd name="T13" fmla="*/ 2731 h 6554"/>
                <a:gd name="T14" fmla="*/ 1502 w 6554"/>
                <a:gd name="T15" fmla="*/ 5052 h 6554"/>
                <a:gd name="T16" fmla="*/ 546 w 6554"/>
                <a:gd name="T17" fmla="*/ 4642 h 6554"/>
                <a:gd name="T18" fmla="*/ 546 w 6554"/>
                <a:gd name="T19" fmla="*/ 5734 h 6554"/>
                <a:gd name="T20" fmla="*/ 1775 w 6554"/>
                <a:gd name="T21" fmla="*/ 5325 h 6554"/>
                <a:gd name="T22" fmla="*/ 1824 w 6554"/>
                <a:gd name="T23" fmla="*/ 3882 h 6554"/>
                <a:gd name="T24" fmla="*/ 2458 w 6554"/>
                <a:gd name="T25" fmla="*/ 5481 h 6554"/>
                <a:gd name="T26" fmla="*/ 2594 w 6554"/>
                <a:gd name="T27" fmla="*/ 6554 h 6554"/>
                <a:gd name="T28" fmla="*/ 2731 w 6554"/>
                <a:gd name="T29" fmla="*/ 5481 h 6554"/>
                <a:gd name="T30" fmla="*/ 3823 w 6554"/>
                <a:gd name="T31" fmla="*/ 3882 h 6554"/>
                <a:gd name="T32" fmla="*/ 3413 w 6554"/>
                <a:gd name="T33" fmla="*/ 6008 h 6554"/>
                <a:gd name="T34" fmla="*/ 4506 w 6554"/>
                <a:gd name="T35" fmla="*/ 6008 h 6554"/>
                <a:gd name="T36" fmla="*/ 4096 w 6554"/>
                <a:gd name="T37" fmla="*/ 3882 h 6554"/>
                <a:gd name="T38" fmla="*/ 4779 w 6554"/>
                <a:gd name="T39" fmla="*/ 3880 h 6554"/>
                <a:gd name="T40" fmla="*/ 5481 w 6554"/>
                <a:gd name="T41" fmla="*/ 5325 h 6554"/>
                <a:gd name="T42" fmla="*/ 6554 w 6554"/>
                <a:gd name="T43" fmla="*/ 5188 h 6554"/>
                <a:gd name="T44" fmla="*/ 546 w 6554"/>
                <a:gd name="T45" fmla="*/ 5461 h 6554"/>
                <a:gd name="T46" fmla="*/ 546 w 6554"/>
                <a:gd name="T47" fmla="*/ 4915 h 6554"/>
                <a:gd name="T48" fmla="*/ 546 w 6554"/>
                <a:gd name="T49" fmla="*/ 5461 h 6554"/>
                <a:gd name="T50" fmla="*/ 2594 w 6554"/>
                <a:gd name="T51" fmla="*/ 6281 h 6554"/>
                <a:gd name="T52" fmla="*/ 2594 w 6554"/>
                <a:gd name="T53" fmla="*/ 5734 h 6554"/>
                <a:gd name="T54" fmla="*/ 4233 w 6554"/>
                <a:gd name="T55" fmla="*/ 6008 h 6554"/>
                <a:gd name="T56" fmla="*/ 3686 w 6554"/>
                <a:gd name="T57" fmla="*/ 6008 h 6554"/>
                <a:gd name="T58" fmla="*/ 4233 w 6554"/>
                <a:gd name="T59" fmla="*/ 6008 h 6554"/>
                <a:gd name="T60" fmla="*/ 1824 w 6554"/>
                <a:gd name="T61" fmla="*/ 3609 h 6554"/>
                <a:gd name="T62" fmla="*/ 1328 w 6554"/>
                <a:gd name="T63" fmla="*/ 1934 h 6554"/>
                <a:gd name="T64" fmla="*/ 1402 w 6554"/>
                <a:gd name="T65" fmla="*/ 1774 h 6554"/>
                <a:gd name="T66" fmla="*/ 2039 w 6554"/>
                <a:gd name="T67" fmla="*/ 877 h 6554"/>
                <a:gd name="T68" fmla="*/ 2688 w 6554"/>
                <a:gd name="T69" fmla="*/ 1136 h 6554"/>
                <a:gd name="T70" fmla="*/ 2925 w 6554"/>
                <a:gd name="T71" fmla="*/ 1078 h 6554"/>
                <a:gd name="T72" fmla="*/ 3972 w 6554"/>
                <a:gd name="T73" fmla="*/ 273 h 6554"/>
                <a:gd name="T74" fmla="*/ 4948 w 6554"/>
                <a:gd name="T75" fmla="*/ 1683 h 6554"/>
                <a:gd name="T76" fmla="*/ 5044 w 6554"/>
                <a:gd name="T77" fmla="*/ 1872 h 6554"/>
                <a:gd name="T78" fmla="*/ 4730 w 6554"/>
                <a:gd name="T79" fmla="*/ 3609 h 6554"/>
                <a:gd name="T80" fmla="*/ 5734 w 6554"/>
                <a:gd name="T81" fmla="*/ 5188 h 6554"/>
                <a:gd name="T82" fmla="*/ 6281 w 6554"/>
                <a:gd name="T83" fmla="*/ 5188 h 6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4" h="6554">
                  <a:moveTo>
                    <a:pt x="6008" y="4642"/>
                  </a:moveTo>
                  <a:cubicBezTo>
                    <a:pt x="5754" y="4642"/>
                    <a:pt x="5542" y="4817"/>
                    <a:pt x="5481" y="5052"/>
                  </a:cubicBezTo>
                  <a:lnTo>
                    <a:pt x="5052" y="5052"/>
                  </a:lnTo>
                  <a:lnTo>
                    <a:pt x="5052" y="3848"/>
                  </a:lnTo>
                  <a:cubicBezTo>
                    <a:pt x="5621" y="3729"/>
                    <a:pt x="6008" y="3296"/>
                    <a:pt x="6008" y="2731"/>
                  </a:cubicBezTo>
                  <a:cubicBezTo>
                    <a:pt x="6008" y="2246"/>
                    <a:pt x="5698" y="1813"/>
                    <a:pt x="5252" y="1649"/>
                  </a:cubicBezTo>
                  <a:cubicBezTo>
                    <a:pt x="5293" y="1514"/>
                    <a:pt x="5307" y="1375"/>
                    <a:pt x="5298" y="1219"/>
                  </a:cubicBezTo>
                  <a:cubicBezTo>
                    <a:pt x="5257" y="552"/>
                    <a:pt x="4663" y="5"/>
                    <a:pt x="3974" y="0"/>
                  </a:cubicBezTo>
                  <a:cubicBezTo>
                    <a:pt x="3971" y="0"/>
                    <a:pt x="3967" y="0"/>
                    <a:pt x="3964" y="0"/>
                  </a:cubicBezTo>
                  <a:cubicBezTo>
                    <a:pt x="3419" y="0"/>
                    <a:pt x="2932" y="326"/>
                    <a:pt x="2728" y="803"/>
                  </a:cubicBezTo>
                  <a:cubicBezTo>
                    <a:pt x="2527" y="653"/>
                    <a:pt x="2273" y="581"/>
                    <a:pt x="2014" y="606"/>
                  </a:cubicBezTo>
                  <a:cubicBezTo>
                    <a:pt x="1641" y="640"/>
                    <a:pt x="1315" y="889"/>
                    <a:pt x="1164" y="1253"/>
                  </a:cubicBezTo>
                  <a:cubicBezTo>
                    <a:pt x="1091" y="1426"/>
                    <a:pt x="1101" y="1619"/>
                    <a:pt x="1117" y="1736"/>
                  </a:cubicBezTo>
                  <a:cubicBezTo>
                    <a:pt x="767" y="1941"/>
                    <a:pt x="546" y="2320"/>
                    <a:pt x="546" y="2731"/>
                  </a:cubicBezTo>
                  <a:cubicBezTo>
                    <a:pt x="546" y="3286"/>
                    <a:pt x="940" y="3725"/>
                    <a:pt x="1502" y="3847"/>
                  </a:cubicBezTo>
                  <a:lnTo>
                    <a:pt x="1502" y="5052"/>
                  </a:lnTo>
                  <a:lnTo>
                    <a:pt x="1073" y="5052"/>
                  </a:lnTo>
                  <a:cubicBezTo>
                    <a:pt x="1012" y="4817"/>
                    <a:pt x="800" y="4642"/>
                    <a:pt x="546" y="4642"/>
                  </a:cubicBezTo>
                  <a:cubicBezTo>
                    <a:pt x="245" y="4642"/>
                    <a:pt x="0" y="4887"/>
                    <a:pt x="0" y="5188"/>
                  </a:cubicBezTo>
                  <a:cubicBezTo>
                    <a:pt x="0" y="5489"/>
                    <a:pt x="245" y="5734"/>
                    <a:pt x="546" y="5734"/>
                  </a:cubicBezTo>
                  <a:cubicBezTo>
                    <a:pt x="800" y="5734"/>
                    <a:pt x="1012" y="5560"/>
                    <a:pt x="1073" y="5325"/>
                  </a:cubicBezTo>
                  <a:lnTo>
                    <a:pt x="1775" y="5325"/>
                  </a:lnTo>
                  <a:lnTo>
                    <a:pt x="1775" y="3880"/>
                  </a:lnTo>
                  <a:cubicBezTo>
                    <a:pt x="1791" y="3881"/>
                    <a:pt x="1807" y="3882"/>
                    <a:pt x="1824" y="3882"/>
                  </a:cubicBezTo>
                  <a:lnTo>
                    <a:pt x="2458" y="3882"/>
                  </a:lnTo>
                  <a:lnTo>
                    <a:pt x="2458" y="5481"/>
                  </a:lnTo>
                  <a:cubicBezTo>
                    <a:pt x="2223" y="5542"/>
                    <a:pt x="2048" y="5754"/>
                    <a:pt x="2048" y="6008"/>
                  </a:cubicBezTo>
                  <a:cubicBezTo>
                    <a:pt x="2048" y="6309"/>
                    <a:pt x="2293" y="6554"/>
                    <a:pt x="2594" y="6554"/>
                  </a:cubicBezTo>
                  <a:cubicBezTo>
                    <a:pt x="2895" y="6554"/>
                    <a:pt x="3140" y="6309"/>
                    <a:pt x="3140" y="6008"/>
                  </a:cubicBezTo>
                  <a:cubicBezTo>
                    <a:pt x="3140" y="5754"/>
                    <a:pt x="2966" y="5542"/>
                    <a:pt x="2731" y="5481"/>
                  </a:cubicBezTo>
                  <a:lnTo>
                    <a:pt x="2731" y="3882"/>
                  </a:lnTo>
                  <a:lnTo>
                    <a:pt x="3823" y="3882"/>
                  </a:lnTo>
                  <a:lnTo>
                    <a:pt x="3823" y="5481"/>
                  </a:lnTo>
                  <a:cubicBezTo>
                    <a:pt x="3588" y="5542"/>
                    <a:pt x="3413" y="5754"/>
                    <a:pt x="3413" y="6008"/>
                  </a:cubicBezTo>
                  <a:cubicBezTo>
                    <a:pt x="3413" y="6309"/>
                    <a:pt x="3658" y="6554"/>
                    <a:pt x="3960" y="6554"/>
                  </a:cubicBezTo>
                  <a:cubicBezTo>
                    <a:pt x="4261" y="6554"/>
                    <a:pt x="4506" y="6309"/>
                    <a:pt x="4506" y="6008"/>
                  </a:cubicBezTo>
                  <a:cubicBezTo>
                    <a:pt x="4506" y="5754"/>
                    <a:pt x="4331" y="5542"/>
                    <a:pt x="4096" y="5481"/>
                  </a:cubicBezTo>
                  <a:lnTo>
                    <a:pt x="4096" y="3882"/>
                  </a:lnTo>
                  <a:lnTo>
                    <a:pt x="4730" y="3882"/>
                  </a:lnTo>
                  <a:cubicBezTo>
                    <a:pt x="4746" y="3882"/>
                    <a:pt x="4762" y="3881"/>
                    <a:pt x="4779" y="3880"/>
                  </a:cubicBezTo>
                  <a:lnTo>
                    <a:pt x="4779" y="5325"/>
                  </a:lnTo>
                  <a:lnTo>
                    <a:pt x="5481" y="5325"/>
                  </a:lnTo>
                  <a:cubicBezTo>
                    <a:pt x="5542" y="5560"/>
                    <a:pt x="5754" y="5734"/>
                    <a:pt x="6008" y="5734"/>
                  </a:cubicBezTo>
                  <a:cubicBezTo>
                    <a:pt x="6309" y="5734"/>
                    <a:pt x="6554" y="5489"/>
                    <a:pt x="6554" y="5188"/>
                  </a:cubicBezTo>
                  <a:cubicBezTo>
                    <a:pt x="6554" y="4887"/>
                    <a:pt x="6309" y="4642"/>
                    <a:pt x="6008" y="4642"/>
                  </a:cubicBezTo>
                  <a:close/>
                  <a:moveTo>
                    <a:pt x="546" y="5461"/>
                  </a:moveTo>
                  <a:cubicBezTo>
                    <a:pt x="396" y="5461"/>
                    <a:pt x="273" y="5339"/>
                    <a:pt x="273" y="5188"/>
                  </a:cubicBezTo>
                  <a:cubicBezTo>
                    <a:pt x="273" y="5038"/>
                    <a:pt x="396" y="4915"/>
                    <a:pt x="546" y="4915"/>
                  </a:cubicBezTo>
                  <a:cubicBezTo>
                    <a:pt x="697" y="4915"/>
                    <a:pt x="819" y="5038"/>
                    <a:pt x="819" y="5188"/>
                  </a:cubicBezTo>
                  <a:cubicBezTo>
                    <a:pt x="819" y="5339"/>
                    <a:pt x="697" y="5461"/>
                    <a:pt x="546" y="5461"/>
                  </a:cubicBezTo>
                  <a:close/>
                  <a:moveTo>
                    <a:pt x="2867" y="6008"/>
                  </a:moveTo>
                  <a:cubicBezTo>
                    <a:pt x="2867" y="6158"/>
                    <a:pt x="2745" y="6281"/>
                    <a:pt x="2594" y="6281"/>
                  </a:cubicBezTo>
                  <a:cubicBezTo>
                    <a:pt x="2444" y="6281"/>
                    <a:pt x="2321" y="6158"/>
                    <a:pt x="2321" y="6008"/>
                  </a:cubicBezTo>
                  <a:cubicBezTo>
                    <a:pt x="2321" y="5857"/>
                    <a:pt x="2444" y="5734"/>
                    <a:pt x="2594" y="5734"/>
                  </a:cubicBezTo>
                  <a:cubicBezTo>
                    <a:pt x="2745" y="5734"/>
                    <a:pt x="2867" y="5857"/>
                    <a:pt x="2867" y="6008"/>
                  </a:cubicBezTo>
                  <a:close/>
                  <a:moveTo>
                    <a:pt x="4233" y="6008"/>
                  </a:moveTo>
                  <a:cubicBezTo>
                    <a:pt x="4233" y="6158"/>
                    <a:pt x="4110" y="6281"/>
                    <a:pt x="3960" y="6281"/>
                  </a:cubicBezTo>
                  <a:cubicBezTo>
                    <a:pt x="3809" y="6281"/>
                    <a:pt x="3686" y="6158"/>
                    <a:pt x="3686" y="6008"/>
                  </a:cubicBezTo>
                  <a:cubicBezTo>
                    <a:pt x="3686" y="5857"/>
                    <a:pt x="3809" y="5734"/>
                    <a:pt x="3960" y="5734"/>
                  </a:cubicBezTo>
                  <a:cubicBezTo>
                    <a:pt x="4110" y="5734"/>
                    <a:pt x="4233" y="5857"/>
                    <a:pt x="4233" y="6008"/>
                  </a:cubicBezTo>
                  <a:close/>
                  <a:moveTo>
                    <a:pt x="4730" y="3609"/>
                  </a:moveTo>
                  <a:lnTo>
                    <a:pt x="1824" y="3609"/>
                  </a:lnTo>
                  <a:cubicBezTo>
                    <a:pt x="1242" y="3609"/>
                    <a:pt x="819" y="3240"/>
                    <a:pt x="819" y="2731"/>
                  </a:cubicBezTo>
                  <a:cubicBezTo>
                    <a:pt x="819" y="2390"/>
                    <a:pt x="1019" y="2077"/>
                    <a:pt x="1328" y="1934"/>
                  </a:cubicBezTo>
                  <a:lnTo>
                    <a:pt x="1432" y="1885"/>
                  </a:lnTo>
                  <a:lnTo>
                    <a:pt x="1402" y="1774"/>
                  </a:lnTo>
                  <a:cubicBezTo>
                    <a:pt x="1402" y="1772"/>
                    <a:pt x="1341" y="1538"/>
                    <a:pt x="1416" y="1358"/>
                  </a:cubicBezTo>
                  <a:cubicBezTo>
                    <a:pt x="1529" y="1087"/>
                    <a:pt x="1768" y="903"/>
                    <a:pt x="2039" y="877"/>
                  </a:cubicBezTo>
                  <a:cubicBezTo>
                    <a:pt x="2064" y="875"/>
                    <a:pt x="2088" y="874"/>
                    <a:pt x="2113" y="874"/>
                  </a:cubicBezTo>
                  <a:cubicBezTo>
                    <a:pt x="2335" y="874"/>
                    <a:pt x="2546" y="969"/>
                    <a:pt x="2688" y="1136"/>
                  </a:cubicBezTo>
                  <a:lnTo>
                    <a:pt x="2864" y="1345"/>
                  </a:lnTo>
                  <a:lnTo>
                    <a:pt x="2925" y="1078"/>
                  </a:lnTo>
                  <a:cubicBezTo>
                    <a:pt x="3031" y="611"/>
                    <a:pt x="3467" y="273"/>
                    <a:pt x="3964" y="273"/>
                  </a:cubicBezTo>
                  <a:cubicBezTo>
                    <a:pt x="3967" y="273"/>
                    <a:pt x="3969" y="273"/>
                    <a:pt x="3972" y="273"/>
                  </a:cubicBezTo>
                  <a:cubicBezTo>
                    <a:pt x="4520" y="277"/>
                    <a:pt x="4993" y="709"/>
                    <a:pt x="5025" y="1236"/>
                  </a:cubicBezTo>
                  <a:cubicBezTo>
                    <a:pt x="5036" y="1404"/>
                    <a:pt x="5012" y="1542"/>
                    <a:pt x="4948" y="1683"/>
                  </a:cubicBezTo>
                  <a:lnTo>
                    <a:pt x="4879" y="1836"/>
                  </a:lnTo>
                  <a:lnTo>
                    <a:pt x="5044" y="1872"/>
                  </a:lnTo>
                  <a:cubicBezTo>
                    <a:pt x="5444" y="1959"/>
                    <a:pt x="5734" y="2320"/>
                    <a:pt x="5734" y="2731"/>
                  </a:cubicBezTo>
                  <a:cubicBezTo>
                    <a:pt x="5734" y="3248"/>
                    <a:pt x="5321" y="3609"/>
                    <a:pt x="4730" y="3609"/>
                  </a:cubicBezTo>
                  <a:close/>
                  <a:moveTo>
                    <a:pt x="6008" y="5461"/>
                  </a:moveTo>
                  <a:cubicBezTo>
                    <a:pt x="5857" y="5461"/>
                    <a:pt x="5734" y="5339"/>
                    <a:pt x="5734" y="5188"/>
                  </a:cubicBezTo>
                  <a:cubicBezTo>
                    <a:pt x="5734" y="5038"/>
                    <a:pt x="5857" y="4915"/>
                    <a:pt x="6008" y="4915"/>
                  </a:cubicBezTo>
                  <a:cubicBezTo>
                    <a:pt x="6158" y="4915"/>
                    <a:pt x="6281" y="5038"/>
                    <a:pt x="6281" y="5188"/>
                  </a:cubicBezTo>
                  <a:cubicBezTo>
                    <a:pt x="6281" y="5339"/>
                    <a:pt x="6158" y="5461"/>
                    <a:pt x="6008" y="5461"/>
                  </a:cubicBezTo>
                  <a:close/>
                </a:path>
              </a:pathLst>
            </a:custGeom>
            <a:solidFill>
              <a:schemeClr val="bg1"/>
            </a:solidFill>
            <a:ln>
              <a:noFill/>
            </a:ln>
          </p:spPr>
        </p:sp>
        <p:sp>
          <p:nvSpPr>
            <p:cNvPr id="16" name="矩形 15"/>
            <p:cNvSpPr/>
            <p:nvPr>
              <p:custDataLst>
                <p:tags r:id="rId2"/>
              </p:custDataLst>
            </p:nvPr>
          </p:nvSpPr>
          <p:spPr>
            <a:xfrm>
              <a:off x="688260" y="1587317"/>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8" name="文本框 17"/>
            <p:cNvSpPr txBox="1"/>
            <p:nvPr/>
          </p:nvSpPr>
          <p:spPr>
            <a:xfrm>
              <a:off x="935686" y="1624904"/>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具体工作</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1111971" y="2461046"/>
              <a:ext cx="3106258" cy="3268640"/>
              <a:chOff x="1111971" y="2549535"/>
              <a:chExt cx="3106258" cy="3268640"/>
            </a:xfrm>
          </p:grpSpPr>
          <p:grpSp>
            <p:nvGrpSpPr>
              <p:cNvPr id="20" name="组合 19"/>
              <p:cNvGrpSpPr/>
              <p:nvPr/>
            </p:nvGrpSpPr>
            <p:grpSpPr>
              <a:xfrm>
                <a:off x="1111971" y="2549535"/>
                <a:ext cx="3106258" cy="3268640"/>
                <a:chOff x="1250760" y="2655532"/>
                <a:chExt cx="3106258" cy="3268640"/>
              </a:xfrm>
            </p:grpSpPr>
            <p:sp>
              <p:nvSpPr>
                <p:cNvPr id="23" name="文本框 22"/>
                <p:cNvSpPr txBox="1"/>
                <p:nvPr>
                  <p:custDataLst>
                    <p:tags r:id="rId3"/>
                  </p:custDataLst>
                </p:nvPr>
              </p:nvSpPr>
              <p:spPr>
                <a:xfrm>
                  <a:off x="1689466" y="2658867"/>
                  <a:ext cx="2667552" cy="379954"/>
                </a:xfrm>
                <a:prstGeom prst="rect">
                  <a:avLst/>
                </a:prstGeom>
                <a:noFill/>
              </p:spPr>
              <p:txBody>
                <a:bodyPr wrap="square" rtlCol="0">
                  <a:noAutofit/>
                </a:bodyPr>
                <a:lstStyle/>
                <a:p>
                  <a:pPr>
                    <a:buSzPct val="100000"/>
                  </a:pPr>
                  <a:r>
                    <a:rPr lang="zh-CN" altLang="en-US" sz="1600" b="1" spc="80" dirty="0">
                      <a:latin typeface="Arial" panose="020B0604020202020204" pitchFamily="34" charset="0"/>
                      <a:ea typeface="微软雅黑" panose="020B0503020204020204" pitchFamily="34" charset="-122"/>
                    </a:rPr>
                    <a:t>搭建创新资源集聚平台</a:t>
                  </a:r>
                  <a:endParaRPr lang="zh-CN" altLang="en-US" sz="1600" b="1" spc="80" dirty="0">
                    <a:latin typeface="Arial" panose="020B0604020202020204" pitchFamily="34" charset="0"/>
                    <a:ea typeface="微软雅黑" panose="020B0503020204020204" pitchFamily="34" charset="-122"/>
                  </a:endParaRPr>
                </a:p>
                <a:p>
                  <a:pPr>
                    <a:buSzPct val="100000"/>
                  </a:pPr>
                  <a:endParaRPr lang="zh-CN" altLang="zh-CN" sz="1600" b="1" spc="80" dirty="0">
                    <a:latin typeface="Arial" panose="020B0604020202020204" pitchFamily="34" charset="0"/>
                    <a:ea typeface="微软雅黑" panose="020B0503020204020204" pitchFamily="34" charset="-122"/>
                  </a:endParaRPr>
                </a:p>
              </p:txBody>
            </p:sp>
            <p:grpSp>
              <p:nvGrpSpPr>
                <p:cNvPr id="24" name="组合 23"/>
                <p:cNvGrpSpPr/>
                <p:nvPr/>
              </p:nvGrpSpPr>
              <p:grpSpPr>
                <a:xfrm>
                  <a:off x="1318463" y="2655532"/>
                  <a:ext cx="339665" cy="339665"/>
                  <a:chOff x="504698" y="2554152"/>
                  <a:chExt cx="339665" cy="339665"/>
                </a:xfrm>
              </p:grpSpPr>
              <p:sp>
                <p:nvSpPr>
                  <p:cNvPr id="26" name="椭圆 25"/>
                  <p:cNvSpPr/>
                  <p:nvPr>
                    <p:custDataLst>
                      <p:tags r:id="rId4"/>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27" name="icon"/>
                  <p:cNvSpPr/>
                  <p:nvPr>
                    <p:custDataLst>
                      <p:tags r:id="rId5"/>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25" name="矩形 24"/>
                <p:cNvSpPr/>
                <p:nvPr/>
              </p:nvSpPr>
              <p:spPr>
                <a:xfrm>
                  <a:off x="1250760" y="3461959"/>
                  <a:ext cx="3106258" cy="2462213"/>
                </a:xfrm>
                <a:prstGeom prst="rect">
                  <a:avLst/>
                </a:prstGeom>
              </p:spPr>
              <p:txBody>
                <a:bodyPr wrap="square">
                  <a:spAutoFit/>
                </a:bodyPr>
                <a:lstStyle/>
                <a:p>
                  <a:pPr algn="just"/>
                  <a:r>
                    <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rPr>
                    <a:t>采用数据调研、数据抓取、数据积累等方式，多途径构建科技创新资源集聚能力关联通道，打通省市县数据采集体系，统筹各类统计调查数据和业务管理数据，建设科技指标数据库、科技项目数据库、创新型省份监测</a:t>
                  </a:r>
                  <a:r>
                    <a:rPr lang="zh-CN" altLang="en-US" sz="1400" spc="100" dirty="0" smtClean="0">
                      <a:solidFill>
                        <a:schemeClr val="tx1">
                          <a:lumMod val="85000"/>
                          <a:lumOff val="15000"/>
                        </a:schemeClr>
                      </a:solidFill>
                      <a:latin typeface="Arial" panose="020B0604020202020204" pitchFamily="34" charset="0"/>
                      <a:ea typeface="微软雅黑" panose="020B0503020204020204" pitchFamily="34" charset="-122"/>
                    </a:rPr>
                    <a:t>数据库、科技成果信息库等</a:t>
                  </a:r>
                  <a:r>
                    <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rPr>
                    <a:t>，实现科技资源、科技数据、科技服务、科技管理等方面的互联互通和开放共享。</a:t>
                  </a:r>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a:p>
                  <a:pPr algn="just"/>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21" name="直线连接符 20"/>
              <p:cNvCxnSpPr/>
              <p:nvPr/>
            </p:nvCxnSpPr>
            <p:spPr>
              <a:xfrm>
                <a:off x="1179674" y="3151385"/>
                <a:ext cx="2552696"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28" name="组合 27"/>
            <p:cNvGrpSpPr/>
            <p:nvPr/>
          </p:nvGrpSpPr>
          <p:grpSpPr>
            <a:xfrm>
              <a:off x="4449930" y="2441521"/>
              <a:ext cx="3105300" cy="2892280"/>
              <a:chOff x="4043827" y="2441521"/>
              <a:chExt cx="3105300" cy="2892280"/>
            </a:xfrm>
          </p:grpSpPr>
          <p:grpSp>
            <p:nvGrpSpPr>
              <p:cNvPr id="29" name="组合 28"/>
              <p:cNvGrpSpPr/>
              <p:nvPr/>
            </p:nvGrpSpPr>
            <p:grpSpPr>
              <a:xfrm>
                <a:off x="4043827" y="2441521"/>
                <a:ext cx="3105300" cy="2892280"/>
                <a:chOff x="1045020" y="2636007"/>
                <a:chExt cx="3105300" cy="2892280"/>
              </a:xfrm>
            </p:grpSpPr>
            <p:sp>
              <p:nvSpPr>
                <p:cNvPr id="31" name="文本框 30"/>
                <p:cNvSpPr txBox="1"/>
                <p:nvPr>
                  <p:custDataLst>
                    <p:tags r:id="rId6"/>
                  </p:custDataLst>
                </p:nvPr>
              </p:nvSpPr>
              <p:spPr>
                <a:xfrm>
                  <a:off x="1529446" y="2636007"/>
                  <a:ext cx="2620874" cy="379954"/>
                </a:xfrm>
                <a:prstGeom prst="rect">
                  <a:avLst/>
                </a:prstGeom>
                <a:noFill/>
              </p:spPr>
              <p:txBody>
                <a:bodyPr wrap="square" rtlCol="0">
                  <a:noAutofit/>
                </a:bodyPr>
                <a:lstStyle/>
                <a:p>
                  <a:pPr>
                    <a:buSzPct val="100000"/>
                  </a:pPr>
                  <a:r>
                    <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rPr>
                    <a:t>构建智能化辅助决策系统</a:t>
                  </a:r>
                  <a:endPar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a:p>
                  <a:pPr>
                    <a:buSzPct val="100000"/>
                  </a:pPr>
                  <a:endParaRPr lang="zh-CN" altLang="zh-CN" sz="1600" b="1" spc="80" dirty="0">
                    <a:latin typeface="Arial" panose="020B0604020202020204" pitchFamily="34" charset="0"/>
                    <a:ea typeface="微软雅黑" panose="020B0503020204020204" pitchFamily="34" charset="-122"/>
                  </a:endParaRPr>
                </a:p>
              </p:txBody>
            </p:sp>
            <p:grpSp>
              <p:nvGrpSpPr>
                <p:cNvPr id="32" name="组合 31"/>
                <p:cNvGrpSpPr/>
                <p:nvPr/>
              </p:nvGrpSpPr>
              <p:grpSpPr>
                <a:xfrm>
                  <a:off x="1215593" y="2655532"/>
                  <a:ext cx="339665" cy="339665"/>
                  <a:chOff x="401828" y="2554152"/>
                  <a:chExt cx="339665" cy="339665"/>
                </a:xfrm>
              </p:grpSpPr>
              <p:sp>
                <p:nvSpPr>
                  <p:cNvPr id="34" name="椭圆 33"/>
                  <p:cNvSpPr/>
                  <p:nvPr>
                    <p:custDataLst>
                      <p:tags r:id="rId7"/>
                    </p:custDataLst>
                  </p:nvPr>
                </p:nvSpPr>
                <p:spPr>
                  <a:xfrm>
                    <a:off x="40182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35" name="icon"/>
                  <p:cNvSpPr/>
                  <p:nvPr>
                    <p:custDataLst>
                      <p:tags r:id="rId8"/>
                    </p:custDataLst>
                  </p:nvPr>
                </p:nvSpPr>
                <p:spPr bwMode="auto">
                  <a:xfrm>
                    <a:off x="477131" y="265979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33" name="矩形 32"/>
                <p:cNvSpPr/>
                <p:nvPr/>
              </p:nvSpPr>
              <p:spPr>
                <a:xfrm>
                  <a:off x="1045020" y="3496962"/>
                  <a:ext cx="3094314" cy="2031325"/>
                </a:xfrm>
                <a:prstGeom prst="rect">
                  <a:avLst/>
                </a:prstGeom>
              </p:spPr>
              <p:txBody>
                <a:bodyPr wrap="square">
                  <a:spAutoFit/>
                </a:bodyPr>
                <a:lstStyle/>
                <a:p>
                  <a:pPr algn="just"/>
                  <a:r>
                    <a:rPr lang="zh-CN" altLang="en-US" sz="1400" spc="90" dirty="0">
                      <a:solidFill>
                        <a:schemeClr val="tx1">
                          <a:lumMod val="85000"/>
                          <a:lumOff val="15000"/>
                        </a:schemeClr>
                      </a:solidFill>
                      <a:latin typeface="+mj-ea"/>
                      <a:ea typeface="+mj-ea"/>
                    </a:rPr>
                    <a:t>依托创新资源集聚平台，围绕项目、平台、人才、资金等科技创新资源要素，构建深度学习模型，开展智能辅助分析系统开发，强化科技产业与经济运行自动化监测评价分析，形成以科技为引领的全要素画像，打造科技</a:t>
                  </a:r>
                  <a:r>
                    <a:rPr lang="zh-CN" altLang="en-US" sz="1400" spc="90" dirty="0" smtClean="0">
                      <a:solidFill>
                        <a:schemeClr val="tx1">
                          <a:lumMod val="85000"/>
                          <a:lumOff val="15000"/>
                        </a:schemeClr>
                      </a:solidFill>
                      <a:latin typeface="+mj-ea"/>
                      <a:ea typeface="+mj-ea"/>
                    </a:rPr>
                    <a:t>版</a:t>
                  </a:r>
                  <a:r>
                    <a:rPr lang="en-US" altLang="zh-CN" sz="1400" spc="90" dirty="0" err="1" smtClean="0">
                      <a:solidFill>
                        <a:schemeClr val="tx1">
                          <a:lumMod val="85000"/>
                          <a:lumOff val="15000"/>
                        </a:schemeClr>
                      </a:solidFill>
                      <a:latin typeface="+mj-ea"/>
                      <a:ea typeface="+mj-ea"/>
                    </a:rPr>
                    <a:t>deepseek</a:t>
                  </a:r>
                  <a:r>
                    <a:rPr lang="en-US" altLang="zh-CN" sz="1400" spc="90" dirty="0" smtClean="0">
                      <a:solidFill>
                        <a:schemeClr val="tx1">
                          <a:lumMod val="85000"/>
                          <a:lumOff val="15000"/>
                        </a:schemeClr>
                      </a:solidFill>
                      <a:latin typeface="+mj-ea"/>
                      <a:ea typeface="+mj-ea"/>
                    </a:rPr>
                    <a:t>,</a:t>
                  </a:r>
                  <a:r>
                    <a:rPr lang="zh-CN" altLang="en-US" sz="1400" spc="90" dirty="0">
                      <a:solidFill>
                        <a:schemeClr val="tx1">
                          <a:lumMod val="85000"/>
                          <a:lumOff val="15000"/>
                        </a:schemeClr>
                      </a:solidFill>
                      <a:latin typeface="+mj-ea"/>
                      <a:ea typeface="+mj-ea"/>
                    </a:rPr>
                    <a:t>为</a:t>
                  </a:r>
                  <a:r>
                    <a:rPr lang="zh-CN" altLang="en-US" sz="1400" spc="90" dirty="0" smtClean="0">
                      <a:solidFill>
                        <a:schemeClr val="tx1">
                          <a:lumMod val="85000"/>
                          <a:lumOff val="15000"/>
                        </a:schemeClr>
                      </a:solidFill>
                      <a:latin typeface="+mj-ea"/>
                      <a:ea typeface="+mj-ea"/>
                    </a:rPr>
                    <a:t>科技咨询决策</a:t>
                  </a:r>
                  <a:r>
                    <a:rPr lang="zh-CN" altLang="en-US" sz="1400" spc="90" dirty="0">
                      <a:solidFill>
                        <a:schemeClr val="tx1">
                          <a:lumMod val="85000"/>
                          <a:lumOff val="15000"/>
                        </a:schemeClr>
                      </a:solidFill>
                      <a:latin typeface="+mj-ea"/>
                      <a:ea typeface="+mj-ea"/>
                    </a:rPr>
                    <a:t>提供支撑。</a:t>
                  </a:r>
                  <a:endParaRPr lang="zh-CN" altLang="en-US" sz="1400" spc="90" dirty="0">
                    <a:solidFill>
                      <a:schemeClr val="tx1">
                        <a:lumMod val="85000"/>
                        <a:lumOff val="15000"/>
                      </a:schemeClr>
                    </a:solidFill>
                    <a:latin typeface="+mj-ea"/>
                    <a:ea typeface="+mj-ea"/>
                  </a:endParaRPr>
                </a:p>
                <a:p>
                  <a:pPr algn="just"/>
                  <a:endParaRPr lang="zh-CN" altLang="en-US" sz="1400" spc="100" dirty="0">
                    <a:solidFill>
                      <a:schemeClr val="tx1">
                        <a:lumMod val="85000"/>
                        <a:lumOff val="15000"/>
                      </a:schemeClr>
                    </a:solidFill>
                    <a:latin typeface="+mj-ea"/>
                    <a:ea typeface="+mj-ea"/>
                  </a:endParaRPr>
                </a:p>
              </p:txBody>
            </p:sp>
          </p:grpSp>
          <p:cxnSp>
            <p:nvCxnSpPr>
              <p:cNvPr id="30" name="直线连接符 29"/>
              <p:cNvCxnSpPr/>
              <p:nvPr/>
            </p:nvCxnSpPr>
            <p:spPr>
              <a:xfrm flipV="1">
                <a:off x="4157250" y="3051810"/>
                <a:ext cx="2854717" cy="22516"/>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7929053" y="2461046"/>
              <a:ext cx="3500947" cy="2645882"/>
              <a:chOff x="4272550" y="2461046"/>
              <a:chExt cx="3500947" cy="2645882"/>
            </a:xfrm>
          </p:grpSpPr>
          <p:grpSp>
            <p:nvGrpSpPr>
              <p:cNvPr id="37" name="组合 36"/>
              <p:cNvGrpSpPr/>
              <p:nvPr/>
            </p:nvGrpSpPr>
            <p:grpSpPr>
              <a:xfrm>
                <a:off x="4272550" y="2461046"/>
                <a:ext cx="3500947" cy="2645882"/>
                <a:chOff x="1273743" y="2655532"/>
                <a:chExt cx="3500947" cy="2645882"/>
              </a:xfrm>
            </p:grpSpPr>
            <p:sp>
              <p:nvSpPr>
                <p:cNvPr id="41" name="文本框 40"/>
                <p:cNvSpPr txBox="1"/>
                <p:nvPr>
                  <p:custDataLst>
                    <p:tags r:id="rId9"/>
                  </p:custDataLst>
                </p:nvPr>
              </p:nvSpPr>
              <p:spPr>
                <a:xfrm>
                  <a:off x="1689466" y="2658867"/>
                  <a:ext cx="3085224" cy="379954"/>
                </a:xfrm>
                <a:prstGeom prst="rect">
                  <a:avLst/>
                </a:prstGeom>
                <a:noFill/>
              </p:spPr>
              <p:txBody>
                <a:bodyPr wrap="square" rtlCol="0">
                  <a:noAutofit/>
                </a:bodyPr>
                <a:lstStyle/>
                <a:p>
                  <a:pPr>
                    <a:buSzPct val="100000"/>
                  </a:pPr>
                  <a:r>
                    <a:rPr lang="zh-CN" altLang="en-US" sz="1600" b="1" spc="110" dirty="0">
                      <a:solidFill>
                        <a:schemeClr val="tx1"/>
                      </a:solidFill>
                      <a:latin typeface="微软雅黑" panose="020B0503020204020204" pitchFamily="34" charset="-122"/>
                      <a:ea typeface="微软雅黑" panose="020B0503020204020204" pitchFamily="34" charset="-122"/>
                      <a:sym typeface="+mn-ea"/>
                    </a:rPr>
                    <a:t>实现科研活动全</a:t>
                  </a:r>
                  <a:r>
                    <a:rPr lang="zh-CN" altLang="en-US" sz="1600" b="1" spc="110" dirty="0" smtClean="0">
                      <a:solidFill>
                        <a:schemeClr val="tx1"/>
                      </a:solidFill>
                      <a:latin typeface="微软雅黑" panose="020B0503020204020204" pitchFamily="34" charset="-122"/>
                      <a:ea typeface="微软雅黑" panose="020B0503020204020204" pitchFamily="34" charset="-122"/>
                      <a:sym typeface="+mn-ea"/>
                    </a:rPr>
                    <a:t>生命周期</a:t>
                  </a:r>
                  <a:endParaRPr lang="en-US" altLang="zh-CN" sz="1600" b="1" spc="110" dirty="0" smtClean="0">
                    <a:solidFill>
                      <a:schemeClr val="tx1"/>
                    </a:solidFill>
                    <a:latin typeface="微软雅黑" panose="020B0503020204020204" pitchFamily="34" charset="-122"/>
                    <a:ea typeface="微软雅黑" panose="020B0503020204020204" pitchFamily="34" charset="-122"/>
                    <a:sym typeface="+mn-ea"/>
                  </a:endParaRPr>
                </a:p>
                <a:p>
                  <a:pPr>
                    <a:buSzPct val="100000"/>
                  </a:pPr>
                  <a:r>
                    <a:rPr lang="zh-CN" altLang="en-US" sz="1600" b="1" spc="110" dirty="0" smtClean="0">
                      <a:solidFill>
                        <a:schemeClr val="tx1"/>
                      </a:solidFill>
                      <a:latin typeface="微软雅黑" panose="020B0503020204020204" pitchFamily="34" charset="-122"/>
                      <a:ea typeface="微软雅黑" panose="020B0503020204020204" pitchFamily="34" charset="-122"/>
                      <a:sym typeface="+mn-ea"/>
                    </a:rPr>
                    <a:t>管理</a:t>
                  </a:r>
                  <a:endParaRPr lang="zh-CN" altLang="en-US" sz="1600" b="1" spc="110" dirty="0">
                    <a:solidFill>
                      <a:schemeClr val="tx1"/>
                    </a:solidFill>
                    <a:latin typeface="微软雅黑" panose="020B0503020204020204" pitchFamily="34" charset="-122"/>
                    <a:ea typeface="微软雅黑" panose="020B0503020204020204" pitchFamily="34" charset="-122"/>
                    <a:sym typeface="+mn-ea"/>
                  </a:endParaRPr>
                </a:p>
                <a:p>
                  <a:pPr>
                    <a:buSzPct val="100000"/>
                  </a:pPr>
                  <a:endParaRPr lang="zh-CN" altLang="en-US"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42" name="组合 41"/>
                <p:cNvGrpSpPr/>
                <p:nvPr/>
              </p:nvGrpSpPr>
              <p:grpSpPr>
                <a:xfrm>
                  <a:off x="1318463" y="2655532"/>
                  <a:ext cx="339665" cy="339665"/>
                  <a:chOff x="504698" y="2554152"/>
                  <a:chExt cx="339665" cy="339665"/>
                </a:xfrm>
              </p:grpSpPr>
              <p:sp>
                <p:nvSpPr>
                  <p:cNvPr id="45" name="椭圆 44"/>
                  <p:cNvSpPr/>
                  <p:nvPr>
                    <p:custDataLst>
                      <p:tags r:id="rId10"/>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46" name="icon"/>
                  <p:cNvSpPr/>
                  <p:nvPr>
                    <p:custDataLst>
                      <p:tags r:id="rId11"/>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44" name="矩形 43"/>
                <p:cNvSpPr/>
                <p:nvPr/>
              </p:nvSpPr>
              <p:spPr>
                <a:xfrm>
                  <a:off x="1273743" y="3485532"/>
                  <a:ext cx="2928480" cy="1815882"/>
                </a:xfrm>
                <a:prstGeom prst="rect">
                  <a:avLst/>
                </a:prstGeom>
              </p:spPr>
              <p:txBody>
                <a:bodyPr wrap="square">
                  <a:spAutoFit/>
                </a:bodyPr>
                <a:lstStyle/>
                <a:p>
                  <a:pPr algn="just"/>
                  <a:r>
                    <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rPr>
                    <a:t>开发科研活动全过程管理服务系统，无缝对接“科技云平台”各类系统业务数据，实现全流程服务，以信息化支撑过程管理、绩效评价和风险防控，持续跟踪数据归集，将信息逐级结构化，并提供统计分析等功能。</a:t>
                  </a:r>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a:p>
                  <a:pPr algn="just"/>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38" name="直线连接符 37"/>
              <p:cNvCxnSpPr/>
              <p:nvPr/>
            </p:nvCxnSpPr>
            <p:spPr>
              <a:xfrm>
                <a:off x="4317270" y="3062896"/>
                <a:ext cx="2665852"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spTree>
    <p:custDataLst>
      <p:tags r:id="rId12"/>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98087" y="1918490"/>
            <a:ext cx="10558241" cy="2845382"/>
            <a:chOff x="598087" y="1758563"/>
            <a:chExt cx="10558241" cy="2845382"/>
          </a:xfrm>
        </p:grpSpPr>
        <p:grpSp>
          <p:nvGrpSpPr>
            <p:cNvPr id="6" name="组合 5"/>
            <p:cNvGrpSpPr/>
            <p:nvPr/>
          </p:nvGrpSpPr>
          <p:grpSpPr>
            <a:xfrm>
              <a:off x="598087" y="2138780"/>
              <a:ext cx="10558241" cy="2465165"/>
              <a:chOff x="486749" y="1685475"/>
              <a:chExt cx="10558241" cy="2465165"/>
            </a:xfrm>
          </p:grpSpPr>
          <p:grpSp>
            <p:nvGrpSpPr>
              <p:cNvPr id="8" name="组合 7"/>
              <p:cNvGrpSpPr/>
              <p:nvPr/>
            </p:nvGrpSpPr>
            <p:grpSpPr>
              <a:xfrm>
                <a:off x="486749" y="1685475"/>
                <a:ext cx="10558241" cy="2465165"/>
                <a:chOff x="486749" y="1685475"/>
                <a:chExt cx="10558241" cy="2465165"/>
              </a:xfrm>
            </p:grpSpPr>
            <p:sp>
              <p:nvSpPr>
                <p:cNvPr id="10" name="矩形 9"/>
                <p:cNvSpPr/>
                <p:nvPr/>
              </p:nvSpPr>
              <p:spPr>
                <a:xfrm>
                  <a:off x="486749" y="1685476"/>
                  <a:ext cx="10558241" cy="2465164"/>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1" name="矩形 10"/>
                <p:cNvSpPr/>
                <p:nvPr>
                  <p:custDataLst>
                    <p:tags r:id="rId1"/>
                  </p:custDataLst>
                </p:nvPr>
              </p:nvSpPr>
              <p:spPr>
                <a:xfrm>
                  <a:off x="487203"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2" name="文本框 11"/>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建设目标</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9" name="矩形 8"/>
              <p:cNvSpPr/>
              <p:nvPr/>
            </p:nvSpPr>
            <p:spPr>
              <a:xfrm>
                <a:off x="924334" y="2388571"/>
                <a:ext cx="5060327" cy="1384995"/>
              </a:xfrm>
              <a:prstGeom prst="rect">
                <a:avLst/>
              </a:prstGeom>
            </p:spPr>
            <p:txBody>
              <a:bodyPr wrap="square">
                <a:spAutoFit/>
              </a:bodyPr>
              <a:lstStyle/>
              <a:p>
                <a:pPr indent="0" algn="just" fontAlgn="auto">
                  <a:lnSpc>
                    <a:spcPct val="150000"/>
                  </a:lnSpc>
                </a:pPr>
                <a:r>
                  <a:rPr lang="zh-CN" altLang="en-US" sz="1400" kern="100" dirty="0" smtClean="0">
                    <a:latin typeface="+mn-ea"/>
                    <a:cs typeface="Times New Roman" panose="02020603050405020304" pitchFamily="18" charset="0"/>
                  </a:rPr>
                  <a:t>     立足</a:t>
                </a:r>
                <a:r>
                  <a:rPr lang="zh-CN" altLang="en-US" sz="1400" kern="100" dirty="0">
                    <a:latin typeface="+mn-ea"/>
                    <a:cs typeface="Times New Roman" panose="02020603050405020304" pitchFamily="18" charset="0"/>
                  </a:rPr>
                  <a:t>传统产业转型升级、战略新兴产业培育和未来产业布局，突出产业共性技术、前瞻性技术攻关和有效供给</a:t>
                </a:r>
                <a:r>
                  <a:rPr lang="zh-CN" altLang="en-US" sz="1400" kern="100" dirty="0" smtClean="0">
                    <a:latin typeface="+mn-ea"/>
                    <a:cs typeface="Times New Roman" panose="02020603050405020304" pitchFamily="18" charset="0"/>
                  </a:rPr>
                  <a:t>，有重点的解决</a:t>
                </a:r>
                <a:r>
                  <a:rPr lang="zh-CN" altLang="en-US" sz="1400" kern="100" dirty="0">
                    <a:latin typeface="+mn-ea"/>
                    <a:cs typeface="Times New Roman" panose="02020603050405020304" pitchFamily="18" charset="0"/>
                  </a:rPr>
                  <a:t>产业所需、行业所急、企业所盼的前瞻性或共性技术难题</a:t>
                </a:r>
                <a:r>
                  <a:rPr lang="zh-CN" altLang="zh-CN" sz="1400" kern="100" dirty="0">
                    <a:solidFill>
                      <a:schemeClr val="tx1"/>
                    </a:solidFill>
                    <a:latin typeface="+mn-ea"/>
                    <a:cs typeface="Times New Roman" panose="02020603050405020304" pitchFamily="18" charset="0"/>
                  </a:rPr>
                  <a:t>。</a:t>
                </a:r>
                <a:endParaRPr lang="zh-CN" altLang="en-US" sz="1400" kern="100" dirty="0">
                  <a:latin typeface="+mn-ea"/>
                  <a:cs typeface="Times New Roman" panose="02020603050405020304" pitchFamily="18" charset="0"/>
                </a:endParaRPr>
              </a:p>
            </p:txBody>
          </p:sp>
        </p:gr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8664" y="1758563"/>
              <a:ext cx="4694879" cy="2845381"/>
            </a:xfrm>
            <a:prstGeom prst="rect">
              <a:avLst/>
            </a:prstGeom>
          </p:spPr>
        </p:pic>
      </p:grpSp>
      <p:grpSp>
        <p:nvGrpSpPr>
          <p:cNvPr id="13" name="组合 12"/>
          <p:cNvGrpSpPr/>
          <p:nvPr/>
        </p:nvGrpSpPr>
        <p:grpSpPr>
          <a:xfrm>
            <a:off x="706077" y="66507"/>
            <a:ext cx="5891573" cy="836188"/>
            <a:chOff x="706077" y="66507"/>
            <a:chExt cx="5891573" cy="836188"/>
          </a:xfrm>
        </p:grpSpPr>
        <p:sp>
          <p:nvSpPr>
            <p:cNvPr id="1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打造公共技术服务体系</a:t>
              </a:r>
              <a:endParaRPr lang="zh-CN" altLang="en-US" dirty="0">
                <a:solidFill>
                  <a:schemeClr val="accent3">
                    <a:lumMod val="75000"/>
                  </a:schemeClr>
                </a:solidFill>
              </a:endParaRPr>
            </a:p>
          </p:txBody>
        </p:sp>
        <p:sp>
          <p:nvSpPr>
            <p:cNvPr id="15" name="文本框 1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4.4</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703007" y="1929806"/>
            <a:ext cx="10558241" cy="3468104"/>
            <a:chOff x="703007" y="1929806"/>
            <a:chExt cx="10558241" cy="3468104"/>
          </a:xfrm>
        </p:grpSpPr>
        <p:grpSp>
          <p:nvGrpSpPr>
            <p:cNvPr id="13" name="组合 12"/>
            <p:cNvGrpSpPr/>
            <p:nvPr/>
          </p:nvGrpSpPr>
          <p:grpSpPr>
            <a:xfrm>
              <a:off x="703007" y="1929806"/>
              <a:ext cx="10558241" cy="3468104"/>
              <a:chOff x="591669" y="1685475"/>
              <a:chExt cx="10558241" cy="3468104"/>
            </a:xfrm>
          </p:grpSpPr>
          <p:grpSp>
            <p:nvGrpSpPr>
              <p:cNvPr id="23" name="组合 22"/>
              <p:cNvGrpSpPr/>
              <p:nvPr/>
            </p:nvGrpSpPr>
            <p:grpSpPr>
              <a:xfrm>
                <a:off x="591669" y="1685475"/>
                <a:ext cx="10558241" cy="3468104"/>
                <a:chOff x="591669" y="1685475"/>
                <a:chExt cx="10558241" cy="3468104"/>
              </a:xfrm>
            </p:grpSpPr>
            <p:sp>
              <p:nvSpPr>
                <p:cNvPr id="25" name="矩形 24"/>
                <p:cNvSpPr/>
                <p:nvPr/>
              </p:nvSpPr>
              <p:spPr>
                <a:xfrm>
                  <a:off x="591669" y="1689522"/>
                  <a:ext cx="10558241" cy="3464057"/>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26" name="矩形 25"/>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27" name="文本框 26"/>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建设内容</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24" name="矩形 23"/>
              <p:cNvSpPr/>
              <p:nvPr/>
            </p:nvSpPr>
            <p:spPr>
              <a:xfrm>
                <a:off x="924334" y="2388571"/>
                <a:ext cx="9745399" cy="738664"/>
              </a:xfrm>
              <a:prstGeom prst="rect">
                <a:avLst/>
              </a:prstGeom>
            </p:spPr>
            <p:txBody>
              <a:bodyPr wrap="square">
                <a:spAutoFit/>
              </a:bodyPr>
              <a:lstStyle/>
              <a:p>
                <a:pPr indent="0" algn="just" fontAlgn="auto">
                  <a:lnSpc>
                    <a:spcPct val="150000"/>
                  </a:lnSpc>
                </a:pPr>
                <a:r>
                  <a:rPr lang="zh-CN" altLang="en-US" sz="1400" kern="100" dirty="0" smtClean="0">
                    <a:latin typeface="+mn-ea"/>
                    <a:cs typeface="Times New Roman" panose="02020603050405020304" pitchFamily="18" charset="0"/>
                  </a:rPr>
                  <a:t>      围绕重点发展方向</a:t>
                </a:r>
                <a:r>
                  <a:rPr lang="zh-CN" altLang="en-US" sz="1400" kern="100" dirty="0">
                    <a:latin typeface="+mn-ea"/>
                    <a:cs typeface="Times New Roman" panose="02020603050405020304" pitchFamily="18" charset="0"/>
                  </a:rPr>
                  <a:t>，服务产业需求，</a:t>
                </a:r>
                <a:r>
                  <a:rPr lang="zh-CN" altLang="en-US" sz="1400" kern="100" dirty="0">
                    <a:latin typeface="+mn-ea"/>
                    <a:cs typeface="Times New Roman" panose="02020603050405020304" pitchFamily="18" charset="0"/>
                    <a:sym typeface="+mn-ea"/>
                  </a:rPr>
                  <a:t>统筹思考，顶层设计，</a:t>
                </a:r>
                <a:r>
                  <a:rPr lang="zh-CN" altLang="en-US" sz="1400" kern="100" dirty="0">
                    <a:latin typeface="+mn-ea"/>
                    <a:cs typeface="Times New Roman" panose="02020603050405020304" pitchFamily="18" charset="0"/>
                  </a:rPr>
                  <a:t>以项目为牵引，打造高能级公共研发服务平台，引育建设新型研发机构和第三方专业服务机构，建立专业化服务体系，开展</a:t>
                </a:r>
                <a:r>
                  <a:rPr lang="zh-CN" altLang="zh-CN" sz="1400" kern="100" dirty="0">
                    <a:latin typeface="+mn-ea"/>
                    <a:cs typeface="Times New Roman" panose="02020603050405020304" pitchFamily="18" charset="0"/>
                  </a:rPr>
                  <a:t>创新生态</a:t>
                </a:r>
                <a:r>
                  <a:rPr lang="zh-CN" altLang="en-US" sz="1400" kern="100" dirty="0">
                    <a:latin typeface="+mn-ea"/>
                    <a:cs typeface="Times New Roman" panose="02020603050405020304" pitchFamily="18" charset="0"/>
                  </a:rPr>
                  <a:t>示范性服务工作</a:t>
                </a:r>
                <a:r>
                  <a:rPr lang="zh-CN" altLang="zh-CN" sz="1400" kern="100" dirty="0">
                    <a:latin typeface="+mn-ea"/>
                    <a:cs typeface="Times New Roman" panose="02020603050405020304" pitchFamily="18" charset="0"/>
                  </a:rPr>
                  <a:t>。</a:t>
                </a:r>
                <a:endParaRPr lang="zh-CN" altLang="en-US" sz="1400" kern="100" dirty="0">
                  <a:latin typeface="+mn-ea"/>
                  <a:cs typeface="Times New Roman" panose="02020603050405020304" pitchFamily="18" charset="0"/>
                </a:endParaRPr>
              </a:p>
            </p:txBody>
          </p:sp>
        </p:grpSp>
        <p:grpSp>
          <p:nvGrpSpPr>
            <p:cNvPr id="15" name="组合 14"/>
            <p:cNvGrpSpPr/>
            <p:nvPr/>
          </p:nvGrpSpPr>
          <p:grpSpPr>
            <a:xfrm>
              <a:off x="1150374" y="3686793"/>
              <a:ext cx="9627372" cy="1171220"/>
              <a:chOff x="1268125" y="3679107"/>
              <a:chExt cx="9627372" cy="1171220"/>
            </a:xfrm>
          </p:grpSpPr>
          <p:cxnSp>
            <p:nvCxnSpPr>
              <p:cNvPr id="16" name="肘形连接符 15"/>
              <p:cNvCxnSpPr/>
              <p:nvPr>
                <p:custDataLst>
                  <p:tags r:id="rId2"/>
                </p:custDataLst>
              </p:nvPr>
            </p:nvCxnSpPr>
            <p:spPr>
              <a:xfrm rot="5400000">
                <a:off x="4457217" y="2720570"/>
                <a:ext cx="514353" cy="2431427"/>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4"/>
              <p:cNvCxnSpPr/>
              <p:nvPr>
                <p:custDataLst>
                  <p:tags r:id="rId3"/>
                </p:custDataLst>
              </p:nvPr>
            </p:nvCxnSpPr>
            <p:spPr>
              <a:xfrm flipH="1">
                <a:off x="5924191" y="3940805"/>
                <a:ext cx="3529" cy="246319"/>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1268125" y="3931452"/>
                <a:ext cx="9627372" cy="918875"/>
                <a:chOff x="1257850" y="3386922"/>
                <a:chExt cx="9627372" cy="918875"/>
              </a:xfrm>
            </p:grpSpPr>
            <p:sp>
              <p:nvSpPr>
                <p:cNvPr id="19" name="矩形 18"/>
                <p:cNvSpPr/>
                <p:nvPr>
                  <p:custDataLst>
                    <p:tags r:id="rId4"/>
                  </p:custDataLst>
                </p:nvPr>
              </p:nvSpPr>
              <p:spPr>
                <a:xfrm>
                  <a:off x="1257850" y="3721792"/>
                  <a:ext cx="3202157"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推动现有平台提质升级</a:t>
                  </a:r>
                  <a:endParaRPr lang="zh-CN" altLang="en-US" sz="1600" dirty="0">
                    <a:latin typeface="+mj-ea"/>
                    <a:ea typeface="+mj-ea"/>
                  </a:endParaRPr>
                </a:p>
              </p:txBody>
            </p:sp>
            <p:sp>
              <p:nvSpPr>
                <p:cNvPr id="20" name="矩形 19"/>
                <p:cNvSpPr/>
                <p:nvPr>
                  <p:custDataLst>
                    <p:tags r:id="rId5"/>
                  </p:custDataLst>
                </p:nvPr>
              </p:nvSpPr>
              <p:spPr>
                <a:xfrm>
                  <a:off x="7996407" y="3692296"/>
                  <a:ext cx="2888815"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smtClean="0">
                      <a:latin typeface="+mj-ea"/>
                      <a:ea typeface="+mj-ea"/>
                      <a:sym typeface="+mn-ea"/>
                    </a:rPr>
                    <a:t>建设产业</a:t>
                  </a:r>
                  <a:r>
                    <a:rPr lang="zh-CN" altLang="en-US" sz="1600" dirty="0" smtClean="0">
                      <a:latin typeface="+mj-ea"/>
                      <a:ea typeface="+mj-ea"/>
                      <a:sym typeface="+mn-ea"/>
                    </a:rPr>
                    <a:t>创新</a:t>
                  </a:r>
                  <a:r>
                    <a:rPr lang="zh-CN" altLang="zh-CN" sz="1600" dirty="0" smtClean="0">
                      <a:latin typeface="+mj-ea"/>
                      <a:ea typeface="+mj-ea"/>
                      <a:sym typeface="+mn-ea"/>
                    </a:rPr>
                    <a:t>联合体</a:t>
                  </a:r>
                  <a:endParaRPr lang="zh-CN" altLang="zh-CN" sz="1600" dirty="0">
                    <a:latin typeface="+mj-ea"/>
                    <a:ea typeface="+mj-ea"/>
                    <a:sym typeface="+mn-ea"/>
                  </a:endParaRPr>
                </a:p>
              </p:txBody>
            </p:sp>
            <p:sp>
              <p:nvSpPr>
                <p:cNvPr id="21" name="矩形 20"/>
                <p:cNvSpPr/>
                <p:nvPr>
                  <p:custDataLst>
                    <p:tags r:id="rId6"/>
                  </p:custDataLst>
                </p:nvPr>
              </p:nvSpPr>
              <p:spPr>
                <a:xfrm>
                  <a:off x="4704117" y="3709188"/>
                  <a:ext cx="2995453" cy="584005"/>
                </a:xfrm>
                <a:prstGeom prst="rect">
                  <a:avLst/>
                </a:prstGeom>
                <a:gradFill flip="none" rotWithShape="1">
                  <a:gsLst>
                    <a:gs pos="70002">
                      <a:srgbClr val="82B3E5"/>
                    </a:gs>
                    <a:gs pos="0">
                      <a:schemeClr val="accent3">
                        <a:lumMod val="75000"/>
                      </a:schemeClr>
                    </a:gs>
                    <a:gs pos="47000">
                      <a:schemeClr val="accent3"/>
                    </a:gs>
                    <a:gs pos="100000">
                      <a:schemeClr val="accent1">
                        <a:lumMod val="5000"/>
                        <a:lumOff val="95000"/>
                        <a:alpha val="0"/>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sym typeface="+mn-ea"/>
                    </a:rPr>
                    <a:t>布局建设新平台</a:t>
                  </a:r>
                  <a:endParaRPr lang="zh-CN" altLang="en-US" sz="1600" dirty="0">
                    <a:latin typeface="+mj-ea"/>
                    <a:ea typeface="+mj-ea"/>
                    <a:sym typeface="+mn-ea"/>
                  </a:endParaRPr>
                </a:p>
              </p:txBody>
            </p:sp>
            <p:cxnSp>
              <p:nvCxnSpPr>
                <p:cNvPr id="22" name="肘形连接符 21"/>
                <p:cNvCxnSpPr/>
                <p:nvPr>
                  <p:custDataLst>
                    <p:tags r:id="rId7"/>
                  </p:custDataLst>
                </p:nvPr>
              </p:nvCxnSpPr>
              <p:spPr>
                <a:xfrm>
                  <a:off x="5917445" y="3386922"/>
                  <a:ext cx="2585809" cy="271285"/>
                </a:xfrm>
                <a:prstGeom prst="bentConnector2">
                  <a:avLst/>
                </a:prstGeom>
                <a:ln w="22225">
                  <a:tailEnd type="arrow"/>
                </a:ln>
              </p:spPr>
              <p:style>
                <a:lnRef idx="1">
                  <a:schemeClr val="accent1"/>
                </a:lnRef>
                <a:fillRef idx="0">
                  <a:schemeClr val="accent1"/>
                </a:fillRef>
                <a:effectRef idx="0">
                  <a:schemeClr val="accent1"/>
                </a:effectRef>
                <a:fontRef idx="minor">
                  <a:schemeClr val="tx1"/>
                </a:fontRef>
              </p:style>
            </p:cxnSp>
          </p:grpSp>
        </p:grpSp>
      </p:grpSp>
      <p:grpSp>
        <p:nvGrpSpPr>
          <p:cNvPr id="28" name="组合 27"/>
          <p:cNvGrpSpPr/>
          <p:nvPr/>
        </p:nvGrpSpPr>
        <p:grpSpPr>
          <a:xfrm>
            <a:off x="706077" y="66507"/>
            <a:ext cx="5891573" cy="836188"/>
            <a:chOff x="706077" y="66507"/>
            <a:chExt cx="5891573" cy="836188"/>
          </a:xfrm>
        </p:grpSpPr>
        <p:sp>
          <p:nvSpPr>
            <p:cNvPr id="29"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打造公共技术服务体系</a:t>
              </a:r>
              <a:endParaRPr lang="zh-CN" altLang="en-US" dirty="0">
                <a:solidFill>
                  <a:schemeClr val="accent3">
                    <a:lumMod val="75000"/>
                  </a:schemeClr>
                </a:solidFill>
              </a:endParaRPr>
            </a:p>
          </p:txBody>
        </p:sp>
        <p:sp>
          <p:nvSpPr>
            <p:cNvPr id="30" name="文本框 29"/>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4.4</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06077" y="66507"/>
            <a:ext cx="5891573" cy="836188"/>
            <a:chOff x="706077" y="66507"/>
            <a:chExt cx="5891573" cy="836188"/>
          </a:xfrm>
        </p:grpSpPr>
        <p:sp>
          <p:nvSpPr>
            <p:cNvPr id="5"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dirty="0">
                  <a:solidFill>
                    <a:schemeClr val="accent3">
                      <a:lumMod val="75000"/>
                    </a:schemeClr>
                  </a:solidFill>
                  <a:sym typeface="+mn-ea"/>
                </a:rPr>
                <a:t>打造公共技术服务体系</a:t>
              </a:r>
              <a:endParaRPr lang="zh-CN" altLang="en-US" dirty="0">
                <a:solidFill>
                  <a:schemeClr val="accent3">
                    <a:lumMod val="75000"/>
                  </a:schemeClr>
                </a:solidFill>
              </a:endParaRPr>
            </a:p>
          </p:txBody>
        </p:sp>
        <p:sp>
          <p:nvSpPr>
            <p:cNvPr id="6" name="文本框 5"/>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4.4</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
        <p:nvSpPr>
          <p:cNvPr id="10" name="矩形 9"/>
          <p:cNvSpPr/>
          <p:nvPr/>
        </p:nvSpPr>
        <p:spPr>
          <a:xfrm>
            <a:off x="674530" y="1581173"/>
            <a:ext cx="10785985" cy="425919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1" name="icon"/>
          <p:cNvSpPr/>
          <p:nvPr>
            <p:custDataLst>
              <p:tags r:id="rId1"/>
            </p:custDataLst>
          </p:nvPr>
        </p:nvSpPr>
        <p:spPr bwMode="auto">
          <a:xfrm>
            <a:off x="6269161" y="4564706"/>
            <a:ext cx="184253" cy="184253"/>
          </a:xfrm>
          <a:custGeom>
            <a:avLst/>
            <a:gdLst>
              <a:gd name="T0" fmla="*/ 5481 w 6554"/>
              <a:gd name="T1" fmla="*/ 5052 h 6554"/>
              <a:gd name="T2" fmla="*/ 5052 w 6554"/>
              <a:gd name="T3" fmla="*/ 3848 h 6554"/>
              <a:gd name="T4" fmla="*/ 5252 w 6554"/>
              <a:gd name="T5" fmla="*/ 1649 h 6554"/>
              <a:gd name="T6" fmla="*/ 3974 w 6554"/>
              <a:gd name="T7" fmla="*/ 0 h 6554"/>
              <a:gd name="T8" fmla="*/ 2728 w 6554"/>
              <a:gd name="T9" fmla="*/ 803 h 6554"/>
              <a:gd name="T10" fmla="*/ 1164 w 6554"/>
              <a:gd name="T11" fmla="*/ 1253 h 6554"/>
              <a:gd name="T12" fmla="*/ 546 w 6554"/>
              <a:gd name="T13" fmla="*/ 2731 h 6554"/>
              <a:gd name="T14" fmla="*/ 1502 w 6554"/>
              <a:gd name="T15" fmla="*/ 5052 h 6554"/>
              <a:gd name="T16" fmla="*/ 546 w 6554"/>
              <a:gd name="T17" fmla="*/ 4642 h 6554"/>
              <a:gd name="T18" fmla="*/ 546 w 6554"/>
              <a:gd name="T19" fmla="*/ 5734 h 6554"/>
              <a:gd name="T20" fmla="*/ 1775 w 6554"/>
              <a:gd name="T21" fmla="*/ 5325 h 6554"/>
              <a:gd name="T22" fmla="*/ 1824 w 6554"/>
              <a:gd name="T23" fmla="*/ 3882 h 6554"/>
              <a:gd name="T24" fmla="*/ 2458 w 6554"/>
              <a:gd name="T25" fmla="*/ 5481 h 6554"/>
              <a:gd name="T26" fmla="*/ 2594 w 6554"/>
              <a:gd name="T27" fmla="*/ 6554 h 6554"/>
              <a:gd name="T28" fmla="*/ 2731 w 6554"/>
              <a:gd name="T29" fmla="*/ 5481 h 6554"/>
              <a:gd name="T30" fmla="*/ 3823 w 6554"/>
              <a:gd name="T31" fmla="*/ 3882 h 6554"/>
              <a:gd name="T32" fmla="*/ 3413 w 6554"/>
              <a:gd name="T33" fmla="*/ 6008 h 6554"/>
              <a:gd name="T34" fmla="*/ 4506 w 6554"/>
              <a:gd name="T35" fmla="*/ 6008 h 6554"/>
              <a:gd name="T36" fmla="*/ 4096 w 6554"/>
              <a:gd name="T37" fmla="*/ 3882 h 6554"/>
              <a:gd name="T38" fmla="*/ 4779 w 6554"/>
              <a:gd name="T39" fmla="*/ 3880 h 6554"/>
              <a:gd name="T40" fmla="*/ 5481 w 6554"/>
              <a:gd name="T41" fmla="*/ 5325 h 6554"/>
              <a:gd name="T42" fmla="*/ 6554 w 6554"/>
              <a:gd name="T43" fmla="*/ 5188 h 6554"/>
              <a:gd name="T44" fmla="*/ 546 w 6554"/>
              <a:gd name="T45" fmla="*/ 5461 h 6554"/>
              <a:gd name="T46" fmla="*/ 546 w 6554"/>
              <a:gd name="T47" fmla="*/ 4915 h 6554"/>
              <a:gd name="T48" fmla="*/ 546 w 6554"/>
              <a:gd name="T49" fmla="*/ 5461 h 6554"/>
              <a:gd name="T50" fmla="*/ 2594 w 6554"/>
              <a:gd name="T51" fmla="*/ 6281 h 6554"/>
              <a:gd name="T52" fmla="*/ 2594 w 6554"/>
              <a:gd name="T53" fmla="*/ 5734 h 6554"/>
              <a:gd name="T54" fmla="*/ 4233 w 6554"/>
              <a:gd name="T55" fmla="*/ 6008 h 6554"/>
              <a:gd name="T56" fmla="*/ 3686 w 6554"/>
              <a:gd name="T57" fmla="*/ 6008 h 6554"/>
              <a:gd name="T58" fmla="*/ 4233 w 6554"/>
              <a:gd name="T59" fmla="*/ 6008 h 6554"/>
              <a:gd name="T60" fmla="*/ 1824 w 6554"/>
              <a:gd name="T61" fmla="*/ 3609 h 6554"/>
              <a:gd name="T62" fmla="*/ 1328 w 6554"/>
              <a:gd name="T63" fmla="*/ 1934 h 6554"/>
              <a:gd name="T64" fmla="*/ 1402 w 6554"/>
              <a:gd name="T65" fmla="*/ 1774 h 6554"/>
              <a:gd name="T66" fmla="*/ 2039 w 6554"/>
              <a:gd name="T67" fmla="*/ 877 h 6554"/>
              <a:gd name="T68" fmla="*/ 2688 w 6554"/>
              <a:gd name="T69" fmla="*/ 1136 h 6554"/>
              <a:gd name="T70" fmla="*/ 2925 w 6554"/>
              <a:gd name="T71" fmla="*/ 1078 h 6554"/>
              <a:gd name="T72" fmla="*/ 3972 w 6554"/>
              <a:gd name="T73" fmla="*/ 273 h 6554"/>
              <a:gd name="T74" fmla="*/ 4948 w 6554"/>
              <a:gd name="T75" fmla="*/ 1683 h 6554"/>
              <a:gd name="T76" fmla="*/ 5044 w 6554"/>
              <a:gd name="T77" fmla="*/ 1872 h 6554"/>
              <a:gd name="T78" fmla="*/ 4730 w 6554"/>
              <a:gd name="T79" fmla="*/ 3609 h 6554"/>
              <a:gd name="T80" fmla="*/ 5734 w 6554"/>
              <a:gd name="T81" fmla="*/ 5188 h 6554"/>
              <a:gd name="T82" fmla="*/ 6281 w 6554"/>
              <a:gd name="T83" fmla="*/ 5188 h 6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4" h="6554">
                <a:moveTo>
                  <a:pt x="6008" y="4642"/>
                </a:moveTo>
                <a:cubicBezTo>
                  <a:pt x="5754" y="4642"/>
                  <a:pt x="5542" y="4817"/>
                  <a:pt x="5481" y="5052"/>
                </a:cubicBezTo>
                <a:lnTo>
                  <a:pt x="5052" y="5052"/>
                </a:lnTo>
                <a:lnTo>
                  <a:pt x="5052" y="3848"/>
                </a:lnTo>
                <a:cubicBezTo>
                  <a:pt x="5621" y="3729"/>
                  <a:pt x="6008" y="3296"/>
                  <a:pt x="6008" y="2731"/>
                </a:cubicBezTo>
                <a:cubicBezTo>
                  <a:pt x="6008" y="2246"/>
                  <a:pt x="5698" y="1813"/>
                  <a:pt x="5252" y="1649"/>
                </a:cubicBezTo>
                <a:cubicBezTo>
                  <a:pt x="5293" y="1514"/>
                  <a:pt x="5307" y="1375"/>
                  <a:pt x="5298" y="1219"/>
                </a:cubicBezTo>
                <a:cubicBezTo>
                  <a:pt x="5257" y="552"/>
                  <a:pt x="4663" y="5"/>
                  <a:pt x="3974" y="0"/>
                </a:cubicBezTo>
                <a:cubicBezTo>
                  <a:pt x="3971" y="0"/>
                  <a:pt x="3967" y="0"/>
                  <a:pt x="3964" y="0"/>
                </a:cubicBezTo>
                <a:cubicBezTo>
                  <a:pt x="3419" y="0"/>
                  <a:pt x="2932" y="326"/>
                  <a:pt x="2728" y="803"/>
                </a:cubicBezTo>
                <a:cubicBezTo>
                  <a:pt x="2527" y="653"/>
                  <a:pt x="2273" y="581"/>
                  <a:pt x="2014" y="606"/>
                </a:cubicBezTo>
                <a:cubicBezTo>
                  <a:pt x="1641" y="640"/>
                  <a:pt x="1315" y="889"/>
                  <a:pt x="1164" y="1253"/>
                </a:cubicBezTo>
                <a:cubicBezTo>
                  <a:pt x="1091" y="1426"/>
                  <a:pt x="1101" y="1619"/>
                  <a:pt x="1117" y="1736"/>
                </a:cubicBezTo>
                <a:cubicBezTo>
                  <a:pt x="767" y="1941"/>
                  <a:pt x="546" y="2320"/>
                  <a:pt x="546" y="2731"/>
                </a:cubicBezTo>
                <a:cubicBezTo>
                  <a:pt x="546" y="3286"/>
                  <a:pt x="940" y="3725"/>
                  <a:pt x="1502" y="3847"/>
                </a:cubicBezTo>
                <a:lnTo>
                  <a:pt x="1502" y="5052"/>
                </a:lnTo>
                <a:lnTo>
                  <a:pt x="1073" y="5052"/>
                </a:lnTo>
                <a:cubicBezTo>
                  <a:pt x="1012" y="4817"/>
                  <a:pt x="800" y="4642"/>
                  <a:pt x="546" y="4642"/>
                </a:cubicBezTo>
                <a:cubicBezTo>
                  <a:pt x="245" y="4642"/>
                  <a:pt x="0" y="4887"/>
                  <a:pt x="0" y="5188"/>
                </a:cubicBezTo>
                <a:cubicBezTo>
                  <a:pt x="0" y="5489"/>
                  <a:pt x="245" y="5734"/>
                  <a:pt x="546" y="5734"/>
                </a:cubicBezTo>
                <a:cubicBezTo>
                  <a:pt x="800" y="5734"/>
                  <a:pt x="1012" y="5560"/>
                  <a:pt x="1073" y="5325"/>
                </a:cubicBezTo>
                <a:lnTo>
                  <a:pt x="1775" y="5325"/>
                </a:lnTo>
                <a:lnTo>
                  <a:pt x="1775" y="3880"/>
                </a:lnTo>
                <a:cubicBezTo>
                  <a:pt x="1791" y="3881"/>
                  <a:pt x="1807" y="3882"/>
                  <a:pt x="1824" y="3882"/>
                </a:cubicBezTo>
                <a:lnTo>
                  <a:pt x="2458" y="3882"/>
                </a:lnTo>
                <a:lnTo>
                  <a:pt x="2458" y="5481"/>
                </a:lnTo>
                <a:cubicBezTo>
                  <a:pt x="2223" y="5542"/>
                  <a:pt x="2048" y="5754"/>
                  <a:pt x="2048" y="6008"/>
                </a:cubicBezTo>
                <a:cubicBezTo>
                  <a:pt x="2048" y="6309"/>
                  <a:pt x="2293" y="6554"/>
                  <a:pt x="2594" y="6554"/>
                </a:cubicBezTo>
                <a:cubicBezTo>
                  <a:pt x="2895" y="6554"/>
                  <a:pt x="3140" y="6309"/>
                  <a:pt x="3140" y="6008"/>
                </a:cubicBezTo>
                <a:cubicBezTo>
                  <a:pt x="3140" y="5754"/>
                  <a:pt x="2966" y="5542"/>
                  <a:pt x="2731" y="5481"/>
                </a:cubicBezTo>
                <a:lnTo>
                  <a:pt x="2731" y="3882"/>
                </a:lnTo>
                <a:lnTo>
                  <a:pt x="3823" y="3882"/>
                </a:lnTo>
                <a:lnTo>
                  <a:pt x="3823" y="5481"/>
                </a:lnTo>
                <a:cubicBezTo>
                  <a:pt x="3588" y="5542"/>
                  <a:pt x="3413" y="5754"/>
                  <a:pt x="3413" y="6008"/>
                </a:cubicBezTo>
                <a:cubicBezTo>
                  <a:pt x="3413" y="6309"/>
                  <a:pt x="3658" y="6554"/>
                  <a:pt x="3960" y="6554"/>
                </a:cubicBezTo>
                <a:cubicBezTo>
                  <a:pt x="4261" y="6554"/>
                  <a:pt x="4506" y="6309"/>
                  <a:pt x="4506" y="6008"/>
                </a:cubicBezTo>
                <a:cubicBezTo>
                  <a:pt x="4506" y="5754"/>
                  <a:pt x="4331" y="5542"/>
                  <a:pt x="4096" y="5481"/>
                </a:cubicBezTo>
                <a:lnTo>
                  <a:pt x="4096" y="3882"/>
                </a:lnTo>
                <a:lnTo>
                  <a:pt x="4730" y="3882"/>
                </a:lnTo>
                <a:cubicBezTo>
                  <a:pt x="4746" y="3882"/>
                  <a:pt x="4762" y="3881"/>
                  <a:pt x="4779" y="3880"/>
                </a:cubicBezTo>
                <a:lnTo>
                  <a:pt x="4779" y="5325"/>
                </a:lnTo>
                <a:lnTo>
                  <a:pt x="5481" y="5325"/>
                </a:lnTo>
                <a:cubicBezTo>
                  <a:pt x="5542" y="5560"/>
                  <a:pt x="5754" y="5734"/>
                  <a:pt x="6008" y="5734"/>
                </a:cubicBezTo>
                <a:cubicBezTo>
                  <a:pt x="6309" y="5734"/>
                  <a:pt x="6554" y="5489"/>
                  <a:pt x="6554" y="5188"/>
                </a:cubicBezTo>
                <a:cubicBezTo>
                  <a:pt x="6554" y="4887"/>
                  <a:pt x="6309" y="4642"/>
                  <a:pt x="6008" y="4642"/>
                </a:cubicBezTo>
                <a:close/>
                <a:moveTo>
                  <a:pt x="546" y="5461"/>
                </a:moveTo>
                <a:cubicBezTo>
                  <a:pt x="396" y="5461"/>
                  <a:pt x="273" y="5339"/>
                  <a:pt x="273" y="5188"/>
                </a:cubicBezTo>
                <a:cubicBezTo>
                  <a:pt x="273" y="5038"/>
                  <a:pt x="396" y="4915"/>
                  <a:pt x="546" y="4915"/>
                </a:cubicBezTo>
                <a:cubicBezTo>
                  <a:pt x="697" y="4915"/>
                  <a:pt x="819" y="5038"/>
                  <a:pt x="819" y="5188"/>
                </a:cubicBezTo>
                <a:cubicBezTo>
                  <a:pt x="819" y="5339"/>
                  <a:pt x="697" y="5461"/>
                  <a:pt x="546" y="5461"/>
                </a:cubicBezTo>
                <a:close/>
                <a:moveTo>
                  <a:pt x="2867" y="6008"/>
                </a:moveTo>
                <a:cubicBezTo>
                  <a:pt x="2867" y="6158"/>
                  <a:pt x="2745" y="6281"/>
                  <a:pt x="2594" y="6281"/>
                </a:cubicBezTo>
                <a:cubicBezTo>
                  <a:pt x="2444" y="6281"/>
                  <a:pt x="2321" y="6158"/>
                  <a:pt x="2321" y="6008"/>
                </a:cubicBezTo>
                <a:cubicBezTo>
                  <a:pt x="2321" y="5857"/>
                  <a:pt x="2444" y="5734"/>
                  <a:pt x="2594" y="5734"/>
                </a:cubicBezTo>
                <a:cubicBezTo>
                  <a:pt x="2745" y="5734"/>
                  <a:pt x="2867" y="5857"/>
                  <a:pt x="2867" y="6008"/>
                </a:cubicBezTo>
                <a:close/>
                <a:moveTo>
                  <a:pt x="4233" y="6008"/>
                </a:moveTo>
                <a:cubicBezTo>
                  <a:pt x="4233" y="6158"/>
                  <a:pt x="4110" y="6281"/>
                  <a:pt x="3960" y="6281"/>
                </a:cubicBezTo>
                <a:cubicBezTo>
                  <a:pt x="3809" y="6281"/>
                  <a:pt x="3686" y="6158"/>
                  <a:pt x="3686" y="6008"/>
                </a:cubicBezTo>
                <a:cubicBezTo>
                  <a:pt x="3686" y="5857"/>
                  <a:pt x="3809" y="5734"/>
                  <a:pt x="3960" y="5734"/>
                </a:cubicBezTo>
                <a:cubicBezTo>
                  <a:pt x="4110" y="5734"/>
                  <a:pt x="4233" y="5857"/>
                  <a:pt x="4233" y="6008"/>
                </a:cubicBezTo>
                <a:close/>
                <a:moveTo>
                  <a:pt x="4730" y="3609"/>
                </a:moveTo>
                <a:lnTo>
                  <a:pt x="1824" y="3609"/>
                </a:lnTo>
                <a:cubicBezTo>
                  <a:pt x="1242" y="3609"/>
                  <a:pt x="819" y="3240"/>
                  <a:pt x="819" y="2731"/>
                </a:cubicBezTo>
                <a:cubicBezTo>
                  <a:pt x="819" y="2390"/>
                  <a:pt x="1019" y="2077"/>
                  <a:pt x="1328" y="1934"/>
                </a:cubicBezTo>
                <a:lnTo>
                  <a:pt x="1432" y="1885"/>
                </a:lnTo>
                <a:lnTo>
                  <a:pt x="1402" y="1774"/>
                </a:lnTo>
                <a:cubicBezTo>
                  <a:pt x="1402" y="1772"/>
                  <a:pt x="1341" y="1538"/>
                  <a:pt x="1416" y="1358"/>
                </a:cubicBezTo>
                <a:cubicBezTo>
                  <a:pt x="1529" y="1087"/>
                  <a:pt x="1768" y="903"/>
                  <a:pt x="2039" y="877"/>
                </a:cubicBezTo>
                <a:cubicBezTo>
                  <a:pt x="2064" y="875"/>
                  <a:pt x="2088" y="874"/>
                  <a:pt x="2113" y="874"/>
                </a:cubicBezTo>
                <a:cubicBezTo>
                  <a:pt x="2335" y="874"/>
                  <a:pt x="2546" y="969"/>
                  <a:pt x="2688" y="1136"/>
                </a:cubicBezTo>
                <a:lnTo>
                  <a:pt x="2864" y="1345"/>
                </a:lnTo>
                <a:lnTo>
                  <a:pt x="2925" y="1078"/>
                </a:lnTo>
                <a:cubicBezTo>
                  <a:pt x="3031" y="611"/>
                  <a:pt x="3467" y="273"/>
                  <a:pt x="3964" y="273"/>
                </a:cubicBezTo>
                <a:cubicBezTo>
                  <a:pt x="3967" y="273"/>
                  <a:pt x="3969" y="273"/>
                  <a:pt x="3972" y="273"/>
                </a:cubicBezTo>
                <a:cubicBezTo>
                  <a:pt x="4520" y="277"/>
                  <a:pt x="4993" y="709"/>
                  <a:pt x="5025" y="1236"/>
                </a:cubicBezTo>
                <a:cubicBezTo>
                  <a:pt x="5036" y="1404"/>
                  <a:pt x="5012" y="1542"/>
                  <a:pt x="4948" y="1683"/>
                </a:cubicBezTo>
                <a:lnTo>
                  <a:pt x="4879" y="1836"/>
                </a:lnTo>
                <a:lnTo>
                  <a:pt x="5044" y="1872"/>
                </a:lnTo>
                <a:cubicBezTo>
                  <a:pt x="5444" y="1959"/>
                  <a:pt x="5734" y="2320"/>
                  <a:pt x="5734" y="2731"/>
                </a:cubicBezTo>
                <a:cubicBezTo>
                  <a:pt x="5734" y="3248"/>
                  <a:pt x="5321" y="3609"/>
                  <a:pt x="4730" y="3609"/>
                </a:cubicBezTo>
                <a:close/>
                <a:moveTo>
                  <a:pt x="6008" y="5461"/>
                </a:moveTo>
                <a:cubicBezTo>
                  <a:pt x="5857" y="5461"/>
                  <a:pt x="5734" y="5339"/>
                  <a:pt x="5734" y="5188"/>
                </a:cubicBezTo>
                <a:cubicBezTo>
                  <a:pt x="5734" y="5038"/>
                  <a:pt x="5857" y="4915"/>
                  <a:pt x="6008" y="4915"/>
                </a:cubicBezTo>
                <a:cubicBezTo>
                  <a:pt x="6158" y="4915"/>
                  <a:pt x="6281" y="5038"/>
                  <a:pt x="6281" y="5188"/>
                </a:cubicBezTo>
                <a:cubicBezTo>
                  <a:pt x="6281" y="5339"/>
                  <a:pt x="6158" y="5461"/>
                  <a:pt x="6008" y="5461"/>
                </a:cubicBezTo>
                <a:close/>
              </a:path>
            </a:pathLst>
          </a:custGeom>
          <a:solidFill>
            <a:schemeClr val="bg1"/>
          </a:solidFill>
          <a:ln>
            <a:noFill/>
          </a:ln>
        </p:spPr>
      </p:sp>
      <p:sp>
        <p:nvSpPr>
          <p:cNvPr id="13" name="矩形 12"/>
          <p:cNvSpPr/>
          <p:nvPr>
            <p:custDataLst>
              <p:tags r:id="rId2"/>
            </p:custDataLst>
          </p:nvPr>
        </p:nvSpPr>
        <p:spPr>
          <a:xfrm>
            <a:off x="688260" y="1587317"/>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4" name="文本框 13"/>
          <p:cNvSpPr txBox="1"/>
          <p:nvPr/>
        </p:nvSpPr>
        <p:spPr>
          <a:xfrm>
            <a:off x="935686" y="1624904"/>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具体工作</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nvGrpSpPr>
          <p:cNvPr id="16" name="组合 15"/>
          <p:cNvGrpSpPr/>
          <p:nvPr/>
        </p:nvGrpSpPr>
        <p:grpSpPr>
          <a:xfrm>
            <a:off x="1111971" y="2442997"/>
            <a:ext cx="3083398" cy="2855801"/>
            <a:chOff x="1111971" y="2531486"/>
            <a:chExt cx="3083398" cy="2855801"/>
          </a:xfrm>
        </p:grpSpPr>
        <p:grpSp>
          <p:nvGrpSpPr>
            <p:cNvPr id="40" name="组合 39"/>
            <p:cNvGrpSpPr/>
            <p:nvPr/>
          </p:nvGrpSpPr>
          <p:grpSpPr>
            <a:xfrm>
              <a:off x="1111971" y="2531486"/>
              <a:ext cx="3083398" cy="2855801"/>
              <a:chOff x="1250760" y="2637483"/>
              <a:chExt cx="3083398" cy="2855801"/>
            </a:xfrm>
          </p:grpSpPr>
          <p:sp>
            <p:nvSpPr>
              <p:cNvPr id="42" name="文本框 41"/>
              <p:cNvSpPr txBox="1"/>
              <p:nvPr>
                <p:custDataLst>
                  <p:tags r:id="rId3"/>
                </p:custDataLst>
              </p:nvPr>
            </p:nvSpPr>
            <p:spPr>
              <a:xfrm>
                <a:off x="1666606" y="2637483"/>
                <a:ext cx="2667552" cy="379954"/>
              </a:xfrm>
              <a:prstGeom prst="rect">
                <a:avLst/>
              </a:prstGeom>
              <a:noFill/>
            </p:spPr>
            <p:txBody>
              <a:bodyPr wrap="square" rtlCol="0">
                <a:noAutofit/>
              </a:bodyPr>
              <a:lstStyle/>
              <a:p>
                <a:pPr>
                  <a:buSzPct val="100000"/>
                </a:pPr>
                <a:r>
                  <a:rPr lang="zh-CN" altLang="en-US" sz="1600" b="1" spc="80" dirty="0" smtClean="0">
                    <a:latin typeface="Arial" panose="020B0604020202020204" pitchFamily="34" charset="0"/>
                    <a:ea typeface="微软雅黑" panose="020B0503020204020204" pitchFamily="34" charset="-122"/>
                  </a:rPr>
                  <a:t>推动现有平台提质升级</a:t>
                </a:r>
                <a:endParaRPr lang="zh-CN" altLang="zh-CN" sz="1600" b="1" spc="80" dirty="0">
                  <a:latin typeface="Arial" panose="020B0604020202020204" pitchFamily="34" charset="0"/>
                  <a:ea typeface="微软雅黑" panose="020B0503020204020204" pitchFamily="34" charset="-122"/>
                </a:endParaRPr>
              </a:p>
            </p:txBody>
          </p:sp>
          <p:grpSp>
            <p:nvGrpSpPr>
              <p:cNvPr id="44" name="组合 43"/>
              <p:cNvGrpSpPr/>
              <p:nvPr/>
            </p:nvGrpSpPr>
            <p:grpSpPr>
              <a:xfrm>
                <a:off x="1318463" y="2655532"/>
                <a:ext cx="339665" cy="339665"/>
                <a:chOff x="504698" y="2554152"/>
                <a:chExt cx="339665" cy="339665"/>
              </a:xfrm>
            </p:grpSpPr>
            <p:sp>
              <p:nvSpPr>
                <p:cNvPr id="46" name="椭圆 45"/>
                <p:cNvSpPr/>
                <p:nvPr>
                  <p:custDataLst>
                    <p:tags r:id="rId4"/>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47" name="icon"/>
                <p:cNvSpPr/>
                <p:nvPr>
                  <p:custDataLst>
                    <p:tags r:id="rId5"/>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45" name="矩形 44"/>
              <p:cNvSpPr/>
              <p:nvPr/>
            </p:nvSpPr>
            <p:spPr>
              <a:xfrm>
                <a:off x="1250760" y="3461959"/>
                <a:ext cx="2928480" cy="2031325"/>
              </a:xfrm>
              <a:prstGeom prst="rect">
                <a:avLst/>
              </a:prstGeom>
            </p:spPr>
            <p:txBody>
              <a:bodyPr wrap="square">
                <a:spAutoFit/>
              </a:bodyPr>
              <a:lstStyle/>
              <a:p>
                <a:pPr algn="just"/>
                <a:r>
                  <a:rPr lang="zh-CN" altLang="en-US" sz="1400" dirty="0">
                    <a:latin typeface="Calibri" panose="020F0502020204030204" charset="0"/>
                    <a:cs typeface="仿宋_GB2312" panose="02010609030101010101" charset="-122"/>
                    <a:sym typeface="+mn-ea"/>
                  </a:rPr>
                  <a:t>按照整合优势资源、构建创新服务体系、提升产业创新服务深度广度的实施路径，加快推动我院现有平台提质升级。联合政府、高校、科研机构</a:t>
                </a:r>
                <a:r>
                  <a:rPr lang="zh-CN" altLang="en-US" sz="1400" dirty="0" smtClean="0">
                    <a:latin typeface="Calibri" panose="020F0502020204030204" charset="0"/>
                    <a:cs typeface="仿宋_GB2312" panose="02010609030101010101" charset="-122"/>
                    <a:sym typeface="+mn-ea"/>
                  </a:rPr>
                  <a:t>共建产</a:t>
                </a:r>
                <a:r>
                  <a:rPr lang="zh-CN" altLang="en-US" sz="1400" dirty="0">
                    <a:latin typeface="Calibri" panose="020F0502020204030204" charset="0"/>
                    <a:cs typeface="仿宋_GB2312" panose="02010609030101010101" charset="-122"/>
                    <a:sym typeface="+mn-ea"/>
                  </a:rPr>
                  <a:t>教融合基地</a:t>
                </a:r>
                <a:r>
                  <a:rPr lang="zh-CN" altLang="en-US" sz="1400" dirty="0" smtClean="0">
                    <a:latin typeface="Calibri" panose="020F0502020204030204" charset="0"/>
                    <a:cs typeface="仿宋_GB2312" panose="02010609030101010101" charset="-122"/>
                    <a:sym typeface="+mn-ea"/>
                  </a:rPr>
                  <a:t>、概念</a:t>
                </a:r>
                <a:r>
                  <a:rPr lang="zh-CN" altLang="en-US" sz="1400" dirty="0">
                    <a:latin typeface="Calibri" panose="020F0502020204030204" charset="0"/>
                    <a:cs typeface="仿宋_GB2312" panose="02010609030101010101" charset="-122"/>
                    <a:sym typeface="+mn-ea"/>
                  </a:rPr>
                  <a:t>验证中心等创新</a:t>
                </a:r>
                <a:r>
                  <a:rPr lang="zh-CN" altLang="en-US" sz="1400" dirty="0" smtClean="0">
                    <a:latin typeface="Calibri" panose="020F0502020204030204" charset="0"/>
                    <a:cs typeface="仿宋_GB2312" panose="02010609030101010101" charset="-122"/>
                    <a:sym typeface="+mn-ea"/>
                  </a:rPr>
                  <a:t>载体，推动</a:t>
                </a:r>
                <a:r>
                  <a:rPr lang="zh-CN" altLang="en-US" sz="1400" dirty="0">
                    <a:latin typeface="Calibri" panose="020F0502020204030204" charset="0"/>
                    <a:cs typeface="仿宋_GB2312" panose="02010609030101010101" charset="-122"/>
                    <a:sym typeface="+mn-ea"/>
                  </a:rPr>
                  <a:t>建成覆盖概念验证、软件设计、人才培训全</a:t>
                </a:r>
                <a:r>
                  <a:rPr lang="zh-CN" altLang="en-US" sz="1400" dirty="0" smtClean="0">
                    <a:latin typeface="Calibri" panose="020F0502020204030204" charset="0"/>
                    <a:cs typeface="仿宋_GB2312" panose="02010609030101010101" charset="-122"/>
                    <a:sym typeface="+mn-ea"/>
                  </a:rPr>
                  <a:t>链条的服务</a:t>
                </a:r>
                <a:r>
                  <a:rPr lang="zh-CN" altLang="en-US" sz="1400" dirty="0">
                    <a:latin typeface="Calibri" panose="020F0502020204030204" charset="0"/>
                    <a:cs typeface="仿宋_GB2312" panose="02010609030101010101" charset="-122"/>
                    <a:sym typeface="+mn-ea"/>
                  </a:rPr>
                  <a:t>体系，</a:t>
                </a:r>
                <a:r>
                  <a:rPr lang="zh-CN" altLang="en-US" sz="1400" dirty="0" smtClean="0">
                    <a:latin typeface="Calibri" panose="020F0502020204030204" charset="0"/>
                    <a:cs typeface="仿宋_GB2312" panose="02010609030101010101" charset="-122"/>
                    <a:sym typeface="+mn-ea"/>
                  </a:rPr>
                  <a:t>打造重点</a:t>
                </a:r>
                <a:r>
                  <a:rPr lang="zh-CN" altLang="en-US" sz="1400" dirty="0">
                    <a:latin typeface="Calibri" panose="020F0502020204030204" charset="0"/>
                    <a:cs typeface="仿宋_GB2312" panose="02010609030101010101" charset="-122"/>
                    <a:sym typeface="+mn-ea"/>
                  </a:rPr>
                  <a:t>行业公共研发服务平台。</a:t>
                </a:r>
                <a:endParaRPr lang="zh-CN" altLang="en-US" sz="1400" spc="100" dirty="0">
                  <a:solidFill>
                    <a:schemeClr val="tx1">
                      <a:lumMod val="85000"/>
                      <a:lumOff val="15000"/>
                    </a:schemeClr>
                  </a:solidFill>
                  <a:latin typeface="Arial" panose="020B0604020202020204" pitchFamily="34" charset="0"/>
                  <a:ea typeface="微软雅黑" panose="020B0503020204020204" pitchFamily="34" charset="-122"/>
                </a:endParaRPr>
              </a:p>
            </p:txBody>
          </p:sp>
        </p:grpSp>
        <p:cxnSp>
          <p:nvCxnSpPr>
            <p:cNvPr id="41" name="直线连接符 40"/>
            <p:cNvCxnSpPr/>
            <p:nvPr/>
          </p:nvCxnSpPr>
          <p:spPr>
            <a:xfrm>
              <a:off x="1179674" y="3151385"/>
              <a:ext cx="2743397"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23" name="组合 22"/>
          <p:cNvGrpSpPr/>
          <p:nvPr/>
        </p:nvGrpSpPr>
        <p:grpSpPr>
          <a:xfrm>
            <a:off x="4340350" y="2431567"/>
            <a:ext cx="3094314" cy="3037668"/>
            <a:chOff x="4249567" y="2431567"/>
            <a:chExt cx="3094314" cy="3037668"/>
          </a:xfrm>
        </p:grpSpPr>
        <p:grpSp>
          <p:nvGrpSpPr>
            <p:cNvPr id="32" name="组合 31"/>
            <p:cNvGrpSpPr/>
            <p:nvPr/>
          </p:nvGrpSpPr>
          <p:grpSpPr>
            <a:xfrm>
              <a:off x="4249567" y="2431567"/>
              <a:ext cx="3094314" cy="3037668"/>
              <a:chOff x="1250760" y="2626053"/>
              <a:chExt cx="3094314" cy="3037668"/>
            </a:xfrm>
          </p:grpSpPr>
          <p:sp>
            <p:nvSpPr>
              <p:cNvPr id="34" name="文本框 33"/>
              <p:cNvSpPr txBox="1"/>
              <p:nvPr>
                <p:custDataLst>
                  <p:tags r:id="rId6"/>
                </p:custDataLst>
              </p:nvPr>
            </p:nvSpPr>
            <p:spPr>
              <a:xfrm>
                <a:off x="1678036" y="2626053"/>
                <a:ext cx="2655608" cy="379954"/>
              </a:xfrm>
              <a:prstGeom prst="rect">
                <a:avLst/>
              </a:prstGeom>
              <a:noFill/>
            </p:spPr>
            <p:txBody>
              <a:bodyPr wrap="square" rtlCol="0">
                <a:noAutofit/>
              </a:bodyPr>
              <a:lstStyle/>
              <a:p>
                <a:pPr>
                  <a:buSzPct val="100000"/>
                </a:pPr>
                <a:r>
                  <a:rPr lang="zh-CN" altLang="en-US" sz="1600" b="1" spc="80" dirty="0" smtClean="0">
                    <a:latin typeface="Arial" panose="020B0604020202020204" pitchFamily="34" charset="0"/>
                    <a:ea typeface="微软雅黑" panose="020B0503020204020204" pitchFamily="34" charset="-122"/>
                  </a:rPr>
                  <a:t>布局建设新平台</a:t>
                </a:r>
                <a:endParaRPr lang="zh-CN" altLang="zh-CN" sz="1600" b="1" spc="80" dirty="0">
                  <a:latin typeface="Arial" panose="020B0604020202020204" pitchFamily="34" charset="0"/>
                  <a:ea typeface="微软雅黑" panose="020B0503020204020204" pitchFamily="34" charset="-122"/>
                </a:endParaRPr>
              </a:p>
            </p:txBody>
          </p:sp>
          <p:grpSp>
            <p:nvGrpSpPr>
              <p:cNvPr id="35" name="组合 34"/>
              <p:cNvGrpSpPr/>
              <p:nvPr/>
            </p:nvGrpSpPr>
            <p:grpSpPr>
              <a:xfrm>
                <a:off x="1318463" y="2655532"/>
                <a:ext cx="339665" cy="339665"/>
                <a:chOff x="504698" y="2554152"/>
                <a:chExt cx="339665" cy="339665"/>
              </a:xfrm>
            </p:grpSpPr>
            <p:sp>
              <p:nvSpPr>
                <p:cNvPr id="37" name="椭圆 36"/>
                <p:cNvSpPr/>
                <p:nvPr>
                  <p:custDataLst>
                    <p:tags r:id="rId7"/>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38" name="icon"/>
                <p:cNvSpPr/>
                <p:nvPr>
                  <p:custDataLst>
                    <p:tags r:id="rId8"/>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36" name="矩形 35"/>
              <p:cNvSpPr/>
              <p:nvPr/>
            </p:nvSpPr>
            <p:spPr>
              <a:xfrm>
                <a:off x="1250760" y="3416952"/>
                <a:ext cx="3094314" cy="2246769"/>
              </a:xfrm>
              <a:prstGeom prst="rect">
                <a:avLst/>
              </a:prstGeom>
            </p:spPr>
            <p:txBody>
              <a:bodyPr wrap="square">
                <a:spAutoFit/>
              </a:bodyPr>
              <a:lstStyle/>
              <a:p>
                <a:pPr algn="just"/>
                <a:r>
                  <a:rPr lang="zh-CN" altLang="en-US" sz="1400" dirty="0">
                    <a:latin typeface="Calibri" panose="020F0502020204030204" charset="0"/>
                    <a:cs typeface="仿宋_GB2312" panose="02010609030101010101" charset="-122"/>
                    <a:sym typeface="+mn-ea"/>
                  </a:rPr>
                  <a:t>在新一代信息技术、高端装备、生物医药等重点领域，整合各类创新资源，联合现有产业领域省级以上创新平台，按照成熟一个、发展一个的思路，布局建设新的公共研发服务</a:t>
                </a:r>
                <a:r>
                  <a:rPr lang="zh-CN" altLang="en-US" sz="1400" dirty="0" smtClean="0">
                    <a:latin typeface="Calibri" panose="020F0502020204030204" charset="0"/>
                    <a:cs typeface="仿宋_GB2312" panose="02010609030101010101" charset="-122"/>
                    <a:sym typeface="+mn-ea"/>
                  </a:rPr>
                  <a:t>平台；探索</a:t>
                </a:r>
                <a:r>
                  <a:rPr lang="zh-CN" altLang="en-US" sz="1400" dirty="0">
                    <a:latin typeface="Calibri" panose="020F0502020204030204" charset="0"/>
                    <a:cs typeface="仿宋_GB2312" panose="02010609030101010101" charset="-122"/>
                    <a:sym typeface="+mn-ea"/>
                  </a:rPr>
                  <a:t>建设前瞻性技术概念验证中心，在关键技术供给、技术研发服务、概念验证、技术转移转化、创新人才集聚等多个方面，形成发展特色与典型经验模式。</a:t>
                </a:r>
                <a:endParaRPr lang="zh-CN" altLang="en-US" sz="1400" spc="100" dirty="0">
                  <a:solidFill>
                    <a:schemeClr val="tx1">
                      <a:lumMod val="85000"/>
                      <a:lumOff val="15000"/>
                    </a:schemeClr>
                  </a:solidFill>
                  <a:latin typeface="+mj-ea"/>
                  <a:ea typeface="+mj-ea"/>
                </a:endParaRPr>
              </a:p>
            </p:txBody>
          </p:sp>
        </p:grpSp>
        <p:cxnSp>
          <p:nvCxnSpPr>
            <p:cNvPr id="33" name="直线连接符 32"/>
            <p:cNvCxnSpPr/>
            <p:nvPr/>
          </p:nvCxnSpPr>
          <p:spPr>
            <a:xfrm>
              <a:off x="4317270" y="3062896"/>
              <a:ext cx="2877650"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7834388" y="2454427"/>
            <a:ext cx="2939910" cy="2799364"/>
            <a:chOff x="4261120" y="2454427"/>
            <a:chExt cx="2939910" cy="2799364"/>
          </a:xfrm>
        </p:grpSpPr>
        <p:grpSp>
          <p:nvGrpSpPr>
            <p:cNvPr id="25" name="组合 24"/>
            <p:cNvGrpSpPr/>
            <p:nvPr/>
          </p:nvGrpSpPr>
          <p:grpSpPr>
            <a:xfrm>
              <a:off x="4261120" y="2454427"/>
              <a:ext cx="2939910" cy="2799364"/>
              <a:chOff x="1262313" y="2648913"/>
              <a:chExt cx="2939910" cy="2799364"/>
            </a:xfrm>
          </p:grpSpPr>
          <p:sp>
            <p:nvSpPr>
              <p:cNvPr id="27" name="文本框 26"/>
              <p:cNvSpPr txBox="1"/>
              <p:nvPr>
                <p:custDataLst>
                  <p:tags r:id="rId9"/>
                </p:custDataLst>
              </p:nvPr>
            </p:nvSpPr>
            <p:spPr>
              <a:xfrm>
                <a:off x="1700896" y="2648913"/>
                <a:ext cx="2501327" cy="379954"/>
              </a:xfrm>
              <a:prstGeom prst="rect">
                <a:avLst/>
              </a:prstGeom>
              <a:noFill/>
            </p:spPr>
            <p:txBody>
              <a:bodyPr wrap="square" rtlCol="0">
                <a:noAutofit/>
              </a:bodyPr>
              <a:lstStyle/>
              <a:p>
                <a:pPr>
                  <a:buSzPct val="100000"/>
                </a:pPr>
                <a:r>
                  <a:rPr lang="zh-CN" altLang="zh-CN" sz="1600" b="1" dirty="0" smtClean="0">
                    <a:cs typeface="华光报宋一_CNKI" charset="0"/>
                    <a:sym typeface="+mn-ea"/>
                  </a:rPr>
                  <a:t>建设产业</a:t>
                </a:r>
                <a:r>
                  <a:rPr lang="zh-CN" altLang="en-US" sz="1600" b="1" dirty="0" smtClean="0">
                    <a:cs typeface="华光报宋一_CNKI" charset="0"/>
                    <a:sym typeface="+mn-ea"/>
                  </a:rPr>
                  <a:t>创新</a:t>
                </a:r>
                <a:r>
                  <a:rPr lang="zh-CN" altLang="zh-CN" sz="1600" b="1" dirty="0" smtClean="0">
                    <a:cs typeface="华光报宋一_CNKI" charset="0"/>
                    <a:sym typeface="+mn-ea"/>
                  </a:rPr>
                  <a:t>联合体 </a:t>
                </a:r>
                <a:endParaRPr lang="zh-CN" altLang="zh-CN" sz="1600" b="1" spc="110" dirty="0">
                  <a:solidFill>
                    <a:schemeClr val="tx1">
                      <a:lumMod val="85000"/>
                      <a:lumOff val="15000"/>
                    </a:schemeClr>
                  </a:solidFill>
                  <a:latin typeface="微软雅黑" panose="020B0503020204020204" pitchFamily="34" charset="-122"/>
                  <a:ea typeface="微软雅黑" panose="020B0503020204020204" pitchFamily="34" charset="-122"/>
                  <a:sym typeface="+mn-ea"/>
                </a:endParaRPr>
              </a:p>
            </p:txBody>
          </p:sp>
          <p:grpSp>
            <p:nvGrpSpPr>
              <p:cNvPr id="28" name="组合 27"/>
              <p:cNvGrpSpPr/>
              <p:nvPr/>
            </p:nvGrpSpPr>
            <p:grpSpPr>
              <a:xfrm>
                <a:off x="1318463" y="2655532"/>
                <a:ext cx="339665" cy="339665"/>
                <a:chOff x="504698" y="2554152"/>
                <a:chExt cx="339665" cy="339665"/>
              </a:xfrm>
            </p:grpSpPr>
            <p:sp>
              <p:nvSpPr>
                <p:cNvPr id="30" name="椭圆 29"/>
                <p:cNvSpPr/>
                <p:nvPr>
                  <p:custDataLst>
                    <p:tags r:id="rId10"/>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31" name="icon"/>
                <p:cNvSpPr/>
                <p:nvPr>
                  <p:custDataLst>
                    <p:tags r:id="rId11"/>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29" name="矩形 28"/>
              <p:cNvSpPr/>
              <p:nvPr/>
            </p:nvSpPr>
            <p:spPr>
              <a:xfrm>
                <a:off x="1262313" y="3416952"/>
                <a:ext cx="2928480" cy="2031325"/>
              </a:xfrm>
              <a:prstGeom prst="rect">
                <a:avLst/>
              </a:prstGeom>
            </p:spPr>
            <p:txBody>
              <a:bodyPr wrap="square">
                <a:spAutoFit/>
              </a:bodyPr>
              <a:lstStyle/>
              <a:p>
                <a:pPr algn="just"/>
                <a:r>
                  <a:rPr lang="zh-CN" altLang="en-US" sz="1400" dirty="0" smtClean="0">
                    <a:latin typeface="Calibri" panose="020F0502020204030204" charset="0"/>
                    <a:cs typeface="仿宋_GB2312" panose="02010609030101010101" charset="-122"/>
                    <a:sym typeface="+mn-ea"/>
                  </a:rPr>
                  <a:t>成立</a:t>
                </a:r>
                <a:r>
                  <a:rPr lang="zh-CN" altLang="en-US" sz="1400" dirty="0">
                    <a:latin typeface="Calibri" panose="020F0502020204030204" charset="0"/>
                    <a:cs typeface="仿宋_GB2312" panose="02010609030101010101" charset="-122"/>
                    <a:sym typeface="+mn-ea"/>
                  </a:rPr>
                  <a:t>产业创新发展专家委员会，吸纳国内高校科研院所专家学者、省内重点科技型企业负责人，构建产业领域专家智库</a:t>
                </a:r>
                <a:r>
                  <a:rPr lang="zh-CN" altLang="en-US" sz="1400" dirty="0" smtClean="0">
                    <a:latin typeface="Calibri" panose="020F0502020204030204" charset="0"/>
                    <a:cs typeface="仿宋_GB2312" panose="02010609030101010101" charset="-122"/>
                    <a:sym typeface="+mn-ea"/>
                  </a:rPr>
                  <a:t>体系；实施</a:t>
                </a:r>
                <a:r>
                  <a:rPr lang="zh-CN" altLang="en-US" sz="1400" dirty="0">
                    <a:latin typeface="Calibri" panose="020F0502020204030204" charset="0"/>
                    <a:cs typeface="仿宋_GB2312" panose="02010609030101010101" charset="-122"/>
                    <a:sym typeface="+mn-ea"/>
                  </a:rPr>
                  <a:t>产业创新发展研究项目，产出一批高水平研究成果，为省委省政府提供决策</a:t>
                </a:r>
                <a:r>
                  <a:rPr lang="zh-CN" altLang="en-US" sz="1400" dirty="0" smtClean="0">
                    <a:latin typeface="Calibri" panose="020F0502020204030204" charset="0"/>
                    <a:cs typeface="仿宋_GB2312" panose="02010609030101010101" charset="-122"/>
                    <a:sym typeface="+mn-ea"/>
                  </a:rPr>
                  <a:t>支撑；完善</a:t>
                </a:r>
                <a:r>
                  <a:rPr lang="zh-CN" altLang="en-US" sz="1400" dirty="0">
                    <a:latin typeface="Calibri" panose="020F0502020204030204" charset="0"/>
                    <a:cs typeface="仿宋_GB2312" panose="02010609030101010101" charset="-122"/>
                    <a:sym typeface="+mn-ea"/>
                  </a:rPr>
                  <a:t>政产学研金服用等第三方服务体系建设，全面提升资源配置效率，服务生态示范养成。</a:t>
                </a:r>
                <a:endParaRPr lang="en-US" altLang="zh-CN" sz="1400" b="1" dirty="0">
                  <a:solidFill>
                    <a:schemeClr val="tx1"/>
                  </a:solidFill>
                  <a:latin typeface="华光报宋一_CNKI" charset="0"/>
                  <a:cs typeface="仿宋_GB2312" panose="02010609030101010101" charset="-122"/>
                  <a:sym typeface="+mn-ea"/>
                </a:endParaRPr>
              </a:p>
            </p:txBody>
          </p:sp>
        </p:grpSp>
        <p:cxnSp>
          <p:nvCxnSpPr>
            <p:cNvPr id="26" name="直线连接符 25"/>
            <p:cNvCxnSpPr/>
            <p:nvPr/>
          </p:nvCxnSpPr>
          <p:spPr>
            <a:xfrm>
              <a:off x="4317270" y="3062896"/>
              <a:ext cx="2665852"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spTree>
    <p:custDataLst>
      <p:tags r:id="rId12"/>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06077" y="66507"/>
            <a:ext cx="5891573" cy="836188"/>
            <a:chOff x="706077" y="66507"/>
            <a:chExt cx="5891573" cy="836188"/>
          </a:xfrm>
        </p:grpSpPr>
        <p:sp>
          <p:nvSpPr>
            <p:cNvPr id="3"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solidFill>
                    <a:schemeClr val="accent3">
                      <a:lumMod val="75000"/>
                    </a:schemeClr>
                  </a:solidFill>
                  <a:sym typeface="+mn-ea"/>
                </a:rPr>
                <a:t>提升成果转化服务能力</a:t>
              </a:r>
              <a:endParaRPr lang="zh-CN" altLang="en-US" dirty="0">
                <a:solidFill>
                  <a:schemeClr val="accent3">
                    <a:lumMod val="75000"/>
                  </a:schemeClr>
                </a:solidFill>
              </a:endParaRPr>
            </a:p>
          </p:txBody>
        </p:sp>
        <p:sp>
          <p:nvSpPr>
            <p:cNvPr id="4" name="文本框 3"/>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4.5</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7" name="组合 6"/>
          <p:cNvGrpSpPr/>
          <p:nvPr/>
        </p:nvGrpSpPr>
        <p:grpSpPr>
          <a:xfrm>
            <a:off x="703007" y="1375940"/>
            <a:ext cx="10558241" cy="3893671"/>
            <a:chOff x="591669" y="599778"/>
            <a:chExt cx="10558241" cy="3893671"/>
          </a:xfrm>
        </p:grpSpPr>
        <p:grpSp>
          <p:nvGrpSpPr>
            <p:cNvPr id="8" name="组合 7"/>
            <p:cNvGrpSpPr/>
            <p:nvPr/>
          </p:nvGrpSpPr>
          <p:grpSpPr>
            <a:xfrm>
              <a:off x="591669" y="599778"/>
              <a:ext cx="10558241" cy="3893671"/>
              <a:chOff x="591669" y="599778"/>
              <a:chExt cx="10558241" cy="3893671"/>
            </a:xfrm>
          </p:grpSpPr>
          <p:grpSp>
            <p:nvGrpSpPr>
              <p:cNvPr id="10" name="组合 9"/>
              <p:cNvGrpSpPr/>
              <p:nvPr/>
            </p:nvGrpSpPr>
            <p:grpSpPr>
              <a:xfrm>
                <a:off x="591669" y="1685475"/>
                <a:ext cx="10558241" cy="2499250"/>
                <a:chOff x="591669" y="1685475"/>
                <a:chExt cx="10558241" cy="2499250"/>
              </a:xfrm>
            </p:grpSpPr>
            <p:sp>
              <p:nvSpPr>
                <p:cNvPr id="12" name="矩形 11"/>
                <p:cNvSpPr/>
                <p:nvPr/>
              </p:nvSpPr>
              <p:spPr>
                <a:xfrm>
                  <a:off x="591669" y="1689522"/>
                  <a:ext cx="10558241" cy="2495203"/>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13" name="矩形 12"/>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4" name="文本框 13"/>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建设目标</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579" y="599778"/>
                <a:ext cx="3827516" cy="3893671"/>
              </a:xfrm>
              <a:prstGeom prst="rect">
                <a:avLst/>
              </a:prstGeom>
            </p:spPr>
          </p:pic>
        </p:grpSp>
        <p:sp>
          <p:nvSpPr>
            <p:cNvPr id="9" name="矩形 8"/>
            <p:cNvSpPr/>
            <p:nvPr/>
          </p:nvSpPr>
          <p:spPr>
            <a:xfrm>
              <a:off x="924334" y="2388571"/>
              <a:ext cx="5561978" cy="1346907"/>
            </a:xfrm>
            <a:prstGeom prst="rect">
              <a:avLst/>
            </a:prstGeom>
          </p:spPr>
          <p:txBody>
            <a:bodyPr wrap="square">
              <a:spAutoFit/>
            </a:bodyPr>
            <a:lstStyle/>
            <a:p>
              <a:pPr indent="0" algn="just" fontAlgn="auto">
                <a:lnSpc>
                  <a:spcPct val="150000"/>
                </a:lnSpc>
              </a:pPr>
              <a:r>
                <a:rPr lang="zh-CN" altLang="en-US" sz="1400" kern="100" dirty="0">
                  <a:latin typeface="+mn-ea"/>
                  <a:cs typeface="Times New Roman" panose="02020603050405020304" pitchFamily="18" charset="0"/>
                </a:rPr>
                <a:t>       服务全省科技成果转化工作需求，推进科技大市场体系建设，集聚资源，促进“政产学研金服用”创新要素体系化、自主有序流动，融合互补，畅通科技成果转移转化通道，为补齐我省技术转移工作短板，探索科技成果转化新体系、新模式开展研究。</a:t>
              </a:r>
              <a:endParaRPr lang="zh-CN" altLang="en-US" sz="1400" kern="100" dirty="0">
                <a:latin typeface="+mn-ea"/>
                <a:cs typeface="Times New Roman" panose="02020603050405020304" pitchFamily="18" charset="0"/>
              </a:endParaRPr>
            </a:p>
          </p:txBody>
        </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06077" y="66507"/>
            <a:ext cx="5891573" cy="836188"/>
            <a:chOff x="706077" y="66507"/>
            <a:chExt cx="5891573" cy="836188"/>
          </a:xfrm>
        </p:grpSpPr>
        <p:sp>
          <p:nvSpPr>
            <p:cNvPr id="3"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solidFill>
                    <a:schemeClr val="accent3">
                      <a:lumMod val="75000"/>
                    </a:schemeClr>
                  </a:solidFill>
                  <a:sym typeface="+mn-ea"/>
                </a:rPr>
                <a:t>提升成果转化服务能力</a:t>
              </a:r>
              <a:endParaRPr lang="zh-CN" altLang="en-US" dirty="0">
                <a:solidFill>
                  <a:schemeClr val="accent3">
                    <a:lumMod val="75000"/>
                  </a:schemeClr>
                </a:solidFill>
              </a:endParaRPr>
            </a:p>
          </p:txBody>
        </p:sp>
        <p:sp>
          <p:nvSpPr>
            <p:cNvPr id="4" name="文本框 3"/>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4.5</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5" name="组合 4"/>
          <p:cNvGrpSpPr/>
          <p:nvPr/>
        </p:nvGrpSpPr>
        <p:grpSpPr>
          <a:xfrm>
            <a:off x="703007" y="1656023"/>
            <a:ext cx="10558241" cy="3925304"/>
            <a:chOff x="591669" y="1685475"/>
            <a:chExt cx="10558241" cy="3925304"/>
          </a:xfrm>
        </p:grpSpPr>
        <p:grpSp>
          <p:nvGrpSpPr>
            <p:cNvPr id="25" name="组合 24"/>
            <p:cNvGrpSpPr/>
            <p:nvPr/>
          </p:nvGrpSpPr>
          <p:grpSpPr>
            <a:xfrm>
              <a:off x="591669" y="1685475"/>
              <a:ext cx="10558241" cy="3925304"/>
              <a:chOff x="591669" y="1685475"/>
              <a:chExt cx="10558241" cy="3925304"/>
            </a:xfrm>
          </p:grpSpPr>
          <p:sp>
            <p:nvSpPr>
              <p:cNvPr id="27" name="矩形 26"/>
              <p:cNvSpPr/>
              <p:nvPr/>
            </p:nvSpPr>
            <p:spPr>
              <a:xfrm>
                <a:off x="591669" y="1689522"/>
                <a:ext cx="10558241" cy="3921257"/>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28" name="矩形 27"/>
              <p:cNvSpPr/>
              <p:nvPr>
                <p:custDataLst>
                  <p:tags r:id="rId1"/>
                </p:custDataLst>
              </p:nvPr>
            </p:nvSpPr>
            <p:spPr>
              <a:xfrm>
                <a:off x="591670" y="1685475"/>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29" name="文本框 28"/>
              <p:cNvSpPr txBox="1"/>
              <p:nvPr/>
            </p:nvSpPr>
            <p:spPr>
              <a:xfrm>
                <a:off x="839096" y="1723062"/>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建设内容</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sp>
          <p:nvSpPr>
            <p:cNvPr id="26" name="矩形 25"/>
            <p:cNvSpPr/>
            <p:nvPr/>
          </p:nvSpPr>
          <p:spPr>
            <a:xfrm>
              <a:off x="924334" y="2388571"/>
              <a:ext cx="9745399" cy="1384995"/>
            </a:xfrm>
            <a:prstGeom prst="rect">
              <a:avLst/>
            </a:prstGeom>
          </p:spPr>
          <p:txBody>
            <a:bodyPr wrap="square">
              <a:spAutoFit/>
            </a:bodyPr>
            <a:lstStyle/>
            <a:p>
              <a:pPr algn="just">
                <a:lnSpc>
                  <a:spcPct val="150000"/>
                </a:lnSpc>
              </a:pPr>
              <a:r>
                <a:rPr lang="zh-CN" altLang="en-US" sz="1400" kern="100" dirty="0">
                  <a:latin typeface="+mn-ea"/>
                  <a:cs typeface="Times New Roman" panose="02020603050405020304" pitchFamily="18" charset="0"/>
                </a:rPr>
                <a:t>        聚集科技创新要素资源，服务各类科技成果转化主题，构建“</a:t>
              </a:r>
              <a:r>
                <a:rPr lang="en-US" altLang="zh-CN" sz="1400" kern="100" dirty="0">
                  <a:latin typeface="+mn-ea"/>
                  <a:cs typeface="Times New Roman" panose="02020603050405020304" pitchFamily="18" charset="0"/>
                </a:rPr>
                <a:t>1+9+N”</a:t>
              </a:r>
              <a:r>
                <a:rPr lang="zh-CN" altLang="en-US" sz="1400" kern="100" dirty="0">
                  <a:latin typeface="+mn-ea"/>
                  <a:cs typeface="Times New Roman" panose="02020603050405020304" pitchFamily="18" charset="0"/>
                </a:rPr>
                <a:t>的黄河流域科技成果转化平台</a:t>
              </a:r>
              <a:r>
                <a:rPr lang="zh-CN" altLang="en-US" sz="1400" kern="100" dirty="0" smtClean="0">
                  <a:latin typeface="+mn-ea"/>
                  <a:cs typeface="Times New Roman" panose="02020603050405020304" pitchFamily="18" charset="0"/>
                </a:rPr>
                <a:t>，以</a:t>
              </a:r>
              <a:r>
                <a:rPr lang="zh-CN" altLang="en-US" sz="1400" kern="100" dirty="0">
                  <a:latin typeface="+mn-ea"/>
                  <a:cs typeface="Times New Roman" panose="02020603050405020304" pitchFamily="18" charset="0"/>
                </a:rPr>
                <a:t>产业需求为牵引，以成果转化为主线，发挥科研院所、高校、新型研发机构、企业和第三方服务机构等各类创新主体能效，集聚成果、金融、人才、平台、服务、政策等技术要素，强化交流合作，推动形成创新联合体，打通科技成果转化“最后一公里”</a:t>
              </a:r>
              <a:r>
                <a:rPr lang="zh-CN" altLang="zh-CN" sz="1400" kern="100" dirty="0">
                  <a:latin typeface="+mn-ea"/>
                  <a:cs typeface="Times New Roman" panose="02020603050405020304" pitchFamily="18" charset="0"/>
                </a:rPr>
                <a:t>。</a:t>
              </a:r>
              <a:endParaRPr lang="zh-CN" altLang="zh-CN" sz="1400" kern="100" dirty="0">
                <a:latin typeface="+mn-ea"/>
                <a:cs typeface="Times New Roman" panose="02020603050405020304" pitchFamily="18" charset="0"/>
              </a:endParaRPr>
            </a:p>
          </p:txBody>
        </p:sp>
      </p:grpSp>
      <p:grpSp>
        <p:nvGrpSpPr>
          <p:cNvPr id="6" name="组合 5"/>
          <p:cNvGrpSpPr/>
          <p:nvPr/>
        </p:nvGrpSpPr>
        <p:grpSpPr>
          <a:xfrm>
            <a:off x="1559948" y="3823364"/>
            <a:ext cx="7803217" cy="1186281"/>
            <a:chOff x="287948" y="3682388"/>
            <a:chExt cx="7803217" cy="1186281"/>
          </a:xfrm>
        </p:grpSpPr>
        <p:sp>
          <p:nvSpPr>
            <p:cNvPr id="16" name="文本框 15"/>
            <p:cNvSpPr txBox="1"/>
            <p:nvPr/>
          </p:nvSpPr>
          <p:spPr>
            <a:xfrm>
              <a:off x="287948" y="3682388"/>
              <a:ext cx="4064000" cy="368300"/>
            </a:xfrm>
            <a:prstGeom prst="rect">
              <a:avLst/>
            </a:prstGeom>
            <a:noFill/>
          </p:spPr>
          <p:txBody>
            <a:bodyPr wrap="square" rtlCol="0">
              <a:spAutoFit/>
            </a:bodyPr>
            <a:lstStyle/>
            <a:p>
              <a:endParaRPr lang="zh-CN" altLang="en-US"/>
            </a:p>
          </p:txBody>
        </p:sp>
        <p:sp>
          <p:nvSpPr>
            <p:cNvPr id="17" name="矩形 16"/>
            <p:cNvSpPr/>
            <p:nvPr>
              <p:custDataLst>
                <p:tags r:id="rId2"/>
              </p:custDataLst>
            </p:nvPr>
          </p:nvSpPr>
          <p:spPr>
            <a:xfrm>
              <a:off x="1284896"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ym typeface="+mn-ea"/>
                </a:rPr>
                <a:t>健全黄河流域科技成果</a:t>
              </a:r>
              <a:r>
                <a:rPr lang="zh-CN" altLang="en-US" sz="1600" dirty="0" smtClean="0">
                  <a:sym typeface="+mn-ea"/>
                </a:rPr>
                <a:t>转化合作体系</a:t>
              </a:r>
              <a:endParaRPr lang="zh-CN" altLang="en-US" sz="1600" dirty="0">
                <a:sym typeface="+mn-ea"/>
              </a:endParaRPr>
            </a:p>
          </p:txBody>
        </p:sp>
        <p:sp>
          <p:nvSpPr>
            <p:cNvPr id="18" name="矩形 17"/>
            <p:cNvSpPr/>
            <p:nvPr>
              <p:custDataLst>
                <p:tags r:id="rId3"/>
              </p:custDataLst>
            </p:nvPr>
          </p:nvSpPr>
          <p:spPr>
            <a:xfrm>
              <a:off x="3710277"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ym typeface="+mn-ea"/>
                </a:rPr>
                <a:t>健全赋能产业发展创新服务体系</a:t>
              </a:r>
              <a:endParaRPr lang="zh-CN" altLang="en-US" sz="1600" dirty="0">
                <a:sym typeface="+mn-ea"/>
              </a:endParaRPr>
            </a:p>
          </p:txBody>
        </p:sp>
        <p:sp>
          <p:nvSpPr>
            <p:cNvPr id="19" name="矩形 18"/>
            <p:cNvSpPr/>
            <p:nvPr>
              <p:custDataLst>
                <p:tags r:id="rId4"/>
              </p:custDataLst>
            </p:nvPr>
          </p:nvSpPr>
          <p:spPr>
            <a:xfrm>
              <a:off x="6162866" y="4284664"/>
              <a:ext cx="1928299" cy="584005"/>
            </a:xfrm>
            <a:prstGeom prst="rect">
              <a:avLst/>
            </a:prstGeom>
            <a:gradFill flip="none" rotWithShape="1">
              <a:gsLst>
                <a:gs pos="0">
                  <a:schemeClr val="accent3">
                    <a:lumMod val="75000"/>
                  </a:schemeClr>
                </a:gs>
                <a:gs pos="100000">
                  <a:schemeClr val="bg1">
                    <a:alpha val="19000"/>
                  </a:schemeClr>
                </a:gs>
                <a:gs pos="47000">
                  <a:schemeClr val="accent3"/>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sym typeface="+mn-ea"/>
                </a:rPr>
                <a:t>打造山东好成果特色品牌</a:t>
              </a:r>
              <a:endParaRPr lang="zh-CN" altLang="en-US" sz="1600" dirty="0">
                <a:latin typeface="+mj-ea"/>
                <a:ea typeface="+mj-ea"/>
                <a:sym typeface="+mn-ea"/>
              </a:endParaRPr>
            </a:p>
          </p:txBody>
        </p:sp>
        <p:cxnSp>
          <p:nvCxnSpPr>
            <p:cNvPr id="20" name="肘形连接符 19"/>
            <p:cNvCxnSpPr>
              <a:endCxn id="17" idx="0"/>
            </p:cNvCxnSpPr>
            <p:nvPr>
              <p:custDataLst>
                <p:tags r:id="rId5"/>
              </p:custDataLst>
            </p:nvPr>
          </p:nvCxnSpPr>
          <p:spPr>
            <a:xfrm rot="5400000">
              <a:off x="3207798" y="2811286"/>
              <a:ext cx="514353" cy="2431427"/>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164"/>
            <p:cNvCxnSpPr>
              <a:endCxn id="18" idx="0"/>
            </p:cNvCxnSpPr>
            <p:nvPr>
              <p:custDataLst>
                <p:tags r:id="rId6"/>
              </p:custDataLst>
            </p:nvPr>
          </p:nvCxnSpPr>
          <p:spPr>
            <a:xfrm flipH="1">
              <a:off x="4674642" y="3769823"/>
              <a:ext cx="6478" cy="514353"/>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2" name="肘形连接符 21"/>
            <p:cNvCxnSpPr/>
            <p:nvPr>
              <p:custDataLst>
                <p:tags r:id="rId7"/>
              </p:custDataLst>
            </p:nvPr>
          </p:nvCxnSpPr>
          <p:spPr>
            <a:xfrm rot="5400000" flipV="1">
              <a:off x="5651951" y="2803728"/>
              <a:ext cx="514353" cy="2446543"/>
            </a:xfrm>
            <a:prstGeom prst="bentConnector3">
              <a:avLst>
                <a:gd name="adj1" fmla="val 49938"/>
              </a:avLst>
            </a:prstGeom>
            <a:ln w="22225">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06077" y="66507"/>
            <a:ext cx="5891573" cy="836188"/>
            <a:chOff x="706077" y="66507"/>
            <a:chExt cx="5891573" cy="836188"/>
          </a:xfrm>
        </p:grpSpPr>
        <p:sp>
          <p:nvSpPr>
            <p:cNvPr id="3"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sz="2800" b="1" dirty="0">
                  <a:solidFill>
                    <a:schemeClr val="accent1">
                      <a:lumMod val="75000"/>
                    </a:schemeClr>
                  </a:solidFill>
                  <a:sym typeface="+mn-ea"/>
                </a:rPr>
                <a:t>提升成果转化服务能力</a:t>
              </a:r>
              <a:endParaRPr lang="zh-CN" altLang="en-US" dirty="0">
                <a:solidFill>
                  <a:schemeClr val="accent1">
                    <a:lumMod val="75000"/>
                  </a:schemeClr>
                </a:solidFill>
              </a:endParaRPr>
            </a:p>
          </p:txBody>
        </p:sp>
        <p:sp>
          <p:nvSpPr>
            <p:cNvPr id="4" name="文本框 3"/>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4.5</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
        <p:nvSpPr>
          <p:cNvPr id="6" name="icon"/>
          <p:cNvSpPr/>
          <p:nvPr>
            <p:custDataLst>
              <p:tags r:id="rId1"/>
            </p:custDataLst>
          </p:nvPr>
        </p:nvSpPr>
        <p:spPr bwMode="auto">
          <a:xfrm>
            <a:off x="6269161" y="4564706"/>
            <a:ext cx="184253" cy="184253"/>
          </a:xfrm>
          <a:custGeom>
            <a:avLst/>
            <a:gdLst>
              <a:gd name="T0" fmla="*/ 5481 w 6554"/>
              <a:gd name="T1" fmla="*/ 5052 h 6554"/>
              <a:gd name="T2" fmla="*/ 5052 w 6554"/>
              <a:gd name="T3" fmla="*/ 3848 h 6554"/>
              <a:gd name="T4" fmla="*/ 5252 w 6554"/>
              <a:gd name="T5" fmla="*/ 1649 h 6554"/>
              <a:gd name="T6" fmla="*/ 3974 w 6554"/>
              <a:gd name="T7" fmla="*/ 0 h 6554"/>
              <a:gd name="T8" fmla="*/ 2728 w 6554"/>
              <a:gd name="T9" fmla="*/ 803 h 6554"/>
              <a:gd name="T10" fmla="*/ 1164 w 6554"/>
              <a:gd name="T11" fmla="*/ 1253 h 6554"/>
              <a:gd name="T12" fmla="*/ 546 w 6554"/>
              <a:gd name="T13" fmla="*/ 2731 h 6554"/>
              <a:gd name="T14" fmla="*/ 1502 w 6554"/>
              <a:gd name="T15" fmla="*/ 5052 h 6554"/>
              <a:gd name="T16" fmla="*/ 546 w 6554"/>
              <a:gd name="T17" fmla="*/ 4642 h 6554"/>
              <a:gd name="T18" fmla="*/ 546 w 6554"/>
              <a:gd name="T19" fmla="*/ 5734 h 6554"/>
              <a:gd name="T20" fmla="*/ 1775 w 6554"/>
              <a:gd name="T21" fmla="*/ 5325 h 6554"/>
              <a:gd name="T22" fmla="*/ 1824 w 6554"/>
              <a:gd name="T23" fmla="*/ 3882 h 6554"/>
              <a:gd name="T24" fmla="*/ 2458 w 6554"/>
              <a:gd name="T25" fmla="*/ 5481 h 6554"/>
              <a:gd name="T26" fmla="*/ 2594 w 6554"/>
              <a:gd name="T27" fmla="*/ 6554 h 6554"/>
              <a:gd name="T28" fmla="*/ 2731 w 6554"/>
              <a:gd name="T29" fmla="*/ 5481 h 6554"/>
              <a:gd name="T30" fmla="*/ 3823 w 6554"/>
              <a:gd name="T31" fmla="*/ 3882 h 6554"/>
              <a:gd name="T32" fmla="*/ 3413 w 6554"/>
              <a:gd name="T33" fmla="*/ 6008 h 6554"/>
              <a:gd name="T34" fmla="*/ 4506 w 6554"/>
              <a:gd name="T35" fmla="*/ 6008 h 6554"/>
              <a:gd name="T36" fmla="*/ 4096 w 6554"/>
              <a:gd name="T37" fmla="*/ 3882 h 6554"/>
              <a:gd name="T38" fmla="*/ 4779 w 6554"/>
              <a:gd name="T39" fmla="*/ 3880 h 6554"/>
              <a:gd name="T40" fmla="*/ 5481 w 6554"/>
              <a:gd name="T41" fmla="*/ 5325 h 6554"/>
              <a:gd name="T42" fmla="*/ 6554 w 6554"/>
              <a:gd name="T43" fmla="*/ 5188 h 6554"/>
              <a:gd name="T44" fmla="*/ 546 w 6554"/>
              <a:gd name="T45" fmla="*/ 5461 h 6554"/>
              <a:gd name="T46" fmla="*/ 546 w 6554"/>
              <a:gd name="T47" fmla="*/ 4915 h 6554"/>
              <a:gd name="T48" fmla="*/ 546 w 6554"/>
              <a:gd name="T49" fmla="*/ 5461 h 6554"/>
              <a:gd name="T50" fmla="*/ 2594 w 6554"/>
              <a:gd name="T51" fmla="*/ 6281 h 6554"/>
              <a:gd name="T52" fmla="*/ 2594 w 6554"/>
              <a:gd name="T53" fmla="*/ 5734 h 6554"/>
              <a:gd name="T54" fmla="*/ 4233 w 6554"/>
              <a:gd name="T55" fmla="*/ 6008 h 6554"/>
              <a:gd name="T56" fmla="*/ 3686 w 6554"/>
              <a:gd name="T57" fmla="*/ 6008 h 6554"/>
              <a:gd name="T58" fmla="*/ 4233 w 6554"/>
              <a:gd name="T59" fmla="*/ 6008 h 6554"/>
              <a:gd name="T60" fmla="*/ 1824 w 6554"/>
              <a:gd name="T61" fmla="*/ 3609 h 6554"/>
              <a:gd name="T62" fmla="*/ 1328 w 6554"/>
              <a:gd name="T63" fmla="*/ 1934 h 6554"/>
              <a:gd name="T64" fmla="*/ 1402 w 6554"/>
              <a:gd name="T65" fmla="*/ 1774 h 6554"/>
              <a:gd name="T66" fmla="*/ 2039 w 6554"/>
              <a:gd name="T67" fmla="*/ 877 h 6554"/>
              <a:gd name="T68" fmla="*/ 2688 w 6554"/>
              <a:gd name="T69" fmla="*/ 1136 h 6554"/>
              <a:gd name="T70" fmla="*/ 2925 w 6554"/>
              <a:gd name="T71" fmla="*/ 1078 h 6554"/>
              <a:gd name="T72" fmla="*/ 3972 w 6554"/>
              <a:gd name="T73" fmla="*/ 273 h 6554"/>
              <a:gd name="T74" fmla="*/ 4948 w 6554"/>
              <a:gd name="T75" fmla="*/ 1683 h 6554"/>
              <a:gd name="T76" fmla="*/ 5044 w 6554"/>
              <a:gd name="T77" fmla="*/ 1872 h 6554"/>
              <a:gd name="T78" fmla="*/ 4730 w 6554"/>
              <a:gd name="T79" fmla="*/ 3609 h 6554"/>
              <a:gd name="T80" fmla="*/ 5734 w 6554"/>
              <a:gd name="T81" fmla="*/ 5188 h 6554"/>
              <a:gd name="T82" fmla="*/ 6281 w 6554"/>
              <a:gd name="T83" fmla="*/ 5188 h 6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554" h="6554">
                <a:moveTo>
                  <a:pt x="6008" y="4642"/>
                </a:moveTo>
                <a:cubicBezTo>
                  <a:pt x="5754" y="4642"/>
                  <a:pt x="5542" y="4817"/>
                  <a:pt x="5481" y="5052"/>
                </a:cubicBezTo>
                <a:lnTo>
                  <a:pt x="5052" y="5052"/>
                </a:lnTo>
                <a:lnTo>
                  <a:pt x="5052" y="3848"/>
                </a:lnTo>
                <a:cubicBezTo>
                  <a:pt x="5621" y="3729"/>
                  <a:pt x="6008" y="3296"/>
                  <a:pt x="6008" y="2731"/>
                </a:cubicBezTo>
                <a:cubicBezTo>
                  <a:pt x="6008" y="2246"/>
                  <a:pt x="5698" y="1813"/>
                  <a:pt x="5252" y="1649"/>
                </a:cubicBezTo>
                <a:cubicBezTo>
                  <a:pt x="5293" y="1514"/>
                  <a:pt x="5307" y="1375"/>
                  <a:pt x="5298" y="1219"/>
                </a:cubicBezTo>
                <a:cubicBezTo>
                  <a:pt x="5257" y="552"/>
                  <a:pt x="4663" y="5"/>
                  <a:pt x="3974" y="0"/>
                </a:cubicBezTo>
                <a:cubicBezTo>
                  <a:pt x="3971" y="0"/>
                  <a:pt x="3967" y="0"/>
                  <a:pt x="3964" y="0"/>
                </a:cubicBezTo>
                <a:cubicBezTo>
                  <a:pt x="3419" y="0"/>
                  <a:pt x="2932" y="326"/>
                  <a:pt x="2728" y="803"/>
                </a:cubicBezTo>
                <a:cubicBezTo>
                  <a:pt x="2527" y="653"/>
                  <a:pt x="2273" y="581"/>
                  <a:pt x="2014" y="606"/>
                </a:cubicBezTo>
                <a:cubicBezTo>
                  <a:pt x="1641" y="640"/>
                  <a:pt x="1315" y="889"/>
                  <a:pt x="1164" y="1253"/>
                </a:cubicBezTo>
                <a:cubicBezTo>
                  <a:pt x="1091" y="1426"/>
                  <a:pt x="1101" y="1619"/>
                  <a:pt x="1117" y="1736"/>
                </a:cubicBezTo>
                <a:cubicBezTo>
                  <a:pt x="767" y="1941"/>
                  <a:pt x="546" y="2320"/>
                  <a:pt x="546" y="2731"/>
                </a:cubicBezTo>
                <a:cubicBezTo>
                  <a:pt x="546" y="3286"/>
                  <a:pt x="940" y="3725"/>
                  <a:pt x="1502" y="3847"/>
                </a:cubicBezTo>
                <a:lnTo>
                  <a:pt x="1502" y="5052"/>
                </a:lnTo>
                <a:lnTo>
                  <a:pt x="1073" y="5052"/>
                </a:lnTo>
                <a:cubicBezTo>
                  <a:pt x="1012" y="4817"/>
                  <a:pt x="800" y="4642"/>
                  <a:pt x="546" y="4642"/>
                </a:cubicBezTo>
                <a:cubicBezTo>
                  <a:pt x="245" y="4642"/>
                  <a:pt x="0" y="4887"/>
                  <a:pt x="0" y="5188"/>
                </a:cubicBezTo>
                <a:cubicBezTo>
                  <a:pt x="0" y="5489"/>
                  <a:pt x="245" y="5734"/>
                  <a:pt x="546" y="5734"/>
                </a:cubicBezTo>
                <a:cubicBezTo>
                  <a:pt x="800" y="5734"/>
                  <a:pt x="1012" y="5560"/>
                  <a:pt x="1073" y="5325"/>
                </a:cubicBezTo>
                <a:lnTo>
                  <a:pt x="1775" y="5325"/>
                </a:lnTo>
                <a:lnTo>
                  <a:pt x="1775" y="3880"/>
                </a:lnTo>
                <a:cubicBezTo>
                  <a:pt x="1791" y="3881"/>
                  <a:pt x="1807" y="3882"/>
                  <a:pt x="1824" y="3882"/>
                </a:cubicBezTo>
                <a:lnTo>
                  <a:pt x="2458" y="3882"/>
                </a:lnTo>
                <a:lnTo>
                  <a:pt x="2458" y="5481"/>
                </a:lnTo>
                <a:cubicBezTo>
                  <a:pt x="2223" y="5542"/>
                  <a:pt x="2048" y="5754"/>
                  <a:pt x="2048" y="6008"/>
                </a:cubicBezTo>
                <a:cubicBezTo>
                  <a:pt x="2048" y="6309"/>
                  <a:pt x="2293" y="6554"/>
                  <a:pt x="2594" y="6554"/>
                </a:cubicBezTo>
                <a:cubicBezTo>
                  <a:pt x="2895" y="6554"/>
                  <a:pt x="3140" y="6309"/>
                  <a:pt x="3140" y="6008"/>
                </a:cubicBezTo>
                <a:cubicBezTo>
                  <a:pt x="3140" y="5754"/>
                  <a:pt x="2966" y="5542"/>
                  <a:pt x="2731" y="5481"/>
                </a:cubicBezTo>
                <a:lnTo>
                  <a:pt x="2731" y="3882"/>
                </a:lnTo>
                <a:lnTo>
                  <a:pt x="3823" y="3882"/>
                </a:lnTo>
                <a:lnTo>
                  <a:pt x="3823" y="5481"/>
                </a:lnTo>
                <a:cubicBezTo>
                  <a:pt x="3588" y="5542"/>
                  <a:pt x="3413" y="5754"/>
                  <a:pt x="3413" y="6008"/>
                </a:cubicBezTo>
                <a:cubicBezTo>
                  <a:pt x="3413" y="6309"/>
                  <a:pt x="3658" y="6554"/>
                  <a:pt x="3960" y="6554"/>
                </a:cubicBezTo>
                <a:cubicBezTo>
                  <a:pt x="4261" y="6554"/>
                  <a:pt x="4506" y="6309"/>
                  <a:pt x="4506" y="6008"/>
                </a:cubicBezTo>
                <a:cubicBezTo>
                  <a:pt x="4506" y="5754"/>
                  <a:pt x="4331" y="5542"/>
                  <a:pt x="4096" y="5481"/>
                </a:cubicBezTo>
                <a:lnTo>
                  <a:pt x="4096" y="3882"/>
                </a:lnTo>
                <a:lnTo>
                  <a:pt x="4730" y="3882"/>
                </a:lnTo>
                <a:cubicBezTo>
                  <a:pt x="4746" y="3882"/>
                  <a:pt x="4762" y="3881"/>
                  <a:pt x="4779" y="3880"/>
                </a:cubicBezTo>
                <a:lnTo>
                  <a:pt x="4779" y="5325"/>
                </a:lnTo>
                <a:lnTo>
                  <a:pt x="5481" y="5325"/>
                </a:lnTo>
                <a:cubicBezTo>
                  <a:pt x="5542" y="5560"/>
                  <a:pt x="5754" y="5734"/>
                  <a:pt x="6008" y="5734"/>
                </a:cubicBezTo>
                <a:cubicBezTo>
                  <a:pt x="6309" y="5734"/>
                  <a:pt x="6554" y="5489"/>
                  <a:pt x="6554" y="5188"/>
                </a:cubicBezTo>
                <a:cubicBezTo>
                  <a:pt x="6554" y="4887"/>
                  <a:pt x="6309" y="4642"/>
                  <a:pt x="6008" y="4642"/>
                </a:cubicBezTo>
                <a:close/>
                <a:moveTo>
                  <a:pt x="546" y="5461"/>
                </a:moveTo>
                <a:cubicBezTo>
                  <a:pt x="396" y="5461"/>
                  <a:pt x="273" y="5339"/>
                  <a:pt x="273" y="5188"/>
                </a:cubicBezTo>
                <a:cubicBezTo>
                  <a:pt x="273" y="5038"/>
                  <a:pt x="396" y="4915"/>
                  <a:pt x="546" y="4915"/>
                </a:cubicBezTo>
                <a:cubicBezTo>
                  <a:pt x="697" y="4915"/>
                  <a:pt x="819" y="5038"/>
                  <a:pt x="819" y="5188"/>
                </a:cubicBezTo>
                <a:cubicBezTo>
                  <a:pt x="819" y="5339"/>
                  <a:pt x="697" y="5461"/>
                  <a:pt x="546" y="5461"/>
                </a:cubicBezTo>
                <a:close/>
                <a:moveTo>
                  <a:pt x="2867" y="6008"/>
                </a:moveTo>
                <a:cubicBezTo>
                  <a:pt x="2867" y="6158"/>
                  <a:pt x="2745" y="6281"/>
                  <a:pt x="2594" y="6281"/>
                </a:cubicBezTo>
                <a:cubicBezTo>
                  <a:pt x="2444" y="6281"/>
                  <a:pt x="2321" y="6158"/>
                  <a:pt x="2321" y="6008"/>
                </a:cubicBezTo>
                <a:cubicBezTo>
                  <a:pt x="2321" y="5857"/>
                  <a:pt x="2444" y="5734"/>
                  <a:pt x="2594" y="5734"/>
                </a:cubicBezTo>
                <a:cubicBezTo>
                  <a:pt x="2745" y="5734"/>
                  <a:pt x="2867" y="5857"/>
                  <a:pt x="2867" y="6008"/>
                </a:cubicBezTo>
                <a:close/>
                <a:moveTo>
                  <a:pt x="4233" y="6008"/>
                </a:moveTo>
                <a:cubicBezTo>
                  <a:pt x="4233" y="6158"/>
                  <a:pt x="4110" y="6281"/>
                  <a:pt x="3960" y="6281"/>
                </a:cubicBezTo>
                <a:cubicBezTo>
                  <a:pt x="3809" y="6281"/>
                  <a:pt x="3686" y="6158"/>
                  <a:pt x="3686" y="6008"/>
                </a:cubicBezTo>
                <a:cubicBezTo>
                  <a:pt x="3686" y="5857"/>
                  <a:pt x="3809" y="5734"/>
                  <a:pt x="3960" y="5734"/>
                </a:cubicBezTo>
                <a:cubicBezTo>
                  <a:pt x="4110" y="5734"/>
                  <a:pt x="4233" y="5857"/>
                  <a:pt x="4233" y="6008"/>
                </a:cubicBezTo>
                <a:close/>
                <a:moveTo>
                  <a:pt x="4730" y="3609"/>
                </a:moveTo>
                <a:lnTo>
                  <a:pt x="1824" y="3609"/>
                </a:lnTo>
                <a:cubicBezTo>
                  <a:pt x="1242" y="3609"/>
                  <a:pt x="819" y="3240"/>
                  <a:pt x="819" y="2731"/>
                </a:cubicBezTo>
                <a:cubicBezTo>
                  <a:pt x="819" y="2390"/>
                  <a:pt x="1019" y="2077"/>
                  <a:pt x="1328" y="1934"/>
                </a:cubicBezTo>
                <a:lnTo>
                  <a:pt x="1432" y="1885"/>
                </a:lnTo>
                <a:lnTo>
                  <a:pt x="1402" y="1774"/>
                </a:lnTo>
                <a:cubicBezTo>
                  <a:pt x="1402" y="1772"/>
                  <a:pt x="1341" y="1538"/>
                  <a:pt x="1416" y="1358"/>
                </a:cubicBezTo>
                <a:cubicBezTo>
                  <a:pt x="1529" y="1087"/>
                  <a:pt x="1768" y="903"/>
                  <a:pt x="2039" y="877"/>
                </a:cubicBezTo>
                <a:cubicBezTo>
                  <a:pt x="2064" y="875"/>
                  <a:pt x="2088" y="874"/>
                  <a:pt x="2113" y="874"/>
                </a:cubicBezTo>
                <a:cubicBezTo>
                  <a:pt x="2335" y="874"/>
                  <a:pt x="2546" y="969"/>
                  <a:pt x="2688" y="1136"/>
                </a:cubicBezTo>
                <a:lnTo>
                  <a:pt x="2864" y="1345"/>
                </a:lnTo>
                <a:lnTo>
                  <a:pt x="2925" y="1078"/>
                </a:lnTo>
                <a:cubicBezTo>
                  <a:pt x="3031" y="611"/>
                  <a:pt x="3467" y="273"/>
                  <a:pt x="3964" y="273"/>
                </a:cubicBezTo>
                <a:cubicBezTo>
                  <a:pt x="3967" y="273"/>
                  <a:pt x="3969" y="273"/>
                  <a:pt x="3972" y="273"/>
                </a:cubicBezTo>
                <a:cubicBezTo>
                  <a:pt x="4520" y="277"/>
                  <a:pt x="4993" y="709"/>
                  <a:pt x="5025" y="1236"/>
                </a:cubicBezTo>
                <a:cubicBezTo>
                  <a:pt x="5036" y="1404"/>
                  <a:pt x="5012" y="1542"/>
                  <a:pt x="4948" y="1683"/>
                </a:cubicBezTo>
                <a:lnTo>
                  <a:pt x="4879" y="1836"/>
                </a:lnTo>
                <a:lnTo>
                  <a:pt x="5044" y="1872"/>
                </a:lnTo>
                <a:cubicBezTo>
                  <a:pt x="5444" y="1959"/>
                  <a:pt x="5734" y="2320"/>
                  <a:pt x="5734" y="2731"/>
                </a:cubicBezTo>
                <a:cubicBezTo>
                  <a:pt x="5734" y="3248"/>
                  <a:pt x="5321" y="3609"/>
                  <a:pt x="4730" y="3609"/>
                </a:cubicBezTo>
                <a:close/>
                <a:moveTo>
                  <a:pt x="6008" y="5461"/>
                </a:moveTo>
                <a:cubicBezTo>
                  <a:pt x="5857" y="5461"/>
                  <a:pt x="5734" y="5339"/>
                  <a:pt x="5734" y="5188"/>
                </a:cubicBezTo>
                <a:cubicBezTo>
                  <a:pt x="5734" y="5038"/>
                  <a:pt x="5857" y="4915"/>
                  <a:pt x="6008" y="4915"/>
                </a:cubicBezTo>
                <a:cubicBezTo>
                  <a:pt x="6158" y="4915"/>
                  <a:pt x="6281" y="5038"/>
                  <a:pt x="6281" y="5188"/>
                </a:cubicBezTo>
                <a:cubicBezTo>
                  <a:pt x="6281" y="5339"/>
                  <a:pt x="6158" y="5461"/>
                  <a:pt x="6008" y="5461"/>
                </a:cubicBezTo>
                <a:close/>
              </a:path>
            </a:pathLst>
          </a:custGeom>
          <a:solidFill>
            <a:schemeClr val="bg1"/>
          </a:solidFill>
          <a:ln>
            <a:noFill/>
          </a:ln>
        </p:spPr>
      </p:sp>
      <p:grpSp>
        <p:nvGrpSpPr>
          <p:cNvPr id="7" name="组合 6"/>
          <p:cNvGrpSpPr/>
          <p:nvPr/>
        </p:nvGrpSpPr>
        <p:grpSpPr>
          <a:xfrm>
            <a:off x="674530" y="1581173"/>
            <a:ext cx="10785985" cy="4259191"/>
            <a:chOff x="674530" y="1581173"/>
            <a:chExt cx="10785985" cy="4259191"/>
          </a:xfrm>
        </p:grpSpPr>
        <p:sp>
          <p:nvSpPr>
            <p:cNvPr id="5" name="矩形 4"/>
            <p:cNvSpPr/>
            <p:nvPr/>
          </p:nvSpPr>
          <p:spPr>
            <a:xfrm>
              <a:off x="674530" y="1581173"/>
              <a:ext cx="10785985" cy="4259191"/>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ctr"/>
              <a:endParaRPr lang="zh-CN" altLang="en-US" sz="1540" dirty="0">
                <a:latin typeface="Alibaba PuHuiTi 2.0 55" pitchFamily="18" charset="-122"/>
                <a:ea typeface="Alibaba PuHuiTi 2.0 55" pitchFamily="18" charset="-122"/>
              </a:endParaRPr>
            </a:p>
          </p:txBody>
        </p:sp>
        <p:sp>
          <p:nvSpPr>
            <p:cNvPr id="8" name="矩形 7"/>
            <p:cNvSpPr/>
            <p:nvPr>
              <p:custDataLst>
                <p:tags r:id="rId2"/>
              </p:custDataLst>
            </p:nvPr>
          </p:nvSpPr>
          <p:spPr>
            <a:xfrm>
              <a:off x="688260" y="1587317"/>
              <a:ext cx="344244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400"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0" name="文本框 9"/>
            <p:cNvSpPr txBox="1"/>
            <p:nvPr/>
          </p:nvSpPr>
          <p:spPr>
            <a:xfrm>
              <a:off x="935686" y="1624904"/>
              <a:ext cx="1369331" cy="395493"/>
            </a:xfrm>
            <a:prstGeom prst="rect">
              <a:avLst/>
            </a:prstGeom>
            <a:noFill/>
            <a:effectLst/>
          </p:spPr>
          <p:txBody>
            <a:bodyPr wrap="square" lIns="86868" tIns="43434" rIns="86868" bIns="43434" rtlCol="0">
              <a:spAutoFit/>
            </a:bodyPr>
            <a:lstStyle/>
            <a:p>
              <a:pPr algn="ctr"/>
              <a:r>
                <a:rPr kumimoji="1" lang="zh-CN" altLang="en-US" sz="2000" dirty="0">
                  <a:solidFill>
                    <a:schemeClr val="bg1"/>
                  </a:solidFill>
                  <a:latin typeface="微软雅黑" panose="020B0503020204020204" pitchFamily="34" charset="-122"/>
                  <a:ea typeface="微软雅黑" panose="020B0503020204020204" pitchFamily="34" charset="-122"/>
                </a:rPr>
                <a:t>具体工作</a:t>
              </a:r>
              <a:endParaRPr kumimoji="1" lang="zh-CN" altLang="en-US" sz="2000" dirty="0">
                <a:solidFill>
                  <a:schemeClr val="bg1"/>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1111971" y="2359669"/>
            <a:ext cx="2309371" cy="2662130"/>
            <a:chOff x="1111971" y="2448158"/>
            <a:chExt cx="2309371" cy="2662130"/>
          </a:xfrm>
        </p:grpSpPr>
        <p:grpSp>
          <p:nvGrpSpPr>
            <p:cNvPr id="14" name="组合 13"/>
            <p:cNvGrpSpPr/>
            <p:nvPr/>
          </p:nvGrpSpPr>
          <p:grpSpPr>
            <a:xfrm>
              <a:off x="1111971" y="2448158"/>
              <a:ext cx="2309371" cy="2662130"/>
              <a:chOff x="1250760" y="2554155"/>
              <a:chExt cx="2309371" cy="2662130"/>
            </a:xfrm>
          </p:grpSpPr>
          <p:sp>
            <p:nvSpPr>
              <p:cNvPr id="18" name="文本框 17"/>
              <p:cNvSpPr txBox="1"/>
              <p:nvPr>
                <p:custDataLst>
                  <p:tags r:id="rId3"/>
                </p:custDataLst>
              </p:nvPr>
            </p:nvSpPr>
            <p:spPr>
              <a:xfrm>
                <a:off x="1678035" y="2554155"/>
                <a:ext cx="1870665" cy="379954"/>
              </a:xfrm>
              <a:prstGeom prst="rect">
                <a:avLst/>
              </a:prstGeom>
              <a:noFill/>
            </p:spPr>
            <p:txBody>
              <a:bodyPr wrap="square" rtlCol="0">
                <a:noAutofit/>
              </a:bodyPr>
              <a:lstStyle/>
              <a:p>
                <a:pPr>
                  <a:buSzPct val="100000"/>
                </a:pPr>
                <a:r>
                  <a:rPr lang="zh-CN" altLang="en-US" sz="1600" b="1" dirty="0">
                    <a:sym typeface="+mn-ea"/>
                  </a:rPr>
                  <a:t>健全黄河流域科技成果</a:t>
                </a:r>
                <a:r>
                  <a:rPr lang="zh-CN" altLang="en-US" sz="1600" b="1" dirty="0" smtClean="0">
                    <a:sym typeface="+mn-ea"/>
                  </a:rPr>
                  <a:t>转化合作体系</a:t>
                </a:r>
                <a:endParaRPr lang="zh-CN" altLang="en-US" sz="1600" b="1" dirty="0">
                  <a:sym typeface="+mn-ea"/>
                </a:endParaRPr>
              </a:p>
            </p:txBody>
          </p:sp>
          <p:grpSp>
            <p:nvGrpSpPr>
              <p:cNvPr id="19" name="组合 18"/>
              <p:cNvGrpSpPr/>
              <p:nvPr/>
            </p:nvGrpSpPr>
            <p:grpSpPr>
              <a:xfrm>
                <a:off x="1318463" y="2655532"/>
                <a:ext cx="339665" cy="339665"/>
                <a:chOff x="504698" y="2554152"/>
                <a:chExt cx="339665" cy="339665"/>
              </a:xfrm>
            </p:grpSpPr>
            <p:sp>
              <p:nvSpPr>
                <p:cNvPr id="21" name="椭圆 20"/>
                <p:cNvSpPr/>
                <p:nvPr>
                  <p:custDataLst>
                    <p:tags r:id="rId4"/>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23" name="icon"/>
                <p:cNvSpPr/>
                <p:nvPr>
                  <p:custDataLst>
                    <p:tags r:id="rId5"/>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20" name="矩形 19"/>
              <p:cNvSpPr/>
              <p:nvPr/>
            </p:nvSpPr>
            <p:spPr>
              <a:xfrm>
                <a:off x="1250760" y="3461959"/>
                <a:ext cx="2309371" cy="1754326"/>
              </a:xfrm>
              <a:prstGeom prst="rect">
                <a:avLst/>
              </a:prstGeom>
            </p:spPr>
            <p:txBody>
              <a:bodyPr wrap="square">
                <a:spAutoFit/>
              </a:bodyPr>
              <a:lstStyle/>
              <a:p>
                <a:pPr algn="just"/>
                <a:r>
                  <a:rPr lang="zh-CN" altLang="en-US" sz="1200" dirty="0">
                    <a:latin typeface="Calibri" panose="020F0502020204030204" charset="0"/>
                    <a:cs typeface="仿宋_GB2312" panose="02010609030101010101" charset="-122"/>
                    <a:sym typeface="+mn-ea"/>
                  </a:rPr>
                  <a:t>聚合沿黄九省的科技创新资源，构建“</a:t>
                </a:r>
                <a:r>
                  <a:rPr lang="en-US" altLang="zh-CN" sz="1200" dirty="0">
                    <a:latin typeface="Calibri" panose="020F0502020204030204" charset="0"/>
                    <a:cs typeface="仿宋_GB2312" panose="02010609030101010101" charset="-122"/>
                    <a:sym typeface="+mn-ea"/>
                  </a:rPr>
                  <a:t>1+9+N”</a:t>
                </a:r>
                <a:r>
                  <a:rPr lang="zh-CN" altLang="en-US" sz="1200" dirty="0">
                    <a:latin typeface="Calibri" panose="020F0502020204030204" charset="0"/>
                    <a:cs typeface="仿宋_GB2312" panose="02010609030101010101" charset="-122"/>
                    <a:sym typeface="+mn-ea"/>
                  </a:rPr>
                  <a:t>的黄河流域科技大市场，以山东为龙头，全流域</a:t>
                </a:r>
                <a:r>
                  <a:rPr lang="en-US" altLang="zh-CN" sz="1200" dirty="0">
                    <a:latin typeface="Calibri" panose="020F0502020204030204" charset="0"/>
                    <a:cs typeface="仿宋_GB2312" panose="02010609030101010101" charset="-122"/>
                    <a:sym typeface="+mn-ea"/>
                  </a:rPr>
                  <a:t>9</a:t>
                </a:r>
                <a:r>
                  <a:rPr lang="zh-CN" altLang="en-US" sz="1200" dirty="0">
                    <a:latin typeface="Calibri" panose="020F0502020204030204" charset="0"/>
                    <a:cs typeface="仿宋_GB2312" panose="02010609030101010101" charset="-122"/>
                    <a:sym typeface="+mn-ea"/>
                  </a:rPr>
                  <a:t>个省份参与，选择流域内</a:t>
                </a:r>
                <a:r>
                  <a:rPr lang="en-US" altLang="zh-CN" sz="1200" dirty="0">
                    <a:latin typeface="Calibri" panose="020F0502020204030204" charset="0"/>
                    <a:cs typeface="仿宋_GB2312" panose="02010609030101010101" charset="-122"/>
                    <a:sym typeface="+mn-ea"/>
                  </a:rPr>
                  <a:t>N</a:t>
                </a:r>
                <a:r>
                  <a:rPr lang="zh-CN" altLang="en-US" sz="1200" dirty="0">
                    <a:latin typeface="Calibri" panose="020F0502020204030204" charset="0"/>
                    <a:cs typeface="仿宋_GB2312" panose="02010609030101010101" charset="-122"/>
                    <a:sym typeface="+mn-ea"/>
                  </a:rPr>
                  <a:t>个重点城市，</a:t>
                </a:r>
                <a:r>
                  <a:rPr lang="zh-CN" altLang="en-US" sz="1200" dirty="0" smtClean="0">
                    <a:latin typeface="Calibri" panose="020F0502020204030204" charset="0"/>
                    <a:cs typeface="仿宋_GB2312" panose="02010609030101010101" charset="-122"/>
                    <a:sym typeface="+mn-ea"/>
                  </a:rPr>
                  <a:t>以山东科技大市场建设为</a:t>
                </a:r>
                <a:r>
                  <a:rPr lang="zh-CN" altLang="en-US" sz="1200" dirty="0">
                    <a:latin typeface="Calibri" panose="020F0502020204030204" charset="0"/>
                    <a:cs typeface="仿宋_GB2312" panose="02010609030101010101" charset="-122"/>
                    <a:sym typeface="+mn-ea"/>
                  </a:rPr>
                  <a:t>主线，构建黄河</a:t>
                </a:r>
                <a:r>
                  <a:rPr lang="zh-CN" altLang="en-US" sz="1200" dirty="0" smtClean="0">
                    <a:latin typeface="Calibri" panose="020F0502020204030204" charset="0"/>
                    <a:cs typeface="仿宋_GB2312" panose="02010609030101010101" charset="-122"/>
                    <a:sym typeface="+mn-ea"/>
                  </a:rPr>
                  <a:t>流域成果转化协同体系，</a:t>
                </a:r>
                <a:r>
                  <a:rPr lang="zh-CN" altLang="en-US" sz="1200" dirty="0">
                    <a:latin typeface="Calibri" panose="020F0502020204030204" charset="0"/>
                    <a:cs typeface="仿宋_GB2312" panose="02010609030101010101" charset="-122"/>
                    <a:sym typeface="+mn-ea"/>
                  </a:rPr>
                  <a:t>促进黄河流域各类创新资源自主有序流动。</a:t>
                </a:r>
                <a:endParaRPr lang="zh-CN" altLang="en-US" sz="1200" dirty="0">
                  <a:latin typeface="Calibri" panose="020F0502020204030204" charset="0"/>
                  <a:cs typeface="仿宋_GB2312" panose="02010609030101010101" charset="-122"/>
                  <a:sym typeface="+mn-ea"/>
                </a:endParaRPr>
              </a:p>
            </p:txBody>
          </p:sp>
        </p:grpSp>
        <p:cxnSp>
          <p:nvCxnSpPr>
            <p:cNvPr id="16" name="直线连接符 15"/>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44" name="组合 43"/>
          <p:cNvGrpSpPr/>
          <p:nvPr/>
        </p:nvGrpSpPr>
        <p:grpSpPr>
          <a:xfrm>
            <a:off x="4491826" y="2340127"/>
            <a:ext cx="2423994" cy="2074277"/>
            <a:chOff x="1111972" y="2462906"/>
            <a:chExt cx="2423994" cy="2074277"/>
          </a:xfrm>
        </p:grpSpPr>
        <p:grpSp>
          <p:nvGrpSpPr>
            <p:cNvPr id="45" name="组合 44"/>
            <p:cNvGrpSpPr/>
            <p:nvPr/>
          </p:nvGrpSpPr>
          <p:grpSpPr>
            <a:xfrm>
              <a:off x="1111972" y="2462906"/>
              <a:ext cx="2423994" cy="2074277"/>
              <a:chOff x="1250761" y="2568903"/>
              <a:chExt cx="2423994" cy="2074277"/>
            </a:xfrm>
          </p:grpSpPr>
          <p:sp>
            <p:nvSpPr>
              <p:cNvPr id="47" name="文本框 46"/>
              <p:cNvSpPr txBox="1"/>
              <p:nvPr>
                <p:custDataLst>
                  <p:tags r:id="rId6"/>
                </p:custDataLst>
              </p:nvPr>
            </p:nvSpPr>
            <p:spPr>
              <a:xfrm>
                <a:off x="1700895" y="2568903"/>
                <a:ext cx="1830063" cy="379954"/>
              </a:xfrm>
              <a:prstGeom prst="rect">
                <a:avLst/>
              </a:prstGeom>
              <a:noFill/>
            </p:spPr>
            <p:txBody>
              <a:bodyPr wrap="square" rtlCol="0">
                <a:noAutofit/>
              </a:bodyPr>
              <a:lstStyle/>
              <a:p>
                <a:pPr>
                  <a:buSzPct val="100000"/>
                </a:pPr>
                <a:r>
                  <a:rPr lang="zh-CN" altLang="en-US" sz="1600" b="1" dirty="0">
                    <a:sym typeface="+mn-ea"/>
                  </a:rPr>
                  <a:t>健全赋能产业发展创新服务体系</a:t>
                </a:r>
                <a:endParaRPr lang="zh-CN" altLang="en-US" sz="1600" b="1" dirty="0">
                  <a:sym typeface="+mn-ea"/>
                </a:endParaRPr>
              </a:p>
            </p:txBody>
          </p:sp>
          <p:grpSp>
            <p:nvGrpSpPr>
              <p:cNvPr id="48" name="组合 47"/>
              <p:cNvGrpSpPr/>
              <p:nvPr/>
            </p:nvGrpSpPr>
            <p:grpSpPr>
              <a:xfrm>
                <a:off x="1318463" y="2655532"/>
                <a:ext cx="339665" cy="339665"/>
                <a:chOff x="504698" y="2554152"/>
                <a:chExt cx="339665" cy="339665"/>
              </a:xfrm>
            </p:grpSpPr>
            <p:sp>
              <p:nvSpPr>
                <p:cNvPr id="53" name="椭圆 52"/>
                <p:cNvSpPr/>
                <p:nvPr>
                  <p:custDataLst>
                    <p:tags r:id="rId7"/>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54" name="icon"/>
                <p:cNvSpPr/>
                <p:nvPr>
                  <p:custDataLst>
                    <p:tags r:id="rId8"/>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49" name="矩形 48"/>
              <p:cNvSpPr/>
              <p:nvPr/>
            </p:nvSpPr>
            <p:spPr>
              <a:xfrm>
                <a:off x="1250761" y="3461959"/>
                <a:ext cx="2423994" cy="1181221"/>
              </a:xfrm>
              <a:prstGeom prst="rect">
                <a:avLst/>
              </a:prstGeom>
            </p:spPr>
            <p:txBody>
              <a:bodyPr wrap="square">
                <a:spAutoFit/>
              </a:bodyPr>
              <a:lstStyle/>
              <a:p>
                <a:pPr lvl="0">
                  <a:lnSpc>
                    <a:spcPct val="120000"/>
                  </a:lnSpc>
                  <a:spcAft>
                    <a:spcPts val="800"/>
                  </a:spcAft>
                  <a:buSzPct val="100000"/>
                </a:pPr>
                <a:r>
                  <a:rPr lang="zh-CN" altLang="en-US" sz="1200" dirty="0">
                    <a:latin typeface="Calibri" panose="020F0502020204030204" charset="0"/>
                    <a:cs typeface="仿宋_GB2312" panose="02010609030101010101" charset="-122"/>
                    <a:sym typeface="+mn-ea"/>
                  </a:rPr>
                  <a:t>加快构建和完善科技成果转化体系，强化技术、人才、服务等要素资源的有机融合与优化配置，创新科技成果转化模式，健全赋能产业发展服务体系</a:t>
                </a:r>
                <a:r>
                  <a:rPr lang="zh-CN" altLang="en-US" sz="1200" dirty="0" smtClean="0">
                    <a:latin typeface="Calibri" panose="020F0502020204030204" charset="0"/>
                    <a:cs typeface="仿宋_GB2312" panose="02010609030101010101" charset="-122"/>
                    <a:sym typeface="+mn-ea"/>
                  </a:rPr>
                  <a:t>。</a:t>
                </a:r>
                <a:endParaRPr lang="zh-CN" altLang="en-US" sz="1200" spc="100" dirty="0">
                  <a:solidFill>
                    <a:schemeClr val="tx1">
                      <a:lumMod val="85000"/>
                      <a:lumOff val="15000"/>
                    </a:schemeClr>
                  </a:solidFill>
                  <a:uFillTx/>
                  <a:latin typeface="Arial" panose="020B0604020202020204" pitchFamily="34" charset="0"/>
                  <a:ea typeface="微软雅黑" panose="020B0503020204020204" pitchFamily="34" charset="-122"/>
                </a:endParaRPr>
              </a:p>
            </p:txBody>
          </p:sp>
        </p:grpSp>
        <p:cxnSp>
          <p:nvCxnSpPr>
            <p:cNvPr id="46" name="直线连接符 45"/>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nvGrpSpPr>
        <p:grpSpPr>
          <a:xfrm>
            <a:off x="7843016" y="2356351"/>
            <a:ext cx="2176475" cy="2835366"/>
            <a:chOff x="1111971" y="2459588"/>
            <a:chExt cx="2176475" cy="2835366"/>
          </a:xfrm>
        </p:grpSpPr>
        <p:grpSp>
          <p:nvGrpSpPr>
            <p:cNvPr id="56" name="组合 55"/>
            <p:cNvGrpSpPr/>
            <p:nvPr/>
          </p:nvGrpSpPr>
          <p:grpSpPr>
            <a:xfrm>
              <a:off x="1111971" y="2459588"/>
              <a:ext cx="2176475" cy="2835366"/>
              <a:chOff x="1250760" y="2565585"/>
              <a:chExt cx="2176475" cy="2835366"/>
            </a:xfrm>
          </p:grpSpPr>
          <p:sp>
            <p:nvSpPr>
              <p:cNvPr id="59" name="文本框 58"/>
              <p:cNvSpPr txBox="1"/>
              <p:nvPr>
                <p:custDataLst>
                  <p:tags r:id="rId9"/>
                </p:custDataLst>
              </p:nvPr>
            </p:nvSpPr>
            <p:spPr>
              <a:xfrm>
                <a:off x="1700896" y="2565585"/>
                <a:ext cx="1679220" cy="379954"/>
              </a:xfrm>
              <a:prstGeom prst="rect">
                <a:avLst/>
              </a:prstGeom>
              <a:noFill/>
            </p:spPr>
            <p:txBody>
              <a:bodyPr wrap="square" rtlCol="0">
                <a:noAutofit/>
              </a:bodyPr>
              <a:lstStyle/>
              <a:p>
                <a:pPr>
                  <a:buSzPct val="100000"/>
                </a:pPr>
                <a:r>
                  <a:rPr lang="zh-CN" altLang="en-US" sz="1600" b="1" dirty="0" smtClean="0">
                    <a:sym typeface="+mn-ea"/>
                  </a:rPr>
                  <a:t>打造山东好成果特色品牌</a:t>
                </a:r>
                <a:endParaRPr lang="zh-CN" altLang="en-US" sz="1600" b="1" dirty="0">
                  <a:sym typeface="+mn-ea"/>
                </a:endParaRPr>
              </a:p>
            </p:txBody>
          </p:sp>
          <p:grpSp>
            <p:nvGrpSpPr>
              <p:cNvPr id="60" name="组合 59"/>
              <p:cNvGrpSpPr/>
              <p:nvPr/>
            </p:nvGrpSpPr>
            <p:grpSpPr>
              <a:xfrm>
                <a:off x="1318463" y="2655532"/>
                <a:ext cx="339665" cy="339665"/>
                <a:chOff x="504698" y="2554152"/>
                <a:chExt cx="339665" cy="339665"/>
              </a:xfrm>
            </p:grpSpPr>
            <p:sp>
              <p:nvSpPr>
                <p:cNvPr id="62" name="椭圆 61"/>
                <p:cNvSpPr/>
                <p:nvPr>
                  <p:custDataLst>
                    <p:tags r:id="rId10"/>
                  </p:custDataLst>
                </p:nvPr>
              </p:nvSpPr>
              <p:spPr>
                <a:xfrm>
                  <a:off x="504698" y="2554152"/>
                  <a:ext cx="339665" cy="33966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65000" lnSpcReduction="20000"/>
                </a:bodyPr>
                <a:lstStyle/>
                <a:p>
                  <a:pPr algn="ctr"/>
                  <a:endParaRPr lang="zh-CN" altLang="en-US">
                    <a:solidFill>
                      <a:schemeClr val="tx1">
                        <a:lumMod val="85000"/>
                        <a:lumOff val="15000"/>
                      </a:schemeClr>
                    </a:solidFill>
                  </a:endParaRPr>
                </a:p>
              </p:txBody>
            </p:sp>
            <p:sp>
              <p:nvSpPr>
                <p:cNvPr id="63" name="icon"/>
                <p:cNvSpPr/>
                <p:nvPr>
                  <p:custDataLst>
                    <p:tags r:id="rId11"/>
                  </p:custDataLst>
                </p:nvPr>
              </p:nvSpPr>
              <p:spPr bwMode="auto">
                <a:xfrm>
                  <a:off x="580001" y="2648362"/>
                  <a:ext cx="189059" cy="151247"/>
                </a:xfrm>
                <a:custGeom>
                  <a:avLst/>
                  <a:gdLst>
                    <a:gd name="T0" fmla="*/ 0 w 6827"/>
                    <a:gd name="T1" fmla="*/ 0 h 5461"/>
                    <a:gd name="T2" fmla="*/ 0 w 6827"/>
                    <a:gd name="T3" fmla="*/ 5461 h 5461"/>
                    <a:gd name="T4" fmla="*/ 6827 w 6827"/>
                    <a:gd name="T5" fmla="*/ 5461 h 5461"/>
                    <a:gd name="T6" fmla="*/ 6827 w 6827"/>
                    <a:gd name="T7" fmla="*/ 0 h 5461"/>
                    <a:gd name="T8" fmla="*/ 0 w 6827"/>
                    <a:gd name="T9" fmla="*/ 0 h 5461"/>
                    <a:gd name="T10" fmla="*/ 2741 w 6827"/>
                    <a:gd name="T11" fmla="*/ 4085 h 5461"/>
                    <a:gd name="T12" fmla="*/ 2379 w 6827"/>
                    <a:gd name="T13" fmla="*/ 4447 h 5461"/>
                    <a:gd name="T14" fmla="*/ 2048 w 6827"/>
                    <a:gd name="T15" fmla="*/ 4116 h 5461"/>
                    <a:gd name="T16" fmla="*/ 1717 w 6827"/>
                    <a:gd name="T17" fmla="*/ 4447 h 5461"/>
                    <a:gd name="T18" fmla="*/ 1355 w 6827"/>
                    <a:gd name="T19" fmla="*/ 4085 h 5461"/>
                    <a:gd name="T20" fmla="*/ 1686 w 6827"/>
                    <a:gd name="T21" fmla="*/ 3754 h 5461"/>
                    <a:gd name="T22" fmla="*/ 1355 w 6827"/>
                    <a:gd name="T23" fmla="*/ 3423 h 5461"/>
                    <a:gd name="T24" fmla="*/ 1717 w 6827"/>
                    <a:gd name="T25" fmla="*/ 3061 h 5461"/>
                    <a:gd name="T26" fmla="*/ 2048 w 6827"/>
                    <a:gd name="T27" fmla="*/ 3392 h 5461"/>
                    <a:gd name="T28" fmla="*/ 2379 w 6827"/>
                    <a:gd name="T29" fmla="*/ 3061 h 5461"/>
                    <a:gd name="T30" fmla="*/ 2741 w 6827"/>
                    <a:gd name="T31" fmla="*/ 3423 h 5461"/>
                    <a:gd name="T32" fmla="*/ 2410 w 6827"/>
                    <a:gd name="T33" fmla="*/ 3754 h 5461"/>
                    <a:gd name="T34" fmla="*/ 2741 w 6827"/>
                    <a:gd name="T35" fmla="*/ 4085 h 5461"/>
                    <a:gd name="T36" fmla="*/ 4779 w 6827"/>
                    <a:gd name="T37" fmla="*/ 4266 h 5461"/>
                    <a:gd name="T38" fmla="*/ 4267 w 6827"/>
                    <a:gd name="T39" fmla="*/ 3754 h 5461"/>
                    <a:gd name="T40" fmla="*/ 4779 w 6827"/>
                    <a:gd name="T41" fmla="*/ 3242 h 5461"/>
                    <a:gd name="T42" fmla="*/ 5291 w 6827"/>
                    <a:gd name="T43" fmla="*/ 3754 h 5461"/>
                    <a:gd name="T44" fmla="*/ 4779 w 6827"/>
                    <a:gd name="T45" fmla="*/ 4266 h 5461"/>
                    <a:gd name="T46" fmla="*/ 4779 w 6827"/>
                    <a:gd name="T47" fmla="*/ 2560 h 5461"/>
                    <a:gd name="T48" fmla="*/ 3820 w 6827"/>
                    <a:gd name="T49" fmla="*/ 2021 h 5461"/>
                    <a:gd name="T50" fmla="*/ 4296 w 6827"/>
                    <a:gd name="T51" fmla="*/ 1888 h 5461"/>
                    <a:gd name="T52" fmla="*/ 3413 w 6827"/>
                    <a:gd name="T53" fmla="*/ 1450 h 5461"/>
                    <a:gd name="T54" fmla="*/ 2304 w 6827"/>
                    <a:gd name="T55" fmla="*/ 2560 h 5461"/>
                    <a:gd name="T56" fmla="*/ 1792 w 6827"/>
                    <a:gd name="T57" fmla="*/ 2560 h 5461"/>
                    <a:gd name="T58" fmla="*/ 3413 w 6827"/>
                    <a:gd name="T59" fmla="*/ 938 h 5461"/>
                    <a:gd name="T60" fmla="*/ 4814 w 6827"/>
                    <a:gd name="T61" fmla="*/ 1743 h 5461"/>
                    <a:gd name="T62" fmla="*/ 5318 w 6827"/>
                    <a:gd name="T63" fmla="*/ 1601 h 5461"/>
                    <a:gd name="T64" fmla="*/ 4779 w 6827"/>
                    <a:gd name="T65" fmla="*/ 2560 h 54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827" h="5461">
                      <a:moveTo>
                        <a:pt x="0" y="0"/>
                      </a:moveTo>
                      <a:lnTo>
                        <a:pt x="0" y="5461"/>
                      </a:lnTo>
                      <a:lnTo>
                        <a:pt x="6827" y="5461"/>
                      </a:lnTo>
                      <a:lnTo>
                        <a:pt x="6827" y="0"/>
                      </a:lnTo>
                      <a:lnTo>
                        <a:pt x="0" y="0"/>
                      </a:lnTo>
                      <a:close/>
                      <a:moveTo>
                        <a:pt x="2741" y="4085"/>
                      </a:moveTo>
                      <a:lnTo>
                        <a:pt x="2379" y="4447"/>
                      </a:lnTo>
                      <a:lnTo>
                        <a:pt x="2048" y="4116"/>
                      </a:lnTo>
                      <a:lnTo>
                        <a:pt x="1717" y="4447"/>
                      </a:lnTo>
                      <a:lnTo>
                        <a:pt x="1355" y="4085"/>
                      </a:lnTo>
                      <a:lnTo>
                        <a:pt x="1686" y="3754"/>
                      </a:lnTo>
                      <a:lnTo>
                        <a:pt x="1355" y="3423"/>
                      </a:lnTo>
                      <a:lnTo>
                        <a:pt x="1717" y="3061"/>
                      </a:lnTo>
                      <a:lnTo>
                        <a:pt x="2048" y="3392"/>
                      </a:lnTo>
                      <a:lnTo>
                        <a:pt x="2379" y="3061"/>
                      </a:lnTo>
                      <a:lnTo>
                        <a:pt x="2741" y="3423"/>
                      </a:lnTo>
                      <a:lnTo>
                        <a:pt x="2410" y="3754"/>
                      </a:lnTo>
                      <a:lnTo>
                        <a:pt x="2741" y="4085"/>
                      </a:lnTo>
                      <a:close/>
                      <a:moveTo>
                        <a:pt x="4779" y="4266"/>
                      </a:moveTo>
                      <a:cubicBezTo>
                        <a:pt x="4496" y="4266"/>
                        <a:pt x="4267" y="4037"/>
                        <a:pt x="4267" y="3754"/>
                      </a:cubicBezTo>
                      <a:cubicBezTo>
                        <a:pt x="4267" y="3472"/>
                        <a:pt x="4496" y="3242"/>
                        <a:pt x="4779" y="3242"/>
                      </a:cubicBezTo>
                      <a:cubicBezTo>
                        <a:pt x="5061" y="3242"/>
                        <a:pt x="5291" y="3472"/>
                        <a:pt x="5291" y="3754"/>
                      </a:cubicBezTo>
                      <a:cubicBezTo>
                        <a:pt x="5291" y="4037"/>
                        <a:pt x="5061" y="4266"/>
                        <a:pt x="4779" y="4266"/>
                      </a:cubicBezTo>
                      <a:close/>
                      <a:moveTo>
                        <a:pt x="4779" y="2560"/>
                      </a:moveTo>
                      <a:lnTo>
                        <a:pt x="3820" y="2021"/>
                      </a:lnTo>
                      <a:lnTo>
                        <a:pt x="4296" y="1888"/>
                      </a:lnTo>
                      <a:cubicBezTo>
                        <a:pt x="4088" y="1615"/>
                        <a:pt x="3763" y="1450"/>
                        <a:pt x="3413" y="1450"/>
                      </a:cubicBezTo>
                      <a:cubicBezTo>
                        <a:pt x="2802" y="1450"/>
                        <a:pt x="2304" y="1948"/>
                        <a:pt x="2304" y="2560"/>
                      </a:cubicBezTo>
                      <a:lnTo>
                        <a:pt x="1792" y="2560"/>
                      </a:lnTo>
                      <a:cubicBezTo>
                        <a:pt x="1792" y="1666"/>
                        <a:pt x="2519" y="938"/>
                        <a:pt x="3413" y="938"/>
                      </a:cubicBezTo>
                      <a:cubicBezTo>
                        <a:pt x="3991" y="938"/>
                        <a:pt x="4523" y="1245"/>
                        <a:pt x="4814" y="1743"/>
                      </a:cubicBezTo>
                      <a:lnTo>
                        <a:pt x="5318" y="1601"/>
                      </a:lnTo>
                      <a:lnTo>
                        <a:pt x="4779" y="2560"/>
                      </a:lnTo>
                      <a:close/>
                    </a:path>
                  </a:pathLst>
                </a:custGeom>
                <a:solidFill>
                  <a:schemeClr val="bg1"/>
                </a:solidFill>
                <a:ln>
                  <a:noFill/>
                </a:ln>
              </p:spPr>
            </p:sp>
          </p:grpSp>
          <p:sp>
            <p:nvSpPr>
              <p:cNvPr id="61" name="矩形 60"/>
              <p:cNvSpPr/>
              <p:nvPr/>
            </p:nvSpPr>
            <p:spPr>
              <a:xfrm>
                <a:off x="1250760" y="3461959"/>
                <a:ext cx="2176475" cy="1938992"/>
              </a:xfrm>
              <a:prstGeom prst="rect">
                <a:avLst/>
              </a:prstGeom>
            </p:spPr>
            <p:txBody>
              <a:bodyPr wrap="square">
                <a:spAutoFit/>
              </a:bodyPr>
              <a:lstStyle/>
              <a:p>
                <a:pPr algn="just"/>
                <a:r>
                  <a:rPr lang="zh-CN" altLang="en-US" sz="1200" dirty="0" smtClean="0"/>
                  <a:t>围绕</a:t>
                </a:r>
                <a:r>
                  <a:rPr lang="zh-CN" altLang="en-US" sz="1200" dirty="0"/>
                  <a:t>省内科技成果转化和产业化，通过有组织的遴选和发布重大科技成果，持续擦亮“山东好成果”品牌，推出</a:t>
                </a:r>
                <a:r>
                  <a:rPr lang="en-US" altLang="zh-CN" sz="1200" dirty="0"/>
                  <a:t>2</a:t>
                </a:r>
                <a:r>
                  <a:rPr lang="zh-CN" altLang="en-US" sz="1200" dirty="0"/>
                  <a:t>项推广应用典型案例。促进专家与企业家、成果与资本精准对接，促进创新链、产业链、资金链、人才链深度融合，以成果带人才齐聚山东，加速科技成果向现实生产力转化。 </a:t>
                </a:r>
                <a:endParaRPr lang="en-US" altLang="zh-CN" sz="1200" spc="90" dirty="0">
                  <a:solidFill>
                    <a:schemeClr val="tx1">
                      <a:lumMod val="85000"/>
                      <a:lumOff val="15000"/>
                    </a:schemeClr>
                  </a:solidFill>
                  <a:uFillTx/>
                  <a:latin typeface="+mn-ea"/>
                </a:endParaRPr>
              </a:p>
            </p:txBody>
          </p:sp>
        </p:grpSp>
        <p:cxnSp>
          <p:nvCxnSpPr>
            <p:cNvPr id="58" name="直线连接符 57"/>
            <p:cNvCxnSpPr/>
            <p:nvPr/>
          </p:nvCxnSpPr>
          <p:spPr>
            <a:xfrm>
              <a:off x="1179674" y="3151385"/>
              <a:ext cx="2050223" cy="0"/>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spTree>
    <p:custDataLst>
      <p:tags r:id="rId12"/>
    </p:custData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円/楕円 20"/>
          <p:cNvSpPr/>
          <p:nvPr/>
        </p:nvSpPr>
        <p:spPr>
          <a:xfrm>
            <a:off x="9285154" y="3527286"/>
            <a:ext cx="503118" cy="503118"/>
          </a:xfrm>
          <a:prstGeom prst="ellipse">
            <a:avLst/>
          </a:prstGeom>
          <a:solidFill>
            <a:schemeClr val="bg1"/>
          </a:solid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14"/>
          <p:cNvSpPr/>
          <p:nvPr/>
        </p:nvSpPr>
        <p:spPr>
          <a:xfrm>
            <a:off x="9375008" y="3617140"/>
            <a:ext cx="323410" cy="3234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円/楕円 20"/>
          <p:cNvSpPr/>
          <p:nvPr/>
        </p:nvSpPr>
        <p:spPr>
          <a:xfrm>
            <a:off x="7598234" y="3079155"/>
            <a:ext cx="503118" cy="503118"/>
          </a:xfrm>
          <a:prstGeom prst="ellipse">
            <a:avLst/>
          </a:prstGeom>
          <a:solidFill>
            <a:schemeClr val="bg1"/>
          </a:solid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4"/>
          <p:cNvSpPr/>
          <p:nvPr/>
        </p:nvSpPr>
        <p:spPr>
          <a:xfrm>
            <a:off x="7688088" y="3169009"/>
            <a:ext cx="323410" cy="3234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20"/>
          <p:cNvSpPr/>
          <p:nvPr/>
        </p:nvSpPr>
        <p:spPr>
          <a:xfrm>
            <a:off x="5960138" y="3778845"/>
            <a:ext cx="503118" cy="503118"/>
          </a:xfrm>
          <a:prstGeom prst="ellipse">
            <a:avLst/>
          </a:prstGeom>
          <a:solidFill>
            <a:schemeClr val="bg1"/>
          </a:solidFill>
          <a:ln w="254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p:cNvSpPr/>
          <p:nvPr/>
        </p:nvSpPr>
        <p:spPr>
          <a:xfrm>
            <a:off x="6049992" y="3868699"/>
            <a:ext cx="323410" cy="3234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円/楕円 20"/>
          <p:cNvSpPr/>
          <p:nvPr/>
        </p:nvSpPr>
        <p:spPr>
          <a:xfrm>
            <a:off x="4359460" y="3330714"/>
            <a:ext cx="503118" cy="503118"/>
          </a:xfrm>
          <a:prstGeom prst="ellipse">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4"/>
          <p:cNvSpPr/>
          <p:nvPr/>
        </p:nvSpPr>
        <p:spPr>
          <a:xfrm>
            <a:off x="4449314" y="3420568"/>
            <a:ext cx="323410" cy="3234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20"/>
          <p:cNvSpPr/>
          <p:nvPr/>
        </p:nvSpPr>
        <p:spPr>
          <a:xfrm>
            <a:off x="2726163" y="4030404"/>
            <a:ext cx="503118" cy="503118"/>
          </a:xfrm>
          <a:prstGeom prst="ellipse">
            <a:avLst/>
          </a:prstGeom>
          <a:solidFill>
            <a:schemeClr val="bg1"/>
          </a:solid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4"/>
          <p:cNvSpPr/>
          <p:nvPr/>
        </p:nvSpPr>
        <p:spPr>
          <a:xfrm>
            <a:off x="2816017" y="4120258"/>
            <a:ext cx="323410" cy="3234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プレースホルダー 6"/>
          <p:cNvSpPr txBox="1"/>
          <p:nvPr/>
        </p:nvSpPr>
        <p:spPr>
          <a:xfrm>
            <a:off x="3600769" y="2712058"/>
            <a:ext cx="2020500" cy="341049"/>
          </a:xfrm>
          <a:prstGeom prst="rect">
            <a:avLst/>
          </a:prstGeom>
        </p:spPr>
        <p:txBody>
          <a:bodyPr anchor="ctr">
            <a:noAutofit/>
          </a:bodyPr>
          <a:lstStyle>
            <a:lvl1pPr marL="228600" indent="-228600" algn="ctr" defTabSz="914400" rtl="0" eaLnBrk="1" latinLnBrk="0" hangingPunct="1">
              <a:lnSpc>
                <a:spcPct val="90000"/>
              </a:lnSpc>
              <a:spcBef>
                <a:spcPts val="1000"/>
              </a:spcBef>
              <a:buFont typeface="Arial" panose="020B0604020202020204" pitchFamily="34" charset="0"/>
              <a:buChar char="•"/>
              <a:defRPr sz="2000" i="0" kern="1200" baseline="0">
                <a:solidFill>
                  <a:schemeClr val="accent3"/>
                </a:solidFill>
                <a:latin typeface="Source Sans Pro" panose="020B05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ts val="3200"/>
              </a:lnSpc>
              <a:buNone/>
            </a:pPr>
            <a:r>
              <a:rPr lang="en-US" altLang="zh-CN" b="1" dirty="0"/>
              <a:t> </a:t>
            </a:r>
            <a:r>
              <a:rPr lang="zh-CN" altLang="en-US" b="1" dirty="0" smtClean="0"/>
              <a:t>强化考核督导</a:t>
            </a:r>
            <a:endParaRPr lang="zh-CN" altLang="en-US" dirty="0"/>
          </a:p>
        </p:txBody>
      </p:sp>
      <p:sp>
        <p:nvSpPr>
          <p:cNvPr id="21" name="テキスト プレースホルダー 6"/>
          <p:cNvSpPr txBox="1"/>
          <p:nvPr/>
        </p:nvSpPr>
        <p:spPr>
          <a:xfrm>
            <a:off x="8610082" y="4397701"/>
            <a:ext cx="2020500" cy="341049"/>
          </a:xfrm>
          <a:prstGeom prst="rect">
            <a:avLst/>
          </a:prstGeom>
        </p:spPr>
        <p:txBody>
          <a:bodyPr anchor="ctr">
            <a:noAutofit/>
          </a:bodyPr>
          <a:lstStyle>
            <a:lvl1pPr marL="228600" indent="-228600" algn="ctr" defTabSz="914400" rtl="0" eaLnBrk="1" latinLnBrk="0" hangingPunct="1">
              <a:lnSpc>
                <a:spcPct val="90000"/>
              </a:lnSpc>
              <a:spcBef>
                <a:spcPts val="1000"/>
              </a:spcBef>
              <a:buFont typeface="Arial" panose="020B0604020202020204" pitchFamily="34" charset="0"/>
              <a:buChar char="•"/>
              <a:defRPr sz="2000" i="0" kern="1200" baseline="0">
                <a:solidFill>
                  <a:schemeClr val="accent5"/>
                </a:solidFill>
                <a:latin typeface="Source Sans Pro" panose="020B05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ts val="3200"/>
              </a:lnSpc>
              <a:buNone/>
            </a:pPr>
            <a:r>
              <a:rPr lang="zh-CN" altLang="en-US" dirty="0" smtClean="0"/>
              <a:t>强化资源保障</a:t>
            </a:r>
            <a:endParaRPr lang="en-US" altLang="zh-CN" dirty="0" smtClean="0"/>
          </a:p>
        </p:txBody>
      </p:sp>
      <p:sp>
        <p:nvSpPr>
          <p:cNvPr id="22" name="テキスト プレースホルダー 6"/>
          <p:cNvSpPr txBox="1"/>
          <p:nvPr/>
        </p:nvSpPr>
        <p:spPr>
          <a:xfrm>
            <a:off x="1967472" y="4617124"/>
            <a:ext cx="2020500" cy="740965"/>
          </a:xfrm>
          <a:prstGeom prst="rect">
            <a:avLst/>
          </a:prstGeom>
        </p:spPr>
        <p:txBody>
          <a:bodyPr anchor="ctr">
            <a:noAutofit/>
          </a:bodyPr>
          <a:lstStyle>
            <a:lvl1pPr marL="228600" indent="-228600" algn="ctr" defTabSz="914400" rtl="0" eaLnBrk="1" latinLnBrk="0" hangingPunct="1">
              <a:lnSpc>
                <a:spcPct val="90000"/>
              </a:lnSpc>
              <a:spcBef>
                <a:spcPts val="1000"/>
              </a:spcBef>
              <a:buFont typeface="Arial" panose="020B0604020202020204" pitchFamily="34" charset="0"/>
              <a:buChar char="•"/>
              <a:defRPr sz="2000" i="0" kern="1200" baseline="0">
                <a:solidFill>
                  <a:schemeClr val="accent1"/>
                </a:solidFill>
                <a:latin typeface="Source Sans Pro" panose="020B05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ts val="3200"/>
              </a:lnSpc>
              <a:buNone/>
            </a:pPr>
            <a:r>
              <a:rPr lang="zh-CN" altLang="en-US" dirty="0" smtClean="0"/>
              <a:t>加强组织领导</a:t>
            </a:r>
            <a:endParaRPr lang="zh-CN" altLang="en-US" dirty="0"/>
          </a:p>
        </p:txBody>
      </p:sp>
      <p:sp>
        <p:nvSpPr>
          <p:cNvPr id="23" name="テキスト プレースホルダー 6"/>
          <p:cNvSpPr txBox="1"/>
          <p:nvPr/>
        </p:nvSpPr>
        <p:spPr>
          <a:xfrm>
            <a:off x="5310919" y="4711884"/>
            <a:ext cx="2020500" cy="551444"/>
          </a:xfrm>
          <a:prstGeom prst="rect">
            <a:avLst/>
          </a:prstGeom>
        </p:spPr>
        <p:txBody>
          <a:bodyPr anchor="ctr">
            <a:noAutofit/>
          </a:bodyPr>
          <a:lstStyle>
            <a:lvl1pPr marL="228600" indent="-228600" algn="ctr" defTabSz="914400" rtl="0" eaLnBrk="1" latinLnBrk="0" hangingPunct="1">
              <a:lnSpc>
                <a:spcPct val="90000"/>
              </a:lnSpc>
              <a:spcBef>
                <a:spcPts val="1000"/>
              </a:spcBef>
              <a:buFont typeface="Arial" panose="020B0604020202020204" pitchFamily="34" charset="0"/>
              <a:buChar char="•"/>
              <a:defRPr sz="2000" i="0" kern="1200" baseline="0">
                <a:solidFill>
                  <a:schemeClr val="accent2"/>
                </a:solidFill>
                <a:latin typeface="Source Sans Pro" panose="020B05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ts val="3200"/>
              </a:lnSpc>
              <a:buNone/>
            </a:pPr>
            <a:r>
              <a:rPr lang="zh-CN" altLang="en-US" dirty="0" smtClean="0"/>
              <a:t>创新科研方式</a:t>
            </a:r>
            <a:endParaRPr lang="zh-CN" altLang="en-US" dirty="0"/>
          </a:p>
        </p:txBody>
      </p:sp>
      <p:sp>
        <p:nvSpPr>
          <p:cNvPr id="24" name="テキスト プレースホルダー 6"/>
          <p:cNvSpPr txBox="1"/>
          <p:nvPr/>
        </p:nvSpPr>
        <p:spPr>
          <a:xfrm>
            <a:off x="6839543" y="2346217"/>
            <a:ext cx="2020500" cy="341049"/>
          </a:xfrm>
          <a:prstGeom prst="rect">
            <a:avLst/>
          </a:prstGeom>
        </p:spPr>
        <p:txBody>
          <a:bodyPr anchor="ctr">
            <a:noAutofit/>
          </a:bodyPr>
          <a:lstStyle>
            <a:lvl1pPr marL="228600" indent="-228600" algn="ctr" defTabSz="914400" rtl="0" eaLnBrk="1" latinLnBrk="0" hangingPunct="1">
              <a:lnSpc>
                <a:spcPct val="90000"/>
              </a:lnSpc>
              <a:spcBef>
                <a:spcPts val="1000"/>
              </a:spcBef>
              <a:buFont typeface="Arial" panose="020B0604020202020204" pitchFamily="34" charset="0"/>
              <a:buChar char="•"/>
              <a:defRPr sz="2000" i="0" kern="1200" baseline="0">
                <a:solidFill>
                  <a:schemeClr val="accent4"/>
                </a:solidFill>
                <a:latin typeface="Source Sans Pro" panose="020B05030304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ts val="3200"/>
              </a:lnSpc>
              <a:buNone/>
            </a:pPr>
            <a:r>
              <a:rPr lang="zh-CN" altLang="en-US" dirty="0" smtClean="0"/>
              <a:t>加强团队建设</a:t>
            </a:r>
            <a:endParaRPr lang="zh-CN" altLang="en-US" dirty="0"/>
          </a:p>
        </p:txBody>
      </p:sp>
      <p:cxnSp>
        <p:nvCxnSpPr>
          <p:cNvPr id="27" name="直接连接符 26"/>
          <p:cNvCxnSpPr/>
          <p:nvPr/>
        </p:nvCxnSpPr>
        <p:spPr>
          <a:xfrm>
            <a:off x="989244" y="3634717"/>
            <a:ext cx="1736919" cy="611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8" idx="6"/>
            <a:endCxn id="16" idx="2"/>
          </p:cNvCxnSpPr>
          <p:nvPr/>
        </p:nvCxnSpPr>
        <p:spPr>
          <a:xfrm flipV="1">
            <a:off x="3229281" y="3582273"/>
            <a:ext cx="1130179" cy="699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直接连接符 30"/>
          <p:cNvCxnSpPr>
            <a:stCxn id="16" idx="6"/>
            <a:endCxn id="14" idx="2"/>
          </p:cNvCxnSpPr>
          <p:nvPr/>
        </p:nvCxnSpPr>
        <p:spPr>
          <a:xfrm>
            <a:off x="4862578" y="3582273"/>
            <a:ext cx="1097560" cy="448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4" idx="6"/>
            <a:endCxn id="12" idx="2"/>
          </p:cNvCxnSpPr>
          <p:nvPr/>
        </p:nvCxnSpPr>
        <p:spPr>
          <a:xfrm flipV="1">
            <a:off x="6463256" y="3330714"/>
            <a:ext cx="1134978" cy="699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2" idx="6"/>
            <a:endCxn id="7" idx="2"/>
          </p:cNvCxnSpPr>
          <p:nvPr/>
        </p:nvCxnSpPr>
        <p:spPr>
          <a:xfrm>
            <a:off x="8101352" y="3330714"/>
            <a:ext cx="1183802" cy="448131"/>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7" idx="6"/>
          </p:cNvCxnSpPr>
          <p:nvPr/>
        </p:nvCxnSpPr>
        <p:spPr>
          <a:xfrm flipV="1">
            <a:off x="9788272" y="3079155"/>
            <a:ext cx="1322778" cy="699690"/>
          </a:xfrm>
          <a:prstGeom prst="line">
            <a:avLst/>
          </a:prstGeom>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a:solidFill>
                    <a:schemeClr val="accent1">
                      <a:lumMod val="75000"/>
                    </a:schemeClr>
                  </a:solidFill>
                </a:rPr>
                <a:t>五大保障措施</a:t>
              </a:r>
              <a:endParaRPr lang="zh-CN" altLang="en-US" dirty="0">
                <a:solidFill>
                  <a:schemeClr val="accent1">
                    <a:lumMod val="75000"/>
                  </a:schemeClr>
                </a:solidFill>
              </a:endParaRPr>
            </a:p>
          </p:txBody>
        </p:sp>
        <p:sp>
          <p:nvSpPr>
            <p:cNvPr id="5" name="文本框 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zh-CN" altLang="en-US" sz="3200" b="1" dirty="0">
                  <a:solidFill>
                    <a:schemeClr val="bg1"/>
                  </a:solidFill>
                  <a:effectLst>
                    <a:outerShdw blurRad="50800" dist="38100" dir="2700000" algn="tl" rotWithShape="0">
                      <a:prstClr val="black">
                        <a:alpha val="40000"/>
                      </a:prstClr>
                    </a:outerShdw>
                  </a:effectLst>
                </a:rPr>
                <a:t> </a:t>
              </a:r>
              <a:r>
                <a:rPr kumimoji="1" lang="en-US" altLang="zh-CN" sz="3200" b="1" dirty="0">
                  <a:solidFill>
                    <a:schemeClr val="bg1"/>
                  </a:solidFill>
                  <a:effectLst>
                    <a:outerShdw blurRad="50800" dist="38100" dir="2700000" algn="tl" rotWithShape="0">
                      <a:prstClr val="black">
                        <a:alpha val="40000"/>
                      </a:prstClr>
                    </a:outerShdw>
                  </a:effectLst>
                </a:rPr>
                <a:t>5</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106671" y="1907764"/>
            <a:ext cx="7678609" cy="3312275"/>
          </a:xfrm>
          <a:prstGeom prst="rect">
            <a:avLst/>
          </a:prstGeom>
          <a:gradFill flip="none" rotWithShape="1">
            <a:gsLst>
              <a:gs pos="76000">
                <a:schemeClr val="accent1">
                  <a:alpha val="4000"/>
                </a:schemeClr>
              </a:gs>
              <a:gs pos="0">
                <a:schemeClr val="accent1">
                  <a:alpha val="757"/>
                </a:schemeClr>
              </a:gs>
              <a:gs pos="54000">
                <a:schemeClr val="accent1">
                  <a:alpha val="10000"/>
                </a:schemeClr>
              </a:gs>
              <a:gs pos="100000">
                <a:schemeClr val="accent1">
                  <a:alpha val="0"/>
                </a:schemeClr>
              </a:gs>
            </a:gsLst>
            <a:path path="circle">
              <a:fillToRect r="100000" b="100000"/>
            </a:path>
            <a:tileRect l="-100000" t="-100000"/>
          </a:gradFill>
          <a:ln w="12700" cap="flat" cmpd="sng" algn="ctr">
            <a:gradFill>
              <a:gsLst>
                <a:gs pos="77000">
                  <a:schemeClr val="accent1">
                    <a:alpha val="10000"/>
                  </a:schemeClr>
                </a:gs>
                <a:gs pos="10000">
                  <a:schemeClr val="accent1"/>
                </a:gs>
                <a:gs pos="0">
                  <a:schemeClr val="accent1">
                    <a:alpha val="12000"/>
                  </a:schemeClr>
                </a:gs>
                <a:gs pos="25000">
                  <a:schemeClr val="accent1">
                    <a:alpha val="10000"/>
                  </a:schemeClr>
                </a:gs>
                <a:gs pos="88000">
                  <a:schemeClr val="accent1">
                    <a:alpha val="0"/>
                  </a:schemeClr>
                </a:gs>
              </a:gsLst>
              <a:lin ang="18900000" scaled="0"/>
            </a:gradFill>
            <a:prstDash val="solid"/>
            <a:miter lim="800000"/>
          </a:ln>
          <a:effectLst>
            <a:outerShdw blurRad="114300" dir="2100000" algn="tl" rotWithShape="0">
              <a:srgbClr val="6ED5FF">
                <a:alpha val="70000"/>
              </a:srgbClr>
            </a:outerShdw>
          </a:effectLst>
        </p:spPr>
        <p:txBody>
          <a:bodyPr lIns="179189" rIns="179189" rtlCol="0" anchor="ctr"/>
          <a:lstStyle/>
          <a:p>
            <a:pPr marL="0" marR="0" lvl="0" indent="0" algn="ctr" defTabSz="909955" rtl="0" eaLnBrk="1" fontAlgn="auto" latinLnBrk="0" hangingPunct="1">
              <a:lnSpc>
                <a:spcPct val="100000"/>
              </a:lnSpc>
              <a:spcBef>
                <a:spcPts val="0"/>
              </a:spcBef>
              <a:spcAft>
                <a:spcPts val="0"/>
              </a:spcAft>
              <a:buClrTx/>
              <a:buSzTx/>
              <a:buFontTx/>
              <a:buNone/>
              <a:defRPr/>
            </a:pPr>
            <a:endParaRPr kumimoji="0" lang="zh-CN" altLang="en-US" sz="1395" b="0" i="0" u="none" strike="noStrike" kern="0" cap="none" spc="0" normalizeH="0" baseline="0" noProof="0">
              <a:ln>
                <a:noFill/>
              </a:ln>
              <a:solidFill>
                <a:prstClr val="white"/>
              </a:solidFill>
              <a:effectLst/>
              <a:uLnTx/>
              <a:uFillTx/>
              <a:cs typeface="+mn-ea"/>
              <a:sym typeface="+mn-lt"/>
            </a:endParaRPr>
          </a:p>
        </p:txBody>
      </p:sp>
      <p:sp>
        <p:nvSpPr>
          <p:cNvPr id="112" name="圆角矩形 4"/>
          <p:cNvSpPr txBox="1"/>
          <p:nvPr/>
        </p:nvSpPr>
        <p:spPr>
          <a:xfrm>
            <a:off x="2490318" y="2349743"/>
            <a:ext cx="7211364" cy="2471705"/>
          </a:xfrm>
          <a:prstGeom prst="rect">
            <a:avLst/>
          </a:prstGeom>
          <a:noFill/>
          <a:ln>
            <a:noFill/>
          </a:ln>
          <a:effectLst/>
        </p:spPr>
        <p:style>
          <a:lnRef idx="2">
            <a:schemeClr val="accent1"/>
          </a:lnRef>
          <a:fillRef idx="1">
            <a:schemeClr val="lt1"/>
          </a:fillRef>
          <a:effectRef idx="0">
            <a:schemeClr val="accent1"/>
          </a:effectRef>
          <a:fontRef idx="minor">
            <a:schemeClr val="dk1"/>
          </a:fontRef>
        </p:style>
        <p:txBody>
          <a:bodyPr spcFirstLastPara="0" vert="horz" wrap="square" lIns="57150" tIns="57150" rIns="57150" bIns="57150" numCol="1" spcCol="1270" anchor="ctr" anchorCtr="0">
            <a:noAutofit/>
          </a:bodyPr>
          <a:lstStyle/>
          <a:p>
            <a:pPr lvl="0" defTabSz="666750">
              <a:lnSpc>
                <a:spcPct val="150000"/>
              </a:lnSpc>
              <a:spcBef>
                <a:spcPct val="0"/>
              </a:spcBef>
              <a:spcAft>
                <a:spcPct val="35000"/>
              </a:spcAft>
            </a:pPr>
            <a:r>
              <a:rPr lang="zh-CN" altLang="en-US" sz="1600" dirty="0" smtClean="0">
                <a:solidFill>
                  <a:schemeClr val="tx1"/>
                </a:solidFill>
              </a:rPr>
              <a:t>      成立</a:t>
            </a:r>
            <a:r>
              <a:rPr lang="zh-CN" altLang="en-US" sz="1600" dirty="0">
                <a:solidFill>
                  <a:schemeClr val="tx1"/>
                </a:solidFill>
              </a:rPr>
              <a:t>专项领导小组。由院主要领导亲自挂帅，成立发展规划实施专项领导小组，负责统筹协调、督促检查和指导规划各项工作，明确职责分工，形成合力，确保各项措施得到有效落实。</a:t>
            </a:r>
            <a:endParaRPr lang="zh-CN" sz="1600" kern="1200" dirty="0">
              <a:solidFill>
                <a:schemeClr val="tx1"/>
              </a:solidFill>
            </a:endParaRPr>
          </a:p>
        </p:txBody>
      </p:sp>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smtClean="0">
                  <a:solidFill>
                    <a:schemeClr val="accent3">
                      <a:lumMod val="75000"/>
                    </a:schemeClr>
                  </a:solidFill>
                </a:rPr>
                <a:t>加强组织领导</a:t>
              </a:r>
              <a:endParaRPr lang="zh-CN" altLang="en-US" dirty="0">
                <a:solidFill>
                  <a:schemeClr val="accent3">
                    <a:lumMod val="75000"/>
                  </a:schemeClr>
                </a:solidFill>
              </a:endParaRPr>
            </a:p>
          </p:txBody>
        </p:sp>
        <p:sp>
          <p:nvSpPr>
            <p:cNvPr id="5" name="文本框 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5.1</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9" name="组合 8"/>
          <p:cNvGrpSpPr/>
          <p:nvPr/>
        </p:nvGrpSpPr>
        <p:grpSpPr>
          <a:xfrm>
            <a:off x="1042088" y="5333859"/>
            <a:ext cx="9807777" cy="3815198"/>
            <a:chOff x="1656881" y="2722257"/>
            <a:chExt cx="9807777" cy="3815198"/>
          </a:xfrm>
        </p:grpSpPr>
        <p:sp>
          <p:nvSpPr>
            <p:cNvPr id="10" name="任意多边形: 形状 45"/>
            <p:cNvSpPr/>
            <p:nvPr/>
          </p:nvSpPr>
          <p:spPr>
            <a:xfrm>
              <a:off x="1658609" y="3324840"/>
              <a:ext cx="9804322" cy="3212615"/>
            </a:xfrm>
            <a:custGeom>
              <a:avLst/>
              <a:gdLst>
                <a:gd name="connsiteX0" fmla="*/ 0 w 10893691"/>
                <a:gd name="connsiteY0" fmla="*/ 0 h 3574720"/>
                <a:gd name="connsiteX1" fmla="*/ 165 w 10893691"/>
                <a:gd name="connsiteY1" fmla="*/ 0 h 3574720"/>
                <a:gd name="connsiteX2" fmla="*/ 28132 w 10893691"/>
                <a:gd name="connsiteY2" fmla="*/ 52281 h 3574720"/>
                <a:gd name="connsiteX3" fmla="*/ 5448765 w 10893691"/>
                <a:gd name="connsiteY3" fmla="*/ 514042 h 3574720"/>
                <a:gd name="connsiteX4" fmla="*/ 10869399 w 10893691"/>
                <a:gd name="connsiteY4" fmla="*/ 52281 h 3574720"/>
                <a:gd name="connsiteX5" fmla="*/ 10893691 w 10893691"/>
                <a:gd name="connsiteY5" fmla="*/ 6869 h 3574720"/>
                <a:gd name="connsiteX6" fmla="*/ 10893691 w 10893691"/>
                <a:gd name="connsiteY6" fmla="*/ 3574720 h 3574720"/>
                <a:gd name="connsiteX7" fmla="*/ 0 w 10893691"/>
                <a:gd name="connsiteY7" fmla="*/ 3574720 h 3574720"/>
                <a:gd name="connsiteX0-1" fmla="*/ 0 w 10893691"/>
                <a:gd name="connsiteY0-2" fmla="*/ 0 h 3574720"/>
                <a:gd name="connsiteX1-3" fmla="*/ 165 w 10893691"/>
                <a:gd name="connsiteY1-4" fmla="*/ 0 h 3574720"/>
                <a:gd name="connsiteX2-5" fmla="*/ 28132 w 10893691"/>
                <a:gd name="connsiteY2-6" fmla="*/ 52281 h 3574720"/>
                <a:gd name="connsiteX3-7" fmla="*/ 5448765 w 10893691"/>
                <a:gd name="connsiteY3-8" fmla="*/ 653139 h 3574720"/>
                <a:gd name="connsiteX4-9" fmla="*/ 10869399 w 10893691"/>
                <a:gd name="connsiteY4-10" fmla="*/ 52281 h 3574720"/>
                <a:gd name="connsiteX5-11" fmla="*/ 10893691 w 10893691"/>
                <a:gd name="connsiteY5-12" fmla="*/ 6869 h 3574720"/>
                <a:gd name="connsiteX6-13" fmla="*/ 10893691 w 10893691"/>
                <a:gd name="connsiteY6-14" fmla="*/ 3574720 h 3574720"/>
                <a:gd name="connsiteX7-15" fmla="*/ 0 w 10893691"/>
                <a:gd name="connsiteY7-16" fmla="*/ 3574720 h 3574720"/>
                <a:gd name="connsiteX8" fmla="*/ 0 w 10893691"/>
                <a:gd name="connsiteY8" fmla="*/ 0 h 3574720"/>
                <a:gd name="connsiteX0-17" fmla="*/ 0 w 10893691"/>
                <a:gd name="connsiteY0-18" fmla="*/ 0 h 3574720"/>
                <a:gd name="connsiteX1-19" fmla="*/ 165 w 10893691"/>
                <a:gd name="connsiteY1-20" fmla="*/ 0 h 3574720"/>
                <a:gd name="connsiteX2-21" fmla="*/ 28132 w 10893691"/>
                <a:gd name="connsiteY2-22" fmla="*/ 52281 h 3574720"/>
                <a:gd name="connsiteX3-23" fmla="*/ 5448765 w 10893691"/>
                <a:gd name="connsiteY3-24" fmla="*/ 711095 h 3574720"/>
                <a:gd name="connsiteX4-25" fmla="*/ 10869399 w 10893691"/>
                <a:gd name="connsiteY4-26" fmla="*/ 52281 h 3574720"/>
                <a:gd name="connsiteX5-27" fmla="*/ 10893691 w 10893691"/>
                <a:gd name="connsiteY5-28" fmla="*/ 6869 h 3574720"/>
                <a:gd name="connsiteX6-29" fmla="*/ 10893691 w 10893691"/>
                <a:gd name="connsiteY6-30" fmla="*/ 3574720 h 3574720"/>
                <a:gd name="connsiteX7-31" fmla="*/ 0 w 10893691"/>
                <a:gd name="connsiteY7-32" fmla="*/ 3574720 h 3574720"/>
                <a:gd name="connsiteX8-33" fmla="*/ 0 w 10893691"/>
                <a:gd name="connsiteY8-34" fmla="*/ 0 h 3574720"/>
                <a:gd name="connsiteX0-35" fmla="*/ 0 w 10893691"/>
                <a:gd name="connsiteY0-36" fmla="*/ 0 h 3574720"/>
                <a:gd name="connsiteX1-37" fmla="*/ 165 w 10893691"/>
                <a:gd name="connsiteY1-38" fmla="*/ 0 h 3574720"/>
                <a:gd name="connsiteX2-39" fmla="*/ 28132 w 10893691"/>
                <a:gd name="connsiteY2-40" fmla="*/ 52281 h 3574720"/>
                <a:gd name="connsiteX3-41" fmla="*/ 5448765 w 10893691"/>
                <a:gd name="connsiteY3-42" fmla="*/ 656152 h 3574720"/>
                <a:gd name="connsiteX4-43" fmla="*/ 10869399 w 10893691"/>
                <a:gd name="connsiteY4-44" fmla="*/ 52281 h 3574720"/>
                <a:gd name="connsiteX5-45" fmla="*/ 10893691 w 10893691"/>
                <a:gd name="connsiteY5-46" fmla="*/ 6869 h 3574720"/>
                <a:gd name="connsiteX6-47" fmla="*/ 10893691 w 10893691"/>
                <a:gd name="connsiteY6-48" fmla="*/ 3574720 h 3574720"/>
                <a:gd name="connsiteX7-49" fmla="*/ 0 w 10893691"/>
                <a:gd name="connsiteY7-50" fmla="*/ 3574720 h 3574720"/>
                <a:gd name="connsiteX8-51" fmla="*/ 0 w 10893691"/>
                <a:gd name="connsiteY8-52" fmla="*/ 0 h 3574720"/>
                <a:gd name="connsiteX0-53" fmla="*/ 0 w 10893691"/>
                <a:gd name="connsiteY0-54" fmla="*/ 0 h 3574720"/>
                <a:gd name="connsiteX1-55" fmla="*/ 165 w 10893691"/>
                <a:gd name="connsiteY1-56" fmla="*/ 0 h 3574720"/>
                <a:gd name="connsiteX2-57" fmla="*/ 28132 w 10893691"/>
                <a:gd name="connsiteY2-58" fmla="*/ 52281 h 3574720"/>
                <a:gd name="connsiteX3-59" fmla="*/ 5448765 w 10893691"/>
                <a:gd name="connsiteY3-60" fmla="*/ 656152 h 3574720"/>
                <a:gd name="connsiteX4-61" fmla="*/ 10869399 w 10893691"/>
                <a:gd name="connsiteY4-62" fmla="*/ 52281 h 3574720"/>
                <a:gd name="connsiteX5-63" fmla="*/ 10893691 w 10893691"/>
                <a:gd name="connsiteY5-64" fmla="*/ 6869 h 3574720"/>
                <a:gd name="connsiteX6-65" fmla="*/ 10893691 w 10893691"/>
                <a:gd name="connsiteY6-66" fmla="*/ 3574720 h 3574720"/>
                <a:gd name="connsiteX7-67" fmla="*/ 0 w 10893691"/>
                <a:gd name="connsiteY7-68" fmla="*/ 3574720 h 3574720"/>
                <a:gd name="connsiteX8-69" fmla="*/ 0 w 10893691"/>
                <a:gd name="connsiteY8-70" fmla="*/ 0 h 3574720"/>
                <a:gd name="connsiteX0-71" fmla="*/ 0 w 10893691"/>
                <a:gd name="connsiteY0-72" fmla="*/ 0 h 3574720"/>
                <a:gd name="connsiteX1-73" fmla="*/ 165 w 10893691"/>
                <a:gd name="connsiteY1-74" fmla="*/ 0 h 3574720"/>
                <a:gd name="connsiteX2-75" fmla="*/ 28132 w 10893691"/>
                <a:gd name="connsiteY2-76" fmla="*/ 52281 h 3574720"/>
                <a:gd name="connsiteX3-77" fmla="*/ 5448765 w 10893691"/>
                <a:gd name="connsiteY3-78" fmla="*/ 656152 h 3574720"/>
                <a:gd name="connsiteX4-79" fmla="*/ 10869399 w 10893691"/>
                <a:gd name="connsiteY4-80" fmla="*/ 52281 h 3574720"/>
                <a:gd name="connsiteX5-81" fmla="*/ 10893691 w 10893691"/>
                <a:gd name="connsiteY5-82" fmla="*/ 6869 h 3574720"/>
                <a:gd name="connsiteX6-83" fmla="*/ 10893691 w 10893691"/>
                <a:gd name="connsiteY6-84" fmla="*/ 3574720 h 3574720"/>
                <a:gd name="connsiteX7-85" fmla="*/ 0 w 10893691"/>
                <a:gd name="connsiteY7-86" fmla="*/ 3574720 h 3574720"/>
                <a:gd name="connsiteX8-87" fmla="*/ 0 w 10893691"/>
                <a:gd name="connsiteY8-88" fmla="*/ 0 h 35747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0893691" h="3574720">
                  <a:moveTo>
                    <a:pt x="0" y="0"/>
                  </a:moveTo>
                  <a:lnTo>
                    <a:pt x="165" y="0"/>
                  </a:lnTo>
                  <a:lnTo>
                    <a:pt x="28132" y="52281"/>
                  </a:lnTo>
                  <a:cubicBezTo>
                    <a:pt x="307163" y="311646"/>
                    <a:pt x="2106366" y="656153"/>
                    <a:pt x="5448765" y="656152"/>
                  </a:cubicBezTo>
                  <a:cubicBezTo>
                    <a:pt x="8791164" y="656151"/>
                    <a:pt x="10590368" y="311646"/>
                    <a:pt x="10869399" y="52281"/>
                  </a:cubicBezTo>
                  <a:lnTo>
                    <a:pt x="10893691" y="6869"/>
                  </a:lnTo>
                  <a:lnTo>
                    <a:pt x="10893691" y="3574720"/>
                  </a:lnTo>
                  <a:lnTo>
                    <a:pt x="0" y="3574720"/>
                  </a:lnTo>
                  <a:lnTo>
                    <a:pt x="0" y="0"/>
                  </a:lnTo>
                  <a:close/>
                </a:path>
              </a:pathLst>
            </a:custGeom>
            <a:gradFill flip="none" rotWithShape="1">
              <a:gsLst>
                <a:gs pos="59000">
                  <a:schemeClr val="accent1">
                    <a:alpha val="0"/>
                  </a:schemeClr>
                </a:gs>
                <a:gs pos="99000">
                  <a:schemeClr val="accent1">
                    <a:alpha val="69817"/>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sp>
          <p:nvSpPr>
            <p:cNvPr id="11" name="椭圆 10"/>
            <p:cNvSpPr/>
            <p:nvPr/>
          </p:nvSpPr>
          <p:spPr>
            <a:xfrm>
              <a:off x="1656881" y="2722257"/>
              <a:ext cx="9807777" cy="1182072"/>
            </a:xfrm>
            <a:prstGeom prst="ellipse">
              <a:avLst/>
            </a:prstGeom>
            <a:gradFill>
              <a:gsLst>
                <a:gs pos="60000">
                  <a:schemeClr val="accent1">
                    <a:alpha val="34000"/>
                  </a:schemeClr>
                </a:gs>
                <a:gs pos="0">
                  <a:schemeClr val="accent1">
                    <a:alpha val="0"/>
                  </a:schemeClr>
                </a:gs>
                <a:gs pos="100000">
                  <a:schemeClr val="accent1">
                    <a:alpha val="70000"/>
                  </a:schemeClr>
                </a:gs>
              </a:gsLst>
              <a:lin ang="5400000" scaled="1"/>
            </a:gradFill>
            <a:ln w="11430">
              <a:gradFill>
                <a:gsLst>
                  <a:gs pos="0">
                    <a:schemeClr val="accent1">
                      <a:alpha val="0"/>
                    </a:schemeClr>
                  </a:gs>
                  <a:gs pos="100000">
                    <a:schemeClr val="accent1">
                      <a:alpha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grpSp>
      <p:sp>
        <p:nvSpPr>
          <p:cNvPr id="12" name="任意多边形: 形状 5"/>
          <p:cNvSpPr/>
          <p:nvPr/>
        </p:nvSpPr>
        <p:spPr bwMode="auto">
          <a:xfrm rot="10800000" flipH="1" flipV="1">
            <a:off x="-132735" y="232805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 name="任意多边形: 形状 4"/>
          <p:cNvSpPr/>
          <p:nvPr/>
        </p:nvSpPr>
        <p:spPr bwMode="auto">
          <a:xfrm rot="10800000" flipV="1">
            <a:off x="10119675" y="252892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2106671" y="1907764"/>
            <a:ext cx="7678609" cy="3312275"/>
          </a:xfrm>
          <a:prstGeom prst="rect">
            <a:avLst/>
          </a:prstGeom>
          <a:gradFill flip="none" rotWithShape="1">
            <a:gsLst>
              <a:gs pos="76000">
                <a:schemeClr val="accent1">
                  <a:alpha val="4000"/>
                </a:schemeClr>
              </a:gs>
              <a:gs pos="0">
                <a:schemeClr val="accent1">
                  <a:alpha val="757"/>
                </a:schemeClr>
              </a:gs>
              <a:gs pos="54000">
                <a:schemeClr val="accent1">
                  <a:alpha val="10000"/>
                </a:schemeClr>
              </a:gs>
              <a:gs pos="100000">
                <a:schemeClr val="accent1">
                  <a:alpha val="0"/>
                </a:schemeClr>
              </a:gs>
            </a:gsLst>
            <a:path path="circle">
              <a:fillToRect r="100000" b="100000"/>
            </a:path>
            <a:tileRect l="-100000" t="-100000"/>
          </a:gradFill>
          <a:ln w="12700" cap="flat" cmpd="sng" algn="ctr">
            <a:gradFill>
              <a:gsLst>
                <a:gs pos="77000">
                  <a:schemeClr val="accent1">
                    <a:alpha val="10000"/>
                  </a:schemeClr>
                </a:gs>
                <a:gs pos="10000">
                  <a:schemeClr val="accent1"/>
                </a:gs>
                <a:gs pos="0">
                  <a:schemeClr val="accent1">
                    <a:alpha val="12000"/>
                  </a:schemeClr>
                </a:gs>
                <a:gs pos="25000">
                  <a:schemeClr val="accent1">
                    <a:alpha val="10000"/>
                  </a:schemeClr>
                </a:gs>
                <a:gs pos="88000">
                  <a:schemeClr val="accent1">
                    <a:alpha val="0"/>
                  </a:schemeClr>
                </a:gs>
              </a:gsLst>
              <a:lin ang="18900000" scaled="0"/>
            </a:gradFill>
            <a:prstDash val="solid"/>
            <a:miter lim="800000"/>
          </a:ln>
          <a:effectLst>
            <a:outerShdw blurRad="114300" dir="2100000" algn="tl" rotWithShape="0">
              <a:srgbClr val="6ED5FF">
                <a:alpha val="70000"/>
              </a:srgbClr>
            </a:outerShdw>
          </a:effectLst>
        </p:spPr>
        <p:txBody>
          <a:bodyPr lIns="179189" rIns="179189" rtlCol="0" anchor="ctr"/>
          <a:lstStyle/>
          <a:p>
            <a:pPr marL="0" marR="0" lvl="0" indent="0" algn="ctr" defTabSz="909955" rtl="0" eaLnBrk="1" fontAlgn="auto" latinLnBrk="0" hangingPunct="1">
              <a:lnSpc>
                <a:spcPct val="100000"/>
              </a:lnSpc>
              <a:spcBef>
                <a:spcPts val="0"/>
              </a:spcBef>
              <a:spcAft>
                <a:spcPts val="0"/>
              </a:spcAft>
              <a:buClrTx/>
              <a:buSzTx/>
              <a:buFontTx/>
              <a:buNone/>
              <a:defRPr/>
            </a:pPr>
            <a:endParaRPr kumimoji="0" lang="zh-CN" altLang="en-US" sz="1395" b="0" i="0" u="none" strike="noStrike" kern="0" cap="none" spc="0" normalizeH="0" baseline="0" noProof="0">
              <a:ln>
                <a:noFill/>
              </a:ln>
              <a:solidFill>
                <a:prstClr val="white"/>
              </a:solidFill>
              <a:effectLst/>
              <a:uLnTx/>
              <a:uFillTx/>
              <a:cs typeface="+mn-ea"/>
              <a:sym typeface="+mn-lt"/>
            </a:endParaRPr>
          </a:p>
        </p:txBody>
      </p:sp>
      <p:sp>
        <p:nvSpPr>
          <p:cNvPr id="112" name="圆角矩形 4"/>
          <p:cNvSpPr txBox="1"/>
          <p:nvPr/>
        </p:nvSpPr>
        <p:spPr>
          <a:xfrm>
            <a:off x="2490318" y="2349743"/>
            <a:ext cx="7211364" cy="2471705"/>
          </a:xfrm>
          <a:prstGeom prst="rect">
            <a:avLst/>
          </a:prstGeom>
          <a:noFill/>
          <a:ln>
            <a:noFill/>
          </a:ln>
          <a:effectLst/>
        </p:spPr>
        <p:style>
          <a:lnRef idx="2">
            <a:schemeClr val="accent1"/>
          </a:lnRef>
          <a:fillRef idx="1">
            <a:schemeClr val="lt1"/>
          </a:fillRef>
          <a:effectRef idx="0">
            <a:schemeClr val="accent1"/>
          </a:effectRef>
          <a:fontRef idx="minor">
            <a:schemeClr val="dk1"/>
          </a:fontRef>
        </p:style>
        <p:txBody>
          <a:bodyPr spcFirstLastPara="0" vert="horz" wrap="square" lIns="57150" tIns="57150" rIns="57150" bIns="57150" numCol="1" spcCol="1270" anchor="ctr" anchorCtr="0">
            <a:noAutofit/>
          </a:bodyPr>
          <a:lstStyle/>
          <a:p>
            <a:pPr lvl="0" defTabSz="666750">
              <a:lnSpc>
                <a:spcPct val="150000"/>
              </a:lnSpc>
              <a:spcBef>
                <a:spcPct val="0"/>
              </a:spcBef>
              <a:spcAft>
                <a:spcPct val="35000"/>
              </a:spcAft>
            </a:pPr>
            <a:r>
              <a:rPr lang="zh-CN" altLang="en-US" sz="1600" dirty="0" smtClean="0">
                <a:solidFill>
                  <a:schemeClr val="tx1"/>
                </a:solidFill>
              </a:rPr>
              <a:t>      将</a:t>
            </a:r>
            <a:r>
              <a:rPr lang="zh-CN" altLang="en-US" sz="1600" dirty="0">
                <a:solidFill>
                  <a:schemeClr val="tx1"/>
                </a:solidFill>
              </a:rPr>
              <a:t>发展规划的实施纳入各部室绩效考核体系，明确责任主体和责任人，确保每项工作都有人抓、有人管、有人负责。围绕担当作为、创新争优、绩效产出等多方面科学设定考核指标，确保考核的全面性和客观性。考核结果作为干部选拔任用、职称评聘的重要参考。</a:t>
            </a:r>
            <a:endParaRPr lang="zh-CN" sz="1600" kern="1200" dirty="0">
              <a:solidFill>
                <a:schemeClr val="tx1"/>
              </a:solidFill>
            </a:endParaRPr>
          </a:p>
        </p:txBody>
      </p:sp>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smtClean="0">
                  <a:solidFill>
                    <a:schemeClr val="accent3">
                      <a:lumMod val="75000"/>
                    </a:schemeClr>
                  </a:solidFill>
                </a:rPr>
                <a:t>强化考核督导</a:t>
              </a:r>
              <a:endParaRPr lang="zh-CN" altLang="en-US" dirty="0">
                <a:solidFill>
                  <a:schemeClr val="accent3">
                    <a:lumMod val="75000"/>
                  </a:schemeClr>
                </a:solidFill>
              </a:endParaRPr>
            </a:p>
          </p:txBody>
        </p:sp>
        <p:sp>
          <p:nvSpPr>
            <p:cNvPr id="5" name="文本框 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5.2</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grpSp>
        <p:nvGrpSpPr>
          <p:cNvPr id="9" name="组合 8"/>
          <p:cNvGrpSpPr/>
          <p:nvPr/>
        </p:nvGrpSpPr>
        <p:grpSpPr>
          <a:xfrm>
            <a:off x="1042088" y="5333859"/>
            <a:ext cx="9807777" cy="3815198"/>
            <a:chOff x="1656881" y="2722257"/>
            <a:chExt cx="9807777" cy="3815198"/>
          </a:xfrm>
        </p:grpSpPr>
        <p:sp>
          <p:nvSpPr>
            <p:cNvPr id="10" name="任意多边形: 形状 45"/>
            <p:cNvSpPr/>
            <p:nvPr/>
          </p:nvSpPr>
          <p:spPr>
            <a:xfrm>
              <a:off x="1658609" y="3324840"/>
              <a:ext cx="9804322" cy="3212615"/>
            </a:xfrm>
            <a:custGeom>
              <a:avLst/>
              <a:gdLst>
                <a:gd name="connsiteX0" fmla="*/ 0 w 10893691"/>
                <a:gd name="connsiteY0" fmla="*/ 0 h 3574720"/>
                <a:gd name="connsiteX1" fmla="*/ 165 w 10893691"/>
                <a:gd name="connsiteY1" fmla="*/ 0 h 3574720"/>
                <a:gd name="connsiteX2" fmla="*/ 28132 w 10893691"/>
                <a:gd name="connsiteY2" fmla="*/ 52281 h 3574720"/>
                <a:gd name="connsiteX3" fmla="*/ 5448765 w 10893691"/>
                <a:gd name="connsiteY3" fmla="*/ 514042 h 3574720"/>
                <a:gd name="connsiteX4" fmla="*/ 10869399 w 10893691"/>
                <a:gd name="connsiteY4" fmla="*/ 52281 h 3574720"/>
                <a:gd name="connsiteX5" fmla="*/ 10893691 w 10893691"/>
                <a:gd name="connsiteY5" fmla="*/ 6869 h 3574720"/>
                <a:gd name="connsiteX6" fmla="*/ 10893691 w 10893691"/>
                <a:gd name="connsiteY6" fmla="*/ 3574720 h 3574720"/>
                <a:gd name="connsiteX7" fmla="*/ 0 w 10893691"/>
                <a:gd name="connsiteY7" fmla="*/ 3574720 h 3574720"/>
                <a:gd name="connsiteX0-1" fmla="*/ 0 w 10893691"/>
                <a:gd name="connsiteY0-2" fmla="*/ 0 h 3574720"/>
                <a:gd name="connsiteX1-3" fmla="*/ 165 w 10893691"/>
                <a:gd name="connsiteY1-4" fmla="*/ 0 h 3574720"/>
                <a:gd name="connsiteX2-5" fmla="*/ 28132 w 10893691"/>
                <a:gd name="connsiteY2-6" fmla="*/ 52281 h 3574720"/>
                <a:gd name="connsiteX3-7" fmla="*/ 5448765 w 10893691"/>
                <a:gd name="connsiteY3-8" fmla="*/ 653139 h 3574720"/>
                <a:gd name="connsiteX4-9" fmla="*/ 10869399 w 10893691"/>
                <a:gd name="connsiteY4-10" fmla="*/ 52281 h 3574720"/>
                <a:gd name="connsiteX5-11" fmla="*/ 10893691 w 10893691"/>
                <a:gd name="connsiteY5-12" fmla="*/ 6869 h 3574720"/>
                <a:gd name="connsiteX6-13" fmla="*/ 10893691 w 10893691"/>
                <a:gd name="connsiteY6-14" fmla="*/ 3574720 h 3574720"/>
                <a:gd name="connsiteX7-15" fmla="*/ 0 w 10893691"/>
                <a:gd name="connsiteY7-16" fmla="*/ 3574720 h 3574720"/>
                <a:gd name="connsiteX8" fmla="*/ 0 w 10893691"/>
                <a:gd name="connsiteY8" fmla="*/ 0 h 3574720"/>
                <a:gd name="connsiteX0-17" fmla="*/ 0 w 10893691"/>
                <a:gd name="connsiteY0-18" fmla="*/ 0 h 3574720"/>
                <a:gd name="connsiteX1-19" fmla="*/ 165 w 10893691"/>
                <a:gd name="connsiteY1-20" fmla="*/ 0 h 3574720"/>
                <a:gd name="connsiteX2-21" fmla="*/ 28132 w 10893691"/>
                <a:gd name="connsiteY2-22" fmla="*/ 52281 h 3574720"/>
                <a:gd name="connsiteX3-23" fmla="*/ 5448765 w 10893691"/>
                <a:gd name="connsiteY3-24" fmla="*/ 711095 h 3574720"/>
                <a:gd name="connsiteX4-25" fmla="*/ 10869399 w 10893691"/>
                <a:gd name="connsiteY4-26" fmla="*/ 52281 h 3574720"/>
                <a:gd name="connsiteX5-27" fmla="*/ 10893691 w 10893691"/>
                <a:gd name="connsiteY5-28" fmla="*/ 6869 h 3574720"/>
                <a:gd name="connsiteX6-29" fmla="*/ 10893691 w 10893691"/>
                <a:gd name="connsiteY6-30" fmla="*/ 3574720 h 3574720"/>
                <a:gd name="connsiteX7-31" fmla="*/ 0 w 10893691"/>
                <a:gd name="connsiteY7-32" fmla="*/ 3574720 h 3574720"/>
                <a:gd name="connsiteX8-33" fmla="*/ 0 w 10893691"/>
                <a:gd name="connsiteY8-34" fmla="*/ 0 h 3574720"/>
                <a:gd name="connsiteX0-35" fmla="*/ 0 w 10893691"/>
                <a:gd name="connsiteY0-36" fmla="*/ 0 h 3574720"/>
                <a:gd name="connsiteX1-37" fmla="*/ 165 w 10893691"/>
                <a:gd name="connsiteY1-38" fmla="*/ 0 h 3574720"/>
                <a:gd name="connsiteX2-39" fmla="*/ 28132 w 10893691"/>
                <a:gd name="connsiteY2-40" fmla="*/ 52281 h 3574720"/>
                <a:gd name="connsiteX3-41" fmla="*/ 5448765 w 10893691"/>
                <a:gd name="connsiteY3-42" fmla="*/ 656152 h 3574720"/>
                <a:gd name="connsiteX4-43" fmla="*/ 10869399 w 10893691"/>
                <a:gd name="connsiteY4-44" fmla="*/ 52281 h 3574720"/>
                <a:gd name="connsiteX5-45" fmla="*/ 10893691 w 10893691"/>
                <a:gd name="connsiteY5-46" fmla="*/ 6869 h 3574720"/>
                <a:gd name="connsiteX6-47" fmla="*/ 10893691 w 10893691"/>
                <a:gd name="connsiteY6-48" fmla="*/ 3574720 h 3574720"/>
                <a:gd name="connsiteX7-49" fmla="*/ 0 w 10893691"/>
                <a:gd name="connsiteY7-50" fmla="*/ 3574720 h 3574720"/>
                <a:gd name="connsiteX8-51" fmla="*/ 0 w 10893691"/>
                <a:gd name="connsiteY8-52" fmla="*/ 0 h 3574720"/>
                <a:gd name="connsiteX0-53" fmla="*/ 0 w 10893691"/>
                <a:gd name="connsiteY0-54" fmla="*/ 0 h 3574720"/>
                <a:gd name="connsiteX1-55" fmla="*/ 165 w 10893691"/>
                <a:gd name="connsiteY1-56" fmla="*/ 0 h 3574720"/>
                <a:gd name="connsiteX2-57" fmla="*/ 28132 w 10893691"/>
                <a:gd name="connsiteY2-58" fmla="*/ 52281 h 3574720"/>
                <a:gd name="connsiteX3-59" fmla="*/ 5448765 w 10893691"/>
                <a:gd name="connsiteY3-60" fmla="*/ 656152 h 3574720"/>
                <a:gd name="connsiteX4-61" fmla="*/ 10869399 w 10893691"/>
                <a:gd name="connsiteY4-62" fmla="*/ 52281 h 3574720"/>
                <a:gd name="connsiteX5-63" fmla="*/ 10893691 w 10893691"/>
                <a:gd name="connsiteY5-64" fmla="*/ 6869 h 3574720"/>
                <a:gd name="connsiteX6-65" fmla="*/ 10893691 w 10893691"/>
                <a:gd name="connsiteY6-66" fmla="*/ 3574720 h 3574720"/>
                <a:gd name="connsiteX7-67" fmla="*/ 0 w 10893691"/>
                <a:gd name="connsiteY7-68" fmla="*/ 3574720 h 3574720"/>
                <a:gd name="connsiteX8-69" fmla="*/ 0 w 10893691"/>
                <a:gd name="connsiteY8-70" fmla="*/ 0 h 3574720"/>
                <a:gd name="connsiteX0-71" fmla="*/ 0 w 10893691"/>
                <a:gd name="connsiteY0-72" fmla="*/ 0 h 3574720"/>
                <a:gd name="connsiteX1-73" fmla="*/ 165 w 10893691"/>
                <a:gd name="connsiteY1-74" fmla="*/ 0 h 3574720"/>
                <a:gd name="connsiteX2-75" fmla="*/ 28132 w 10893691"/>
                <a:gd name="connsiteY2-76" fmla="*/ 52281 h 3574720"/>
                <a:gd name="connsiteX3-77" fmla="*/ 5448765 w 10893691"/>
                <a:gd name="connsiteY3-78" fmla="*/ 656152 h 3574720"/>
                <a:gd name="connsiteX4-79" fmla="*/ 10869399 w 10893691"/>
                <a:gd name="connsiteY4-80" fmla="*/ 52281 h 3574720"/>
                <a:gd name="connsiteX5-81" fmla="*/ 10893691 w 10893691"/>
                <a:gd name="connsiteY5-82" fmla="*/ 6869 h 3574720"/>
                <a:gd name="connsiteX6-83" fmla="*/ 10893691 w 10893691"/>
                <a:gd name="connsiteY6-84" fmla="*/ 3574720 h 3574720"/>
                <a:gd name="connsiteX7-85" fmla="*/ 0 w 10893691"/>
                <a:gd name="connsiteY7-86" fmla="*/ 3574720 h 3574720"/>
                <a:gd name="connsiteX8-87" fmla="*/ 0 w 10893691"/>
                <a:gd name="connsiteY8-88" fmla="*/ 0 h 35747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0893691" h="3574720">
                  <a:moveTo>
                    <a:pt x="0" y="0"/>
                  </a:moveTo>
                  <a:lnTo>
                    <a:pt x="165" y="0"/>
                  </a:lnTo>
                  <a:lnTo>
                    <a:pt x="28132" y="52281"/>
                  </a:lnTo>
                  <a:cubicBezTo>
                    <a:pt x="307163" y="311646"/>
                    <a:pt x="2106366" y="656153"/>
                    <a:pt x="5448765" y="656152"/>
                  </a:cubicBezTo>
                  <a:cubicBezTo>
                    <a:pt x="8791164" y="656151"/>
                    <a:pt x="10590368" y="311646"/>
                    <a:pt x="10869399" y="52281"/>
                  </a:cubicBezTo>
                  <a:lnTo>
                    <a:pt x="10893691" y="6869"/>
                  </a:lnTo>
                  <a:lnTo>
                    <a:pt x="10893691" y="3574720"/>
                  </a:lnTo>
                  <a:lnTo>
                    <a:pt x="0" y="3574720"/>
                  </a:lnTo>
                  <a:lnTo>
                    <a:pt x="0" y="0"/>
                  </a:lnTo>
                  <a:close/>
                </a:path>
              </a:pathLst>
            </a:custGeom>
            <a:gradFill flip="none" rotWithShape="1">
              <a:gsLst>
                <a:gs pos="59000">
                  <a:schemeClr val="accent1">
                    <a:alpha val="0"/>
                  </a:schemeClr>
                </a:gs>
                <a:gs pos="99000">
                  <a:schemeClr val="accent1">
                    <a:alpha val="69817"/>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sp>
          <p:nvSpPr>
            <p:cNvPr id="11" name="椭圆 10"/>
            <p:cNvSpPr/>
            <p:nvPr/>
          </p:nvSpPr>
          <p:spPr>
            <a:xfrm>
              <a:off x="1656881" y="2722257"/>
              <a:ext cx="9807777" cy="1182072"/>
            </a:xfrm>
            <a:prstGeom prst="ellipse">
              <a:avLst/>
            </a:prstGeom>
            <a:gradFill>
              <a:gsLst>
                <a:gs pos="60000">
                  <a:schemeClr val="accent1">
                    <a:alpha val="34000"/>
                  </a:schemeClr>
                </a:gs>
                <a:gs pos="0">
                  <a:schemeClr val="accent1">
                    <a:alpha val="0"/>
                  </a:schemeClr>
                </a:gs>
                <a:gs pos="100000">
                  <a:schemeClr val="accent1">
                    <a:alpha val="70000"/>
                  </a:schemeClr>
                </a:gs>
              </a:gsLst>
              <a:lin ang="5400000" scaled="1"/>
            </a:gradFill>
            <a:ln w="11430">
              <a:gradFill>
                <a:gsLst>
                  <a:gs pos="0">
                    <a:schemeClr val="accent1">
                      <a:alpha val="0"/>
                    </a:schemeClr>
                  </a:gs>
                  <a:gs pos="100000">
                    <a:schemeClr val="accent1">
                      <a:alpha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grpSp>
      <p:sp>
        <p:nvSpPr>
          <p:cNvPr id="12" name="任意多边形: 形状 5"/>
          <p:cNvSpPr/>
          <p:nvPr/>
        </p:nvSpPr>
        <p:spPr bwMode="auto">
          <a:xfrm rot="10800000" flipH="1" flipV="1">
            <a:off x="-132735" y="232805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3" name="任意多边形: 形状 4"/>
          <p:cNvSpPr/>
          <p:nvPr/>
        </p:nvSpPr>
        <p:spPr bwMode="auto">
          <a:xfrm rot="10800000" flipV="1">
            <a:off x="10119675" y="252892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smtClean="0">
                  <a:solidFill>
                    <a:schemeClr val="accent3">
                      <a:lumMod val="75000"/>
                    </a:schemeClr>
                  </a:solidFill>
                </a:rPr>
                <a:t>创新科研方式</a:t>
              </a:r>
              <a:endParaRPr lang="zh-CN" altLang="en-US" dirty="0">
                <a:solidFill>
                  <a:schemeClr val="accent3">
                    <a:lumMod val="75000"/>
                  </a:schemeClr>
                </a:solidFill>
              </a:endParaRPr>
            </a:p>
          </p:txBody>
        </p:sp>
        <p:sp>
          <p:nvSpPr>
            <p:cNvPr id="5" name="文本框 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5.3</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
        <p:nvSpPr>
          <p:cNvPr id="2" name="矩形 1"/>
          <p:cNvSpPr/>
          <p:nvPr/>
        </p:nvSpPr>
        <p:spPr>
          <a:xfrm>
            <a:off x="2106671" y="1907764"/>
            <a:ext cx="7678609" cy="3312275"/>
          </a:xfrm>
          <a:prstGeom prst="rect">
            <a:avLst/>
          </a:prstGeom>
          <a:gradFill flip="none" rotWithShape="1">
            <a:gsLst>
              <a:gs pos="76000">
                <a:schemeClr val="accent1">
                  <a:alpha val="4000"/>
                </a:schemeClr>
              </a:gs>
              <a:gs pos="0">
                <a:schemeClr val="accent1">
                  <a:alpha val="757"/>
                </a:schemeClr>
              </a:gs>
              <a:gs pos="54000">
                <a:schemeClr val="accent1">
                  <a:alpha val="10000"/>
                </a:schemeClr>
              </a:gs>
              <a:gs pos="100000">
                <a:schemeClr val="accent1">
                  <a:alpha val="0"/>
                </a:schemeClr>
              </a:gs>
            </a:gsLst>
            <a:path path="circle">
              <a:fillToRect r="100000" b="100000"/>
            </a:path>
            <a:tileRect l="-100000" t="-100000"/>
          </a:gradFill>
          <a:ln w="12700" cap="flat" cmpd="sng" algn="ctr">
            <a:gradFill>
              <a:gsLst>
                <a:gs pos="77000">
                  <a:schemeClr val="accent1">
                    <a:alpha val="10000"/>
                  </a:schemeClr>
                </a:gs>
                <a:gs pos="10000">
                  <a:schemeClr val="accent1"/>
                </a:gs>
                <a:gs pos="0">
                  <a:schemeClr val="accent1">
                    <a:alpha val="12000"/>
                  </a:schemeClr>
                </a:gs>
                <a:gs pos="25000">
                  <a:schemeClr val="accent1">
                    <a:alpha val="10000"/>
                  </a:schemeClr>
                </a:gs>
                <a:gs pos="88000">
                  <a:schemeClr val="accent1">
                    <a:alpha val="0"/>
                  </a:schemeClr>
                </a:gs>
              </a:gsLst>
              <a:lin ang="18900000" scaled="0"/>
            </a:gradFill>
            <a:prstDash val="solid"/>
            <a:miter lim="800000"/>
          </a:ln>
          <a:effectLst>
            <a:outerShdw blurRad="114300" dir="2100000" algn="tl" rotWithShape="0">
              <a:srgbClr val="6ED5FF">
                <a:alpha val="70000"/>
              </a:srgbClr>
            </a:outerShdw>
          </a:effectLst>
        </p:spPr>
        <p:txBody>
          <a:bodyPr lIns="179189" rIns="179189" rtlCol="0" anchor="ctr"/>
          <a:lstStyle/>
          <a:p>
            <a:pPr marL="0" marR="0" lvl="0" indent="0" algn="ctr" defTabSz="909955" rtl="0" eaLnBrk="1" fontAlgn="auto" latinLnBrk="0" hangingPunct="1">
              <a:lnSpc>
                <a:spcPct val="100000"/>
              </a:lnSpc>
              <a:spcBef>
                <a:spcPts val="0"/>
              </a:spcBef>
              <a:spcAft>
                <a:spcPts val="0"/>
              </a:spcAft>
              <a:buClrTx/>
              <a:buSzTx/>
              <a:buFontTx/>
              <a:buNone/>
              <a:defRPr/>
            </a:pPr>
            <a:endParaRPr kumimoji="0" lang="zh-CN" altLang="en-US" sz="1395" b="0" i="0" u="none" strike="noStrike" kern="0" cap="none" spc="0" normalizeH="0" baseline="0" noProof="0">
              <a:ln>
                <a:noFill/>
              </a:ln>
              <a:solidFill>
                <a:prstClr val="white"/>
              </a:solidFill>
              <a:effectLst/>
              <a:uLnTx/>
              <a:uFillTx/>
              <a:cs typeface="+mn-ea"/>
              <a:sym typeface="+mn-lt"/>
            </a:endParaRPr>
          </a:p>
        </p:txBody>
      </p:sp>
      <p:sp>
        <p:nvSpPr>
          <p:cNvPr id="6" name="圆角矩形 4"/>
          <p:cNvSpPr txBox="1"/>
          <p:nvPr/>
        </p:nvSpPr>
        <p:spPr>
          <a:xfrm>
            <a:off x="2319285" y="2241406"/>
            <a:ext cx="7281916" cy="2744120"/>
          </a:xfrm>
          <a:prstGeom prst="rect">
            <a:avLst/>
          </a:prstGeom>
          <a:noFill/>
          <a:ln>
            <a:noFill/>
          </a:ln>
          <a:effectLst/>
        </p:spPr>
        <p:style>
          <a:lnRef idx="2">
            <a:schemeClr val="accent1"/>
          </a:lnRef>
          <a:fillRef idx="1">
            <a:schemeClr val="lt1"/>
          </a:fillRef>
          <a:effectRef idx="0">
            <a:schemeClr val="accent1"/>
          </a:effectRef>
          <a:fontRef idx="minor">
            <a:schemeClr val="dk1"/>
          </a:fontRef>
        </p:style>
        <p:txBody>
          <a:bodyPr spcFirstLastPara="0" vert="horz" wrap="square" lIns="57150" tIns="57150" rIns="57150" bIns="57150" numCol="1" spcCol="1270" anchor="ctr" anchorCtr="0">
            <a:noAutofit/>
          </a:bodyPr>
          <a:lstStyle/>
          <a:p>
            <a:pPr lvl="0" defTabSz="666750">
              <a:lnSpc>
                <a:spcPct val="150000"/>
              </a:lnSpc>
              <a:spcBef>
                <a:spcPct val="0"/>
              </a:spcBef>
            </a:pPr>
            <a:endParaRPr lang="en-US" altLang="zh-CN" sz="1600" dirty="0" smtClean="0">
              <a:solidFill>
                <a:schemeClr val="tx1"/>
              </a:solidFill>
              <a:latin typeface="+mn-ea"/>
            </a:endParaRPr>
          </a:p>
          <a:p>
            <a:pPr defTabSz="666750">
              <a:lnSpc>
                <a:spcPct val="150000"/>
              </a:lnSpc>
              <a:spcBef>
                <a:spcPct val="0"/>
              </a:spcBef>
            </a:pPr>
            <a:r>
              <a:rPr lang="zh-CN" altLang="en-US" sz="1600" dirty="0" smtClean="0"/>
              <a:t>      围绕</a:t>
            </a:r>
            <a:r>
              <a:rPr lang="zh-CN" altLang="en-US" sz="1600" dirty="0"/>
              <a:t>创发院使命担当、任务目标，以“有利于国家科技创新支撑、有利于全省科技创新目标实现、有利于厅重点工作推进、有利于省创发院高质量发展、有利于创发院人才队伍成长”为标准，开展重点创新任务示范性探索研究，为落实“有组织科研”提供有力支撑。</a:t>
            </a:r>
            <a:endParaRPr lang="zh-CN" sz="1600" kern="1200" dirty="0">
              <a:solidFill>
                <a:schemeClr val="tx1"/>
              </a:solidFill>
            </a:endParaRPr>
          </a:p>
        </p:txBody>
      </p:sp>
      <p:grpSp>
        <p:nvGrpSpPr>
          <p:cNvPr id="7" name="组合 6"/>
          <p:cNvGrpSpPr/>
          <p:nvPr/>
        </p:nvGrpSpPr>
        <p:grpSpPr>
          <a:xfrm>
            <a:off x="1042088" y="5333859"/>
            <a:ext cx="9807777" cy="3815198"/>
            <a:chOff x="1656881" y="2722257"/>
            <a:chExt cx="9807777" cy="3815198"/>
          </a:xfrm>
        </p:grpSpPr>
        <p:sp>
          <p:nvSpPr>
            <p:cNvPr id="8" name="任意多边形: 形状 45"/>
            <p:cNvSpPr/>
            <p:nvPr/>
          </p:nvSpPr>
          <p:spPr>
            <a:xfrm>
              <a:off x="1658609" y="3324840"/>
              <a:ext cx="9804322" cy="3212615"/>
            </a:xfrm>
            <a:custGeom>
              <a:avLst/>
              <a:gdLst>
                <a:gd name="connsiteX0" fmla="*/ 0 w 10893691"/>
                <a:gd name="connsiteY0" fmla="*/ 0 h 3574720"/>
                <a:gd name="connsiteX1" fmla="*/ 165 w 10893691"/>
                <a:gd name="connsiteY1" fmla="*/ 0 h 3574720"/>
                <a:gd name="connsiteX2" fmla="*/ 28132 w 10893691"/>
                <a:gd name="connsiteY2" fmla="*/ 52281 h 3574720"/>
                <a:gd name="connsiteX3" fmla="*/ 5448765 w 10893691"/>
                <a:gd name="connsiteY3" fmla="*/ 514042 h 3574720"/>
                <a:gd name="connsiteX4" fmla="*/ 10869399 w 10893691"/>
                <a:gd name="connsiteY4" fmla="*/ 52281 h 3574720"/>
                <a:gd name="connsiteX5" fmla="*/ 10893691 w 10893691"/>
                <a:gd name="connsiteY5" fmla="*/ 6869 h 3574720"/>
                <a:gd name="connsiteX6" fmla="*/ 10893691 w 10893691"/>
                <a:gd name="connsiteY6" fmla="*/ 3574720 h 3574720"/>
                <a:gd name="connsiteX7" fmla="*/ 0 w 10893691"/>
                <a:gd name="connsiteY7" fmla="*/ 3574720 h 3574720"/>
                <a:gd name="connsiteX0-1" fmla="*/ 0 w 10893691"/>
                <a:gd name="connsiteY0-2" fmla="*/ 0 h 3574720"/>
                <a:gd name="connsiteX1-3" fmla="*/ 165 w 10893691"/>
                <a:gd name="connsiteY1-4" fmla="*/ 0 h 3574720"/>
                <a:gd name="connsiteX2-5" fmla="*/ 28132 w 10893691"/>
                <a:gd name="connsiteY2-6" fmla="*/ 52281 h 3574720"/>
                <a:gd name="connsiteX3-7" fmla="*/ 5448765 w 10893691"/>
                <a:gd name="connsiteY3-8" fmla="*/ 653139 h 3574720"/>
                <a:gd name="connsiteX4-9" fmla="*/ 10869399 w 10893691"/>
                <a:gd name="connsiteY4-10" fmla="*/ 52281 h 3574720"/>
                <a:gd name="connsiteX5-11" fmla="*/ 10893691 w 10893691"/>
                <a:gd name="connsiteY5-12" fmla="*/ 6869 h 3574720"/>
                <a:gd name="connsiteX6-13" fmla="*/ 10893691 w 10893691"/>
                <a:gd name="connsiteY6-14" fmla="*/ 3574720 h 3574720"/>
                <a:gd name="connsiteX7-15" fmla="*/ 0 w 10893691"/>
                <a:gd name="connsiteY7-16" fmla="*/ 3574720 h 3574720"/>
                <a:gd name="connsiteX8" fmla="*/ 0 w 10893691"/>
                <a:gd name="connsiteY8" fmla="*/ 0 h 3574720"/>
                <a:gd name="connsiteX0-17" fmla="*/ 0 w 10893691"/>
                <a:gd name="connsiteY0-18" fmla="*/ 0 h 3574720"/>
                <a:gd name="connsiteX1-19" fmla="*/ 165 w 10893691"/>
                <a:gd name="connsiteY1-20" fmla="*/ 0 h 3574720"/>
                <a:gd name="connsiteX2-21" fmla="*/ 28132 w 10893691"/>
                <a:gd name="connsiteY2-22" fmla="*/ 52281 h 3574720"/>
                <a:gd name="connsiteX3-23" fmla="*/ 5448765 w 10893691"/>
                <a:gd name="connsiteY3-24" fmla="*/ 711095 h 3574720"/>
                <a:gd name="connsiteX4-25" fmla="*/ 10869399 w 10893691"/>
                <a:gd name="connsiteY4-26" fmla="*/ 52281 h 3574720"/>
                <a:gd name="connsiteX5-27" fmla="*/ 10893691 w 10893691"/>
                <a:gd name="connsiteY5-28" fmla="*/ 6869 h 3574720"/>
                <a:gd name="connsiteX6-29" fmla="*/ 10893691 w 10893691"/>
                <a:gd name="connsiteY6-30" fmla="*/ 3574720 h 3574720"/>
                <a:gd name="connsiteX7-31" fmla="*/ 0 w 10893691"/>
                <a:gd name="connsiteY7-32" fmla="*/ 3574720 h 3574720"/>
                <a:gd name="connsiteX8-33" fmla="*/ 0 w 10893691"/>
                <a:gd name="connsiteY8-34" fmla="*/ 0 h 3574720"/>
                <a:gd name="connsiteX0-35" fmla="*/ 0 w 10893691"/>
                <a:gd name="connsiteY0-36" fmla="*/ 0 h 3574720"/>
                <a:gd name="connsiteX1-37" fmla="*/ 165 w 10893691"/>
                <a:gd name="connsiteY1-38" fmla="*/ 0 h 3574720"/>
                <a:gd name="connsiteX2-39" fmla="*/ 28132 w 10893691"/>
                <a:gd name="connsiteY2-40" fmla="*/ 52281 h 3574720"/>
                <a:gd name="connsiteX3-41" fmla="*/ 5448765 w 10893691"/>
                <a:gd name="connsiteY3-42" fmla="*/ 656152 h 3574720"/>
                <a:gd name="connsiteX4-43" fmla="*/ 10869399 w 10893691"/>
                <a:gd name="connsiteY4-44" fmla="*/ 52281 h 3574720"/>
                <a:gd name="connsiteX5-45" fmla="*/ 10893691 w 10893691"/>
                <a:gd name="connsiteY5-46" fmla="*/ 6869 h 3574720"/>
                <a:gd name="connsiteX6-47" fmla="*/ 10893691 w 10893691"/>
                <a:gd name="connsiteY6-48" fmla="*/ 3574720 h 3574720"/>
                <a:gd name="connsiteX7-49" fmla="*/ 0 w 10893691"/>
                <a:gd name="connsiteY7-50" fmla="*/ 3574720 h 3574720"/>
                <a:gd name="connsiteX8-51" fmla="*/ 0 w 10893691"/>
                <a:gd name="connsiteY8-52" fmla="*/ 0 h 3574720"/>
                <a:gd name="connsiteX0-53" fmla="*/ 0 w 10893691"/>
                <a:gd name="connsiteY0-54" fmla="*/ 0 h 3574720"/>
                <a:gd name="connsiteX1-55" fmla="*/ 165 w 10893691"/>
                <a:gd name="connsiteY1-56" fmla="*/ 0 h 3574720"/>
                <a:gd name="connsiteX2-57" fmla="*/ 28132 w 10893691"/>
                <a:gd name="connsiteY2-58" fmla="*/ 52281 h 3574720"/>
                <a:gd name="connsiteX3-59" fmla="*/ 5448765 w 10893691"/>
                <a:gd name="connsiteY3-60" fmla="*/ 656152 h 3574720"/>
                <a:gd name="connsiteX4-61" fmla="*/ 10869399 w 10893691"/>
                <a:gd name="connsiteY4-62" fmla="*/ 52281 h 3574720"/>
                <a:gd name="connsiteX5-63" fmla="*/ 10893691 w 10893691"/>
                <a:gd name="connsiteY5-64" fmla="*/ 6869 h 3574720"/>
                <a:gd name="connsiteX6-65" fmla="*/ 10893691 w 10893691"/>
                <a:gd name="connsiteY6-66" fmla="*/ 3574720 h 3574720"/>
                <a:gd name="connsiteX7-67" fmla="*/ 0 w 10893691"/>
                <a:gd name="connsiteY7-68" fmla="*/ 3574720 h 3574720"/>
                <a:gd name="connsiteX8-69" fmla="*/ 0 w 10893691"/>
                <a:gd name="connsiteY8-70" fmla="*/ 0 h 3574720"/>
                <a:gd name="connsiteX0-71" fmla="*/ 0 w 10893691"/>
                <a:gd name="connsiteY0-72" fmla="*/ 0 h 3574720"/>
                <a:gd name="connsiteX1-73" fmla="*/ 165 w 10893691"/>
                <a:gd name="connsiteY1-74" fmla="*/ 0 h 3574720"/>
                <a:gd name="connsiteX2-75" fmla="*/ 28132 w 10893691"/>
                <a:gd name="connsiteY2-76" fmla="*/ 52281 h 3574720"/>
                <a:gd name="connsiteX3-77" fmla="*/ 5448765 w 10893691"/>
                <a:gd name="connsiteY3-78" fmla="*/ 656152 h 3574720"/>
                <a:gd name="connsiteX4-79" fmla="*/ 10869399 w 10893691"/>
                <a:gd name="connsiteY4-80" fmla="*/ 52281 h 3574720"/>
                <a:gd name="connsiteX5-81" fmla="*/ 10893691 w 10893691"/>
                <a:gd name="connsiteY5-82" fmla="*/ 6869 h 3574720"/>
                <a:gd name="connsiteX6-83" fmla="*/ 10893691 w 10893691"/>
                <a:gd name="connsiteY6-84" fmla="*/ 3574720 h 3574720"/>
                <a:gd name="connsiteX7-85" fmla="*/ 0 w 10893691"/>
                <a:gd name="connsiteY7-86" fmla="*/ 3574720 h 3574720"/>
                <a:gd name="connsiteX8-87" fmla="*/ 0 w 10893691"/>
                <a:gd name="connsiteY8-88" fmla="*/ 0 h 35747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0893691" h="3574720">
                  <a:moveTo>
                    <a:pt x="0" y="0"/>
                  </a:moveTo>
                  <a:lnTo>
                    <a:pt x="165" y="0"/>
                  </a:lnTo>
                  <a:lnTo>
                    <a:pt x="28132" y="52281"/>
                  </a:lnTo>
                  <a:cubicBezTo>
                    <a:pt x="307163" y="311646"/>
                    <a:pt x="2106366" y="656153"/>
                    <a:pt x="5448765" y="656152"/>
                  </a:cubicBezTo>
                  <a:cubicBezTo>
                    <a:pt x="8791164" y="656151"/>
                    <a:pt x="10590368" y="311646"/>
                    <a:pt x="10869399" y="52281"/>
                  </a:cubicBezTo>
                  <a:lnTo>
                    <a:pt x="10893691" y="6869"/>
                  </a:lnTo>
                  <a:lnTo>
                    <a:pt x="10893691" y="3574720"/>
                  </a:lnTo>
                  <a:lnTo>
                    <a:pt x="0" y="3574720"/>
                  </a:lnTo>
                  <a:lnTo>
                    <a:pt x="0" y="0"/>
                  </a:lnTo>
                  <a:close/>
                </a:path>
              </a:pathLst>
            </a:custGeom>
            <a:gradFill flip="none" rotWithShape="1">
              <a:gsLst>
                <a:gs pos="59000">
                  <a:schemeClr val="accent1">
                    <a:alpha val="0"/>
                  </a:schemeClr>
                </a:gs>
                <a:gs pos="99000">
                  <a:schemeClr val="accent1">
                    <a:alpha val="69817"/>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sp>
          <p:nvSpPr>
            <p:cNvPr id="9" name="椭圆 8"/>
            <p:cNvSpPr/>
            <p:nvPr/>
          </p:nvSpPr>
          <p:spPr>
            <a:xfrm>
              <a:off x="1656881" y="2722257"/>
              <a:ext cx="9807777" cy="1182072"/>
            </a:xfrm>
            <a:prstGeom prst="ellipse">
              <a:avLst/>
            </a:prstGeom>
            <a:gradFill>
              <a:gsLst>
                <a:gs pos="60000">
                  <a:schemeClr val="accent1">
                    <a:alpha val="34000"/>
                  </a:schemeClr>
                </a:gs>
                <a:gs pos="0">
                  <a:schemeClr val="accent1">
                    <a:alpha val="0"/>
                  </a:schemeClr>
                </a:gs>
                <a:gs pos="100000">
                  <a:schemeClr val="accent1">
                    <a:alpha val="70000"/>
                  </a:schemeClr>
                </a:gs>
              </a:gsLst>
              <a:lin ang="5400000" scaled="1"/>
            </a:gradFill>
            <a:ln w="11430">
              <a:gradFill>
                <a:gsLst>
                  <a:gs pos="0">
                    <a:schemeClr val="accent1">
                      <a:alpha val="0"/>
                    </a:schemeClr>
                  </a:gs>
                  <a:gs pos="100000">
                    <a:schemeClr val="accent1">
                      <a:alpha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grpSp>
      <p:sp>
        <p:nvSpPr>
          <p:cNvPr id="10" name="任意多边形: 形状 5"/>
          <p:cNvSpPr/>
          <p:nvPr/>
        </p:nvSpPr>
        <p:spPr bwMode="auto">
          <a:xfrm rot="10800000" flipH="1" flipV="1">
            <a:off x="-132735" y="232805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任意多边形: 形状 4"/>
          <p:cNvSpPr/>
          <p:nvPr/>
        </p:nvSpPr>
        <p:spPr bwMode="auto">
          <a:xfrm rot="10800000" flipV="1">
            <a:off x="10119675" y="252892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smtClean="0">
                  <a:solidFill>
                    <a:schemeClr val="accent3">
                      <a:lumMod val="75000"/>
                    </a:schemeClr>
                  </a:solidFill>
                  <a:sym typeface="+mn-ea"/>
                </a:rPr>
                <a:t>加强团队建设</a:t>
              </a:r>
              <a:endParaRPr lang="zh-CN" altLang="en-US" dirty="0">
                <a:solidFill>
                  <a:schemeClr val="accent3">
                    <a:lumMod val="75000"/>
                  </a:schemeClr>
                </a:solidFill>
              </a:endParaRPr>
            </a:p>
          </p:txBody>
        </p:sp>
        <p:sp>
          <p:nvSpPr>
            <p:cNvPr id="5" name="文本框 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smtClean="0">
                  <a:solidFill>
                    <a:schemeClr val="bg1"/>
                  </a:solidFill>
                  <a:effectLst>
                    <a:outerShdw blurRad="50800" dist="38100" dir="2700000" algn="tl" rotWithShape="0">
                      <a:prstClr val="black">
                        <a:alpha val="40000"/>
                      </a:prstClr>
                    </a:outerShdw>
                  </a:effectLst>
                </a:rPr>
                <a:t>5.4</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
        <p:nvSpPr>
          <p:cNvPr id="6" name="矩形 5"/>
          <p:cNvSpPr/>
          <p:nvPr/>
        </p:nvSpPr>
        <p:spPr>
          <a:xfrm>
            <a:off x="2106671" y="1907764"/>
            <a:ext cx="7678609" cy="3312275"/>
          </a:xfrm>
          <a:prstGeom prst="rect">
            <a:avLst/>
          </a:prstGeom>
          <a:gradFill flip="none" rotWithShape="1">
            <a:gsLst>
              <a:gs pos="76000">
                <a:schemeClr val="accent1">
                  <a:alpha val="4000"/>
                </a:schemeClr>
              </a:gs>
              <a:gs pos="0">
                <a:schemeClr val="accent1">
                  <a:alpha val="757"/>
                </a:schemeClr>
              </a:gs>
              <a:gs pos="54000">
                <a:schemeClr val="accent1">
                  <a:alpha val="10000"/>
                </a:schemeClr>
              </a:gs>
              <a:gs pos="100000">
                <a:schemeClr val="accent1">
                  <a:alpha val="0"/>
                </a:schemeClr>
              </a:gs>
            </a:gsLst>
            <a:path path="circle">
              <a:fillToRect r="100000" b="100000"/>
            </a:path>
            <a:tileRect l="-100000" t="-100000"/>
          </a:gradFill>
          <a:ln w="12700" cap="flat" cmpd="sng" algn="ctr">
            <a:gradFill>
              <a:gsLst>
                <a:gs pos="77000">
                  <a:schemeClr val="accent1">
                    <a:alpha val="10000"/>
                  </a:schemeClr>
                </a:gs>
                <a:gs pos="10000">
                  <a:schemeClr val="accent1"/>
                </a:gs>
                <a:gs pos="0">
                  <a:schemeClr val="accent1">
                    <a:alpha val="12000"/>
                  </a:schemeClr>
                </a:gs>
                <a:gs pos="25000">
                  <a:schemeClr val="accent1">
                    <a:alpha val="10000"/>
                  </a:schemeClr>
                </a:gs>
                <a:gs pos="88000">
                  <a:schemeClr val="accent1">
                    <a:alpha val="0"/>
                  </a:schemeClr>
                </a:gs>
              </a:gsLst>
              <a:lin ang="18900000" scaled="0"/>
            </a:gradFill>
            <a:prstDash val="solid"/>
            <a:miter lim="800000"/>
          </a:ln>
          <a:effectLst>
            <a:outerShdw blurRad="114300" dir="2100000" algn="tl" rotWithShape="0">
              <a:srgbClr val="6ED5FF">
                <a:alpha val="70000"/>
              </a:srgbClr>
            </a:outerShdw>
          </a:effectLst>
        </p:spPr>
        <p:txBody>
          <a:bodyPr lIns="179189" rIns="179189" rtlCol="0" anchor="ctr"/>
          <a:lstStyle/>
          <a:p>
            <a:pPr marL="0" marR="0" lvl="0" indent="0" algn="ctr" defTabSz="909955" rtl="0" eaLnBrk="1" fontAlgn="auto" latinLnBrk="0" hangingPunct="1">
              <a:lnSpc>
                <a:spcPct val="100000"/>
              </a:lnSpc>
              <a:spcBef>
                <a:spcPts val="0"/>
              </a:spcBef>
              <a:spcAft>
                <a:spcPts val="0"/>
              </a:spcAft>
              <a:buClrTx/>
              <a:buSzTx/>
              <a:buFontTx/>
              <a:buNone/>
              <a:defRPr/>
            </a:pPr>
            <a:endParaRPr kumimoji="0" lang="zh-CN" altLang="en-US" sz="1395" b="0" i="0" u="none" strike="noStrike" kern="0" cap="none" spc="0" normalizeH="0" baseline="0" noProof="0">
              <a:ln>
                <a:noFill/>
              </a:ln>
              <a:solidFill>
                <a:prstClr val="white"/>
              </a:solidFill>
              <a:effectLst/>
              <a:uLnTx/>
              <a:uFillTx/>
              <a:cs typeface="+mn-ea"/>
              <a:sym typeface="+mn-lt"/>
            </a:endParaRPr>
          </a:p>
        </p:txBody>
      </p:sp>
      <p:grpSp>
        <p:nvGrpSpPr>
          <p:cNvPr id="7" name="组合 6"/>
          <p:cNvGrpSpPr/>
          <p:nvPr/>
        </p:nvGrpSpPr>
        <p:grpSpPr>
          <a:xfrm>
            <a:off x="1042088" y="5333859"/>
            <a:ext cx="9807777" cy="3815198"/>
            <a:chOff x="1656881" y="2722257"/>
            <a:chExt cx="9807777" cy="3815198"/>
          </a:xfrm>
        </p:grpSpPr>
        <p:sp>
          <p:nvSpPr>
            <p:cNvPr id="8" name="任意多边形: 形状 45"/>
            <p:cNvSpPr/>
            <p:nvPr/>
          </p:nvSpPr>
          <p:spPr>
            <a:xfrm>
              <a:off x="1658609" y="3324840"/>
              <a:ext cx="9804322" cy="3212615"/>
            </a:xfrm>
            <a:custGeom>
              <a:avLst/>
              <a:gdLst>
                <a:gd name="connsiteX0" fmla="*/ 0 w 10893691"/>
                <a:gd name="connsiteY0" fmla="*/ 0 h 3574720"/>
                <a:gd name="connsiteX1" fmla="*/ 165 w 10893691"/>
                <a:gd name="connsiteY1" fmla="*/ 0 h 3574720"/>
                <a:gd name="connsiteX2" fmla="*/ 28132 w 10893691"/>
                <a:gd name="connsiteY2" fmla="*/ 52281 h 3574720"/>
                <a:gd name="connsiteX3" fmla="*/ 5448765 w 10893691"/>
                <a:gd name="connsiteY3" fmla="*/ 514042 h 3574720"/>
                <a:gd name="connsiteX4" fmla="*/ 10869399 w 10893691"/>
                <a:gd name="connsiteY4" fmla="*/ 52281 h 3574720"/>
                <a:gd name="connsiteX5" fmla="*/ 10893691 w 10893691"/>
                <a:gd name="connsiteY5" fmla="*/ 6869 h 3574720"/>
                <a:gd name="connsiteX6" fmla="*/ 10893691 w 10893691"/>
                <a:gd name="connsiteY6" fmla="*/ 3574720 h 3574720"/>
                <a:gd name="connsiteX7" fmla="*/ 0 w 10893691"/>
                <a:gd name="connsiteY7" fmla="*/ 3574720 h 3574720"/>
                <a:gd name="connsiteX0-1" fmla="*/ 0 w 10893691"/>
                <a:gd name="connsiteY0-2" fmla="*/ 0 h 3574720"/>
                <a:gd name="connsiteX1-3" fmla="*/ 165 w 10893691"/>
                <a:gd name="connsiteY1-4" fmla="*/ 0 h 3574720"/>
                <a:gd name="connsiteX2-5" fmla="*/ 28132 w 10893691"/>
                <a:gd name="connsiteY2-6" fmla="*/ 52281 h 3574720"/>
                <a:gd name="connsiteX3-7" fmla="*/ 5448765 w 10893691"/>
                <a:gd name="connsiteY3-8" fmla="*/ 653139 h 3574720"/>
                <a:gd name="connsiteX4-9" fmla="*/ 10869399 w 10893691"/>
                <a:gd name="connsiteY4-10" fmla="*/ 52281 h 3574720"/>
                <a:gd name="connsiteX5-11" fmla="*/ 10893691 w 10893691"/>
                <a:gd name="connsiteY5-12" fmla="*/ 6869 h 3574720"/>
                <a:gd name="connsiteX6-13" fmla="*/ 10893691 w 10893691"/>
                <a:gd name="connsiteY6-14" fmla="*/ 3574720 h 3574720"/>
                <a:gd name="connsiteX7-15" fmla="*/ 0 w 10893691"/>
                <a:gd name="connsiteY7-16" fmla="*/ 3574720 h 3574720"/>
                <a:gd name="connsiteX8" fmla="*/ 0 w 10893691"/>
                <a:gd name="connsiteY8" fmla="*/ 0 h 3574720"/>
                <a:gd name="connsiteX0-17" fmla="*/ 0 w 10893691"/>
                <a:gd name="connsiteY0-18" fmla="*/ 0 h 3574720"/>
                <a:gd name="connsiteX1-19" fmla="*/ 165 w 10893691"/>
                <a:gd name="connsiteY1-20" fmla="*/ 0 h 3574720"/>
                <a:gd name="connsiteX2-21" fmla="*/ 28132 w 10893691"/>
                <a:gd name="connsiteY2-22" fmla="*/ 52281 h 3574720"/>
                <a:gd name="connsiteX3-23" fmla="*/ 5448765 w 10893691"/>
                <a:gd name="connsiteY3-24" fmla="*/ 711095 h 3574720"/>
                <a:gd name="connsiteX4-25" fmla="*/ 10869399 w 10893691"/>
                <a:gd name="connsiteY4-26" fmla="*/ 52281 h 3574720"/>
                <a:gd name="connsiteX5-27" fmla="*/ 10893691 w 10893691"/>
                <a:gd name="connsiteY5-28" fmla="*/ 6869 h 3574720"/>
                <a:gd name="connsiteX6-29" fmla="*/ 10893691 w 10893691"/>
                <a:gd name="connsiteY6-30" fmla="*/ 3574720 h 3574720"/>
                <a:gd name="connsiteX7-31" fmla="*/ 0 w 10893691"/>
                <a:gd name="connsiteY7-32" fmla="*/ 3574720 h 3574720"/>
                <a:gd name="connsiteX8-33" fmla="*/ 0 w 10893691"/>
                <a:gd name="connsiteY8-34" fmla="*/ 0 h 3574720"/>
                <a:gd name="connsiteX0-35" fmla="*/ 0 w 10893691"/>
                <a:gd name="connsiteY0-36" fmla="*/ 0 h 3574720"/>
                <a:gd name="connsiteX1-37" fmla="*/ 165 w 10893691"/>
                <a:gd name="connsiteY1-38" fmla="*/ 0 h 3574720"/>
                <a:gd name="connsiteX2-39" fmla="*/ 28132 w 10893691"/>
                <a:gd name="connsiteY2-40" fmla="*/ 52281 h 3574720"/>
                <a:gd name="connsiteX3-41" fmla="*/ 5448765 w 10893691"/>
                <a:gd name="connsiteY3-42" fmla="*/ 656152 h 3574720"/>
                <a:gd name="connsiteX4-43" fmla="*/ 10869399 w 10893691"/>
                <a:gd name="connsiteY4-44" fmla="*/ 52281 h 3574720"/>
                <a:gd name="connsiteX5-45" fmla="*/ 10893691 w 10893691"/>
                <a:gd name="connsiteY5-46" fmla="*/ 6869 h 3574720"/>
                <a:gd name="connsiteX6-47" fmla="*/ 10893691 w 10893691"/>
                <a:gd name="connsiteY6-48" fmla="*/ 3574720 h 3574720"/>
                <a:gd name="connsiteX7-49" fmla="*/ 0 w 10893691"/>
                <a:gd name="connsiteY7-50" fmla="*/ 3574720 h 3574720"/>
                <a:gd name="connsiteX8-51" fmla="*/ 0 w 10893691"/>
                <a:gd name="connsiteY8-52" fmla="*/ 0 h 3574720"/>
                <a:gd name="connsiteX0-53" fmla="*/ 0 w 10893691"/>
                <a:gd name="connsiteY0-54" fmla="*/ 0 h 3574720"/>
                <a:gd name="connsiteX1-55" fmla="*/ 165 w 10893691"/>
                <a:gd name="connsiteY1-56" fmla="*/ 0 h 3574720"/>
                <a:gd name="connsiteX2-57" fmla="*/ 28132 w 10893691"/>
                <a:gd name="connsiteY2-58" fmla="*/ 52281 h 3574720"/>
                <a:gd name="connsiteX3-59" fmla="*/ 5448765 w 10893691"/>
                <a:gd name="connsiteY3-60" fmla="*/ 656152 h 3574720"/>
                <a:gd name="connsiteX4-61" fmla="*/ 10869399 w 10893691"/>
                <a:gd name="connsiteY4-62" fmla="*/ 52281 h 3574720"/>
                <a:gd name="connsiteX5-63" fmla="*/ 10893691 w 10893691"/>
                <a:gd name="connsiteY5-64" fmla="*/ 6869 h 3574720"/>
                <a:gd name="connsiteX6-65" fmla="*/ 10893691 w 10893691"/>
                <a:gd name="connsiteY6-66" fmla="*/ 3574720 h 3574720"/>
                <a:gd name="connsiteX7-67" fmla="*/ 0 w 10893691"/>
                <a:gd name="connsiteY7-68" fmla="*/ 3574720 h 3574720"/>
                <a:gd name="connsiteX8-69" fmla="*/ 0 w 10893691"/>
                <a:gd name="connsiteY8-70" fmla="*/ 0 h 3574720"/>
                <a:gd name="connsiteX0-71" fmla="*/ 0 w 10893691"/>
                <a:gd name="connsiteY0-72" fmla="*/ 0 h 3574720"/>
                <a:gd name="connsiteX1-73" fmla="*/ 165 w 10893691"/>
                <a:gd name="connsiteY1-74" fmla="*/ 0 h 3574720"/>
                <a:gd name="connsiteX2-75" fmla="*/ 28132 w 10893691"/>
                <a:gd name="connsiteY2-76" fmla="*/ 52281 h 3574720"/>
                <a:gd name="connsiteX3-77" fmla="*/ 5448765 w 10893691"/>
                <a:gd name="connsiteY3-78" fmla="*/ 656152 h 3574720"/>
                <a:gd name="connsiteX4-79" fmla="*/ 10869399 w 10893691"/>
                <a:gd name="connsiteY4-80" fmla="*/ 52281 h 3574720"/>
                <a:gd name="connsiteX5-81" fmla="*/ 10893691 w 10893691"/>
                <a:gd name="connsiteY5-82" fmla="*/ 6869 h 3574720"/>
                <a:gd name="connsiteX6-83" fmla="*/ 10893691 w 10893691"/>
                <a:gd name="connsiteY6-84" fmla="*/ 3574720 h 3574720"/>
                <a:gd name="connsiteX7-85" fmla="*/ 0 w 10893691"/>
                <a:gd name="connsiteY7-86" fmla="*/ 3574720 h 3574720"/>
                <a:gd name="connsiteX8-87" fmla="*/ 0 w 10893691"/>
                <a:gd name="connsiteY8-88" fmla="*/ 0 h 35747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0893691" h="3574720">
                  <a:moveTo>
                    <a:pt x="0" y="0"/>
                  </a:moveTo>
                  <a:lnTo>
                    <a:pt x="165" y="0"/>
                  </a:lnTo>
                  <a:lnTo>
                    <a:pt x="28132" y="52281"/>
                  </a:lnTo>
                  <a:cubicBezTo>
                    <a:pt x="307163" y="311646"/>
                    <a:pt x="2106366" y="656153"/>
                    <a:pt x="5448765" y="656152"/>
                  </a:cubicBezTo>
                  <a:cubicBezTo>
                    <a:pt x="8791164" y="656151"/>
                    <a:pt x="10590368" y="311646"/>
                    <a:pt x="10869399" y="52281"/>
                  </a:cubicBezTo>
                  <a:lnTo>
                    <a:pt x="10893691" y="6869"/>
                  </a:lnTo>
                  <a:lnTo>
                    <a:pt x="10893691" y="3574720"/>
                  </a:lnTo>
                  <a:lnTo>
                    <a:pt x="0" y="3574720"/>
                  </a:lnTo>
                  <a:lnTo>
                    <a:pt x="0" y="0"/>
                  </a:lnTo>
                  <a:close/>
                </a:path>
              </a:pathLst>
            </a:custGeom>
            <a:gradFill flip="none" rotWithShape="1">
              <a:gsLst>
                <a:gs pos="59000">
                  <a:schemeClr val="accent1">
                    <a:alpha val="0"/>
                  </a:schemeClr>
                </a:gs>
                <a:gs pos="99000">
                  <a:schemeClr val="accent1">
                    <a:alpha val="69817"/>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sp>
          <p:nvSpPr>
            <p:cNvPr id="9" name="椭圆 8"/>
            <p:cNvSpPr/>
            <p:nvPr/>
          </p:nvSpPr>
          <p:spPr>
            <a:xfrm>
              <a:off x="1656881" y="2722257"/>
              <a:ext cx="9807777" cy="1182072"/>
            </a:xfrm>
            <a:prstGeom prst="ellipse">
              <a:avLst/>
            </a:prstGeom>
            <a:gradFill>
              <a:gsLst>
                <a:gs pos="60000">
                  <a:schemeClr val="accent1">
                    <a:alpha val="34000"/>
                  </a:schemeClr>
                </a:gs>
                <a:gs pos="0">
                  <a:schemeClr val="accent1">
                    <a:alpha val="0"/>
                  </a:schemeClr>
                </a:gs>
                <a:gs pos="100000">
                  <a:schemeClr val="accent1">
                    <a:alpha val="70000"/>
                  </a:schemeClr>
                </a:gs>
              </a:gsLst>
              <a:lin ang="5400000" scaled="1"/>
            </a:gradFill>
            <a:ln w="11430">
              <a:gradFill>
                <a:gsLst>
                  <a:gs pos="0">
                    <a:schemeClr val="accent1">
                      <a:alpha val="0"/>
                    </a:schemeClr>
                  </a:gs>
                  <a:gs pos="100000">
                    <a:schemeClr val="accent1">
                      <a:alpha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grpSp>
      <p:sp>
        <p:nvSpPr>
          <p:cNvPr id="10" name="任意多边形: 形状 5"/>
          <p:cNvSpPr/>
          <p:nvPr/>
        </p:nvSpPr>
        <p:spPr bwMode="auto">
          <a:xfrm rot="10800000" flipH="1" flipV="1">
            <a:off x="-132735" y="232805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任意多边形: 形状 4"/>
          <p:cNvSpPr/>
          <p:nvPr/>
        </p:nvSpPr>
        <p:spPr bwMode="auto">
          <a:xfrm rot="10800000" flipV="1">
            <a:off x="10119675" y="252892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圆角矩形 4"/>
          <p:cNvSpPr txBox="1"/>
          <p:nvPr/>
        </p:nvSpPr>
        <p:spPr>
          <a:xfrm>
            <a:off x="2490318" y="2408735"/>
            <a:ext cx="7211364" cy="2471705"/>
          </a:xfrm>
          <a:prstGeom prst="rect">
            <a:avLst/>
          </a:prstGeom>
          <a:noFill/>
          <a:ln>
            <a:noFill/>
          </a:ln>
          <a:effectLst/>
        </p:spPr>
        <p:style>
          <a:lnRef idx="2">
            <a:schemeClr val="accent1"/>
          </a:lnRef>
          <a:fillRef idx="1">
            <a:schemeClr val="lt1"/>
          </a:fillRef>
          <a:effectRef idx="0">
            <a:schemeClr val="accent1"/>
          </a:effectRef>
          <a:fontRef idx="minor">
            <a:schemeClr val="dk1"/>
          </a:fontRef>
        </p:style>
        <p:txBody>
          <a:bodyPr spcFirstLastPara="0" vert="horz" wrap="square" lIns="57150" tIns="57150" rIns="57150" bIns="57150" numCol="1" spcCol="1270" anchor="ctr" anchorCtr="0">
            <a:noAutofit/>
          </a:bodyPr>
          <a:lstStyle/>
          <a:p>
            <a:pPr defTabSz="666750">
              <a:lnSpc>
                <a:spcPct val="150000"/>
              </a:lnSpc>
              <a:spcBef>
                <a:spcPct val="0"/>
              </a:spcBef>
              <a:spcAft>
                <a:spcPct val="35000"/>
              </a:spcAft>
            </a:pPr>
            <a:r>
              <a:rPr lang="zh-CN" altLang="en-US" sz="1600" dirty="0" smtClean="0"/>
              <a:t>      围绕</a:t>
            </a:r>
            <a:r>
              <a:rPr lang="zh-CN" altLang="en-US" sz="1600" dirty="0"/>
              <a:t>工作目标，制定人才队伍建设规划，坚持内培外联，依托多层级人才承载平台，构建智库人才团队、专业技术团队、成果转化服务团队，持续创新体制机制，建立人才发展梯次培育体系，打造多层次高水平人才梯队。</a:t>
            </a:r>
            <a:endParaRPr lang="zh-CN" altLang="zh-CN" sz="16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06077" y="66507"/>
            <a:ext cx="5891573" cy="836188"/>
            <a:chOff x="706077" y="66507"/>
            <a:chExt cx="5891573" cy="836188"/>
          </a:xfrm>
        </p:grpSpPr>
        <p:sp>
          <p:nvSpPr>
            <p:cNvPr id="4" name="标题 1"/>
            <p:cNvSpPr txBox="1"/>
            <p:nvPr/>
          </p:nvSpPr>
          <p:spPr>
            <a:xfrm>
              <a:off x="1371600" y="216895"/>
              <a:ext cx="5226050" cy="685800"/>
            </a:xfrm>
            <a:prstGeom prst="rect">
              <a:avLst/>
            </a:prstGeom>
          </p:spPr>
          <p:txBody>
            <a:bodyPr>
              <a:normAutofit fontScale="97500"/>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r>
                <a:rPr lang="zh-CN" altLang="en-US" dirty="0" smtClean="0">
                  <a:solidFill>
                    <a:schemeClr val="accent3">
                      <a:lumMod val="75000"/>
                    </a:schemeClr>
                  </a:solidFill>
                </a:rPr>
                <a:t>强化资源保障</a:t>
              </a:r>
              <a:endParaRPr lang="zh-CN" altLang="en-US" dirty="0">
                <a:solidFill>
                  <a:schemeClr val="accent3">
                    <a:lumMod val="75000"/>
                  </a:schemeClr>
                </a:solidFill>
              </a:endParaRPr>
            </a:p>
          </p:txBody>
        </p:sp>
        <p:sp>
          <p:nvSpPr>
            <p:cNvPr id="5" name="文本框 4"/>
            <p:cNvSpPr txBox="1"/>
            <p:nvPr/>
          </p:nvSpPr>
          <p:spPr>
            <a:xfrm>
              <a:off x="706077" y="66507"/>
              <a:ext cx="672022" cy="46551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spcFirstLastPara="0" vert="horz" wrap="none" lIns="57150" tIns="57150" rIns="57150" bIns="57150" numCol="1" spcCol="1270" rtlCol="0" anchor="ctr" anchorCtr="0">
              <a:noAutofit/>
            </a:bodyPr>
            <a:lstStyle/>
            <a:p>
              <a:pPr defTabSz="666750">
                <a:lnSpc>
                  <a:spcPct val="150000"/>
                </a:lnSpc>
                <a:spcBef>
                  <a:spcPct val="0"/>
                </a:spcBef>
                <a:spcAft>
                  <a:spcPct val="35000"/>
                </a:spcAft>
              </a:pPr>
              <a:r>
                <a:rPr kumimoji="1" lang="en-US" altLang="zh-CN" sz="3200" b="1" dirty="0">
                  <a:solidFill>
                    <a:schemeClr val="bg1"/>
                  </a:solidFill>
                  <a:effectLst>
                    <a:outerShdw blurRad="50800" dist="38100" dir="2700000" algn="tl" rotWithShape="0">
                      <a:prstClr val="black">
                        <a:alpha val="40000"/>
                      </a:prstClr>
                    </a:outerShdw>
                  </a:effectLst>
                </a:rPr>
                <a:t>5.5</a:t>
              </a:r>
              <a:endParaRPr kumimoji="1" lang="zh-CN" altLang="en-US" sz="3200" b="1" dirty="0">
                <a:solidFill>
                  <a:schemeClr val="bg1"/>
                </a:solidFill>
                <a:effectLst>
                  <a:outerShdw blurRad="50800" dist="38100" dir="2700000" algn="tl" rotWithShape="0">
                    <a:prstClr val="black">
                      <a:alpha val="40000"/>
                    </a:prstClr>
                  </a:outerShdw>
                </a:effectLst>
              </a:endParaRPr>
            </a:p>
          </p:txBody>
        </p:sp>
      </p:grpSp>
      <p:sp>
        <p:nvSpPr>
          <p:cNvPr id="6" name="矩形 5"/>
          <p:cNvSpPr/>
          <p:nvPr/>
        </p:nvSpPr>
        <p:spPr>
          <a:xfrm>
            <a:off x="2106671" y="1907764"/>
            <a:ext cx="7678609" cy="3312275"/>
          </a:xfrm>
          <a:prstGeom prst="rect">
            <a:avLst/>
          </a:prstGeom>
          <a:gradFill flip="none" rotWithShape="1">
            <a:gsLst>
              <a:gs pos="76000">
                <a:schemeClr val="accent1">
                  <a:alpha val="4000"/>
                </a:schemeClr>
              </a:gs>
              <a:gs pos="0">
                <a:schemeClr val="accent1">
                  <a:alpha val="757"/>
                </a:schemeClr>
              </a:gs>
              <a:gs pos="54000">
                <a:schemeClr val="accent1">
                  <a:alpha val="10000"/>
                </a:schemeClr>
              </a:gs>
              <a:gs pos="100000">
                <a:schemeClr val="accent1">
                  <a:alpha val="0"/>
                </a:schemeClr>
              </a:gs>
            </a:gsLst>
            <a:path path="circle">
              <a:fillToRect r="100000" b="100000"/>
            </a:path>
            <a:tileRect l="-100000" t="-100000"/>
          </a:gradFill>
          <a:ln w="12700" cap="flat" cmpd="sng" algn="ctr">
            <a:gradFill>
              <a:gsLst>
                <a:gs pos="77000">
                  <a:schemeClr val="accent1">
                    <a:alpha val="10000"/>
                  </a:schemeClr>
                </a:gs>
                <a:gs pos="10000">
                  <a:schemeClr val="accent1"/>
                </a:gs>
                <a:gs pos="0">
                  <a:schemeClr val="accent1">
                    <a:alpha val="12000"/>
                  </a:schemeClr>
                </a:gs>
                <a:gs pos="25000">
                  <a:schemeClr val="accent1">
                    <a:alpha val="10000"/>
                  </a:schemeClr>
                </a:gs>
                <a:gs pos="88000">
                  <a:schemeClr val="accent1">
                    <a:alpha val="0"/>
                  </a:schemeClr>
                </a:gs>
              </a:gsLst>
              <a:lin ang="18900000" scaled="0"/>
            </a:gradFill>
            <a:prstDash val="solid"/>
            <a:miter lim="800000"/>
          </a:ln>
          <a:effectLst>
            <a:outerShdw blurRad="114300" dir="2100000" algn="tl" rotWithShape="0">
              <a:srgbClr val="6ED5FF">
                <a:alpha val="70000"/>
              </a:srgbClr>
            </a:outerShdw>
          </a:effectLst>
        </p:spPr>
        <p:txBody>
          <a:bodyPr lIns="179189" rIns="179189" rtlCol="0" anchor="ctr"/>
          <a:lstStyle/>
          <a:p>
            <a:pPr marL="0" marR="0" lvl="0" indent="0" algn="ctr" defTabSz="909955" rtl="0" eaLnBrk="1" fontAlgn="auto" latinLnBrk="0" hangingPunct="1">
              <a:lnSpc>
                <a:spcPct val="100000"/>
              </a:lnSpc>
              <a:spcBef>
                <a:spcPts val="0"/>
              </a:spcBef>
              <a:spcAft>
                <a:spcPts val="0"/>
              </a:spcAft>
              <a:buClrTx/>
              <a:buSzTx/>
              <a:buFontTx/>
              <a:buNone/>
              <a:defRPr/>
            </a:pPr>
            <a:endParaRPr kumimoji="0" lang="zh-CN" altLang="en-US" sz="1395" b="0" i="0" u="none" strike="noStrike" kern="0" cap="none" spc="0" normalizeH="0" baseline="0" noProof="0">
              <a:ln>
                <a:noFill/>
              </a:ln>
              <a:solidFill>
                <a:prstClr val="white"/>
              </a:solidFill>
              <a:effectLst/>
              <a:uLnTx/>
              <a:uFillTx/>
              <a:cs typeface="+mn-ea"/>
              <a:sym typeface="+mn-lt"/>
            </a:endParaRPr>
          </a:p>
        </p:txBody>
      </p:sp>
      <p:grpSp>
        <p:nvGrpSpPr>
          <p:cNvPr id="7" name="组合 6"/>
          <p:cNvGrpSpPr/>
          <p:nvPr/>
        </p:nvGrpSpPr>
        <p:grpSpPr>
          <a:xfrm>
            <a:off x="1042088" y="5333859"/>
            <a:ext cx="9807777" cy="3815198"/>
            <a:chOff x="1656881" y="2722257"/>
            <a:chExt cx="9807777" cy="3815198"/>
          </a:xfrm>
        </p:grpSpPr>
        <p:sp>
          <p:nvSpPr>
            <p:cNvPr id="8" name="任意多边形: 形状 45"/>
            <p:cNvSpPr/>
            <p:nvPr/>
          </p:nvSpPr>
          <p:spPr>
            <a:xfrm>
              <a:off x="1658609" y="3324840"/>
              <a:ext cx="9804322" cy="3212615"/>
            </a:xfrm>
            <a:custGeom>
              <a:avLst/>
              <a:gdLst>
                <a:gd name="connsiteX0" fmla="*/ 0 w 10893691"/>
                <a:gd name="connsiteY0" fmla="*/ 0 h 3574720"/>
                <a:gd name="connsiteX1" fmla="*/ 165 w 10893691"/>
                <a:gd name="connsiteY1" fmla="*/ 0 h 3574720"/>
                <a:gd name="connsiteX2" fmla="*/ 28132 w 10893691"/>
                <a:gd name="connsiteY2" fmla="*/ 52281 h 3574720"/>
                <a:gd name="connsiteX3" fmla="*/ 5448765 w 10893691"/>
                <a:gd name="connsiteY3" fmla="*/ 514042 h 3574720"/>
                <a:gd name="connsiteX4" fmla="*/ 10869399 w 10893691"/>
                <a:gd name="connsiteY4" fmla="*/ 52281 h 3574720"/>
                <a:gd name="connsiteX5" fmla="*/ 10893691 w 10893691"/>
                <a:gd name="connsiteY5" fmla="*/ 6869 h 3574720"/>
                <a:gd name="connsiteX6" fmla="*/ 10893691 w 10893691"/>
                <a:gd name="connsiteY6" fmla="*/ 3574720 h 3574720"/>
                <a:gd name="connsiteX7" fmla="*/ 0 w 10893691"/>
                <a:gd name="connsiteY7" fmla="*/ 3574720 h 3574720"/>
                <a:gd name="connsiteX0-1" fmla="*/ 0 w 10893691"/>
                <a:gd name="connsiteY0-2" fmla="*/ 0 h 3574720"/>
                <a:gd name="connsiteX1-3" fmla="*/ 165 w 10893691"/>
                <a:gd name="connsiteY1-4" fmla="*/ 0 h 3574720"/>
                <a:gd name="connsiteX2-5" fmla="*/ 28132 w 10893691"/>
                <a:gd name="connsiteY2-6" fmla="*/ 52281 h 3574720"/>
                <a:gd name="connsiteX3-7" fmla="*/ 5448765 w 10893691"/>
                <a:gd name="connsiteY3-8" fmla="*/ 653139 h 3574720"/>
                <a:gd name="connsiteX4-9" fmla="*/ 10869399 w 10893691"/>
                <a:gd name="connsiteY4-10" fmla="*/ 52281 h 3574720"/>
                <a:gd name="connsiteX5-11" fmla="*/ 10893691 w 10893691"/>
                <a:gd name="connsiteY5-12" fmla="*/ 6869 h 3574720"/>
                <a:gd name="connsiteX6-13" fmla="*/ 10893691 w 10893691"/>
                <a:gd name="connsiteY6-14" fmla="*/ 3574720 h 3574720"/>
                <a:gd name="connsiteX7-15" fmla="*/ 0 w 10893691"/>
                <a:gd name="connsiteY7-16" fmla="*/ 3574720 h 3574720"/>
                <a:gd name="connsiteX8" fmla="*/ 0 w 10893691"/>
                <a:gd name="connsiteY8" fmla="*/ 0 h 3574720"/>
                <a:gd name="connsiteX0-17" fmla="*/ 0 w 10893691"/>
                <a:gd name="connsiteY0-18" fmla="*/ 0 h 3574720"/>
                <a:gd name="connsiteX1-19" fmla="*/ 165 w 10893691"/>
                <a:gd name="connsiteY1-20" fmla="*/ 0 h 3574720"/>
                <a:gd name="connsiteX2-21" fmla="*/ 28132 w 10893691"/>
                <a:gd name="connsiteY2-22" fmla="*/ 52281 h 3574720"/>
                <a:gd name="connsiteX3-23" fmla="*/ 5448765 w 10893691"/>
                <a:gd name="connsiteY3-24" fmla="*/ 711095 h 3574720"/>
                <a:gd name="connsiteX4-25" fmla="*/ 10869399 w 10893691"/>
                <a:gd name="connsiteY4-26" fmla="*/ 52281 h 3574720"/>
                <a:gd name="connsiteX5-27" fmla="*/ 10893691 w 10893691"/>
                <a:gd name="connsiteY5-28" fmla="*/ 6869 h 3574720"/>
                <a:gd name="connsiteX6-29" fmla="*/ 10893691 w 10893691"/>
                <a:gd name="connsiteY6-30" fmla="*/ 3574720 h 3574720"/>
                <a:gd name="connsiteX7-31" fmla="*/ 0 w 10893691"/>
                <a:gd name="connsiteY7-32" fmla="*/ 3574720 h 3574720"/>
                <a:gd name="connsiteX8-33" fmla="*/ 0 w 10893691"/>
                <a:gd name="connsiteY8-34" fmla="*/ 0 h 3574720"/>
                <a:gd name="connsiteX0-35" fmla="*/ 0 w 10893691"/>
                <a:gd name="connsiteY0-36" fmla="*/ 0 h 3574720"/>
                <a:gd name="connsiteX1-37" fmla="*/ 165 w 10893691"/>
                <a:gd name="connsiteY1-38" fmla="*/ 0 h 3574720"/>
                <a:gd name="connsiteX2-39" fmla="*/ 28132 w 10893691"/>
                <a:gd name="connsiteY2-40" fmla="*/ 52281 h 3574720"/>
                <a:gd name="connsiteX3-41" fmla="*/ 5448765 w 10893691"/>
                <a:gd name="connsiteY3-42" fmla="*/ 656152 h 3574720"/>
                <a:gd name="connsiteX4-43" fmla="*/ 10869399 w 10893691"/>
                <a:gd name="connsiteY4-44" fmla="*/ 52281 h 3574720"/>
                <a:gd name="connsiteX5-45" fmla="*/ 10893691 w 10893691"/>
                <a:gd name="connsiteY5-46" fmla="*/ 6869 h 3574720"/>
                <a:gd name="connsiteX6-47" fmla="*/ 10893691 w 10893691"/>
                <a:gd name="connsiteY6-48" fmla="*/ 3574720 h 3574720"/>
                <a:gd name="connsiteX7-49" fmla="*/ 0 w 10893691"/>
                <a:gd name="connsiteY7-50" fmla="*/ 3574720 h 3574720"/>
                <a:gd name="connsiteX8-51" fmla="*/ 0 w 10893691"/>
                <a:gd name="connsiteY8-52" fmla="*/ 0 h 3574720"/>
                <a:gd name="connsiteX0-53" fmla="*/ 0 w 10893691"/>
                <a:gd name="connsiteY0-54" fmla="*/ 0 h 3574720"/>
                <a:gd name="connsiteX1-55" fmla="*/ 165 w 10893691"/>
                <a:gd name="connsiteY1-56" fmla="*/ 0 h 3574720"/>
                <a:gd name="connsiteX2-57" fmla="*/ 28132 w 10893691"/>
                <a:gd name="connsiteY2-58" fmla="*/ 52281 h 3574720"/>
                <a:gd name="connsiteX3-59" fmla="*/ 5448765 w 10893691"/>
                <a:gd name="connsiteY3-60" fmla="*/ 656152 h 3574720"/>
                <a:gd name="connsiteX4-61" fmla="*/ 10869399 w 10893691"/>
                <a:gd name="connsiteY4-62" fmla="*/ 52281 h 3574720"/>
                <a:gd name="connsiteX5-63" fmla="*/ 10893691 w 10893691"/>
                <a:gd name="connsiteY5-64" fmla="*/ 6869 h 3574720"/>
                <a:gd name="connsiteX6-65" fmla="*/ 10893691 w 10893691"/>
                <a:gd name="connsiteY6-66" fmla="*/ 3574720 h 3574720"/>
                <a:gd name="connsiteX7-67" fmla="*/ 0 w 10893691"/>
                <a:gd name="connsiteY7-68" fmla="*/ 3574720 h 3574720"/>
                <a:gd name="connsiteX8-69" fmla="*/ 0 w 10893691"/>
                <a:gd name="connsiteY8-70" fmla="*/ 0 h 3574720"/>
                <a:gd name="connsiteX0-71" fmla="*/ 0 w 10893691"/>
                <a:gd name="connsiteY0-72" fmla="*/ 0 h 3574720"/>
                <a:gd name="connsiteX1-73" fmla="*/ 165 w 10893691"/>
                <a:gd name="connsiteY1-74" fmla="*/ 0 h 3574720"/>
                <a:gd name="connsiteX2-75" fmla="*/ 28132 w 10893691"/>
                <a:gd name="connsiteY2-76" fmla="*/ 52281 h 3574720"/>
                <a:gd name="connsiteX3-77" fmla="*/ 5448765 w 10893691"/>
                <a:gd name="connsiteY3-78" fmla="*/ 656152 h 3574720"/>
                <a:gd name="connsiteX4-79" fmla="*/ 10869399 w 10893691"/>
                <a:gd name="connsiteY4-80" fmla="*/ 52281 h 3574720"/>
                <a:gd name="connsiteX5-81" fmla="*/ 10893691 w 10893691"/>
                <a:gd name="connsiteY5-82" fmla="*/ 6869 h 3574720"/>
                <a:gd name="connsiteX6-83" fmla="*/ 10893691 w 10893691"/>
                <a:gd name="connsiteY6-84" fmla="*/ 3574720 h 3574720"/>
                <a:gd name="connsiteX7-85" fmla="*/ 0 w 10893691"/>
                <a:gd name="connsiteY7-86" fmla="*/ 3574720 h 3574720"/>
                <a:gd name="connsiteX8-87" fmla="*/ 0 w 10893691"/>
                <a:gd name="connsiteY8-88" fmla="*/ 0 h 357472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33" y="connsiteY8-34"/>
                </a:cxn>
              </a:cxnLst>
              <a:rect l="l" t="t" r="r" b="b"/>
              <a:pathLst>
                <a:path w="10893691" h="3574720">
                  <a:moveTo>
                    <a:pt x="0" y="0"/>
                  </a:moveTo>
                  <a:lnTo>
                    <a:pt x="165" y="0"/>
                  </a:lnTo>
                  <a:lnTo>
                    <a:pt x="28132" y="52281"/>
                  </a:lnTo>
                  <a:cubicBezTo>
                    <a:pt x="307163" y="311646"/>
                    <a:pt x="2106366" y="656153"/>
                    <a:pt x="5448765" y="656152"/>
                  </a:cubicBezTo>
                  <a:cubicBezTo>
                    <a:pt x="8791164" y="656151"/>
                    <a:pt x="10590368" y="311646"/>
                    <a:pt x="10869399" y="52281"/>
                  </a:cubicBezTo>
                  <a:lnTo>
                    <a:pt x="10893691" y="6869"/>
                  </a:lnTo>
                  <a:lnTo>
                    <a:pt x="10893691" y="3574720"/>
                  </a:lnTo>
                  <a:lnTo>
                    <a:pt x="0" y="3574720"/>
                  </a:lnTo>
                  <a:lnTo>
                    <a:pt x="0" y="0"/>
                  </a:lnTo>
                  <a:close/>
                </a:path>
              </a:pathLst>
            </a:custGeom>
            <a:gradFill flip="none" rotWithShape="1">
              <a:gsLst>
                <a:gs pos="59000">
                  <a:schemeClr val="accent1">
                    <a:alpha val="0"/>
                  </a:schemeClr>
                </a:gs>
                <a:gs pos="99000">
                  <a:schemeClr val="accent1">
                    <a:alpha val="69817"/>
                  </a:schemeClr>
                </a:gs>
              </a:gsLst>
              <a:lin ang="162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82296" tIns="41148" rIns="82296" bIns="41148" rtlCol="0" anchor="ctr">
              <a:noAutofit/>
            </a:bodyP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sp>
          <p:nvSpPr>
            <p:cNvPr id="9" name="椭圆 8"/>
            <p:cNvSpPr/>
            <p:nvPr/>
          </p:nvSpPr>
          <p:spPr>
            <a:xfrm>
              <a:off x="1656881" y="2722257"/>
              <a:ext cx="9807777" cy="1182072"/>
            </a:xfrm>
            <a:prstGeom prst="ellipse">
              <a:avLst/>
            </a:prstGeom>
            <a:gradFill>
              <a:gsLst>
                <a:gs pos="60000">
                  <a:schemeClr val="accent1">
                    <a:alpha val="34000"/>
                  </a:schemeClr>
                </a:gs>
                <a:gs pos="0">
                  <a:schemeClr val="accent1">
                    <a:alpha val="0"/>
                  </a:schemeClr>
                </a:gs>
                <a:gs pos="100000">
                  <a:schemeClr val="accent1">
                    <a:alpha val="70000"/>
                  </a:schemeClr>
                </a:gs>
              </a:gsLst>
              <a:lin ang="5400000" scaled="1"/>
            </a:gradFill>
            <a:ln w="11430">
              <a:gradFill>
                <a:gsLst>
                  <a:gs pos="0">
                    <a:schemeClr val="accent1">
                      <a:alpha val="0"/>
                    </a:schemeClr>
                  </a:gs>
                  <a:gs pos="100000">
                    <a:schemeClr val="accent1">
                      <a:alpha val="5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lIns="82296" tIns="41148" rIns="82296" bIns="41148" rtlCol="0" anchor="ctr"/>
            <a:lstStyle/>
            <a:p>
              <a:pPr marL="0" marR="0" lvl="0" indent="0" algn="ctr" defTabSz="914400" rtl="0" eaLnBrk="1" fontAlgn="auto" latinLnBrk="0" hangingPunct="1">
                <a:lnSpc>
                  <a:spcPct val="100000"/>
                </a:lnSpc>
                <a:spcBef>
                  <a:spcPts val="0"/>
                </a:spcBef>
                <a:buClrTx/>
                <a:buSzTx/>
                <a:buFontTx/>
                <a:buNone/>
                <a:defRPr/>
              </a:pPr>
              <a:endParaRPr kumimoji="0" lang="zh-CN" altLang="en-US" sz="1620" b="0" i="0" u="none" strike="noStrike" kern="1200" cap="none" spc="0" normalizeH="0" baseline="0" noProof="0" dirty="0">
                <a:ln>
                  <a:noFill/>
                </a:ln>
                <a:solidFill>
                  <a:prstClr val="white"/>
                </a:solidFill>
                <a:effectLst/>
                <a:uLnTx/>
                <a:uFillTx/>
                <a:latin typeface="+mn-ea"/>
                <a:cs typeface="+mn-cs"/>
              </a:endParaRPr>
            </a:p>
          </p:txBody>
        </p:sp>
      </p:grpSp>
      <p:sp>
        <p:nvSpPr>
          <p:cNvPr id="10" name="任意多边形: 形状 5"/>
          <p:cNvSpPr/>
          <p:nvPr/>
        </p:nvSpPr>
        <p:spPr bwMode="auto">
          <a:xfrm rot="10800000" flipH="1" flipV="1">
            <a:off x="-132735" y="232805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1" name="任意多边形: 形状 4"/>
          <p:cNvSpPr/>
          <p:nvPr/>
        </p:nvSpPr>
        <p:spPr bwMode="auto">
          <a:xfrm rot="10800000" flipV="1">
            <a:off x="10119675" y="2528920"/>
            <a:ext cx="2060473" cy="2471705"/>
          </a:xfrm>
          <a:custGeom>
            <a:avLst/>
            <a:gdLst>
              <a:gd name="connsiteX0" fmla="*/ 0 w 2385058"/>
              <a:gd name="connsiteY0" fmla="*/ 3779520 h 3779520"/>
              <a:gd name="connsiteX1" fmla="*/ 1851658 w 2385058"/>
              <a:gd name="connsiteY1" fmla="*/ 2293620 h 3779520"/>
              <a:gd name="connsiteX2" fmla="*/ 1851658 w 2385058"/>
              <a:gd name="connsiteY2" fmla="*/ 2560320 h 3779520"/>
              <a:gd name="connsiteX3" fmla="*/ 2385058 w 2385058"/>
              <a:gd name="connsiteY3" fmla="*/ 1889760 h 3779520"/>
              <a:gd name="connsiteX4" fmla="*/ 1851658 w 2385058"/>
              <a:gd name="connsiteY4" fmla="*/ 1219200 h 3779520"/>
              <a:gd name="connsiteX5" fmla="*/ 1851658 w 2385058"/>
              <a:gd name="connsiteY5" fmla="*/ 1485900 h 3779520"/>
              <a:gd name="connsiteX6" fmla="*/ 0 w 2385058"/>
              <a:gd name="connsiteY6" fmla="*/ 0 h 3779520"/>
              <a:gd name="connsiteX7" fmla="*/ 0 w 2385058"/>
              <a:gd name="connsiteY7" fmla="*/ 1889760 h 3779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85058" h="3779520">
                <a:moveTo>
                  <a:pt x="0" y="3779520"/>
                </a:moveTo>
                <a:cubicBezTo>
                  <a:pt x="495300" y="2994660"/>
                  <a:pt x="929640" y="2369820"/>
                  <a:pt x="1851658" y="2293620"/>
                </a:cubicBezTo>
                <a:lnTo>
                  <a:pt x="1851658" y="2560320"/>
                </a:lnTo>
                <a:lnTo>
                  <a:pt x="2385058" y="1889760"/>
                </a:lnTo>
                <a:lnTo>
                  <a:pt x="1851658" y="1219200"/>
                </a:lnTo>
                <a:lnTo>
                  <a:pt x="1851658" y="1485900"/>
                </a:lnTo>
                <a:cubicBezTo>
                  <a:pt x="929640" y="1409700"/>
                  <a:pt x="495300" y="784860"/>
                  <a:pt x="0" y="0"/>
                </a:cubicBezTo>
                <a:lnTo>
                  <a:pt x="0" y="1889760"/>
                </a:lnTo>
                <a:close/>
              </a:path>
            </a:pathLst>
          </a:custGeom>
          <a:gradFill flip="none" rotWithShape="1">
            <a:gsLst>
              <a:gs pos="0">
                <a:schemeClr val="accent1">
                  <a:alpha val="15000"/>
                </a:schemeClr>
              </a:gs>
              <a:gs pos="100000">
                <a:schemeClr val="accent1">
                  <a:alpha val="0"/>
                </a:schemeClr>
              </a:gs>
            </a:gsLst>
            <a:lin ang="10800000" scaled="1"/>
            <a:tileRect/>
          </a:gradFill>
          <a:ln>
            <a:gradFill>
              <a:gsLst>
                <a:gs pos="100000">
                  <a:schemeClr val="accent1">
                    <a:alpha val="28000"/>
                  </a:schemeClr>
                </a:gs>
                <a:gs pos="65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cs typeface="+mn-ea"/>
              <a:sym typeface="+mn-lt"/>
            </a:endParaRPr>
          </a:p>
        </p:txBody>
      </p:sp>
      <p:sp>
        <p:nvSpPr>
          <p:cNvPr id="12" name="圆角矩形 4"/>
          <p:cNvSpPr txBox="1"/>
          <p:nvPr/>
        </p:nvSpPr>
        <p:spPr>
          <a:xfrm>
            <a:off x="2490318" y="2408735"/>
            <a:ext cx="7099452" cy="2471705"/>
          </a:xfrm>
          <a:prstGeom prst="rect">
            <a:avLst/>
          </a:prstGeom>
          <a:noFill/>
          <a:ln>
            <a:noFill/>
          </a:ln>
          <a:effectLst/>
        </p:spPr>
        <p:style>
          <a:lnRef idx="2">
            <a:schemeClr val="accent1"/>
          </a:lnRef>
          <a:fillRef idx="1">
            <a:schemeClr val="lt1"/>
          </a:fillRef>
          <a:effectRef idx="0">
            <a:schemeClr val="accent1"/>
          </a:effectRef>
          <a:fontRef idx="minor">
            <a:schemeClr val="dk1"/>
          </a:fontRef>
        </p:style>
        <p:txBody>
          <a:bodyPr spcFirstLastPara="0" vert="horz" wrap="square" lIns="57150" tIns="57150" rIns="57150" bIns="57150" numCol="1" spcCol="1270" anchor="ctr" anchorCtr="0">
            <a:noAutofit/>
          </a:bodyPr>
          <a:lstStyle/>
          <a:p>
            <a:pPr defTabSz="666750">
              <a:lnSpc>
                <a:spcPct val="150000"/>
              </a:lnSpc>
              <a:spcBef>
                <a:spcPct val="0"/>
              </a:spcBef>
              <a:spcAft>
                <a:spcPct val="35000"/>
              </a:spcAft>
            </a:pPr>
            <a:r>
              <a:rPr lang="zh-CN" altLang="en-US" sz="1600" dirty="0" smtClean="0"/>
              <a:t>      服务</a:t>
            </a:r>
            <a:r>
              <a:rPr lang="zh-CN" altLang="en-US" sz="1600" dirty="0"/>
              <a:t>支撑国家战略和山东省重大任务决策需求，争取资金和配套政策，突出绩效导向，支持重大前瞻性平台、高水平研究机构及团队引育，推动科技成果转化等重大工作落实落地。</a:t>
            </a:r>
            <a:endParaRPr lang="zh-CN" altLang="zh-CN" sz="16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17501" y="228600"/>
            <a:ext cx="5996881" cy="465512"/>
          </a:xfrm>
          <a:prstGeom prst="rect">
            <a:avLst/>
          </a:prstGeom>
        </p:spPr>
        <p:txBody>
          <a:bodyP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en-US" altLang="zh-CN" dirty="0" smtClean="0">
                <a:solidFill>
                  <a:schemeClr val="accent3">
                    <a:lumMod val="75000"/>
                  </a:schemeClr>
                </a:solidFill>
                <a:latin typeface="+mj-ea"/>
                <a:sym typeface="Arial" panose="020B0604020202020204" pitchFamily="34" charset="0"/>
              </a:rPr>
              <a:t>1131</a:t>
            </a:r>
            <a:r>
              <a:rPr lang="zh-CN" altLang="en-US" dirty="0" smtClean="0">
                <a:solidFill>
                  <a:schemeClr val="accent3">
                    <a:lumMod val="75000"/>
                  </a:schemeClr>
                </a:solidFill>
                <a:latin typeface="+mj-ea"/>
                <a:sym typeface="Arial" panose="020B0604020202020204" pitchFamily="34" charset="0"/>
              </a:rPr>
              <a:t>工作体系</a:t>
            </a:r>
            <a:endParaRPr lang="zh-CN" altLang="en-US" dirty="0">
              <a:solidFill>
                <a:schemeClr val="accent3">
                  <a:lumMod val="75000"/>
                </a:schemeClr>
              </a:solidFill>
              <a:latin typeface="+mj-ea"/>
              <a:sym typeface="Arial" panose="020B0604020202020204" pitchFamily="34" charset="0"/>
            </a:endParaRPr>
          </a:p>
        </p:txBody>
      </p:sp>
      <p:sp>
        <p:nvSpPr>
          <p:cNvPr id="6" name="矩形 5"/>
          <p:cNvSpPr/>
          <p:nvPr>
            <p:custDataLst>
              <p:tags r:id="rId1"/>
            </p:custDataLst>
          </p:nvPr>
        </p:nvSpPr>
        <p:spPr>
          <a:xfrm>
            <a:off x="378460" y="795655"/>
            <a:ext cx="11722735" cy="1257300"/>
          </a:xfrm>
          <a:prstGeom prst="rect">
            <a:avLst/>
          </a:prstGeom>
          <a:noFill/>
          <a:ln w="190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406400" lvl="1" indent="457200" algn="l" fontAlgn="auto">
              <a:lnSpc>
                <a:spcPct val="150000"/>
              </a:lnSpc>
              <a:buClr>
                <a:schemeClr val="tx1"/>
              </a:buClr>
              <a:buFont typeface="Arial" panose="020B0604020202020204" pitchFamily="34" charset="0"/>
              <a:buNone/>
              <a:extLst>
                <a:ext uri="{35155182-B16C-46BC-9424-99874614C6A1}">
                  <wpsdc:indentchars xmlns:wpsdc="http://www.wps.cn/officeDocument/2017/drawingmlCustomData" val="200" checksum="59296752"/>
                </a:ext>
              </a:extLst>
            </a:pPr>
            <a:endParaRPr lang="zh-CN" altLang="en-US" dirty="0">
              <a:solidFill>
                <a:schemeClr val="tx1"/>
              </a:solidFill>
              <a:latin typeface="+mn-ea"/>
              <a:cs typeface="+mn-ea"/>
              <a:sym typeface="+mn-ea"/>
            </a:endParaRPr>
          </a:p>
        </p:txBody>
      </p:sp>
      <p:sp>
        <p:nvSpPr>
          <p:cNvPr id="11" name="文本框 10"/>
          <p:cNvSpPr txBox="1"/>
          <p:nvPr/>
        </p:nvSpPr>
        <p:spPr>
          <a:xfrm>
            <a:off x="8990330" y="1200785"/>
            <a:ext cx="377825" cy="364490"/>
          </a:xfrm>
          <a:prstGeom prst="rect">
            <a:avLst/>
          </a:prstGeom>
          <a:noFill/>
          <a:effectLst/>
        </p:spPr>
        <p:txBody>
          <a:bodyPr wrap="square" lIns="86868" tIns="43434" rIns="86868" bIns="43434" rtlCol="0">
            <a:spAutoFit/>
          </a:bodyPr>
          <a:lstStyle/>
          <a:p>
            <a:pPr lvl="0" algn="ctr">
              <a:buClrTx/>
              <a:buSzTx/>
              <a:buFontTx/>
            </a:pPr>
            <a:endParaRPr lang="en-US" altLang="zh-CN" b="1" dirty="0">
              <a:solidFill>
                <a:schemeClr val="bg1"/>
              </a:solidFill>
              <a:latin typeface="+mn-ea"/>
              <a:sym typeface="+mn-lt"/>
            </a:endParaRPr>
          </a:p>
        </p:txBody>
      </p:sp>
      <p:grpSp>
        <p:nvGrpSpPr>
          <p:cNvPr id="173" name="组合 172"/>
          <p:cNvGrpSpPr/>
          <p:nvPr/>
        </p:nvGrpSpPr>
        <p:grpSpPr>
          <a:xfrm>
            <a:off x="1026938" y="2446060"/>
            <a:ext cx="10064050" cy="1937488"/>
            <a:chOff x="1062954" y="106431"/>
            <a:chExt cx="10064050" cy="1937488"/>
          </a:xfrm>
        </p:grpSpPr>
        <p:sp>
          <p:nvSpPr>
            <p:cNvPr id="174" name="梯形 173"/>
            <p:cNvSpPr/>
            <p:nvPr/>
          </p:nvSpPr>
          <p:spPr>
            <a:xfrm>
              <a:off x="1168879" y="1536129"/>
              <a:ext cx="9958125" cy="507790"/>
            </a:xfrm>
            <a:prstGeom prst="trapezoid">
              <a:avLst>
                <a:gd name="adj" fmla="val 205027"/>
              </a:avLst>
            </a:prstGeom>
            <a:gradFill flip="none" rotWithShape="1">
              <a:gsLst>
                <a:gs pos="28000">
                  <a:schemeClr val="accent2">
                    <a:alpha val="0"/>
                  </a:schemeClr>
                </a:gs>
                <a:gs pos="100000">
                  <a:schemeClr val="accent1">
                    <a:alpha val="33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dirty="0">
                <a:ln>
                  <a:noFill/>
                </a:ln>
                <a:solidFill>
                  <a:prstClr val="black">
                    <a:lumMod val="85000"/>
                    <a:lumOff val="15000"/>
                  </a:prstClr>
                </a:solidFill>
                <a:effectLst/>
                <a:uLnTx/>
                <a:uFillTx/>
                <a:latin typeface="Alibaba PuHuiTi 2.0 45 Light" pitchFamily="18" charset="-122"/>
                <a:ea typeface="Alibaba PuHuiTi 2.0 45 Light" pitchFamily="18" charset="-122"/>
                <a:cs typeface="+mn-cs"/>
              </a:endParaRPr>
            </a:p>
          </p:txBody>
        </p:sp>
        <p:sp>
          <p:nvSpPr>
            <p:cNvPr id="175" name="矩形: 剪去对角 97"/>
            <p:cNvSpPr/>
            <p:nvPr/>
          </p:nvSpPr>
          <p:spPr>
            <a:xfrm>
              <a:off x="1062954" y="106431"/>
              <a:ext cx="10032815" cy="1616533"/>
            </a:xfrm>
            <a:prstGeom prst="snip2DiagRect">
              <a:avLst>
                <a:gd name="adj1" fmla="val 3337"/>
                <a:gd name="adj2" fmla="val 3318"/>
              </a:avLst>
            </a:prstGeom>
            <a:gradFill flip="none" rotWithShape="1">
              <a:gsLst>
                <a:gs pos="100000">
                  <a:schemeClr val="accent1">
                    <a:alpha val="27000"/>
                  </a:schemeClr>
                </a:gs>
                <a:gs pos="85000">
                  <a:schemeClr val="accent1">
                    <a:alpha val="0"/>
                  </a:schemeClr>
                </a:gs>
              </a:gsLst>
              <a:path path="shape">
                <a:fillToRect l="50000" t="50000" r="50000" b="50000"/>
              </a:path>
              <a:tileRect/>
            </a:gra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dirty="0" smtClean="0">
                  <a:solidFill>
                    <a:prstClr val="black">
                      <a:lumMod val="85000"/>
                      <a:lumOff val="15000"/>
                    </a:prstClr>
                  </a:solidFill>
                  <a:latin typeface="Alibaba PuHuiTi 2.0 45 Light" pitchFamily="18" charset="-122"/>
                  <a:ea typeface="Alibaba PuHuiTi 2.0 45 Light" pitchFamily="18" charset="-122"/>
                </a:rPr>
                <a:t>构建“</a:t>
              </a:r>
              <a:r>
                <a:rPr lang="zh-CN" altLang="en-US" dirty="0">
                  <a:solidFill>
                    <a:prstClr val="black">
                      <a:lumMod val="85000"/>
                      <a:lumOff val="15000"/>
                    </a:prstClr>
                  </a:solidFill>
                  <a:latin typeface="Alibaba PuHuiTi 2.0 45 Light" pitchFamily="18" charset="-122"/>
                  <a:ea typeface="Alibaba PuHuiTi 2.0 45 Light" pitchFamily="18" charset="-122"/>
                </a:rPr>
                <a:t>以党建为引领，以服务全省科技创新工作为核心，以支撑战略决策、服务创新生态和赋能产业发展为方向，以培育高水平人才队伍为目标”的“</a:t>
              </a:r>
              <a:r>
                <a:rPr lang="en-US" altLang="zh-CN" dirty="0">
                  <a:solidFill>
                    <a:prstClr val="black">
                      <a:lumMod val="85000"/>
                      <a:lumOff val="15000"/>
                    </a:prstClr>
                  </a:solidFill>
                  <a:latin typeface="Alibaba PuHuiTi 2.0 45 Light" pitchFamily="18" charset="-122"/>
                  <a:ea typeface="Alibaba PuHuiTi 2.0 45 Light" pitchFamily="18" charset="-122"/>
                </a:rPr>
                <a:t>1131”</a:t>
              </a:r>
              <a:r>
                <a:rPr lang="zh-CN" altLang="en-US" dirty="0">
                  <a:solidFill>
                    <a:prstClr val="black">
                      <a:lumMod val="85000"/>
                      <a:lumOff val="15000"/>
                    </a:prstClr>
                  </a:solidFill>
                  <a:latin typeface="Alibaba PuHuiTi 2.0 45 Light" pitchFamily="18" charset="-122"/>
                  <a:ea typeface="Alibaba PuHuiTi 2.0 45 Light" pitchFamily="18" charset="-122"/>
                </a:rPr>
                <a:t>工作体系</a:t>
              </a:r>
              <a:endParaRPr kumimoji="0" lang="zh-CN" altLang="en-US" sz="1800" u="none" strike="noStrike" kern="1200" cap="none" spc="0" normalizeH="0" baseline="0" noProof="0" dirty="0">
                <a:ln>
                  <a:noFill/>
                </a:ln>
                <a:solidFill>
                  <a:prstClr val="black">
                    <a:lumMod val="85000"/>
                    <a:lumOff val="15000"/>
                  </a:prstClr>
                </a:solidFill>
                <a:effectLst/>
                <a:uLnTx/>
                <a:uFillTx/>
                <a:latin typeface="Alibaba PuHuiTi 2.0 45 Light" pitchFamily="18" charset="-122"/>
                <a:ea typeface="Alibaba PuHuiTi 2.0 45 Light" pitchFamily="18" charset="-122"/>
                <a:cs typeface="+mn-cs"/>
              </a:endParaRPr>
            </a:p>
          </p:txBody>
        </p:sp>
      </p:gr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517501" y="228600"/>
            <a:ext cx="5996881" cy="465512"/>
          </a:xfrm>
          <a:prstGeom prst="rect">
            <a:avLst/>
          </a:prstGeom>
        </p:spPr>
        <p:txBody>
          <a:bodyPr>
            <a:noAutofit/>
          </a:bodyPr>
          <a:lst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a:lstStyle>
          <a:p>
            <a:pPr marL="6350" indent="-6350"/>
            <a:r>
              <a:rPr lang="zh-CN" altLang="en-US" dirty="0" smtClean="0">
                <a:solidFill>
                  <a:schemeClr val="accent3">
                    <a:lumMod val="75000"/>
                  </a:schemeClr>
                </a:solidFill>
                <a:latin typeface="+mj-ea"/>
                <a:sym typeface="Arial" panose="020B0604020202020204" pitchFamily="34" charset="0"/>
              </a:rPr>
              <a:t>图解“</a:t>
            </a:r>
            <a:r>
              <a:rPr lang="en-US" altLang="zh-CN" dirty="0" smtClean="0">
                <a:solidFill>
                  <a:schemeClr val="accent3">
                    <a:lumMod val="75000"/>
                  </a:schemeClr>
                </a:solidFill>
                <a:latin typeface="+mj-ea"/>
                <a:sym typeface="Arial" panose="020B0604020202020204" pitchFamily="34" charset="0"/>
              </a:rPr>
              <a:t>1131</a:t>
            </a:r>
            <a:r>
              <a:rPr lang="zh-CN" altLang="en-US" dirty="0" smtClean="0">
                <a:solidFill>
                  <a:schemeClr val="accent3">
                    <a:lumMod val="75000"/>
                  </a:schemeClr>
                </a:solidFill>
                <a:latin typeface="+mj-ea"/>
                <a:sym typeface="Arial" panose="020B0604020202020204" pitchFamily="34" charset="0"/>
              </a:rPr>
              <a:t>”工作体系</a:t>
            </a:r>
            <a:endParaRPr lang="zh-CN" altLang="en-US" dirty="0">
              <a:solidFill>
                <a:schemeClr val="accent3">
                  <a:lumMod val="75000"/>
                </a:schemeClr>
              </a:solidFill>
              <a:latin typeface="+mj-ea"/>
              <a:sym typeface="Arial" panose="020B0604020202020204" pitchFamily="34" charset="0"/>
            </a:endParaRPr>
          </a:p>
        </p:txBody>
      </p:sp>
      <p:sp>
        <p:nvSpPr>
          <p:cNvPr id="3" name="文本框 2"/>
          <p:cNvSpPr txBox="1"/>
          <p:nvPr/>
        </p:nvSpPr>
        <p:spPr>
          <a:xfrm>
            <a:off x="5772150" y="1201420"/>
            <a:ext cx="3756660" cy="1176655"/>
          </a:xfrm>
          <a:prstGeom prst="rect">
            <a:avLst/>
          </a:prstGeom>
          <a:ln>
            <a:prstDash val="dash"/>
          </a:ln>
        </p:spPr>
        <p:style>
          <a:lnRef idx="2">
            <a:schemeClr val="accent1"/>
          </a:lnRef>
          <a:fillRef idx="1">
            <a:schemeClr val="lt1"/>
          </a:fillRef>
          <a:effectRef idx="0">
            <a:schemeClr val="accent1"/>
          </a:effectRef>
          <a:fontRef idx="minor">
            <a:schemeClr val="dk1"/>
          </a:fontRef>
        </p:style>
        <p:txBody>
          <a:bodyPr spcFirstLastPara="0" vert="horz" wrap="square" lIns="57150" tIns="57150" rIns="57150" bIns="57150" numCol="1" spcCol="1270" rtlCol="0" anchor="ctr" anchorCtr="0">
            <a:noAutofit/>
          </a:bodyPr>
          <a:lstStyle/>
          <a:p>
            <a:pPr defTabSz="666750">
              <a:lnSpc>
                <a:spcPct val="150000"/>
              </a:lnSpc>
              <a:spcBef>
                <a:spcPct val="0"/>
              </a:spcBef>
              <a:spcAft>
                <a:spcPct val="35000"/>
              </a:spcAft>
            </a:pPr>
            <a:endParaRPr lang="zh-CN" altLang="en-US" sz="2400" dirty="0" smtClean="0"/>
          </a:p>
        </p:txBody>
      </p:sp>
      <p:sp>
        <p:nvSpPr>
          <p:cNvPr id="6" name="矩形 5"/>
          <p:cNvSpPr/>
          <p:nvPr>
            <p:custDataLst>
              <p:tags r:id="rId1"/>
            </p:custDataLst>
          </p:nvPr>
        </p:nvSpPr>
        <p:spPr>
          <a:xfrm>
            <a:off x="378460" y="795655"/>
            <a:ext cx="11722735" cy="1257300"/>
          </a:xfrm>
          <a:prstGeom prst="rect">
            <a:avLst/>
          </a:prstGeom>
          <a:noFill/>
          <a:ln w="190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406400" lvl="1" indent="457200" algn="l" fontAlgn="auto">
              <a:lnSpc>
                <a:spcPct val="150000"/>
              </a:lnSpc>
              <a:buClr>
                <a:schemeClr val="tx1"/>
              </a:buClr>
              <a:buFont typeface="Arial" panose="020B0604020202020204" pitchFamily="34" charset="0"/>
              <a:buNone/>
              <a:extLst>
                <a:ext uri="{35155182-B16C-46BC-9424-99874614C6A1}">
                  <wpsdc:indentchars xmlns:wpsdc="http://www.wps.cn/officeDocument/2017/drawingmlCustomData" val="200" checksum="59296752"/>
                </a:ext>
              </a:extLst>
            </a:pPr>
            <a:endParaRPr lang="zh-CN" altLang="en-US" dirty="0">
              <a:solidFill>
                <a:schemeClr val="tx1"/>
              </a:solidFill>
              <a:latin typeface="+mn-ea"/>
              <a:cs typeface="+mn-ea"/>
              <a:sym typeface="+mn-ea"/>
            </a:endParaRPr>
          </a:p>
        </p:txBody>
      </p:sp>
      <p:grpSp>
        <p:nvGrpSpPr>
          <p:cNvPr id="7" name="组合 6"/>
          <p:cNvGrpSpPr/>
          <p:nvPr/>
        </p:nvGrpSpPr>
        <p:grpSpPr>
          <a:xfrm>
            <a:off x="5955030" y="1378585"/>
            <a:ext cx="855980" cy="799465"/>
            <a:chOff x="2393472" y="2178171"/>
            <a:chExt cx="2091325" cy="470669"/>
          </a:xfrm>
        </p:grpSpPr>
        <p:sp>
          <p:nvSpPr>
            <p:cNvPr id="8" name="矩形 7"/>
            <p:cNvSpPr/>
            <p:nvPr>
              <p:custDataLst>
                <p:tags r:id="rId2"/>
              </p:custDataLst>
            </p:nvPr>
          </p:nvSpPr>
          <p:spPr>
            <a:xfrm>
              <a:off x="2418419" y="2178171"/>
              <a:ext cx="2066378"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10" name="文本框 9"/>
            <p:cNvSpPr txBox="1"/>
            <p:nvPr/>
          </p:nvSpPr>
          <p:spPr>
            <a:xfrm>
              <a:off x="2393472" y="2245197"/>
              <a:ext cx="2091325" cy="333938"/>
            </a:xfrm>
            <a:prstGeom prst="rect">
              <a:avLst/>
            </a:prstGeom>
            <a:noFill/>
            <a:effectLst/>
          </p:spPr>
          <p:txBody>
            <a:bodyPr wrap="square" lIns="86868" tIns="43434" rIns="86868" bIns="43434" rtlCol="0">
              <a:spAutoFit/>
            </a:bodyPr>
            <a:lstStyle/>
            <a:p>
              <a:pPr lvl="0" algn="ctr">
                <a:buClrTx/>
                <a:buSzTx/>
                <a:buFontTx/>
              </a:pPr>
              <a:r>
                <a:rPr lang="zh-CN" altLang="en-US" sz="1600" b="1" dirty="0">
                  <a:solidFill>
                    <a:schemeClr val="bg1"/>
                  </a:solidFill>
                  <a:latin typeface="+mn-ea"/>
                  <a:sym typeface="+mn-lt"/>
                </a:rPr>
                <a:t>支撑战略决策</a:t>
              </a:r>
              <a:endParaRPr lang="zh-CN" altLang="en-US" sz="1600" b="1" dirty="0">
                <a:solidFill>
                  <a:schemeClr val="bg1"/>
                </a:solidFill>
                <a:latin typeface="+mn-ea"/>
                <a:sym typeface="+mn-lt"/>
              </a:endParaRPr>
            </a:p>
          </p:txBody>
        </p:sp>
      </p:grpSp>
      <p:sp>
        <p:nvSpPr>
          <p:cNvPr id="11" name="文本框 10"/>
          <p:cNvSpPr txBox="1"/>
          <p:nvPr/>
        </p:nvSpPr>
        <p:spPr>
          <a:xfrm>
            <a:off x="8990330" y="1200785"/>
            <a:ext cx="377825" cy="364490"/>
          </a:xfrm>
          <a:prstGeom prst="rect">
            <a:avLst/>
          </a:prstGeom>
          <a:noFill/>
          <a:effectLst/>
        </p:spPr>
        <p:txBody>
          <a:bodyPr wrap="square" lIns="86868" tIns="43434" rIns="86868" bIns="43434" rtlCol="0">
            <a:spAutoFit/>
          </a:bodyPr>
          <a:lstStyle/>
          <a:p>
            <a:pPr lvl="0" algn="ctr">
              <a:buClrTx/>
              <a:buSzTx/>
              <a:buFontTx/>
            </a:pPr>
            <a:endParaRPr lang="en-US" altLang="zh-CN" b="1" dirty="0">
              <a:solidFill>
                <a:schemeClr val="bg1"/>
              </a:solidFill>
              <a:latin typeface="+mn-ea"/>
              <a:sym typeface="+mn-lt"/>
            </a:endParaRPr>
          </a:p>
        </p:txBody>
      </p:sp>
      <p:sp>
        <p:nvSpPr>
          <p:cNvPr id="14" name="文本框 13"/>
          <p:cNvSpPr txBox="1"/>
          <p:nvPr/>
        </p:nvSpPr>
        <p:spPr>
          <a:xfrm>
            <a:off x="9756140" y="1293495"/>
            <a:ext cx="463550" cy="334010"/>
          </a:xfrm>
          <a:prstGeom prst="rect">
            <a:avLst/>
          </a:prstGeom>
          <a:noFill/>
          <a:effectLst/>
        </p:spPr>
        <p:txBody>
          <a:bodyPr wrap="square" lIns="86868" tIns="43434" rIns="86868" bIns="43434" rtlCol="0">
            <a:spAutoFit/>
          </a:bodyPr>
          <a:lstStyle/>
          <a:p>
            <a:pPr lvl="0" algn="ctr">
              <a:buClrTx/>
              <a:buSzTx/>
              <a:buFontTx/>
            </a:pPr>
            <a:endParaRPr lang="zh-CN" altLang="en-US" sz="1600" b="1" dirty="0">
              <a:solidFill>
                <a:schemeClr val="bg1"/>
              </a:solidFill>
              <a:latin typeface="+mn-ea"/>
              <a:sym typeface="+mn-lt"/>
            </a:endParaRPr>
          </a:p>
        </p:txBody>
      </p:sp>
      <p:grpSp>
        <p:nvGrpSpPr>
          <p:cNvPr id="17" name="组合 16"/>
          <p:cNvGrpSpPr/>
          <p:nvPr/>
        </p:nvGrpSpPr>
        <p:grpSpPr>
          <a:xfrm rot="16200000">
            <a:off x="2331997" y="1043864"/>
            <a:ext cx="808335" cy="1277371"/>
            <a:chOff x="3135801" y="3108638"/>
            <a:chExt cx="661563" cy="2091322"/>
          </a:xfrm>
        </p:grpSpPr>
        <p:sp>
          <p:nvSpPr>
            <p:cNvPr id="20" name="矩形 19"/>
            <p:cNvSpPr/>
            <p:nvPr>
              <p:custDataLst>
                <p:tags r:id="rId3"/>
              </p:custDataLst>
            </p:nvPr>
          </p:nvSpPr>
          <p:spPr>
            <a:xfrm rot="5400000">
              <a:off x="2588056" y="3728984"/>
              <a:ext cx="1757054" cy="661563"/>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21" name="文本框 20"/>
            <p:cNvSpPr txBox="1"/>
            <p:nvPr/>
          </p:nvSpPr>
          <p:spPr>
            <a:xfrm rot="5400000">
              <a:off x="2404881" y="4016887"/>
              <a:ext cx="2091322" cy="274824"/>
            </a:xfrm>
            <a:prstGeom prst="rect">
              <a:avLst/>
            </a:prstGeom>
            <a:noFill/>
            <a:effectLst/>
          </p:spPr>
          <p:txBody>
            <a:bodyPr wrap="square" lIns="86868" tIns="43434" rIns="86868" bIns="43434" rtlCol="0">
              <a:spAutoFit/>
            </a:bodyPr>
            <a:lstStyle/>
            <a:p>
              <a:pPr algn="ctr"/>
              <a:r>
                <a:rPr lang="zh-CN" altLang="en-US" sz="1600" b="1" dirty="0">
                  <a:solidFill>
                    <a:schemeClr val="bg1"/>
                  </a:solidFill>
                  <a:latin typeface="+mn-ea"/>
                </a:rPr>
                <a:t>党建引领</a:t>
              </a:r>
              <a:endParaRPr lang="zh-CN" altLang="en-US" sz="1600" b="1" dirty="0">
                <a:solidFill>
                  <a:schemeClr val="bg1"/>
                </a:solidFill>
                <a:latin typeface="+mn-ea"/>
              </a:endParaRPr>
            </a:p>
          </p:txBody>
        </p:sp>
      </p:grpSp>
      <p:grpSp>
        <p:nvGrpSpPr>
          <p:cNvPr id="23" name="组合 22"/>
          <p:cNvGrpSpPr/>
          <p:nvPr/>
        </p:nvGrpSpPr>
        <p:grpSpPr>
          <a:xfrm>
            <a:off x="10395813" y="1352070"/>
            <a:ext cx="1010772" cy="794280"/>
            <a:chOff x="2473652" y="2158791"/>
            <a:chExt cx="2067470" cy="470669"/>
          </a:xfrm>
        </p:grpSpPr>
        <p:sp>
          <p:nvSpPr>
            <p:cNvPr id="25" name="矩形 24"/>
            <p:cNvSpPr/>
            <p:nvPr>
              <p:custDataLst>
                <p:tags r:id="rId4"/>
              </p:custDataLst>
            </p:nvPr>
          </p:nvSpPr>
          <p:spPr>
            <a:xfrm>
              <a:off x="2473652" y="2158791"/>
              <a:ext cx="2067470"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26" name="文本框 25"/>
            <p:cNvSpPr txBox="1"/>
            <p:nvPr/>
          </p:nvSpPr>
          <p:spPr>
            <a:xfrm>
              <a:off x="2527453" y="2259177"/>
              <a:ext cx="2007555" cy="207199"/>
            </a:xfrm>
            <a:prstGeom prst="rect">
              <a:avLst/>
            </a:prstGeom>
            <a:noFill/>
            <a:effectLst/>
          </p:spPr>
          <p:txBody>
            <a:bodyPr wrap="square" lIns="86868" tIns="43434" rIns="86868" bIns="43434" rtlCol="0">
              <a:spAutoFit/>
            </a:bodyPr>
            <a:lstStyle/>
            <a:p>
              <a:pPr algn="ctr"/>
              <a:r>
                <a:rPr lang="zh-CN" altLang="en-US" sz="1400" b="1" dirty="0">
                  <a:solidFill>
                    <a:schemeClr val="bg1"/>
                  </a:solidFill>
                  <a:latin typeface="+mn-ea"/>
                </a:rPr>
                <a:t>人才队伍建设</a:t>
              </a:r>
              <a:endParaRPr lang="en-US" altLang="zh-CN" sz="1400" b="1" dirty="0">
                <a:solidFill>
                  <a:schemeClr val="bg1"/>
                </a:solidFill>
                <a:latin typeface="+mn-ea"/>
              </a:endParaRPr>
            </a:p>
          </p:txBody>
        </p:sp>
      </p:grpSp>
      <p:grpSp>
        <p:nvGrpSpPr>
          <p:cNvPr id="27" name="组合 26"/>
          <p:cNvGrpSpPr/>
          <p:nvPr/>
        </p:nvGrpSpPr>
        <p:grpSpPr>
          <a:xfrm>
            <a:off x="7292389" y="1377402"/>
            <a:ext cx="852805" cy="789940"/>
            <a:chOff x="2393472" y="2178171"/>
            <a:chExt cx="2091325" cy="470669"/>
          </a:xfrm>
        </p:grpSpPr>
        <p:sp>
          <p:nvSpPr>
            <p:cNvPr id="29" name="矩形 28"/>
            <p:cNvSpPr/>
            <p:nvPr>
              <p:custDataLst>
                <p:tags r:id="rId5"/>
              </p:custDataLst>
            </p:nvPr>
          </p:nvSpPr>
          <p:spPr>
            <a:xfrm>
              <a:off x="2418419" y="2178171"/>
              <a:ext cx="2066378"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30" name="文本框 29"/>
            <p:cNvSpPr txBox="1"/>
            <p:nvPr/>
          </p:nvSpPr>
          <p:spPr>
            <a:xfrm>
              <a:off x="2393472" y="2245197"/>
              <a:ext cx="2091325" cy="345675"/>
            </a:xfrm>
            <a:prstGeom prst="rect">
              <a:avLst/>
            </a:prstGeom>
            <a:noFill/>
            <a:effectLst/>
          </p:spPr>
          <p:txBody>
            <a:bodyPr wrap="square" lIns="86868" tIns="43434" rIns="86868" bIns="43434" rtlCol="0">
              <a:spAutoFit/>
            </a:bodyPr>
            <a:lstStyle/>
            <a:p>
              <a:pPr lvl="0" algn="ctr">
                <a:buClrTx/>
                <a:buSzTx/>
                <a:buFontTx/>
              </a:pPr>
              <a:r>
                <a:rPr lang="zh-CN" altLang="en-US" sz="1600" b="1" dirty="0">
                  <a:solidFill>
                    <a:schemeClr val="bg1"/>
                  </a:solidFill>
                  <a:latin typeface="+mn-ea"/>
                  <a:sym typeface="+mn-lt"/>
                </a:rPr>
                <a:t>服务</a:t>
              </a:r>
              <a:r>
                <a:rPr lang="zh-CN" altLang="en-US" sz="1600" b="1" dirty="0" smtClean="0">
                  <a:solidFill>
                    <a:schemeClr val="bg1"/>
                  </a:solidFill>
                  <a:latin typeface="+mn-ea"/>
                  <a:sym typeface="+mn-lt"/>
                </a:rPr>
                <a:t>创新</a:t>
              </a:r>
              <a:r>
                <a:rPr lang="zh-CN" altLang="en-US" sz="1600" b="1" dirty="0">
                  <a:solidFill>
                    <a:schemeClr val="bg1"/>
                  </a:solidFill>
                  <a:latin typeface="+mn-ea"/>
                  <a:sym typeface="+mn-lt"/>
                </a:rPr>
                <a:t>生态</a:t>
              </a:r>
              <a:endParaRPr lang="en-US" altLang="zh-CN" sz="1600" b="1" dirty="0">
                <a:solidFill>
                  <a:schemeClr val="bg1"/>
                </a:solidFill>
                <a:latin typeface="+mn-ea"/>
                <a:sym typeface="+mn-lt"/>
              </a:endParaRPr>
            </a:p>
          </p:txBody>
        </p:sp>
      </p:grpSp>
      <p:grpSp>
        <p:nvGrpSpPr>
          <p:cNvPr id="32" name="组合 31"/>
          <p:cNvGrpSpPr/>
          <p:nvPr/>
        </p:nvGrpSpPr>
        <p:grpSpPr>
          <a:xfrm>
            <a:off x="8571267" y="1392629"/>
            <a:ext cx="887730" cy="781050"/>
            <a:chOff x="2393472" y="2178171"/>
            <a:chExt cx="2091325" cy="470669"/>
          </a:xfrm>
        </p:grpSpPr>
        <p:sp>
          <p:nvSpPr>
            <p:cNvPr id="33" name="矩形 32"/>
            <p:cNvSpPr/>
            <p:nvPr>
              <p:custDataLst>
                <p:tags r:id="rId6"/>
              </p:custDataLst>
            </p:nvPr>
          </p:nvSpPr>
          <p:spPr>
            <a:xfrm>
              <a:off x="2418419" y="2178171"/>
              <a:ext cx="2066378"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34" name="文本框 33"/>
            <p:cNvSpPr txBox="1"/>
            <p:nvPr/>
          </p:nvSpPr>
          <p:spPr>
            <a:xfrm>
              <a:off x="2393472" y="2245197"/>
              <a:ext cx="2091325" cy="309491"/>
            </a:xfrm>
            <a:prstGeom prst="rect">
              <a:avLst/>
            </a:prstGeom>
            <a:noFill/>
            <a:effectLst/>
          </p:spPr>
          <p:txBody>
            <a:bodyPr wrap="square" lIns="86868" tIns="43434" rIns="86868" bIns="43434" rtlCol="0">
              <a:spAutoFit/>
            </a:bodyPr>
            <a:lstStyle/>
            <a:p>
              <a:pPr lvl="0" algn="ctr">
                <a:buClrTx/>
                <a:buSzTx/>
                <a:buFontTx/>
              </a:pPr>
              <a:r>
                <a:rPr lang="zh-CN" altLang="en-US" sz="1600" b="1" dirty="0" smtClean="0">
                  <a:solidFill>
                    <a:schemeClr val="bg1"/>
                  </a:solidFill>
                  <a:latin typeface="+mn-ea"/>
                  <a:sym typeface="+mn-lt"/>
                </a:rPr>
                <a:t>赋能产业发展</a:t>
              </a:r>
              <a:endParaRPr lang="en-US" altLang="zh-CN" sz="1600" b="1" dirty="0">
                <a:solidFill>
                  <a:schemeClr val="bg1"/>
                </a:solidFill>
                <a:latin typeface="+mn-ea"/>
                <a:sym typeface="+mn-lt"/>
              </a:endParaRPr>
            </a:p>
          </p:txBody>
        </p:sp>
      </p:grpSp>
      <p:grpSp>
        <p:nvGrpSpPr>
          <p:cNvPr id="35" name="组合 34"/>
          <p:cNvGrpSpPr/>
          <p:nvPr/>
        </p:nvGrpSpPr>
        <p:grpSpPr>
          <a:xfrm>
            <a:off x="4035976" y="1296140"/>
            <a:ext cx="1042052" cy="866854"/>
            <a:chOff x="2393472" y="2178171"/>
            <a:chExt cx="2091325" cy="470669"/>
          </a:xfrm>
        </p:grpSpPr>
        <p:sp>
          <p:nvSpPr>
            <p:cNvPr id="36" name="矩形 35"/>
            <p:cNvSpPr/>
            <p:nvPr>
              <p:custDataLst>
                <p:tags r:id="rId7"/>
              </p:custDataLst>
            </p:nvPr>
          </p:nvSpPr>
          <p:spPr>
            <a:xfrm>
              <a:off x="2418419" y="2178171"/>
              <a:ext cx="2066378"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37" name="文本框 36"/>
            <p:cNvSpPr txBox="1"/>
            <p:nvPr/>
          </p:nvSpPr>
          <p:spPr>
            <a:xfrm>
              <a:off x="2393472" y="2245197"/>
              <a:ext cx="2091325" cy="283584"/>
            </a:xfrm>
            <a:prstGeom prst="rect">
              <a:avLst/>
            </a:prstGeom>
            <a:noFill/>
            <a:effectLst/>
          </p:spPr>
          <p:txBody>
            <a:bodyPr wrap="square" lIns="86868" tIns="43434" rIns="86868" bIns="43434" rtlCol="0">
              <a:spAutoFit/>
            </a:bodyPr>
            <a:lstStyle/>
            <a:p>
              <a:pPr lvl="0" algn="ctr">
                <a:buClrTx/>
                <a:buSzTx/>
                <a:buFontTx/>
              </a:pPr>
              <a:r>
                <a:rPr lang="zh-CN" altLang="en-US" sz="1600" b="1" dirty="0">
                  <a:solidFill>
                    <a:schemeClr val="bg1"/>
                  </a:solidFill>
                  <a:latin typeface="+mn-ea"/>
                  <a:sym typeface="+mn-lt"/>
                </a:rPr>
                <a:t>支撑</a:t>
              </a:r>
              <a:r>
                <a:rPr lang="zh-CN" altLang="en-US" sz="1600" b="1" dirty="0" smtClean="0">
                  <a:solidFill>
                    <a:schemeClr val="bg1"/>
                  </a:solidFill>
                  <a:latin typeface="+mn-ea"/>
                  <a:sym typeface="+mn-lt"/>
                </a:rPr>
                <a:t>厅</a:t>
              </a:r>
              <a:endParaRPr lang="en-US" altLang="zh-CN" sz="1600" b="1" dirty="0" smtClean="0">
                <a:solidFill>
                  <a:schemeClr val="bg1"/>
                </a:solidFill>
                <a:latin typeface="+mn-ea"/>
                <a:sym typeface="+mn-lt"/>
              </a:endParaRPr>
            </a:p>
            <a:p>
              <a:pPr lvl="0" algn="ctr">
                <a:buClrTx/>
                <a:buSzTx/>
                <a:buFontTx/>
              </a:pPr>
              <a:r>
                <a:rPr lang="zh-CN" altLang="en-US" sz="1600" b="1" dirty="0" smtClean="0">
                  <a:solidFill>
                    <a:schemeClr val="bg1"/>
                  </a:solidFill>
                  <a:latin typeface="+mn-ea"/>
                  <a:sym typeface="+mn-lt"/>
                </a:rPr>
                <a:t>重点工作</a:t>
              </a:r>
              <a:endParaRPr lang="zh-CN" altLang="en-US" sz="1600" b="1" dirty="0">
                <a:solidFill>
                  <a:schemeClr val="bg1"/>
                </a:solidFill>
                <a:latin typeface="+mn-ea"/>
                <a:sym typeface="+mn-lt"/>
              </a:endParaRPr>
            </a:p>
          </p:txBody>
        </p:sp>
      </p:grpSp>
      <p:sp>
        <p:nvSpPr>
          <p:cNvPr id="45" name="文本框 44"/>
          <p:cNvSpPr txBox="1"/>
          <p:nvPr/>
        </p:nvSpPr>
        <p:spPr>
          <a:xfrm>
            <a:off x="0" y="1627505"/>
            <a:ext cx="1908000" cy="288000"/>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defPPr>
              <a:defRPr lang="zh-CN"/>
            </a:defPPr>
            <a:lvl1pPr algn="ctr">
              <a:defRPr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b="1" dirty="0" smtClean="0"/>
              <a:t>“1131”</a:t>
            </a:r>
            <a:r>
              <a:rPr lang="zh-CN" altLang="en-US" sz="1400" b="1" dirty="0" smtClean="0"/>
              <a:t>工作目标</a:t>
            </a:r>
            <a:endParaRPr lang="zh-CN" altLang="en-US" sz="1400" b="1" dirty="0" smtClean="0"/>
          </a:p>
        </p:txBody>
      </p:sp>
      <p:cxnSp>
        <p:nvCxnSpPr>
          <p:cNvPr id="48" name="直接连接符 47"/>
          <p:cNvCxnSpPr/>
          <p:nvPr/>
        </p:nvCxnSpPr>
        <p:spPr>
          <a:xfrm>
            <a:off x="1288415" y="5174602"/>
            <a:ext cx="10754995" cy="0"/>
          </a:xfrm>
          <a:prstGeom prst="line">
            <a:avLst/>
          </a:prstGeom>
          <a:ln w="31750" cap="rnd">
            <a:solidFill>
              <a:schemeClr val="accent1"/>
            </a:solidFill>
            <a:prstDash val="sysDot"/>
            <a:round/>
          </a:ln>
        </p:spPr>
        <p:style>
          <a:lnRef idx="0">
            <a:srgbClr val="FFFFFF"/>
          </a:lnRef>
          <a:fillRef idx="0">
            <a:srgbClr val="FFFFFF"/>
          </a:fillRef>
          <a:effectRef idx="0">
            <a:srgbClr val="FFFFFF"/>
          </a:effectRef>
          <a:fontRef idx="minor">
            <a:schemeClr val="tx1"/>
          </a:fontRef>
        </p:style>
      </p:cxnSp>
      <p:sp>
        <p:nvSpPr>
          <p:cNvPr id="49" name="矩形 48"/>
          <p:cNvSpPr/>
          <p:nvPr/>
        </p:nvSpPr>
        <p:spPr>
          <a:xfrm>
            <a:off x="2292004" y="3246287"/>
            <a:ext cx="291176" cy="1188553"/>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just"/>
            <a:r>
              <a:rPr lang="zh-CN" altLang="en-US" sz="1200" dirty="0" smtClean="0">
                <a:solidFill>
                  <a:schemeClr val="bg2">
                    <a:lumMod val="25000"/>
                  </a:schemeClr>
                </a:solidFill>
                <a:latin typeface="Alibaba PuHuiTi 2.0 55" pitchFamily="18" charset="-122"/>
                <a:ea typeface="Alibaba PuHuiTi 2.0 55" pitchFamily="18" charset="-122"/>
              </a:rPr>
              <a:t>支部</a:t>
            </a:r>
            <a:r>
              <a:rPr lang="zh-CN" altLang="en-US" sz="1200" dirty="0">
                <a:solidFill>
                  <a:schemeClr val="bg2">
                    <a:lumMod val="25000"/>
                  </a:schemeClr>
                </a:solidFill>
                <a:latin typeface="Alibaba PuHuiTi 2.0 55" pitchFamily="18" charset="-122"/>
                <a:ea typeface="Alibaba PuHuiTi 2.0 55" pitchFamily="18" charset="-122"/>
              </a:rPr>
              <a:t>品牌</a:t>
            </a:r>
            <a:r>
              <a:rPr lang="zh-CN" altLang="en-US" sz="1200" dirty="0" smtClean="0">
                <a:solidFill>
                  <a:schemeClr val="bg2">
                    <a:lumMod val="25000"/>
                  </a:schemeClr>
                </a:solidFill>
                <a:latin typeface="Alibaba PuHuiTi 2.0 55" pitchFamily="18" charset="-122"/>
                <a:ea typeface="Alibaba PuHuiTi 2.0 55" pitchFamily="18" charset="-122"/>
              </a:rPr>
              <a:t>矩阵</a:t>
            </a:r>
            <a:endParaRPr lang="zh-CN" altLang="en-US" sz="1200" dirty="0">
              <a:solidFill>
                <a:schemeClr val="bg2">
                  <a:lumMod val="25000"/>
                </a:schemeClr>
              </a:solidFill>
              <a:latin typeface="Alibaba PuHuiTi 2.0 55" pitchFamily="18" charset="-122"/>
              <a:ea typeface="Alibaba PuHuiTi 2.0 55" pitchFamily="18" charset="-122"/>
            </a:endParaRPr>
          </a:p>
        </p:txBody>
      </p:sp>
      <p:sp>
        <p:nvSpPr>
          <p:cNvPr id="50" name="矩形 49"/>
          <p:cNvSpPr/>
          <p:nvPr/>
        </p:nvSpPr>
        <p:spPr>
          <a:xfrm>
            <a:off x="2104988" y="2569481"/>
            <a:ext cx="1224915" cy="30797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en-US" sz="1400" b="1" dirty="0" smtClean="0">
                <a:solidFill>
                  <a:schemeClr val="bg1"/>
                </a:solidFill>
                <a:latin typeface="Alibaba PuHuiTi 2.0 55" pitchFamily="18" charset="-122"/>
                <a:ea typeface="Alibaba PuHuiTi 2.0 55" pitchFamily="18" charset="-122"/>
              </a:rPr>
              <a:t>“</a:t>
            </a:r>
            <a:r>
              <a:rPr lang="zh-CN" altLang="en-US" sz="1200" b="1" dirty="0" smtClean="0">
                <a:solidFill>
                  <a:schemeClr val="bg1"/>
                </a:solidFill>
                <a:latin typeface="Alibaba PuHuiTi 2.0 55" pitchFamily="18" charset="-122"/>
                <a:ea typeface="Alibaba PuHuiTi 2.0 55" pitchFamily="18" charset="-122"/>
              </a:rPr>
              <a:t>一体四矩阵</a:t>
            </a:r>
            <a:r>
              <a:rPr lang="zh-CN" altLang="en-US" sz="1400" b="1" dirty="0" smtClean="0">
                <a:solidFill>
                  <a:schemeClr val="bg1"/>
                </a:solidFill>
                <a:latin typeface="Alibaba PuHuiTi 2.0 55" pitchFamily="18" charset="-122"/>
                <a:ea typeface="Alibaba PuHuiTi 2.0 55" pitchFamily="18" charset="-122"/>
              </a:rPr>
              <a:t>”</a:t>
            </a:r>
            <a:endParaRPr lang="en-US" altLang="zh-CN" sz="1400" b="1" dirty="0">
              <a:solidFill>
                <a:schemeClr val="bg1"/>
              </a:solidFill>
              <a:latin typeface="Alibaba PuHuiTi 2.0 55" pitchFamily="18" charset="-122"/>
              <a:ea typeface="Alibaba PuHuiTi 2.0 55" pitchFamily="18" charset="-122"/>
            </a:endParaRPr>
          </a:p>
        </p:txBody>
      </p:sp>
      <p:sp>
        <p:nvSpPr>
          <p:cNvPr id="51" name="矩形 50"/>
          <p:cNvSpPr/>
          <p:nvPr/>
        </p:nvSpPr>
        <p:spPr>
          <a:xfrm>
            <a:off x="1737360" y="2840053"/>
            <a:ext cx="1863090" cy="431165"/>
          </a:xfrm>
          <a:prstGeom prst="rect">
            <a:avLst/>
          </a:prstGeom>
          <a:ln>
            <a:prstDash val="lgDashDotDot"/>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100" b="1" dirty="0">
                <a:solidFill>
                  <a:schemeClr val="bg2">
                    <a:lumMod val="25000"/>
                  </a:schemeClr>
                </a:solidFill>
              </a:rPr>
              <a:t>以“党业融合 创新发展”为主体</a:t>
            </a:r>
            <a:endParaRPr lang="zh-CN" altLang="en-US" sz="1100" b="1" dirty="0">
              <a:solidFill>
                <a:schemeClr val="bg2">
                  <a:lumMod val="25000"/>
                </a:schemeClr>
              </a:solidFill>
            </a:endParaRPr>
          </a:p>
        </p:txBody>
      </p:sp>
      <p:sp>
        <p:nvSpPr>
          <p:cNvPr id="53" name="矩形 52"/>
          <p:cNvSpPr/>
          <p:nvPr/>
        </p:nvSpPr>
        <p:spPr>
          <a:xfrm>
            <a:off x="3225886" y="3275860"/>
            <a:ext cx="280794" cy="1124690"/>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just"/>
            <a:r>
              <a:rPr lang="zh-CN" altLang="en-US" sz="1200" dirty="0" smtClean="0">
                <a:solidFill>
                  <a:schemeClr val="bg2">
                    <a:lumMod val="25000"/>
                  </a:schemeClr>
                </a:solidFill>
                <a:latin typeface="Alibaba PuHuiTi 2.0 55" pitchFamily="18" charset="-122"/>
                <a:ea typeface="Alibaba PuHuiTi 2.0 55" pitchFamily="18" charset="-122"/>
              </a:rPr>
              <a:t>党建</a:t>
            </a:r>
            <a:r>
              <a:rPr lang="zh-CN" altLang="en-US" sz="1200" dirty="0">
                <a:solidFill>
                  <a:schemeClr val="bg2">
                    <a:lumMod val="25000"/>
                  </a:schemeClr>
                </a:solidFill>
                <a:latin typeface="Alibaba PuHuiTi 2.0 55" pitchFamily="18" charset="-122"/>
                <a:ea typeface="Alibaba PuHuiTi 2.0 55" pitchFamily="18" charset="-122"/>
              </a:rPr>
              <a:t>载体</a:t>
            </a:r>
            <a:r>
              <a:rPr lang="zh-CN" altLang="en-US" sz="1200" dirty="0" smtClean="0">
                <a:solidFill>
                  <a:schemeClr val="bg2">
                    <a:lumMod val="25000"/>
                  </a:schemeClr>
                </a:solidFill>
                <a:latin typeface="Alibaba PuHuiTi 2.0 55" pitchFamily="18" charset="-122"/>
                <a:ea typeface="Alibaba PuHuiTi 2.0 55" pitchFamily="18" charset="-122"/>
              </a:rPr>
              <a:t>矩阵</a:t>
            </a:r>
            <a:endParaRPr lang="zh-CN" altLang="en-US" sz="1540" dirty="0">
              <a:solidFill>
                <a:schemeClr val="bg2">
                  <a:lumMod val="25000"/>
                </a:schemeClr>
              </a:solidFill>
              <a:latin typeface="Alibaba PuHuiTi 2.0 55" pitchFamily="18" charset="-122"/>
              <a:ea typeface="Alibaba PuHuiTi 2.0 55" pitchFamily="18" charset="-122"/>
            </a:endParaRPr>
          </a:p>
        </p:txBody>
      </p:sp>
      <p:sp>
        <p:nvSpPr>
          <p:cNvPr id="54" name="矩形 53"/>
          <p:cNvSpPr/>
          <p:nvPr/>
        </p:nvSpPr>
        <p:spPr>
          <a:xfrm>
            <a:off x="1824379" y="3266983"/>
            <a:ext cx="267311" cy="1190717"/>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just"/>
            <a:r>
              <a:rPr lang="zh-CN" altLang="en-US" sz="1200" dirty="0" smtClean="0">
                <a:solidFill>
                  <a:schemeClr val="bg2">
                    <a:lumMod val="25000"/>
                  </a:schemeClr>
                </a:solidFill>
                <a:latin typeface="Alibaba PuHuiTi 2.0 55" pitchFamily="18" charset="-122"/>
                <a:ea typeface="Alibaba PuHuiTi 2.0 55" pitchFamily="18" charset="-122"/>
              </a:rPr>
              <a:t>铸</a:t>
            </a:r>
            <a:r>
              <a:rPr lang="zh-CN" altLang="en-US" sz="1200" dirty="0">
                <a:solidFill>
                  <a:schemeClr val="bg2">
                    <a:lumMod val="25000"/>
                  </a:schemeClr>
                </a:solidFill>
                <a:latin typeface="Alibaba PuHuiTi 2.0 55" pitchFamily="18" charset="-122"/>
                <a:ea typeface="Alibaba PuHuiTi 2.0 55" pitchFamily="18" charset="-122"/>
              </a:rPr>
              <a:t>魂强基</a:t>
            </a:r>
            <a:r>
              <a:rPr lang="zh-CN" altLang="en-US" sz="1200" dirty="0" smtClean="0">
                <a:solidFill>
                  <a:schemeClr val="bg2">
                    <a:lumMod val="25000"/>
                  </a:schemeClr>
                </a:solidFill>
                <a:latin typeface="Alibaba PuHuiTi 2.0 55" pitchFamily="18" charset="-122"/>
                <a:ea typeface="Alibaba PuHuiTi 2.0 55" pitchFamily="18" charset="-122"/>
              </a:rPr>
              <a:t>矩阵</a:t>
            </a:r>
            <a:endParaRPr lang="zh-CN" altLang="en-US" sz="1200" dirty="0">
              <a:solidFill>
                <a:schemeClr val="bg2">
                  <a:lumMod val="25000"/>
                </a:schemeClr>
              </a:solidFill>
              <a:latin typeface="Alibaba PuHuiTi 2.0 55" pitchFamily="18" charset="-122"/>
              <a:ea typeface="Alibaba PuHuiTi 2.0 55" pitchFamily="18" charset="-122"/>
            </a:endParaRPr>
          </a:p>
        </p:txBody>
      </p:sp>
      <p:sp>
        <p:nvSpPr>
          <p:cNvPr id="55" name="矩形 54"/>
          <p:cNvSpPr/>
          <p:nvPr/>
        </p:nvSpPr>
        <p:spPr>
          <a:xfrm>
            <a:off x="2766565" y="3270405"/>
            <a:ext cx="276860" cy="1153006"/>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lstStyle/>
          <a:p>
            <a:pPr algn="just"/>
            <a:r>
              <a:rPr lang="zh-CN" altLang="en-US" sz="1200" dirty="0" smtClean="0">
                <a:solidFill>
                  <a:schemeClr val="bg2">
                    <a:lumMod val="25000"/>
                  </a:schemeClr>
                </a:solidFill>
                <a:latin typeface="Alibaba PuHuiTi 2.0 55" pitchFamily="18" charset="-122"/>
                <a:ea typeface="Alibaba PuHuiTi 2.0 55" pitchFamily="18" charset="-122"/>
              </a:rPr>
              <a:t>支部</a:t>
            </a:r>
            <a:r>
              <a:rPr lang="zh-CN" altLang="en-US" sz="1200" dirty="0">
                <a:solidFill>
                  <a:schemeClr val="bg2">
                    <a:lumMod val="25000"/>
                  </a:schemeClr>
                </a:solidFill>
                <a:latin typeface="Alibaba PuHuiTi 2.0 55" pitchFamily="18" charset="-122"/>
                <a:ea typeface="Alibaba PuHuiTi 2.0 55" pitchFamily="18" charset="-122"/>
              </a:rPr>
              <a:t>联建</a:t>
            </a:r>
            <a:r>
              <a:rPr lang="zh-CN" altLang="en-US" sz="1200" dirty="0" smtClean="0">
                <a:solidFill>
                  <a:schemeClr val="bg2">
                    <a:lumMod val="25000"/>
                  </a:schemeClr>
                </a:solidFill>
                <a:latin typeface="Alibaba PuHuiTi 2.0 55" pitchFamily="18" charset="-122"/>
                <a:ea typeface="Alibaba PuHuiTi 2.0 55" pitchFamily="18" charset="-122"/>
              </a:rPr>
              <a:t>矩阵</a:t>
            </a:r>
            <a:endParaRPr lang="zh-CN" altLang="en-US" sz="1200" dirty="0">
              <a:solidFill>
                <a:schemeClr val="bg2">
                  <a:lumMod val="25000"/>
                </a:schemeClr>
              </a:solidFill>
              <a:latin typeface="Alibaba PuHuiTi 2.0 55" pitchFamily="18" charset="-122"/>
              <a:ea typeface="Alibaba PuHuiTi 2.0 55" pitchFamily="18" charset="-122"/>
            </a:endParaRPr>
          </a:p>
        </p:txBody>
      </p:sp>
      <p:grpSp>
        <p:nvGrpSpPr>
          <p:cNvPr id="71" name="组合 70"/>
          <p:cNvGrpSpPr/>
          <p:nvPr/>
        </p:nvGrpSpPr>
        <p:grpSpPr>
          <a:xfrm>
            <a:off x="5905475" y="2676839"/>
            <a:ext cx="1021080" cy="612775"/>
            <a:chOff x="2303966" y="2054462"/>
            <a:chExt cx="2104529" cy="470669"/>
          </a:xfrm>
        </p:grpSpPr>
        <p:sp>
          <p:nvSpPr>
            <p:cNvPr id="72" name="矩形 71"/>
            <p:cNvSpPr/>
            <p:nvPr>
              <p:custDataLst>
                <p:tags r:id="rId8"/>
              </p:custDataLst>
            </p:nvPr>
          </p:nvSpPr>
          <p:spPr>
            <a:xfrm>
              <a:off x="2303966" y="2054462"/>
              <a:ext cx="2066378"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74" name="文本框 73"/>
            <p:cNvSpPr txBox="1"/>
            <p:nvPr/>
          </p:nvSpPr>
          <p:spPr>
            <a:xfrm>
              <a:off x="2317170" y="2113507"/>
              <a:ext cx="2091325" cy="375588"/>
            </a:xfrm>
            <a:prstGeom prst="rect">
              <a:avLst/>
            </a:prstGeom>
            <a:noFill/>
            <a:effectLst/>
          </p:spPr>
          <p:txBody>
            <a:bodyPr wrap="square" lIns="86868" tIns="43434" rIns="86868" bIns="43434" rtlCol="0">
              <a:spAutoFit/>
            </a:bodyPr>
            <a:lstStyle/>
            <a:p>
              <a:pPr lvl="0" algn="ctr">
                <a:buClrTx/>
                <a:buSzTx/>
                <a:buFontTx/>
              </a:pPr>
              <a:r>
                <a:rPr lang="zh-CN" altLang="en-US" sz="1400" b="1" dirty="0" smtClean="0">
                  <a:solidFill>
                    <a:schemeClr val="bg1"/>
                  </a:solidFill>
                  <a:latin typeface="+mn-ea"/>
                  <a:sym typeface="+mn-lt"/>
                </a:rPr>
                <a:t>科技创新战略智库</a:t>
              </a:r>
              <a:endParaRPr lang="zh-CN" altLang="en-US" sz="1400" b="1" dirty="0">
                <a:solidFill>
                  <a:schemeClr val="bg1"/>
                </a:solidFill>
                <a:latin typeface="+mn-ea"/>
                <a:sym typeface="+mn-lt"/>
              </a:endParaRPr>
            </a:p>
          </p:txBody>
        </p:sp>
      </p:grpSp>
      <p:grpSp>
        <p:nvGrpSpPr>
          <p:cNvPr id="75" name="组合 74"/>
          <p:cNvGrpSpPr/>
          <p:nvPr/>
        </p:nvGrpSpPr>
        <p:grpSpPr>
          <a:xfrm>
            <a:off x="7230782" y="2694595"/>
            <a:ext cx="1089660" cy="630555"/>
            <a:chOff x="2375084" y="2178172"/>
            <a:chExt cx="2142193" cy="470669"/>
          </a:xfrm>
        </p:grpSpPr>
        <p:sp>
          <p:nvSpPr>
            <p:cNvPr id="76" name="矩形 75"/>
            <p:cNvSpPr/>
            <p:nvPr>
              <p:custDataLst>
                <p:tags r:id="rId9"/>
              </p:custDataLst>
            </p:nvPr>
          </p:nvSpPr>
          <p:spPr>
            <a:xfrm>
              <a:off x="2418419" y="2178172"/>
              <a:ext cx="206637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77" name="文本框 76"/>
            <p:cNvSpPr txBox="1"/>
            <p:nvPr/>
          </p:nvSpPr>
          <p:spPr>
            <a:xfrm>
              <a:off x="2375084" y="2203212"/>
              <a:ext cx="2142193" cy="385825"/>
            </a:xfrm>
            <a:prstGeom prst="rect">
              <a:avLst/>
            </a:prstGeom>
            <a:noFill/>
            <a:effectLst/>
          </p:spPr>
          <p:txBody>
            <a:bodyPr wrap="square" lIns="86868" tIns="43434" rIns="86868" bIns="43434" rtlCol="0">
              <a:spAutoFit/>
            </a:bodyPr>
            <a:lstStyle/>
            <a:p>
              <a:pPr lvl="0" algn="ctr">
                <a:buClrTx/>
                <a:buSzTx/>
                <a:buFontTx/>
              </a:pPr>
              <a:r>
                <a:rPr lang="zh-CN" altLang="en-US" sz="1400" b="1" dirty="0" smtClean="0">
                  <a:solidFill>
                    <a:schemeClr val="bg1"/>
                  </a:solidFill>
                  <a:latin typeface="+mn-ea"/>
                  <a:sym typeface="+mn-lt"/>
                </a:rPr>
                <a:t>公共研发</a:t>
              </a:r>
              <a:endParaRPr lang="en-US" altLang="zh-CN" sz="1400" b="1" dirty="0" smtClean="0">
                <a:solidFill>
                  <a:schemeClr val="bg1"/>
                </a:solidFill>
                <a:latin typeface="+mn-ea"/>
                <a:sym typeface="+mn-lt"/>
              </a:endParaRPr>
            </a:p>
            <a:p>
              <a:pPr lvl="0" algn="ctr">
                <a:buClrTx/>
                <a:buSzTx/>
                <a:buFontTx/>
              </a:pPr>
              <a:r>
                <a:rPr lang="zh-CN" altLang="en-US" sz="1400" b="1" dirty="0" smtClean="0">
                  <a:solidFill>
                    <a:schemeClr val="bg1"/>
                  </a:solidFill>
                  <a:latin typeface="+mn-ea"/>
                  <a:sym typeface="+mn-lt"/>
                </a:rPr>
                <a:t>服务平台</a:t>
              </a:r>
              <a:endParaRPr lang="zh-CN" altLang="en-US" sz="1400" b="1" dirty="0">
                <a:solidFill>
                  <a:schemeClr val="bg1"/>
                </a:solidFill>
                <a:latin typeface="+mn-ea"/>
                <a:sym typeface="+mn-lt"/>
              </a:endParaRPr>
            </a:p>
          </p:txBody>
        </p:sp>
      </p:grpSp>
      <p:grpSp>
        <p:nvGrpSpPr>
          <p:cNvPr id="78" name="组合 77"/>
          <p:cNvGrpSpPr/>
          <p:nvPr/>
        </p:nvGrpSpPr>
        <p:grpSpPr>
          <a:xfrm>
            <a:off x="8560546" y="2677474"/>
            <a:ext cx="1064895" cy="665480"/>
            <a:chOff x="2375084" y="2170057"/>
            <a:chExt cx="2172839" cy="470669"/>
          </a:xfrm>
        </p:grpSpPr>
        <p:sp>
          <p:nvSpPr>
            <p:cNvPr id="79" name="矩形 78"/>
            <p:cNvSpPr/>
            <p:nvPr>
              <p:custDataLst>
                <p:tags r:id="rId10"/>
              </p:custDataLst>
            </p:nvPr>
          </p:nvSpPr>
          <p:spPr>
            <a:xfrm>
              <a:off x="2481546" y="2170057"/>
              <a:ext cx="2066377" cy="470669"/>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p>
              <a:pPr algn="ctr"/>
              <a:endParaRPr lang="zh-CN" altLang="en-US" sz="1845" dirty="0">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endParaRPr>
            </a:p>
          </p:txBody>
        </p:sp>
        <p:sp>
          <p:nvSpPr>
            <p:cNvPr id="80" name="文本框 79"/>
            <p:cNvSpPr txBox="1"/>
            <p:nvPr/>
          </p:nvSpPr>
          <p:spPr>
            <a:xfrm>
              <a:off x="2375084" y="2207268"/>
              <a:ext cx="2142192" cy="365577"/>
            </a:xfrm>
            <a:prstGeom prst="rect">
              <a:avLst/>
            </a:prstGeom>
            <a:noFill/>
            <a:effectLst/>
          </p:spPr>
          <p:txBody>
            <a:bodyPr wrap="square" lIns="86868" tIns="43434" rIns="86868" bIns="43434" rtlCol="0">
              <a:spAutoFit/>
            </a:bodyPr>
            <a:lstStyle/>
            <a:p>
              <a:pPr lvl="0" algn="ctr">
                <a:buClrTx/>
                <a:buSzTx/>
                <a:buFontTx/>
              </a:pPr>
              <a:r>
                <a:rPr lang="zh-CN" altLang="en-US" sz="1400" b="1" dirty="0" smtClean="0">
                  <a:solidFill>
                    <a:schemeClr val="bg1"/>
                  </a:solidFill>
                  <a:latin typeface="+mn-ea"/>
                  <a:sym typeface="+mn-lt"/>
                </a:rPr>
                <a:t>科技成果转化体系</a:t>
              </a:r>
              <a:endParaRPr lang="zh-CN" altLang="en-US" sz="1400" b="1" dirty="0">
                <a:solidFill>
                  <a:schemeClr val="bg1"/>
                </a:solidFill>
                <a:latin typeface="+mn-ea"/>
                <a:sym typeface="+mn-lt"/>
              </a:endParaRPr>
            </a:p>
          </p:txBody>
        </p:sp>
      </p:grpSp>
      <p:cxnSp>
        <p:nvCxnSpPr>
          <p:cNvPr id="87" name="直接箭头连接符 86"/>
          <p:cNvCxnSpPr/>
          <p:nvPr/>
        </p:nvCxnSpPr>
        <p:spPr>
          <a:xfrm>
            <a:off x="7827552" y="3599340"/>
            <a:ext cx="1912" cy="41336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99" name="矩形 98"/>
          <p:cNvSpPr/>
          <p:nvPr/>
        </p:nvSpPr>
        <p:spPr>
          <a:xfrm>
            <a:off x="11017392" y="2642445"/>
            <a:ext cx="212090" cy="2370455"/>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ctr" anchorCtr="1"/>
          <a:lstStyle/>
          <a:p>
            <a:pPr algn="ctr"/>
            <a:r>
              <a:rPr lang="zh-CN" altLang="en-US" sz="1400" b="1" dirty="0" smtClean="0">
                <a:solidFill>
                  <a:schemeClr val="bg2">
                    <a:lumMod val="25000"/>
                  </a:schemeClr>
                </a:solidFill>
                <a:latin typeface="Alibaba PuHuiTi 2.0 55" pitchFamily="18" charset="-122"/>
                <a:ea typeface="Alibaba PuHuiTi 2.0 55" pitchFamily="18" charset="-122"/>
              </a:rPr>
              <a:t>打造高水平</a:t>
            </a:r>
            <a:r>
              <a:rPr lang="zh-CN" altLang="en-US" sz="1400" b="1" dirty="0">
                <a:solidFill>
                  <a:schemeClr val="bg2">
                    <a:lumMod val="25000"/>
                  </a:schemeClr>
                </a:solidFill>
                <a:latin typeface="Alibaba PuHuiTi 2.0 55" pitchFamily="18" charset="-122"/>
                <a:ea typeface="Alibaba PuHuiTi 2.0 55" pitchFamily="18" charset="-122"/>
              </a:rPr>
              <a:t>联合</a:t>
            </a:r>
            <a:r>
              <a:rPr lang="zh-CN" altLang="en-US" sz="1400" b="1" dirty="0" smtClean="0">
                <a:solidFill>
                  <a:schemeClr val="bg2">
                    <a:lumMod val="25000"/>
                  </a:schemeClr>
                </a:solidFill>
                <a:latin typeface="Alibaba PuHuiTi 2.0 55" pitchFamily="18" charset="-122"/>
                <a:ea typeface="Alibaba PuHuiTi 2.0 55" pitchFamily="18" charset="-122"/>
              </a:rPr>
              <a:t>研究团队</a:t>
            </a:r>
            <a:endParaRPr lang="zh-CN" altLang="en-US" sz="1400" b="1" dirty="0">
              <a:solidFill>
                <a:schemeClr val="bg2">
                  <a:lumMod val="25000"/>
                </a:schemeClr>
              </a:solidFill>
              <a:latin typeface="Alibaba PuHuiTi 2.0 55" pitchFamily="18" charset="-122"/>
              <a:ea typeface="Alibaba PuHuiTi 2.0 55" pitchFamily="18" charset="-122"/>
            </a:endParaRPr>
          </a:p>
        </p:txBody>
      </p:sp>
      <p:grpSp>
        <p:nvGrpSpPr>
          <p:cNvPr id="103" name="组合 102"/>
          <p:cNvGrpSpPr/>
          <p:nvPr/>
        </p:nvGrpSpPr>
        <p:grpSpPr>
          <a:xfrm>
            <a:off x="10243199" y="2778274"/>
            <a:ext cx="1376678" cy="2079476"/>
            <a:chOff x="10881739" y="2958912"/>
            <a:chExt cx="1376621" cy="2079374"/>
          </a:xfrm>
        </p:grpSpPr>
        <p:sp>
          <p:nvSpPr>
            <p:cNvPr id="104" name="矩形 103"/>
            <p:cNvSpPr/>
            <p:nvPr/>
          </p:nvSpPr>
          <p:spPr>
            <a:xfrm>
              <a:off x="11291283" y="2958912"/>
              <a:ext cx="227764" cy="2079374"/>
            </a:xfrm>
            <a:prstGeom prst="rect">
              <a:avLst/>
            </a:prstGeom>
            <a:gradFill flip="none" rotWithShape="1">
              <a:gsLst>
                <a:gs pos="0">
                  <a:schemeClr val="bg1"/>
                </a:gs>
                <a:gs pos="100000">
                  <a:schemeClr val="bg1"/>
                </a:gs>
                <a:gs pos="46000">
                  <a:schemeClr val="accent1">
                    <a:lumMod val="5000"/>
                    <a:lumOff val="95000"/>
                  </a:schemeClr>
                </a:gs>
              </a:gsLst>
              <a:path path="circle">
                <a:fillToRect r="100000" b="100000"/>
              </a:path>
              <a:tileRect l="-100000" t="-100000"/>
            </a:gradFill>
            <a:ln w="10859">
              <a:solidFill>
                <a:schemeClr val="accent1">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78181" tIns="39091" rIns="78181" bIns="39091" rtlCol="0" anchor="t" anchorCtr="0"/>
            <a:lstStyle/>
            <a:p>
              <a:pPr algn="ctr"/>
              <a:r>
                <a:rPr lang="zh-CN" altLang="en-US" sz="1400" b="1" dirty="0">
                  <a:solidFill>
                    <a:schemeClr val="bg2">
                      <a:lumMod val="25000"/>
                    </a:schemeClr>
                  </a:solidFill>
                  <a:latin typeface="Alibaba PuHuiTi 2.0 55" pitchFamily="18" charset="-122"/>
                  <a:ea typeface="Alibaba PuHuiTi 2.0 55" pitchFamily="18" charset="-122"/>
                </a:rPr>
                <a:t>培养</a:t>
              </a:r>
              <a:r>
                <a:rPr lang="zh-CN" altLang="zh-CN" sz="1400" b="1" dirty="0" smtClean="0">
                  <a:solidFill>
                    <a:schemeClr val="bg2">
                      <a:lumMod val="25000"/>
                    </a:schemeClr>
                  </a:solidFill>
                  <a:latin typeface="Alibaba PuHuiTi 2.0 55" pitchFamily="18" charset="-122"/>
                  <a:ea typeface="Alibaba PuHuiTi 2.0 55" pitchFamily="18" charset="-122"/>
                </a:rPr>
                <a:t>优秀</a:t>
              </a:r>
              <a:r>
                <a:rPr lang="zh-CN" altLang="en-US" sz="1400" b="1" dirty="0">
                  <a:solidFill>
                    <a:schemeClr val="bg2">
                      <a:lumMod val="25000"/>
                    </a:schemeClr>
                  </a:solidFill>
                  <a:latin typeface="Alibaba PuHuiTi 2.0 55" pitchFamily="18" charset="-122"/>
                  <a:ea typeface="Alibaba PuHuiTi 2.0 55" pitchFamily="18" charset="-122"/>
                </a:rPr>
                <a:t>中</a:t>
              </a:r>
              <a:r>
                <a:rPr lang="zh-CN" altLang="zh-CN" sz="1400" b="1" dirty="0" smtClean="0">
                  <a:solidFill>
                    <a:schemeClr val="bg2">
                      <a:lumMod val="25000"/>
                    </a:schemeClr>
                  </a:solidFill>
                  <a:latin typeface="Alibaba PuHuiTi 2.0 55" pitchFamily="18" charset="-122"/>
                  <a:ea typeface="Alibaba PuHuiTi 2.0 55" pitchFamily="18" charset="-122"/>
                </a:rPr>
                <a:t>青年</a:t>
              </a:r>
              <a:r>
                <a:rPr lang="zh-CN" altLang="zh-CN" sz="1400" b="1" dirty="0">
                  <a:solidFill>
                    <a:schemeClr val="bg2">
                      <a:lumMod val="25000"/>
                    </a:schemeClr>
                  </a:solidFill>
                  <a:latin typeface="Alibaba PuHuiTi 2.0 55" pitchFamily="18" charset="-122"/>
                  <a:ea typeface="Alibaba PuHuiTi 2.0 55" pitchFamily="18" charset="-122"/>
                </a:rPr>
                <a:t>人才</a:t>
              </a:r>
              <a:endParaRPr lang="zh-CN" altLang="en-US" sz="1400" b="1" dirty="0">
                <a:solidFill>
                  <a:schemeClr val="bg2">
                    <a:lumMod val="25000"/>
                  </a:schemeClr>
                </a:solidFill>
                <a:latin typeface="Alibaba PuHuiTi 2.0 55" pitchFamily="18" charset="-122"/>
                <a:ea typeface="Alibaba PuHuiTi 2.0 55" pitchFamily="18" charset="-122"/>
              </a:endParaRPr>
            </a:p>
          </p:txBody>
        </p:sp>
        <p:sp>
          <p:nvSpPr>
            <p:cNvPr id="115" name="矩形 114"/>
            <p:cNvSpPr/>
            <p:nvPr/>
          </p:nvSpPr>
          <p:spPr>
            <a:xfrm>
              <a:off x="12030879" y="3799309"/>
              <a:ext cx="227481" cy="523194"/>
            </a:xfrm>
            <a:prstGeom prst="rect">
              <a:avLst/>
            </a:prstGeom>
            <a:solidFill>
              <a:schemeClr val="bg1"/>
            </a:solidFill>
            <a:ln>
              <a:noFill/>
              <a:prstDash val="dash"/>
            </a:ln>
          </p:spPr>
          <p:txBody>
            <a:bodyPr wrap="square" rtlCol="0" anchor="ctr">
              <a:spAutoFit/>
            </a:bodyPr>
            <a:lstStyle/>
            <a:p>
              <a:pPr algn="ctr"/>
              <a:r>
                <a:rPr lang="zh-CN" altLang="en-US" sz="1400" dirty="0">
                  <a:solidFill>
                    <a:schemeClr val="bg2">
                      <a:lumMod val="25000"/>
                    </a:schemeClr>
                  </a:solidFill>
                </a:rPr>
                <a:t>外联</a:t>
              </a:r>
              <a:endParaRPr lang="zh-CN" altLang="en-US" dirty="0" smtClean="0">
                <a:solidFill>
                  <a:schemeClr val="bg2">
                    <a:lumMod val="25000"/>
                  </a:schemeClr>
                </a:solidFill>
              </a:endParaRPr>
            </a:p>
          </p:txBody>
        </p:sp>
        <p:sp>
          <p:nvSpPr>
            <p:cNvPr id="119" name="矩形 118"/>
            <p:cNvSpPr/>
            <p:nvPr/>
          </p:nvSpPr>
          <p:spPr>
            <a:xfrm>
              <a:off x="10881739" y="3799537"/>
              <a:ext cx="227481" cy="523194"/>
            </a:xfrm>
            <a:prstGeom prst="rect">
              <a:avLst/>
            </a:prstGeom>
            <a:solidFill>
              <a:schemeClr val="bg1"/>
            </a:solidFill>
            <a:ln>
              <a:noFill/>
              <a:prstDash val="dash"/>
            </a:ln>
          </p:spPr>
          <p:txBody>
            <a:bodyPr wrap="square" rtlCol="0" anchor="ctr">
              <a:spAutoFit/>
            </a:bodyPr>
            <a:lstStyle/>
            <a:p>
              <a:pPr algn="ctr"/>
              <a:r>
                <a:rPr lang="zh-CN" altLang="en-US" sz="1400" dirty="0" smtClean="0">
                  <a:solidFill>
                    <a:schemeClr val="bg2">
                      <a:lumMod val="25000"/>
                    </a:schemeClr>
                  </a:solidFill>
                </a:rPr>
                <a:t>内培</a:t>
              </a:r>
              <a:endParaRPr lang="zh-CN" altLang="en-US" dirty="0" smtClean="0">
                <a:solidFill>
                  <a:schemeClr val="bg2">
                    <a:lumMod val="25000"/>
                  </a:schemeClr>
                </a:solidFill>
              </a:endParaRPr>
            </a:p>
          </p:txBody>
        </p:sp>
        <p:cxnSp>
          <p:nvCxnSpPr>
            <p:cNvPr id="120" name="直接箭头连接符 119"/>
            <p:cNvCxnSpPr>
              <a:stCxn id="119" idx="3"/>
            </p:cNvCxnSpPr>
            <p:nvPr/>
          </p:nvCxnSpPr>
          <p:spPr>
            <a:xfrm flipV="1">
              <a:off x="11109220" y="4058818"/>
              <a:ext cx="120992" cy="2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a:stCxn id="115" idx="1"/>
            </p:cNvCxnSpPr>
            <p:nvPr/>
          </p:nvCxnSpPr>
          <p:spPr>
            <a:xfrm flipH="1">
              <a:off x="11901605" y="4060906"/>
              <a:ext cx="129274" cy="8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31" name="文本框 130"/>
          <p:cNvSpPr txBox="1"/>
          <p:nvPr/>
        </p:nvSpPr>
        <p:spPr>
          <a:xfrm>
            <a:off x="0" y="5715000"/>
            <a:ext cx="1383030" cy="308370"/>
          </a:xfrm>
          <a:prstGeom prst="rect">
            <a:avLst/>
          </a:prstGeom>
          <a:gradFill flip="none" rotWithShape="1">
            <a:gsLst>
              <a:gs pos="100000">
                <a:schemeClr val="accent2">
                  <a:alpha val="0"/>
                </a:schemeClr>
              </a:gs>
              <a:gs pos="43000">
                <a:schemeClr val="accent1"/>
              </a:gs>
            </a:gsLst>
            <a:path path="circle">
              <a:fillToRect t="100000" r="100000"/>
            </a:path>
            <a:tileRect l="-100000" b="-100000"/>
          </a:gradFill>
          <a:ln w="6350">
            <a:noFill/>
            <a:prstDash val="solid"/>
          </a:ln>
          <a:effectLst>
            <a:outerShdw blurRad="241300" dist="117272" dir="5400000" sx="99000" sy="99000" algn="ctr" rotWithShape="0">
              <a:schemeClr val="accent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3817" tIns="46909" rIns="93817" bIns="46909" rtlCol="0" anchor="ctr">
            <a:noAutofit/>
          </a:bodyPr>
          <a:lstStyle>
            <a:defPPr>
              <a:defRPr lang="zh-CN"/>
            </a:defPPr>
            <a:lvl1pPr algn="ctr">
              <a:defRPr sz="1845">
                <a:solidFill>
                  <a:schemeClr val="bg1"/>
                </a:solidFill>
                <a:effectLst>
                  <a:outerShdw blurRad="130302" dist="39091" dir="2699985" algn="tl">
                    <a:srgbClr val="000000">
                      <a:alpha val="40000"/>
                    </a:srgbClr>
                  </a:outerShdw>
                </a:effectLst>
                <a:latin typeface="Alibaba PuHuiTi 2.0 45 Light" pitchFamily="18" charset="-122"/>
                <a:ea typeface="Alibaba PuHuiTi 2.0 45 Light" pitchFamily="18"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200" b="1" dirty="0" smtClean="0"/>
              <a:t>数字化支撑</a:t>
            </a:r>
            <a:endParaRPr lang="zh-CN" altLang="en-US" sz="1200" b="1" dirty="0" smtClean="0"/>
          </a:p>
        </p:txBody>
      </p:sp>
      <p:sp>
        <p:nvSpPr>
          <p:cNvPr id="132" name="矩形 131"/>
          <p:cNvSpPr/>
          <p:nvPr/>
        </p:nvSpPr>
        <p:spPr>
          <a:xfrm>
            <a:off x="1804510" y="5291227"/>
            <a:ext cx="3202496" cy="584775"/>
          </a:xfrm>
          <a:prstGeom prst="rect">
            <a:avLst/>
          </a:prstGeom>
        </p:spPr>
        <p:style>
          <a:lnRef idx="0">
            <a:schemeClr val="accent1"/>
          </a:lnRef>
          <a:fillRef idx="3">
            <a:schemeClr val="accent1"/>
          </a:fillRef>
          <a:effectRef idx="3">
            <a:schemeClr val="accent1"/>
          </a:effectRef>
          <a:fontRef idx="minor">
            <a:schemeClr val="lt1"/>
          </a:fontRef>
        </p:style>
        <p:txBody>
          <a:bodyPr wrap="square" anchor="ctr" anchorCtr="1">
            <a:spAutoFit/>
          </a:bodyPr>
          <a:lstStyle/>
          <a:p>
            <a:pPr algn="ctr"/>
            <a:r>
              <a:rPr lang="zh-CN" altLang="en-US" sz="1600" b="1" dirty="0">
                <a:solidFill>
                  <a:schemeClr val="bg1"/>
                </a:solidFill>
                <a:latin typeface="+mn-ea"/>
                <a:sym typeface="+mn-ea"/>
              </a:rPr>
              <a:t>支撑创新发展科技服务</a:t>
            </a:r>
            <a:r>
              <a:rPr lang="zh-CN" altLang="en-US" sz="1600" b="1" dirty="0" smtClean="0">
                <a:solidFill>
                  <a:schemeClr val="bg1"/>
                </a:solidFill>
                <a:latin typeface="+mn-ea"/>
                <a:sym typeface="+mn-ea"/>
              </a:rPr>
              <a:t>平台</a:t>
            </a:r>
            <a:endParaRPr lang="en-US" altLang="zh-CN" sz="1600" b="1" dirty="0" smtClean="0">
              <a:solidFill>
                <a:schemeClr val="bg1"/>
              </a:solidFill>
              <a:latin typeface="+mn-ea"/>
              <a:sym typeface="+mn-ea"/>
            </a:endParaRPr>
          </a:p>
          <a:p>
            <a:pPr algn="ctr"/>
            <a:r>
              <a:rPr lang="zh-CN" altLang="en-US" sz="1600" b="1" dirty="0" smtClean="0">
                <a:solidFill>
                  <a:schemeClr val="bg1"/>
                </a:solidFill>
                <a:latin typeface="+mn-ea"/>
                <a:sym typeface="+mn-ea"/>
              </a:rPr>
              <a:t>（</a:t>
            </a:r>
            <a:r>
              <a:rPr lang="zh-CN" altLang="en-US" sz="1600" b="1" dirty="0" smtClean="0">
                <a:solidFill>
                  <a:schemeClr val="bg1"/>
                </a:solidFill>
                <a:latin typeface="楷体_GB2312" panose="02010609030101010101" pitchFamily="49" charset="-122"/>
                <a:ea typeface="楷体_GB2312" panose="02010609030101010101" pitchFamily="49" charset="-122"/>
                <a:sym typeface="+mn-ea"/>
              </a:rPr>
              <a:t>信息化支撑平台</a:t>
            </a:r>
            <a:r>
              <a:rPr lang="zh-CN" altLang="en-US" sz="1600" b="1" dirty="0" smtClean="0">
                <a:solidFill>
                  <a:schemeClr val="bg1"/>
                </a:solidFill>
                <a:latin typeface="+mn-ea"/>
                <a:sym typeface="+mn-ea"/>
              </a:rPr>
              <a:t>）</a:t>
            </a:r>
            <a:endParaRPr lang="zh-CN" altLang="en-US" sz="1600" b="1" kern="0" dirty="0">
              <a:solidFill>
                <a:schemeClr val="bg1"/>
              </a:solidFill>
              <a:latin typeface="+mn-ea"/>
              <a:sym typeface="+mn-ea"/>
            </a:endParaRPr>
          </a:p>
        </p:txBody>
      </p:sp>
      <p:sp>
        <p:nvSpPr>
          <p:cNvPr id="133" name="同侧圆角矩形 132"/>
          <p:cNvSpPr/>
          <p:nvPr/>
        </p:nvSpPr>
        <p:spPr>
          <a:xfrm>
            <a:off x="292124" y="2738379"/>
            <a:ext cx="759460" cy="2176780"/>
          </a:xfrm>
          <a:prstGeom prst="round2SameRect">
            <a:avLst>
              <a:gd name="adj1" fmla="val 16667"/>
              <a:gd name="adj2" fmla="val 7230"/>
            </a:avLst>
          </a:prstGeom>
          <a:noFill/>
          <a:ln>
            <a:noFill/>
            <a:prstDash val="dash"/>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chemeClr val="bg1"/>
                </a:solidFill>
              </a14:hiddenFill>
            </a:ext>
          </a:extLst>
        </p:spPr>
        <p:txBody>
          <a:bodyPr vert="eaVert" wrap="square" rtlCol="0" anchor="ctr">
            <a:noAutofit/>
          </a:bodyPr>
          <a:lstStyle/>
          <a:p>
            <a:pPr algn="ctr"/>
            <a:r>
              <a:rPr lang="zh-CN" altLang="en-US" sz="1600" dirty="0">
                <a:solidFill>
                  <a:schemeClr val="bg2">
                    <a:lumMod val="25000"/>
                  </a:schemeClr>
                </a:solidFill>
                <a:latin typeface="方正小标宋简体" panose="03000509000000000000" pitchFamily="65" charset="-122"/>
                <a:ea typeface="方正小标宋简体" panose="03000509000000000000" pitchFamily="65" charset="-122"/>
              </a:rPr>
              <a:t>动省创发院高质量发展</a:t>
            </a:r>
            <a:endParaRPr lang="zh-CN" altLang="en-US" sz="1600" dirty="0">
              <a:solidFill>
                <a:schemeClr val="bg2">
                  <a:lumMod val="25000"/>
                </a:schemeClr>
              </a:solidFill>
              <a:latin typeface="方正小标宋简体" panose="03000509000000000000" pitchFamily="65" charset="-122"/>
              <a:ea typeface="方正小标宋简体" panose="03000509000000000000" pitchFamily="65" charset="-122"/>
            </a:endParaRPr>
          </a:p>
          <a:p>
            <a:pPr algn="ctr"/>
            <a:r>
              <a:rPr lang="zh-CN" altLang="en-US" sz="1600" dirty="0" smtClean="0">
                <a:solidFill>
                  <a:schemeClr val="bg2">
                    <a:lumMod val="25000"/>
                  </a:schemeClr>
                </a:solidFill>
                <a:latin typeface="方正小标宋简体" panose="03000509000000000000" pitchFamily="65" charset="-122"/>
                <a:ea typeface="方正小标宋简体" panose="03000509000000000000" pitchFamily="65" charset="-122"/>
              </a:rPr>
              <a:t>科技</a:t>
            </a:r>
            <a:r>
              <a:rPr lang="zh-CN" altLang="en-US" sz="1600" dirty="0">
                <a:solidFill>
                  <a:schemeClr val="bg2">
                    <a:lumMod val="25000"/>
                  </a:schemeClr>
                </a:solidFill>
                <a:latin typeface="方正小标宋简体" panose="03000509000000000000" pitchFamily="65" charset="-122"/>
                <a:ea typeface="方正小标宋简体" panose="03000509000000000000" pitchFamily="65" charset="-122"/>
              </a:rPr>
              <a:t>创新与产业融合</a:t>
            </a:r>
            <a:r>
              <a:rPr lang="zh-CN" altLang="en-US" sz="1600" dirty="0" smtClean="0">
                <a:solidFill>
                  <a:schemeClr val="bg2">
                    <a:lumMod val="25000"/>
                  </a:schemeClr>
                </a:solidFill>
                <a:latin typeface="方正小标宋简体" panose="03000509000000000000" pitchFamily="65" charset="-122"/>
                <a:ea typeface="方正小标宋简体" panose="03000509000000000000" pitchFamily="65" charset="-122"/>
              </a:rPr>
              <a:t>推</a:t>
            </a:r>
            <a:endParaRPr lang="en-US" altLang="zh-CN" sz="1600" dirty="0" smtClean="0">
              <a:solidFill>
                <a:schemeClr val="bg2">
                  <a:lumMod val="25000"/>
                </a:schemeClr>
              </a:solidFill>
              <a:latin typeface="方正小标宋简体" panose="03000509000000000000" pitchFamily="65" charset="-122"/>
              <a:ea typeface="方正小标宋简体" panose="03000509000000000000" pitchFamily="65" charset="-122"/>
            </a:endParaRPr>
          </a:p>
        </p:txBody>
      </p:sp>
      <p:pic>
        <p:nvPicPr>
          <p:cNvPr id="151" name="图片 150"/>
          <p:cNvPicPr>
            <a:picLocks noChangeAspect="1"/>
          </p:cNvPicPr>
          <p:nvPr/>
        </p:nvPicPr>
        <p:blipFill>
          <a:blip r:embed="rId11">
            <a:clrChange>
              <a:clrFrom>
                <a:srgbClr val="FFFFFF">
                  <a:alpha val="100000"/>
                </a:srgbClr>
              </a:clrFrom>
              <a:clrTo>
                <a:srgbClr val="FFFFFF">
                  <a:alpha val="100000"/>
                  <a:alpha val="0"/>
                </a:srgbClr>
              </a:clrTo>
            </a:clrChange>
          </a:blip>
          <a:stretch>
            <a:fillRect/>
          </a:stretch>
        </p:blipFill>
        <p:spPr>
          <a:xfrm rot="10800000">
            <a:off x="378460" y="5988685"/>
            <a:ext cx="10755630" cy="953770"/>
          </a:xfrm>
          <a:prstGeom prst="rect">
            <a:avLst/>
          </a:prstGeom>
        </p:spPr>
      </p:pic>
      <p:sp>
        <p:nvSpPr>
          <p:cNvPr id="134" name="矩形 133"/>
          <p:cNvSpPr/>
          <p:nvPr/>
        </p:nvSpPr>
        <p:spPr>
          <a:xfrm>
            <a:off x="1285240" y="6448425"/>
            <a:ext cx="10754360" cy="337185"/>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en-US" sz="1600" b="1" dirty="0" smtClean="0">
                <a:solidFill>
                  <a:schemeClr val="bg1"/>
                </a:solidFill>
                <a:latin typeface="+mn-ea"/>
                <a:sym typeface="+mn-ea"/>
              </a:rPr>
              <a:t>数据资源底座</a:t>
            </a:r>
            <a:endParaRPr lang="zh-CN" altLang="en-US" sz="1600" b="1" kern="0" dirty="0">
              <a:solidFill>
                <a:schemeClr val="bg1"/>
              </a:solidFill>
              <a:latin typeface="+mn-ea"/>
              <a:sym typeface="+mn-ea"/>
            </a:endParaRPr>
          </a:p>
        </p:txBody>
      </p:sp>
      <p:sp>
        <p:nvSpPr>
          <p:cNvPr id="135" name="矩形 134"/>
          <p:cNvSpPr/>
          <p:nvPr/>
        </p:nvSpPr>
        <p:spPr>
          <a:xfrm>
            <a:off x="5666105" y="5326380"/>
            <a:ext cx="1705610" cy="627380"/>
          </a:xfrm>
          <a:prstGeom prst="rect">
            <a:avLst/>
          </a:prstGeom>
        </p:spPr>
        <p:style>
          <a:lnRef idx="2">
            <a:schemeClr val="accent1"/>
          </a:lnRef>
          <a:fillRef idx="1">
            <a:schemeClr val="lt1"/>
          </a:fillRef>
          <a:effectRef idx="0">
            <a:schemeClr val="accent1"/>
          </a:effectRef>
          <a:fontRef idx="minor">
            <a:schemeClr val="dk1"/>
          </a:fontRef>
        </p:style>
        <p:txBody>
          <a:bodyPr wrap="square" anchor="ctr" anchorCtr="1">
            <a:noAutofit/>
          </a:bodyPr>
          <a:lstStyle/>
          <a:p>
            <a:pPr algn="ctr"/>
            <a:r>
              <a:rPr lang="zh-CN" altLang="en-US" sz="1400" b="1" dirty="0" smtClean="0">
                <a:solidFill>
                  <a:schemeClr val="bg2">
                    <a:lumMod val="25000"/>
                  </a:schemeClr>
                </a:solidFill>
                <a:latin typeface="+mn-ea"/>
              </a:rPr>
              <a:t>山东省数据开放创新应用实验室</a:t>
            </a:r>
            <a:endParaRPr lang="zh-CN" altLang="en-US" sz="1400" b="1" dirty="0">
              <a:solidFill>
                <a:schemeClr val="bg2">
                  <a:lumMod val="25000"/>
                </a:schemeClr>
              </a:solidFill>
              <a:latin typeface="+mn-ea"/>
            </a:endParaRPr>
          </a:p>
        </p:txBody>
      </p:sp>
      <p:sp>
        <p:nvSpPr>
          <p:cNvPr id="136" name="矩形 135"/>
          <p:cNvSpPr/>
          <p:nvPr/>
        </p:nvSpPr>
        <p:spPr>
          <a:xfrm>
            <a:off x="2576867" y="5893292"/>
            <a:ext cx="1906356" cy="261610"/>
          </a:xfrm>
          <a:prstGeom prst="rect">
            <a:avLst/>
          </a:prstGeom>
        </p:spPr>
        <p:style>
          <a:lnRef idx="2">
            <a:schemeClr val="accent1"/>
          </a:lnRef>
          <a:fillRef idx="1">
            <a:schemeClr val="lt1"/>
          </a:fillRef>
          <a:effectRef idx="0">
            <a:schemeClr val="accent1"/>
          </a:effectRef>
          <a:fontRef idx="minor">
            <a:schemeClr val="dk1"/>
          </a:fontRef>
        </p:style>
        <p:txBody>
          <a:bodyPr wrap="square" anchor="ctr" anchorCtr="1">
            <a:spAutoFit/>
          </a:bodyPr>
          <a:lstStyle/>
          <a:p>
            <a:pPr algn="just">
              <a:spcAft>
                <a:spcPts val="0"/>
              </a:spcAft>
            </a:pPr>
            <a:r>
              <a:rPr lang="zh-CN" altLang="en-US" sz="1100" b="1" dirty="0">
                <a:solidFill>
                  <a:schemeClr val="bg2">
                    <a:lumMod val="25000"/>
                  </a:schemeClr>
                </a:solidFill>
                <a:latin typeface="+mn-ea"/>
              </a:rPr>
              <a:t>山东</a:t>
            </a:r>
            <a:r>
              <a:rPr lang="zh-CN" altLang="en-US" sz="1100" b="1" dirty="0" smtClean="0">
                <a:solidFill>
                  <a:schemeClr val="bg2">
                    <a:lumMod val="25000"/>
                  </a:schemeClr>
                </a:solidFill>
                <a:latin typeface="+mn-ea"/>
              </a:rPr>
              <a:t>科技大市场线上平台</a:t>
            </a:r>
            <a:endParaRPr lang="zh-CN" altLang="zh-CN" sz="1100" b="1" dirty="0">
              <a:solidFill>
                <a:schemeClr val="bg2">
                  <a:lumMod val="25000"/>
                </a:schemeClr>
              </a:solidFill>
              <a:latin typeface="+mn-ea"/>
            </a:endParaRPr>
          </a:p>
        </p:txBody>
      </p:sp>
      <p:sp>
        <p:nvSpPr>
          <p:cNvPr id="137" name="矩形 136"/>
          <p:cNvSpPr/>
          <p:nvPr/>
        </p:nvSpPr>
        <p:spPr>
          <a:xfrm>
            <a:off x="3681544" y="6176742"/>
            <a:ext cx="1653935" cy="261610"/>
          </a:xfrm>
          <a:prstGeom prst="rect">
            <a:avLst/>
          </a:prstGeom>
        </p:spPr>
        <p:style>
          <a:lnRef idx="2">
            <a:schemeClr val="accent1"/>
          </a:lnRef>
          <a:fillRef idx="1">
            <a:schemeClr val="lt1"/>
          </a:fillRef>
          <a:effectRef idx="0">
            <a:schemeClr val="accent1"/>
          </a:effectRef>
          <a:fontRef idx="minor">
            <a:schemeClr val="dk1"/>
          </a:fontRef>
        </p:style>
        <p:txBody>
          <a:bodyPr wrap="square" anchor="ctr" anchorCtr="1">
            <a:spAutoFit/>
          </a:bodyPr>
          <a:lstStyle/>
          <a:p>
            <a:pPr algn="just">
              <a:spcAft>
                <a:spcPts val="0"/>
              </a:spcAft>
            </a:pPr>
            <a:r>
              <a:rPr lang="zh-CN" altLang="en-US" sz="1100" b="1" dirty="0" smtClean="0">
                <a:solidFill>
                  <a:schemeClr val="bg2">
                    <a:lumMod val="25000"/>
                  </a:schemeClr>
                </a:solidFill>
                <a:latin typeface="+mn-ea"/>
              </a:rPr>
              <a:t>科技统计数据服务平台</a:t>
            </a:r>
            <a:endParaRPr lang="zh-CN" altLang="zh-CN" sz="1100" b="1" dirty="0">
              <a:solidFill>
                <a:schemeClr val="bg2">
                  <a:lumMod val="25000"/>
                </a:schemeClr>
              </a:solidFill>
              <a:latin typeface="+mn-ea"/>
            </a:endParaRPr>
          </a:p>
        </p:txBody>
      </p:sp>
      <p:sp>
        <p:nvSpPr>
          <p:cNvPr id="138" name="矩形 137"/>
          <p:cNvSpPr/>
          <p:nvPr/>
        </p:nvSpPr>
        <p:spPr>
          <a:xfrm>
            <a:off x="1768998" y="6182298"/>
            <a:ext cx="1614805" cy="260350"/>
          </a:xfrm>
          <a:prstGeom prst="rect">
            <a:avLst/>
          </a:prstGeom>
        </p:spPr>
        <p:style>
          <a:lnRef idx="2">
            <a:schemeClr val="accent1"/>
          </a:lnRef>
          <a:fillRef idx="1">
            <a:schemeClr val="lt1"/>
          </a:fillRef>
          <a:effectRef idx="0">
            <a:schemeClr val="accent1"/>
          </a:effectRef>
          <a:fontRef idx="minor">
            <a:schemeClr val="dk1"/>
          </a:fontRef>
        </p:style>
        <p:txBody>
          <a:bodyPr wrap="square" anchor="ctr" anchorCtr="1">
            <a:spAutoFit/>
          </a:bodyPr>
          <a:lstStyle/>
          <a:p>
            <a:pPr algn="just">
              <a:spcAft>
                <a:spcPts val="0"/>
              </a:spcAft>
            </a:pPr>
            <a:r>
              <a:rPr lang="zh-CN" altLang="en-US" sz="1100" b="1" dirty="0" smtClean="0">
                <a:solidFill>
                  <a:schemeClr val="bg2">
                    <a:lumMod val="25000"/>
                  </a:schemeClr>
                </a:solidFill>
                <a:latin typeface="+mn-ea"/>
              </a:rPr>
              <a:t>图谱公共服务平台</a:t>
            </a:r>
            <a:endParaRPr lang="zh-CN" altLang="zh-CN" sz="1100" b="1" dirty="0">
              <a:solidFill>
                <a:schemeClr val="bg2">
                  <a:lumMod val="25000"/>
                </a:schemeClr>
              </a:solidFill>
              <a:latin typeface="+mn-ea"/>
            </a:endParaRPr>
          </a:p>
        </p:txBody>
      </p:sp>
      <p:sp>
        <p:nvSpPr>
          <p:cNvPr id="140" name="矩形 139"/>
          <p:cNvSpPr/>
          <p:nvPr/>
        </p:nvSpPr>
        <p:spPr>
          <a:xfrm>
            <a:off x="8168640" y="5269033"/>
            <a:ext cx="3461108" cy="584775"/>
          </a:xfrm>
          <a:prstGeom prst="rect">
            <a:avLst/>
          </a:prstGeom>
        </p:spPr>
        <p:style>
          <a:lnRef idx="0">
            <a:schemeClr val="accent1"/>
          </a:lnRef>
          <a:fillRef idx="3">
            <a:schemeClr val="accent1"/>
          </a:fillRef>
          <a:effectRef idx="3">
            <a:schemeClr val="accent1"/>
          </a:effectRef>
          <a:fontRef idx="minor">
            <a:schemeClr val="lt1"/>
          </a:fontRef>
        </p:style>
        <p:txBody>
          <a:bodyPr wrap="square" anchor="ctr" anchorCtr="1">
            <a:spAutoFit/>
          </a:bodyPr>
          <a:lstStyle/>
          <a:p>
            <a:pPr algn="ctr"/>
            <a:r>
              <a:rPr lang="zh-CN" altLang="en-US" sz="1600" b="1" dirty="0" smtClean="0">
                <a:solidFill>
                  <a:schemeClr val="bg1"/>
                </a:solidFill>
              </a:rPr>
              <a:t>   人工智能</a:t>
            </a:r>
            <a:r>
              <a:rPr lang="zh-CN" altLang="en-US" sz="1600" b="1" dirty="0">
                <a:solidFill>
                  <a:schemeClr val="bg1"/>
                </a:solidFill>
              </a:rPr>
              <a:t>创新</a:t>
            </a:r>
            <a:r>
              <a:rPr lang="zh-CN" altLang="en-US" sz="1600" b="1" dirty="0" smtClean="0">
                <a:solidFill>
                  <a:schemeClr val="bg1"/>
                </a:solidFill>
              </a:rPr>
              <a:t>中心</a:t>
            </a:r>
            <a:endParaRPr lang="en-US" altLang="zh-CN" sz="1600" b="1" dirty="0" smtClean="0">
              <a:solidFill>
                <a:schemeClr val="bg1"/>
              </a:solidFill>
            </a:endParaRPr>
          </a:p>
          <a:p>
            <a:pPr algn="ctr"/>
            <a:r>
              <a:rPr lang="zh-CN" altLang="en-US" sz="1600" b="1" dirty="0" smtClean="0">
                <a:solidFill>
                  <a:schemeClr val="bg1"/>
                </a:solidFill>
              </a:rPr>
              <a:t>（</a:t>
            </a:r>
            <a:r>
              <a:rPr lang="zh-CN" altLang="en-US" sz="1400" b="1" dirty="0" smtClean="0">
                <a:solidFill>
                  <a:schemeClr val="bg1"/>
                </a:solidFill>
                <a:latin typeface="楷体_GB2312" panose="02010609030101010101" pitchFamily="49" charset="-122"/>
                <a:ea typeface="楷体_GB2312" panose="02010609030101010101" pitchFamily="49" charset="-122"/>
              </a:rPr>
              <a:t>人工智能</a:t>
            </a:r>
            <a:r>
              <a:rPr lang="en-US" altLang="zh-CN" sz="1400" b="1" dirty="0" smtClean="0">
                <a:solidFill>
                  <a:schemeClr val="bg1"/>
                </a:solidFill>
                <a:latin typeface="楷体_GB2312" panose="02010609030101010101" pitchFamily="49" charset="-122"/>
                <a:ea typeface="楷体_GB2312" panose="02010609030101010101" pitchFamily="49" charset="-122"/>
              </a:rPr>
              <a:t>+</a:t>
            </a:r>
            <a:r>
              <a:rPr lang="zh-CN" altLang="en-US" sz="1600" b="1" dirty="0" smtClean="0">
                <a:solidFill>
                  <a:schemeClr val="bg1"/>
                </a:solidFill>
              </a:rPr>
              <a:t>）</a:t>
            </a:r>
            <a:endParaRPr lang="zh-CN" altLang="en-US" sz="1600" b="1" dirty="0">
              <a:solidFill>
                <a:schemeClr val="bg1"/>
              </a:solidFill>
            </a:endParaRPr>
          </a:p>
        </p:txBody>
      </p:sp>
      <p:sp>
        <p:nvSpPr>
          <p:cNvPr id="141" name="矩形 140"/>
          <p:cNvSpPr/>
          <p:nvPr/>
        </p:nvSpPr>
        <p:spPr>
          <a:xfrm>
            <a:off x="8470481" y="5858306"/>
            <a:ext cx="1206179" cy="276999"/>
          </a:xfrm>
          <a:prstGeom prst="rect">
            <a:avLst/>
          </a:prstGeom>
        </p:spPr>
        <p:style>
          <a:lnRef idx="2">
            <a:schemeClr val="accent1"/>
          </a:lnRef>
          <a:fillRef idx="1">
            <a:schemeClr val="lt1"/>
          </a:fillRef>
          <a:effectRef idx="0">
            <a:schemeClr val="accent1"/>
          </a:effectRef>
          <a:fontRef idx="minor">
            <a:schemeClr val="dk1"/>
          </a:fontRef>
        </p:style>
        <p:txBody>
          <a:bodyPr wrap="square" anchor="ctr" anchorCtr="1">
            <a:spAutoFit/>
          </a:bodyPr>
          <a:lstStyle/>
          <a:p>
            <a:pPr algn="just">
              <a:spcAft>
                <a:spcPts val="0"/>
              </a:spcAft>
            </a:pPr>
            <a:r>
              <a:rPr lang="zh-CN" altLang="en-US" sz="1200" b="1" dirty="0" smtClean="0">
                <a:solidFill>
                  <a:schemeClr val="bg2">
                    <a:lumMod val="25000"/>
                  </a:schemeClr>
                </a:solidFill>
                <a:latin typeface="+mn-ea"/>
              </a:rPr>
              <a:t>战略决策模型</a:t>
            </a:r>
            <a:endParaRPr lang="zh-CN" altLang="zh-CN" sz="1200" b="1" dirty="0">
              <a:solidFill>
                <a:schemeClr val="bg2">
                  <a:lumMod val="25000"/>
                </a:schemeClr>
              </a:solidFill>
              <a:latin typeface="+mn-ea"/>
            </a:endParaRPr>
          </a:p>
        </p:txBody>
      </p:sp>
      <p:sp>
        <p:nvSpPr>
          <p:cNvPr id="142" name="矩形 141"/>
          <p:cNvSpPr/>
          <p:nvPr/>
        </p:nvSpPr>
        <p:spPr>
          <a:xfrm>
            <a:off x="10215659" y="5867747"/>
            <a:ext cx="1307557" cy="276999"/>
          </a:xfrm>
          <a:prstGeom prst="rect">
            <a:avLst/>
          </a:prstGeom>
        </p:spPr>
        <p:style>
          <a:lnRef idx="2">
            <a:schemeClr val="accent1"/>
          </a:lnRef>
          <a:fillRef idx="1">
            <a:schemeClr val="lt1"/>
          </a:fillRef>
          <a:effectRef idx="0">
            <a:schemeClr val="accent1"/>
          </a:effectRef>
          <a:fontRef idx="minor">
            <a:schemeClr val="dk1"/>
          </a:fontRef>
        </p:style>
        <p:txBody>
          <a:bodyPr wrap="square" anchor="b" anchorCtr="1">
            <a:spAutoFit/>
          </a:bodyPr>
          <a:lstStyle/>
          <a:p>
            <a:pPr algn="just">
              <a:spcAft>
                <a:spcPts val="0"/>
              </a:spcAft>
            </a:pPr>
            <a:r>
              <a:rPr lang="zh-CN" altLang="en-US" sz="1200" b="1" dirty="0" smtClean="0">
                <a:solidFill>
                  <a:schemeClr val="bg2">
                    <a:lumMod val="25000"/>
                  </a:schemeClr>
                </a:solidFill>
                <a:latin typeface="+mn-ea"/>
              </a:rPr>
              <a:t>成果转化模型</a:t>
            </a:r>
            <a:endParaRPr lang="zh-CN" altLang="zh-CN" sz="1200" b="1" dirty="0">
              <a:solidFill>
                <a:schemeClr val="bg2">
                  <a:lumMod val="25000"/>
                </a:schemeClr>
              </a:solidFill>
              <a:latin typeface="+mn-ea"/>
            </a:endParaRPr>
          </a:p>
        </p:txBody>
      </p:sp>
      <p:sp>
        <p:nvSpPr>
          <p:cNvPr id="144" name="矩形 143"/>
          <p:cNvSpPr/>
          <p:nvPr/>
        </p:nvSpPr>
        <p:spPr>
          <a:xfrm>
            <a:off x="8178153" y="6165153"/>
            <a:ext cx="3464560" cy="275590"/>
          </a:xfrm>
          <a:prstGeom prst="rect">
            <a:avLst/>
          </a:prstGeom>
        </p:spPr>
        <p:style>
          <a:lnRef idx="2">
            <a:schemeClr val="accent1"/>
          </a:lnRef>
          <a:fillRef idx="1">
            <a:schemeClr val="lt1"/>
          </a:fillRef>
          <a:effectRef idx="0">
            <a:schemeClr val="accent1"/>
          </a:effectRef>
          <a:fontRef idx="minor">
            <a:schemeClr val="dk1"/>
          </a:fontRef>
        </p:style>
        <p:txBody>
          <a:bodyPr wrap="square" anchor="ctr" anchorCtr="1">
            <a:spAutoFit/>
          </a:bodyPr>
          <a:lstStyle/>
          <a:p>
            <a:pPr algn="just">
              <a:spcAft>
                <a:spcPts val="0"/>
              </a:spcAft>
            </a:pPr>
            <a:r>
              <a:rPr lang="zh-CN" altLang="en-US" sz="1200" b="1" dirty="0">
                <a:solidFill>
                  <a:schemeClr val="bg2">
                    <a:lumMod val="25000"/>
                  </a:schemeClr>
                </a:solidFill>
                <a:latin typeface="+mn-ea"/>
              </a:rPr>
              <a:t>行</a:t>
            </a:r>
            <a:r>
              <a:rPr lang="zh-CN" altLang="en-US" sz="1200" b="1" dirty="0" smtClean="0">
                <a:solidFill>
                  <a:schemeClr val="bg2">
                    <a:lumMod val="25000"/>
                  </a:schemeClr>
                </a:solidFill>
                <a:latin typeface="+mn-ea"/>
              </a:rPr>
              <a:t>业模型</a:t>
            </a:r>
            <a:r>
              <a:rPr lang="zh-CN" altLang="en-US" sz="1000" b="1" dirty="0">
                <a:solidFill>
                  <a:schemeClr val="bg2">
                    <a:lumMod val="25000"/>
                  </a:schemeClr>
                </a:solidFill>
                <a:latin typeface="+mn-ea"/>
              </a:rPr>
              <a:t>（高端装备</a:t>
            </a:r>
            <a:r>
              <a:rPr lang="zh-CN" altLang="en-US" sz="1000" b="1" dirty="0" smtClean="0">
                <a:solidFill>
                  <a:schemeClr val="bg2">
                    <a:lumMod val="25000"/>
                  </a:schemeClr>
                </a:solidFill>
                <a:latin typeface="+mn-ea"/>
              </a:rPr>
              <a:t>制造 生物医药 新一代信息技术）</a:t>
            </a:r>
            <a:endParaRPr lang="zh-CN" altLang="zh-CN" sz="1000" b="1" dirty="0">
              <a:solidFill>
                <a:schemeClr val="bg2">
                  <a:lumMod val="25000"/>
                </a:schemeClr>
              </a:solidFill>
              <a:latin typeface="+mn-ea"/>
            </a:endParaRPr>
          </a:p>
        </p:txBody>
      </p:sp>
      <p:cxnSp>
        <p:nvCxnSpPr>
          <p:cNvPr id="153" name="直接箭头连接符 152"/>
          <p:cNvCxnSpPr/>
          <p:nvPr/>
        </p:nvCxnSpPr>
        <p:spPr>
          <a:xfrm>
            <a:off x="4572000" y="2228295"/>
            <a:ext cx="0" cy="332025"/>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7" name="直接箭头连接符 156"/>
          <p:cNvCxnSpPr/>
          <p:nvPr/>
        </p:nvCxnSpPr>
        <p:spPr>
          <a:xfrm flipH="1">
            <a:off x="2743200" y="2166151"/>
            <a:ext cx="1" cy="31959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9" name="直接箭头连接符 158"/>
          <p:cNvCxnSpPr/>
          <p:nvPr/>
        </p:nvCxnSpPr>
        <p:spPr>
          <a:xfrm>
            <a:off x="7789490" y="2263806"/>
            <a:ext cx="1" cy="3462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61" name="下箭头 160"/>
          <p:cNvSpPr/>
          <p:nvPr/>
        </p:nvSpPr>
        <p:spPr>
          <a:xfrm rot="10800000" flipV="1">
            <a:off x="10847705" y="2159001"/>
            <a:ext cx="165710" cy="430838"/>
          </a:xfrm>
          <a:prstGeom prst="downArrow">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noAutofit/>
          </a:bodyPr>
          <a:lstStyle/>
          <a:p>
            <a:pPr algn="ctr"/>
            <a:endParaRPr lang="zh-CN" altLang="en-US" dirty="0" smtClean="0"/>
          </a:p>
        </p:txBody>
      </p:sp>
      <p:sp>
        <p:nvSpPr>
          <p:cNvPr id="162" name="矩形 161"/>
          <p:cNvSpPr/>
          <p:nvPr/>
        </p:nvSpPr>
        <p:spPr>
          <a:xfrm>
            <a:off x="10217761" y="2618913"/>
            <a:ext cx="1465253" cy="2477795"/>
          </a:xfrm>
          <a:prstGeom prst="rect">
            <a:avLst/>
          </a:prstGeom>
        </p:spPr>
        <p:style>
          <a:lnRef idx="2">
            <a:schemeClr val="accent1"/>
          </a:lnRef>
          <a:fillRef idx="0">
            <a:srgbClr val="FFFFFF"/>
          </a:fillRef>
          <a:effectRef idx="0">
            <a:srgbClr val="FFFFFF"/>
          </a:effectRef>
          <a:fontRef idx="minor">
            <a:schemeClr val="tx1"/>
          </a:fontRef>
        </p:style>
        <p:txBody>
          <a:bodyPr wrap="square">
            <a:spAutoFit/>
          </a:bodyPr>
          <a:lstStyle/>
          <a:p>
            <a:endParaRPr lang="zh-CN" altLang="en-US" dirty="0" smtClean="0"/>
          </a:p>
        </p:txBody>
      </p:sp>
      <p:sp>
        <p:nvSpPr>
          <p:cNvPr id="168" name="左右箭头 167"/>
          <p:cNvSpPr/>
          <p:nvPr/>
        </p:nvSpPr>
        <p:spPr>
          <a:xfrm>
            <a:off x="3426460" y="1757045"/>
            <a:ext cx="500380" cy="154940"/>
          </a:xfrm>
          <a:prstGeom prst="leftRightArrow">
            <a:avLst/>
          </a:prstGeom>
        </p:spPr>
        <p:style>
          <a:lnRef idx="2">
            <a:schemeClr val="accent1"/>
          </a:lnRef>
          <a:fillRef idx="0">
            <a:srgbClr val="FFFFFF"/>
          </a:fillRef>
          <a:effectRef idx="0">
            <a:srgbClr val="FFFFFF"/>
          </a:effectRef>
          <a:fontRef idx="minor">
            <a:schemeClr val="tx1"/>
          </a:fontRef>
        </p:style>
        <p:txBody>
          <a:bodyPr wrap="none">
            <a:noAutofit/>
          </a:bodyPr>
          <a:lstStyle/>
          <a:p>
            <a:endParaRPr lang="zh-CN" altLang="en-US" dirty="0" smtClean="0"/>
          </a:p>
        </p:txBody>
      </p:sp>
      <p:sp>
        <p:nvSpPr>
          <p:cNvPr id="169" name="左右箭头 168"/>
          <p:cNvSpPr/>
          <p:nvPr/>
        </p:nvSpPr>
        <p:spPr>
          <a:xfrm>
            <a:off x="5234305" y="1757045"/>
            <a:ext cx="500380" cy="154940"/>
          </a:xfrm>
          <a:prstGeom prst="leftRightArrow">
            <a:avLst/>
          </a:prstGeom>
        </p:spPr>
        <p:style>
          <a:lnRef idx="2">
            <a:schemeClr val="accent1"/>
          </a:lnRef>
          <a:fillRef idx="0">
            <a:srgbClr val="FFFFFF"/>
          </a:fillRef>
          <a:effectRef idx="0">
            <a:srgbClr val="FFFFFF"/>
          </a:effectRef>
          <a:fontRef idx="minor">
            <a:schemeClr val="tx1"/>
          </a:fontRef>
        </p:style>
        <p:txBody>
          <a:bodyPr wrap="none">
            <a:noAutofit/>
          </a:bodyPr>
          <a:lstStyle/>
          <a:p>
            <a:endParaRPr lang="zh-CN" altLang="en-US" dirty="0" smtClean="0"/>
          </a:p>
        </p:txBody>
      </p:sp>
      <p:sp>
        <p:nvSpPr>
          <p:cNvPr id="170" name="左右箭头 169"/>
          <p:cNvSpPr/>
          <p:nvPr/>
        </p:nvSpPr>
        <p:spPr>
          <a:xfrm>
            <a:off x="9670243" y="1668268"/>
            <a:ext cx="500380" cy="154940"/>
          </a:xfrm>
          <a:prstGeom prst="leftRightArrow">
            <a:avLst/>
          </a:prstGeom>
        </p:spPr>
        <p:style>
          <a:lnRef idx="2">
            <a:schemeClr val="accent1"/>
          </a:lnRef>
          <a:fillRef idx="0">
            <a:srgbClr val="FFFFFF"/>
          </a:fillRef>
          <a:effectRef idx="0">
            <a:srgbClr val="FFFFFF"/>
          </a:effectRef>
          <a:fontRef idx="minor">
            <a:schemeClr val="tx1"/>
          </a:fontRef>
        </p:style>
        <p:txBody>
          <a:bodyPr wrap="none">
            <a:noAutofit/>
          </a:bodyPr>
          <a:lstStyle/>
          <a:p>
            <a:endParaRPr lang="zh-CN" altLang="en-US" dirty="0" smtClean="0"/>
          </a:p>
        </p:txBody>
      </p:sp>
      <p:sp>
        <p:nvSpPr>
          <p:cNvPr id="5" name="上下箭头 4"/>
          <p:cNvSpPr/>
          <p:nvPr/>
        </p:nvSpPr>
        <p:spPr>
          <a:xfrm>
            <a:off x="6409677" y="6001304"/>
            <a:ext cx="239697" cy="408373"/>
          </a:xfrm>
          <a:prstGeom prst="upDownArrow">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endParaRPr lang="zh-CN" altLang="en-US" dirty="0" smtClean="0"/>
          </a:p>
        </p:txBody>
      </p:sp>
      <p:sp>
        <p:nvSpPr>
          <p:cNvPr id="96" name="上下箭头 95"/>
          <p:cNvSpPr/>
          <p:nvPr/>
        </p:nvSpPr>
        <p:spPr>
          <a:xfrm rot="5400000">
            <a:off x="5203795" y="5301448"/>
            <a:ext cx="220462" cy="415771"/>
          </a:xfrm>
          <a:prstGeom prst="upDownArrow">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endParaRPr lang="zh-CN" altLang="en-US" dirty="0" smtClean="0"/>
          </a:p>
        </p:txBody>
      </p:sp>
      <p:sp>
        <p:nvSpPr>
          <p:cNvPr id="97" name="上下箭头 96"/>
          <p:cNvSpPr/>
          <p:nvPr/>
        </p:nvSpPr>
        <p:spPr>
          <a:xfrm rot="5400000">
            <a:off x="7602246" y="5320684"/>
            <a:ext cx="220462" cy="415771"/>
          </a:xfrm>
          <a:prstGeom prst="upDownArrow">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endParaRPr lang="zh-CN" altLang="en-US" dirty="0" smtClean="0"/>
          </a:p>
        </p:txBody>
      </p:sp>
      <p:sp>
        <p:nvSpPr>
          <p:cNvPr id="100" name="等腰三角形 99"/>
          <p:cNvSpPr/>
          <p:nvPr/>
        </p:nvSpPr>
        <p:spPr>
          <a:xfrm rot="5400000">
            <a:off x="1687692" y="1696748"/>
            <a:ext cx="422248" cy="174767"/>
          </a:xfrm>
          <a:prstGeom prst="triangle">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dash"/>
          </a:ln>
        </p:spPr>
        <p:txBody>
          <a:bodyPr wrap="square" rtlCol="0" anchor="ctr">
            <a:spAutoFit/>
          </a:bodyPr>
          <a:lstStyle/>
          <a:p>
            <a:pPr algn="ctr"/>
            <a:endParaRPr lang="zh-CN" altLang="en-US" dirty="0" smtClean="0"/>
          </a:p>
        </p:txBody>
      </p:sp>
      <p:sp>
        <p:nvSpPr>
          <p:cNvPr id="101" name="等腰三角形 100"/>
          <p:cNvSpPr/>
          <p:nvPr/>
        </p:nvSpPr>
        <p:spPr>
          <a:xfrm rot="5400000">
            <a:off x="1206918" y="5773962"/>
            <a:ext cx="471153" cy="186400"/>
          </a:xfrm>
          <a:prstGeom prst="triangle">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dash"/>
          </a:ln>
        </p:spPr>
        <p:txBody>
          <a:bodyPr wrap="square" rtlCol="0" anchor="ctr">
            <a:spAutoFit/>
          </a:bodyPr>
          <a:lstStyle/>
          <a:p>
            <a:pPr algn="ctr"/>
            <a:endParaRPr lang="zh-CN" altLang="en-US" dirty="0" smtClean="0"/>
          </a:p>
        </p:txBody>
      </p:sp>
      <p:sp>
        <p:nvSpPr>
          <p:cNvPr id="102" name="矩形 101"/>
          <p:cNvSpPr/>
          <p:nvPr/>
        </p:nvSpPr>
        <p:spPr>
          <a:xfrm>
            <a:off x="3962964" y="2604130"/>
            <a:ext cx="1225018" cy="307777"/>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pPr algn="ctr"/>
            <a:r>
              <a:rPr lang="zh-CN" altLang="en-US" sz="1400" b="1" dirty="0" smtClean="0">
                <a:solidFill>
                  <a:schemeClr val="bg1"/>
                </a:solidFill>
                <a:latin typeface="Alibaba PuHuiTi 2.0 55" pitchFamily="18" charset="-122"/>
                <a:ea typeface="Alibaba PuHuiTi 2.0 55" pitchFamily="18" charset="-122"/>
              </a:rPr>
              <a:t>“三协同”</a:t>
            </a:r>
            <a:endParaRPr lang="en-US" altLang="zh-CN" sz="1400" b="1" dirty="0">
              <a:solidFill>
                <a:schemeClr val="bg1"/>
              </a:solidFill>
              <a:latin typeface="Alibaba PuHuiTi 2.0 55" pitchFamily="18" charset="-122"/>
              <a:ea typeface="Alibaba PuHuiTi 2.0 55" pitchFamily="18" charset="-122"/>
            </a:endParaRPr>
          </a:p>
        </p:txBody>
      </p:sp>
      <p:sp>
        <p:nvSpPr>
          <p:cNvPr id="105" name="矩形 104"/>
          <p:cNvSpPr/>
          <p:nvPr/>
        </p:nvSpPr>
        <p:spPr>
          <a:xfrm>
            <a:off x="3716839" y="2898528"/>
            <a:ext cx="1754357" cy="430887"/>
          </a:xfrm>
          <a:prstGeom prst="rect">
            <a:avLst/>
          </a:prstGeom>
          <a:ln>
            <a:prstDash val="lgDashDotDot"/>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100" b="1" dirty="0" smtClean="0">
                <a:solidFill>
                  <a:schemeClr val="bg2">
                    <a:lumMod val="25000"/>
                  </a:schemeClr>
                </a:solidFill>
              </a:rPr>
              <a:t>人员协同、业务协同、考核协同</a:t>
            </a:r>
            <a:endParaRPr lang="zh-CN" altLang="en-US" sz="1100" b="1" dirty="0">
              <a:solidFill>
                <a:schemeClr val="bg2">
                  <a:lumMod val="25000"/>
                </a:schemeClr>
              </a:solidFill>
            </a:endParaRPr>
          </a:p>
        </p:txBody>
      </p:sp>
      <p:sp>
        <p:nvSpPr>
          <p:cNvPr id="106" name="矩形 105"/>
          <p:cNvSpPr/>
          <p:nvPr/>
        </p:nvSpPr>
        <p:spPr>
          <a:xfrm>
            <a:off x="3785307" y="4398529"/>
            <a:ext cx="1727725" cy="2769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200" b="1" dirty="0">
                <a:solidFill>
                  <a:schemeClr val="bg2">
                    <a:lumMod val="25000"/>
                  </a:schemeClr>
                </a:solidFill>
                <a:latin typeface="+mn-ea"/>
                <a:sym typeface="+mn-ea"/>
              </a:rPr>
              <a:t>科技</a:t>
            </a:r>
            <a:r>
              <a:rPr lang="zh-CN" altLang="en-US" sz="1200" b="1" dirty="0" smtClean="0">
                <a:solidFill>
                  <a:schemeClr val="bg2">
                    <a:lumMod val="25000"/>
                  </a:schemeClr>
                </a:solidFill>
                <a:latin typeface="+mn-ea"/>
                <a:sym typeface="+mn-ea"/>
              </a:rPr>
              <a:t>管理支撑服务</a:t>
            </a:r>
            <a:r>
              <a:rPr lang="zh-CN" altLang="en-US" sz="1200" b="1" dirty="0">
                <a:solidFill>
                  <a:schemeClr val="bg2">
                    <a:lumMod val="25000"/>
                  </a:schemeClr>
                </a:solidFill>
                <a:latin typeface="+mn-ea"/>
                <a:sym typeface="+mn-ea"/>
              </a:rPr>
              <a:t>团队</a:t>
            </a:r>
            <a:endParaRPr lang="zh-CN" altLang="en-US" sz="1200" b="1" dirty="0">
              <a:solidFill>
                <a:schemeClr val="bg2">
                  <a:lumMod val="25000"/>
                </a:schemeClr>
              </a:solidFill>
              <a:latin typeface="+mn-ea"/>
            </a:endParaRPr>
          </a:p>
        </p:txBody>
      </p:sp>
      <p:sp>
        <p:nvSpPr>
          <p:cNvPr id="148" name="矩形 147"/>
          <p:cNvSpPr/>
          <p:nvPr/>
        </p:nvSpPr>
        <p:spPr>
          <a:xfrm>
            <a:off x="1731145" y="4403780"/>
            <a:ext cx="1873189" cy="2769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200" b="1" dirty="0" smtClean="0">
                <a:solidFill>
                  <a:schemeClr val="bg2">
                    <a:lumMod val="25000"/>
                  </a:schemeClr>
                </a:solidFill>
                <a:latin typeface="+mn-ea"/>
              </a:rPr>
              <a:t>融合示范基地</a:t>
            </a:r>
            <a:endParaRPr lang="en-US" altLang="zh-CN" sz="1200" b="1" dirty="0" smtClean="0">
              <a:solidFill>
                <a:schemeClr val="bg2">
                  <a:lumMod val="25000"/>
                </a:schemeClr>
              </a:solidFill>
              <a:latin typeface="+mn-ea"/>
            </a:endParaRPr>
          </a:p>
        </p:txBody>
      </p:sp>
      <p:grpSp>
        <p:nvGrpSpPr>
          <p:cNvPr id="24" name="组合 23"/>
          <p:cNvGrpSpPr/>
          <p:nvPr/>
        </p:nvGrpSpPr>
        <p:grpSpPr>
          <a:xfrm>
            <a:off x="5763760" y="4251658"/>
            <a:ext cx="4205863" cy="715797"/>
            <a:chOff x="5674983" y="3710120"/>
            <a:chExt cx="4205863" cy="715797"/>
          </a:xfrm>
        </p:grpSpPr>
        <p:sp>
          <p:nvSpPr>
            <p:cNvPr id="81" name="矩形 80"/>
            <p:cNvSpPr/>
            <p:nvPr/>
          </p:nvSpPr>
          <p:spPr>
            <a:xfrm>
              <a:off x="5674983" y="3710120"/>
              <a:ext cx="1411605" cy="46164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zh-CN" sz="1200" b="1" dirty="0">
                  <a:solidFill>
                    <a:schemeClr val="bg2">
                      <a:lumMod val="25000"/>
                    </a:schemeClr>
                  </a:solidFill>
                  <a:latin typeface="+mn-ea"/>
                </a:rPr>
                <a:t>科技前沿</a:t>
              </a:r>
              <a:r>
                <a:rPr lang="zh-CN" altLang="zh-CN" sz="1200" b="1" dirty="0" smtClean="0">
                  <a:solidFill>
                    <a:schemeClr val="bg2">
                      <a:lumMod val="25000"/>
                    </a:schemeClr>
                  </a:solidFill>
                  <a:latin typeface="+mn-ea"/>
                </a:rPr>
                <a:t>监测</a:t>
              </a:r>
              <a:endParaRPr lang="en-US" altLang="zh-CN" sz="1200" b="1" dirty="0" smtClean="0">
                <a:solidFill>
                  <a:schemeClr val="bg2">
                    <a:lumMod val="25000"/>
                  </a:schemeClr>
                </a:solidFill>
                <a:latin typeface="+mn-ea"/>
              </a:endParaRPr>
            </a:p>
            <a:p>
              <a:pPr algn="ctr"/>
              <a:r>
                <a:rPr lang="zh-CN" altLang="zh-CN" sz="1200" b="1" dirty="0" smtClean="0">
                  <a:solidFill>
                    <a:schemeClr val="bg2">
                      <a:lumMod val="25000"/>
                    </a:schemeClr>
                  </a:solidFill>
                  <a:latin typeface="+mn-ea"/>
                </a:rPr>
                <a:t>与预见实验室</a:t>
              </a:r>
              <a:endParaRPr lang="zh-CN" altLang="en-US" sz="1200" b="1" dirty="0">
                <a:solidFill>
                  <a:schemeClr val="bg2">
                    <a:lumMod val="25000"/>
                  </a:schemeClr>
                </a:solidFill>
                <a:latin typeface="+mn-ea"/>
              </a:endParaRPr>
            </a:p>
          </p:txBody>
        </p:sp>
        <p:sp>
          <p:nvSpPr>
            <p:cNvPr id="86" name="矩形 85"/>
            <p:cNvSpPr/>
            <p:nvPr/>
          </p:nvSpPr>
          <p:spPr>
            <a:xfrm>
              <a:off x="7197700" y="3836972"/>
              <a:ext cx="1299845" cy="27686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en-US" sz="1200" b="1" dirty="0">
                  <a:solidFill>
                    <a:schemeClr val="bg2">
                      <a:lumMod val="25000"/>
                    </a:schemeClr>
                  </a:solidFill>
                  <a:latin typeface="+mn-ea"/>
                </a:rPr>
                <a:t>产业</a:t>
              </a:r>
              <a:r>
                <a:rPr lang="zh-CN" altLang="en-US" sz="1200" b="1" dirty="0" smtClean="0">
                  <a:solidFill>
                    <a:schemeClr val="bg2">
                      <a:lumMod val="25000"/>
                    </a:schemeClr>
                  </a:solidFill>
                  <a:latin typeface="+mn-ea"/>
                </a:rPr>
                <a:t>创新联合体</a:t>
              </a:r>
              <a:endParaRPr lang="zh-CN" altLang="en-US" sz="1200" b="1" dirty="0">
                <a:solidFill>
                  <a:schemeClr val="bg2">
                    <a:lumMod val="25000"/>
                  </a:schemeClr>
                </a:solidFill>
                <a:latin typeface="+mn-ea"/>
              </a:endParaRPr>
            </a:p>
          </p:txBody>
        </p:sp>
        <p:sp>
          <p:nvSpPr>
            <p:cNvPr id="92" name="矩形 91"/>
            <p:cNvSpPr/>
            <p:nvPr/>
          </p:nvSpPr>
          <p:spPr>
            <a:xfrm>
              <a:off x="8572037" y="3848415"/>
              <a:ext cx="1308809" cy="2769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spcAft>
                  <a:spcPts val="0"/>
                </a:spcAft>
              </a:pPr>
              <a:r>
                <a:rPr lang="zh-CN" altLang="en-US" sz="1200" b="1" dirty="0" smtClean="0">
                  <a:solidFill>
                    <a:schemeClr val="bg2">
                      <a:lumMod val="25000"/>
                    </a:schemeClr>
                  </a:solidFill>
                  <a:latin typeface="+mn-ea"/>
                </a:rPr>
                <a:t>山东</a:t>
              </a:r>
              <a:r>
                <a:rPr lang="zh-CN" altLang="en-US" sz="1200" b="1" dirty="0">
                  <a:solidFill>
                    <a:schemeClr val="bg2">
                      <a:lumMod val="25000"/>
                    </a:schemeClr>
                  </a:solidFill>
                  <a:latin typeface="+mn-ea"/>
                </a:rPr>
                <a:t>科技大市场</a:t>
              </a:r>
              <a:endParaRPr lang="zh-CN" altLang="zh-CN" sz="1200" b="1" dirty="0">
                <a:solidFill>
                  <a:schemeClr val="bg2">
                    <a:lumMod val="25000"/>
                  </a:schemeClr>
                </a:solidFill>
                <a:latin typeface="+mn-ea"/>
              </a:endParaRPr>
            </a:p>
          </p:txBody>
        </p:sp>
        <p:sp>
          <p:nvSpPr>
            <p:cNvPr id="98" name="矩形 97"/>
            <p:cNvSpPr/>
            <p:nvPr/>
          </p:nvSpPr>
          <p:spPr>
            <a:xfrm>
              <a:off x="5797118" y="4164307"/>
              <a:ext cx="1189608" cy="261610"/>
            </a:xfrm>
            <a:prstGeom prst="rect">
              <a:avLst/>
            </a:prstGeom>
            <a:ln>
              <a:prstDash val="lgDashDotDot"/>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100" b="1" dirty="0" smtClean="0">
                  <a:solidFill>
                    <a:schemeClr val="bg2">
                      <a:lumMod val="25000"/>
                    </a:schemeClr>
                  </a:solidFill>
                </a:rPr>
                <a:t>省重点新型智库</a:t>
              </a:r>
              <a:endParaRPr lang="zh-CN" altLang="en-US" sz="1100" b="1" dirty="0">
                <a:solidFill>
                  <a:schemeClr val="bg2">
                    <a:lumMod val="25000"/>
                  </a:schemeClr>
                </a:solidFill>
              </a:endParaRPr>
            </a:p>
          </p:txBody>
        </p:sp>
        <p:sp>
          <p:nvSpPr>
            <p:cNvPr id="107" name="矩形 106"/>
            <p:cNvSpPr/>
            <p:nvPr/>
          </p:nvSpPr>
          <p:spPr>
            <a:xfrm>
              <a:off x="7254536" y="4112521"/>
              <a:ext cx="1189608" cy="261610"/>
            </a:xfrm>
            <a:prstGeom prst="rect">
              <a:avLst/>
            </a:prstGeom>
            <a:ln>
              <a:prstDash val="lgDashDotDot"/>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100" b="1" dirty="0" smtClean="0">
                  <a:solidFill>
                    <a:schemeClr val="bg2">
                      <a:lumMod val="25000"/>
                    </a:schemeClr>
                  </a:solidFill>
                </a:rPr>
                <a:t>一园一业一平台</a:t>
              </a:r>
              <a:endParaRPr lang="zh-CN" altLang="en-US" sz="1100" b="1" dirty="0">
                <a:solidFill>
                  <a:schemeClr val="bg2">
                    <a:lumMod val="25000"/>
                  </a:schemeClr>
                </a:solidFill>
              </a:endParaRPr>
            </a:p>
          </p:txBody>
        </p:sp>
        <p:sp>
          <p:nvSpPr>
            <p:cNvPr id="109" name="矩形 108"/>
            <p:cNvSpPr/>
            <p:nvPr/>
          </p:nvSpPr>
          <p:spPr>
            <a:xfrm>
              <a:off x="8629502" y="4106343"/>
              <a:ext cx="1189608" cy="261610"/>
            </a:xfrm>
            <a:prstGeom prst="rect">
              <a:avLst/>
            </a:prstGeom>
            <a:ln>
              <a:prstDash val="lgDashDotDot"/>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zh-CN" altLang="en-US" sz="1100" b="1" dirty="0">
                  <a:solidFill>
                    <a:schemeClr val="bg2">
                      <a:lumMod val="25000"/>
                    </a:schemeClr>
                  </a:solidFill>
                </a:rPr>
                <a:t>山东好成果</a:t>
              </a:r>
              <a:endParaRPr lang="zh-CN" altLang="en-US" sz="1100" b="1" dirty="0">
                <a:solidFill>
                  <a:schemeClr val="bg2">
                    <a:lumMod val="25000"/>
                  </a:schemeClr>
                </a:solidFill>
              </a:endParaRPr>
            </a:p>
          </p:txBody>
        </p:sp>
      </p:grpSp>
      <p:cxnSp>
        <p:nvCxnSpPr>
          <p:cNvPr id="139" name="直接箭头连接符 138"/>
          <p:cNvCxnSpPr/>
          <p:nvPr/>
        </p:nvCxnSpPr>
        <p:spPr>
          <a:xfrm>
            <a:off x="4562382" y="3591720"/>
            <a:ext cx="1912" cy="41336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43" name="直接箭头连接符 142"/>
          <p:cNvCxnSpPr/>
          <p:nvPr/>
        </p:nvCxnSpPr>
        <p:spPr>
          <a:xfrm>
            <a:off x="6417852" y="3595530"/>
            <a:ext cx="1912" cy="41336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49" name="直接箭头连接符 148"/>
          <p:cNvCxnSpPr/>
          <p:nvPr/>
        </p:nvCxnSpPr>
        <p:spPr>
          <a:xfrm>
            <a:off x="9107712" y="3599340"/>
            <a:ext cx="1912" cy="413367"/>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0" name="直接箭头连接符 149"/>
          <p:cNvCxnSpPr/>
          <p:nvPr/>
        </p:nvCxnSpPr>
        <p:spPr>
          <a:xfrm>
            <a:off x="6398840" y="2256186"/>
            <a:ext cx="1" cy="3462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cxnSp>
        <p:nvCxnSpPr>
          <p:cNvPr id="155" name="直接箭头连接符 154"/>
          <p:cNvCxnSpPr/>
          <p:nvPr/>
        </p:nvCxnSpPr>
        <p:spPr>
          <a:xfrm>
            <a:off x="9065840" y="2294286"/>
            <a:ext cx="1" cy="346229"/>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88" name="流程图: 接点 87"/>
          <p:cNvSpPr/>
          <p:nvPr/>
        </p:nvSpPr>
        <p:spPr>
          <a:xfrm>
            <a:off x="2114551" y="1244960"/>
            <a:ext cx="216000" cy="216000"/>
          </a:xfrm>
          <a:prstGeom prst="flowChartConnector">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r>
              <a:rPr lang="en-US" altLang="zh-CN" dirty="0" smtClean="0">
                <a:solidFill>
                  <a:schemeClr val="bg2">
                    <a:lumMod val="25000"/>
                  </a:schemeClr>
                </a:solidFill>
              </a:rPr>
              <a:t>1</a:t>
            </a:r>
            <a:endParaRPr lang="zh-CN" altLang="en-US" dirty="0" smtClean="0">
              <a:solidFill>
                <a:schemeClr val="bg2">
                  <a:lumMod val="25000"/>
                </a:schemeClr>
              </a:solidFill>
            </a:endParaRPr>
          </a:p>
        </p:txBody>
      </p:sp>
      <p:sp>
        <p:nvSpPr>
          <p:cNvPr id="167" name="流程图: 接点 166"/>
          <p:cNvSpPr/>
          <p:nvPr/>
        </p:nvSpPr>
        <p:spPr>
          <a:xfrm>
            <a:off x="4015741" y="1248770"/>
            <a:ext cx="216000" cy="216000"/>
          </a:xfrm>
          <a:prstGeom prst="flowChartConnector">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r>
              <a:rPr lang="en-US" altLang="zh-CN" dirty="0" smtClean="0">
                <a:solidFill>
                  <a:schemeClr val="bg2">
                    <a:lumMod val="25000"/>
                  </a:schemeClr>
                </a:solidFill>
              </a:rPr>
              <a:t>1</a:t>
            </a:r>
            <a:endParaRPr lang="zh-CN" altLang="en-US" dirty="0" smtClean="0">
              <a:solidFill>
                <a:schemeClr val="bg2">
                  <a:lumMod val="25000"/>
                </a:schemeClr>
              </a:solidFill>
            </a:endParaRPr>
          </a:p>
        </p:txBody>
      </p:sp>
      <p:sp>
        <p:nvSpPr>
          <p:cNvPr id="171" name="流程图: 接点 170"/>
          <p:cNvSpPr/>
          <p:nvPr/>
        </p:nvSpPr>
        <p:spPr>
          <a:xfrm>
            <a:off x="10374631" y="1321160"/>
            <a:ext cx="216000" cy="216000"/>
          </a:xfrm>
          <a:prstGeom prst="flowChartConnector">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r>
              <a:rPr lang="en-US" altLang="zh-CN" dirty="0" smtClean="0">
                <a:solidFill>
                  <a:schemeClr val="bg2">
                    <a:lumMod val="25000"/>
                  </a:schemeClr>
                </a:solidFill>
              </a:rPr>
              <a:t>1</a:t>
            </a:r>
            <a:endParaRPr lang="zh-CN" altLang="en-US" dirty="0" smtClean="0">
              <a:solidFill>
                <a:schemeClr val="bg2">
                  <a:lumMod val="25000"/>
                </a:schemeClr>
              </a:solidFill>
            </a:endParaRPr>
          </a:p>
        </p:txBody>
      </p:sp>
      <p:sp>
        <p:nvSpPr>
          <p:cNvPr id="172" name="流程图: 接点 171"/>
          <p:cNvSpPr/>
          <p:nvPr/>
        </p:nvSpPr>
        <p:spPr>
          <a:xfrm>
            <a:off x="5715001" y="1173295"/>
            <a:ext cx="216000" cy="216000"/>
          </a:xfrm>
          <a:prstGeom prst="flowChartConnector">
            <a:avLst/>
          </a:prstGeom>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solid"/>
          </a:ln>
        </p:spPr>
        <p:txBody>
          <a:bodyPr wrap="square" rtlCol="0" anchor="ctr">
            <a:spAutoFit/>
          </a:bodyPr>
          <a:lstStyle/>
          <a:p>
            <a:pPr algn="ctr"/>
            <a:r>
              <a:rPr lang="en-US" altLang="zh-CN" dirty="0">
                <a:solidFill>
                  <a:schemeClr val="bg2">
                    <a:lumMod val="25000"/>
                  </a:schemeClr>
                </a:solidFill>
              </a:rPr>
              <a:t>3</a:t>
            </a:r>
            <a:endParaRPr lang="zh-CN" altLang="en-US" dirty="0" smtClean="0">
              <a:solidFill>
                <a:schemeClr val="bg2">
                  <a:lumMod val="25000"/>
                </a:schemeClr>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2063227" y="2227251"/>
            <a:ext cx="2468562" cy="2649549"/>
            <a:chOff x="2063227" y="2227251"/>
            <a:chExt cx="2468562" cy="2649549"/>
          </a:xfrm>
        </p:grpSpPr>
        <p:grpSp>
          <p:nvGrpSpPr>
            <p:cNvPr id="6" name="组合 5"/>
            <p:cNvGrpSpPr/>
            <p:nvPr/>
          </p:nvGrpSpPr>
          <p:grpSpPr>
            <a:xfrm>
              <a:off x="2063227" y="2227251"/>
              <a:ext cx="2468562" cy="2649549"/>
              <a:chOff x="1918848" y="2050788"/>
              <a:chExt cx="2468562" cy="2649549"/>
            </a:xfrm>
          </p:grpSpPr>
          <p:sp>
            <p:nvSpPr>
              <p:cNvPr id="2" name="矩形: 圆角 55"/>
              <p:cNvSpPr/>
              <p:nvPr/>
            </p:nvSpPr>
            <p:spPr>
              <a:xfrm>
                <a:off x="1918848" y="2613720"/>
                <a:ext cx="2468562" cy="2086617"/>
              </a:xfrm>
              <a:prstGeom prst="roundRect">
                <a:avLst>
                  <a:gd name="adj" fmla="val 110"/>
                </a:avLst>
              </a:prstGeom>
              <a:gradFill flip="none" rotWithShape="1">
                <a:gsLst>
                  <a:gs pos="0">
                    <a:schemeClr val="bg1"/>
                  </a:gs>
                  <a:gs pos="100000">
                    <a:schemeClr val="bg1"/>
                  </a:gs>
                  <a:gs pos="46000">
                    <a:schemeClr val="accent2">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libaba PuHuiTi 2.0 55" pitchFamily="18" charset="-122"/>
                  <a:ea typeface="Alibaba PuHuiTi 2.0 55" pitchFamily="18" charset="-122"/>
                </a:endParaRPr>
              </a:p>
            </p:txBody>
          </p:sp>
          <p:sp>
            <p:nvSpPr>
              <p:cNvPr id="4" name="椭圆 3"/>
              <p:cNvSpPr/>
              <p:nvPr/>
            </p:nvSpPr>
            <p:spPr>
              <a:xfrm>
                <a:off x="2466660" y="2050788"/>
                <a:ext cx="1347536" cy="1347536"/>
              </a:xfrm>
              <a:prstGeom prst="ellipse">
                <a:avLst/>
              </a:prstGeom>
              <a:gradFill flip="none" rotWithShape="1">
                <a:gsLst>
                  <a:gs pos="0">
                    <a:schemeClr val="bg2">
                      <a:lumMod val="90000"/>
                    </a:schemeClr>
                  </a:gs>
                  <a:gs pos="100000">
                    <a:schemeClr val="accent3">
                      <a:lumMod val="75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dirty="0">
                  <a:solidFill>
                    <a:schemeClr val="bg1"/>
                  </a:solidFill>
                  <a:effectLst>
                    <a:outerShdw blurRad="137160" dist="41148" dir="2699997" algn="tl">
                      <a:srgbClr val="000000">
                        <a:alpha val="40000"/>
                      </a:srgbClr>
                    </a:outerShdw>
                  </a:effectLst>
                  <a:latin typeface="Alibaba PuHuiTi 2.0 45 Light" pitchFamily="18" charset="-122"/>
                  <a:ea typeface="Alibaba PuHuiTi 2.0 45 Light" pitchFamily="18" charset="-122"/>
                </a:endParaRPr>
              </a:p>
            </p:txBody>
          </p:sp>
          <p:sp>
            <p:nvSpPr>
              <p:cNvPr id="5" name="文本框 4"/>
              <p:cNvSpPr txBox="1"/>
              <p:nvPr/>
            </p:nvSpPr>
            <p:spPr>
              <a:xfrm>
                <a:off x="2027782" y="3686770"/>
                <a:ext cx="2184935" cy="658194"/>
              </a:xfrm>
              <a:prstGeom prst="rect">
                <a:avLst/>
              </a:prstGeom>
              <a:noFill/>
            </p:spPr>
            <p:txBody>
              <a:bodyPr wrap="square"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r>
                  <a:rPr lang="zh-CN" altLang="zh-CN" sz="1600" b="0" dirty="0"/>
                  <a:t>打造科技创新</a:t>
                </a:r>
                <a:endParaRPr lang="en-US" altLang="zh-CN" sz="1600" b="0" dirty="0"/>
              </a:p>
              <a:p>
                <a:r>
                  <a:rPr lang="zh-CN" altLang="zh-CN" sz="1600" b="0" dirty="0"/>
                  <a:t>思想策源地</a:t>
                </a:r>
                <a:endParaRPr lang="zh-CN" altLang="zh-CN" sz="1600" b="0" dirty="0"/>
              </a:p>
            </p:txBody>
          </p:sp>
        </p:gr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65270" y="2518610"/>
              <a:ext cx="821511" cy="772220"/>
            </a:xfrm>
            <a:prstGeom prst="rect">
              <a:avLst/>
            </a:prstGeom>
          </p:spPr>
        </p:pic>
      </p:grpSp>
      <p:grpSp>
        <p:nvGrpSpPr>
          <p:cNvPr id="17" name="组合 16"/>
          <p:cNvGrpSpPr/>
          <p:nvPr/>
        </p:nvGrpSpPr>
        <p:grpSpPr>
          <a:xfrm>
            <a:off x="4836915" y="2250012"/>
            <a:ext cx="2468562" cy="2649549"/>
            <a:chOff x="2063227" y="2227251"/>
            <a:chExt cx="2468562" cy="2649549"/>
          </a:xfrm>
        </p:grpSpPr>
        <p:grpSp>
          <p:nvGrpSpPr>
            <p:cNvPr id="18" name="组合 17"/>
            <p:cNvGrpSpPr/>
            <p:nvPr/>
          </p:nvGrpSpPr>
          <p:grpSpPr>
            <a:xfrm>
              <a:off x="2063227" y="2227251"/>
              <a:ext cx="2468562" cy="2649549"/>
              <a:chOff x="1918848" y="2050788"/>
              <a:chExt cx="2468562" cy="2649549"/>
            </a:xfrm>
          </p:grpSpPr>
          <p:sp>
            <p:nvSpPr>
              <p:cNvPr id="20" name="矩形: 圆角 55"/>
              <p:cNvSpPr/>
              <p:nvPr/>
            </p:nvSpPr>
            <p:spPr>
              <a:xfrm>
                <a:off x="1918848" y="2613720"/>
                <a:ext cx="2468562" cy="2086617"/>
              </a:xfrm>
              <a:prstGeom prst="roundRect">
                <a:avLst>
                  <a:gd name="adj" fmla="val 110"/>
                </a:avLst>
              </a:prstGeom>
              <a:gradFill flip="none" rotWithShape="1">
                <a:gsLst>
                  <a:gs pos="0">
                    <a:schemeClr val="bg1"/>
                  </a:gs>
                  <a:gs pos="100000">
                    <a:schemeClr val="bg1"/>
                  </a:gs>
                  <a:gs pos="46000">
                    <a:schemeClr val="accent2">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libaba PuHuiTi 2.0 55" pitchFamily="18" charset="-122"/>
                  <a:ea typeface="Alibaba PuHuiTi 2.0 55" pitchFamily="18" charset="-122"/>
                </a:endParaRPr>
              </a:p>
            </p:txBody>
          </p:sp>
          <p:sp>
            <p:nvSpPr>
              <p:cNvPr id="21" name="椭圆 20"/>
              <p:cNvSpPr/>
              <p:nvPr/>
            </p:nvSpPr>
            <p:spPr>
              <a:xfrm>
                <a:off x="2466660" y="2050788"/>
                <a:ext cx="1347536" cy="1347536"/>
              </a:xfrm>
              <a:prstGeom prst="ellipse">
                <a:avLst/>
              </a:prstGeom>
              <a:gradFill flip="none" rotWithShape="1">
                <a:gsLst>
                  <a:gs pos="0">
                    <a:schemeClr val="bg2">
                      <a:lumMod val="90000"/>
                    </a:schemeClr>
                  </a:gs>
                  <a:gs pos="100000">
                    <a:schemeClr val="accent3">
                      <a:lumMod val="75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dirty="0">
                  <a:solidFill>
                    <a:schemeClr val="bg1"/>
                  </a:solidFill>
                  <a:effectLst>
                    <a:outerShdw blurRad="137160" dist="41148" dir="2699997" algn="tl">
                      <a:srgbClr val="000000">
                        <a:alpha val="40000"/>
                      </a:srgbClr>
                    </a:outerShdw>
                  </a:effectLst>
                  <a:latin typeface="Alibaba PuHuiTi 2.0 45 Light" pitchFamily="18" charset="-122"/>
                  <a:ea typeface="Alibaba PuHuiTi 2.0 45 Light" pitchFamily="18" charset="-122"/>
                </a:endParaRPr>
              </a:p>
            </p:txBody>
          </p:sp>
          <p:sp>
            <p:nvSpPr>
              <p:cNvPr id="22" name="文本框 21"/>
              <p:cNvSpPr txBox="1"/>
              <p:nvPr/>
            </p:nvSpPr>
            <p:spPr>
              <a:xfrm>
                <a:off x="2027782" y="3686770"/>
                <a:ext cx="2184935" cy="953659"/>
              </a:xfrm>
              <a:prstGeom prst="rect">
                <a:avLst/>
              </a:prstGeom>
              <a:noFill/>
            </p:spPr>
            <p:txBody>
              <a:bodyPr wrap="square"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r>
                  <a:rPr lang="zh-CN" altLang="zh-CN" sz="1600" dirty="0"/>
                  <a:t>打造创新生态</a:t>
                </a:r>
                <a:endParaRPr lang="en-US" altLang="zh-CN" sz="1600" dirty="0"/>
              </a:p>
              <a:p>
                <a:r>
                  <a:rPr lang="zh-CN" altLang="zh-CN" sz="1600" dirty="0"/>
                  <a:t>培育示范地</a:t>
                </a:r>
                <a:endParaRPr lang="zh-CN" altLang="zh-CN" sz="1600" dirty="0"/>
              </a:p>
              <a:p>
                <a:endParaRPr lang="zh-CN" altLang="zh-CN" sz="1600" b="0" dirty="0"/>
              </a:p>
            </p:txBody>
          </p:sp>
        </p:grpSp>
        <p:pic>
          <p:nvPicPr>
            <p:cNvPr id="19" name="图片 1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65270" y="2518610"/>
              <a:ext cx="821511" cy="772220"/>
            </a:xfrm>
            <a:prstGeom prst="rect">
              <a:avLst/>
            </a:prstGeom>
          </p:spPr>
        </p:pic>
      </p:grpSp>
      <p:grpSp>
        <p:nvGrpSpPr>
          <p:cNvPr id="23" name="组合 22"/>
          <p:cNvGrpSpPr/>
          <p:nvPr/>
        </p:nvGrpSpPr>
        <p:grpSpPr>
          <a:xfrm>
            <a:off x="7660211" y="2250012"/>
            <a:ext cx="2468562" cy="2649549"/>
            <a:chOff x="2063227" y="2227251"/>
            <a:chExt cx="2468562" cy="2649549"/>
          </a:xfrm>
        </p:grpSpPr>
        <p:grpSp>
          <p:nvGrpSpPr>
            <p:cNvPr id="24" name="组合 23"/>
            <p:cNvGrpSpPr/>
            <p:nvPr/>
          </p:nvGrpSpPr>
          <p:grpSpPr>
            <a:xfrm>
              <a:off x="2063227" y="2227251"/>
              <a:ext cx="2468562" cy="2649549"/>
              <a:chOff x="1918848" y="2050788"/>
              <a:chExt cx="2468562" cy="2649549"/>
            </a:xfrm>
          </p:grpSpPr>
          <p:sp>
            <p:nvSpPr>
              <p:cNvPr id="26" name="矩形: 圆角 55"/>
              <p:cNvSpPr/>
              <p:nvPr/>
            </p:nvSpPr>
            <p:spPr>
              <a:xfrm>
                <a:off x="1918848" y="2613720"/>
                <a:ext cx="2468562" cy="2086617"/>
              </a:xfrm>
              <a:prstGeom prst="roundRect">
                <a:avLst>
                  <a:gd name="adj" fmla="val 110"/>
                </a:avLst>
              </a:prstGeom>
              <a:gradFill flip="none" rotWithShape="1">
                <a:gsLst>
                  <a:gs pos="0">
                    <a:schemeClr val="bg1"/>
                  </a:gs>
                  <a:gs pos="100000">
                    <a:schemeClr val="bg1"/>
                  </a:gs>
                  <a:gs pos="46000">
                    <a:schemeClr val="accent2">
                      <a:lumMod val="5000"/>
                      <a:lumOff val="95000"/>
                    </a:schemeClr>
                  </a:gs>
                </a:gsLst>
                <a:path path="circle">
                  <a:fillToRect r="100000" b="100000"/>
                </a:path>
                <a:tileRect l="-100000" t="-100000"/>
              </a:gra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libaba PuHuiTi 2.0 55" pitchFamily="18" charset="-122"/>
                  <a:ea typeface="Alibaba PuHuiTi 2.0 55" pitchFamily="18" charset="-122"/>
                </a:endParaRPr>
              </a:p>
            </p:txBody>
          </p:sp>
          <p:sp>
            <p:nvSpPr>
              <p:cNvPr id="27" name="椭圆 26"/>
              <p:cNvSpPr/>
              <p:nvPr/>
            </p:nvSpPr>
            <p:spPr>
              <a:xfrm>
                <a:off x="2466660" y="2050788"/>
                <a:ext cx="1347536" cy="1347536"/>
              </a:xfrm>
              <a:prstGeom prst="ellipse">
                <a:avLst/>
              </a:prstGeom>
              <a:gradFill flip="none" rotWithShape="1">
                <a:gsLst>
                  <a:gs pos="0">
                    <a:schemeClr val="bg2">
                      <a:lumMod val="90000"/>
                    </a:schemeClr>
                  </a:gs>
                  <a:gs pos="100000">
                    <a:schemeClr val="accent3">
                      <a:lumMod val="75000"/>
                    </a:schemeClr>
                  </a:gs>
                </a:gsLst>
                <a:path path="circle">
                  <a:fillToRect t="100000" r="100000"/>
                </a:path>
                <a:tileRect l="-100000" b="-100000"/>
              </a:gradFill>
              <a:ln w="38100">
                <a:noFill/>
              </a:ln>
              <a:effectLst>
                <a:outerShdw blurRad="254000" dist="123444" dir="5400000" sx="99000" sy="99000" algn="ctr" rotWithShape="0">
                  <a:schemeClr val="accent2">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dirty="0">
                  <a:solidFill>
                    <a:schemeClr val="bg1"/>
                  </a:solidFill>
                  <a:effectLst>
                    <a:outerShdw blurRad="137160" dist="41148" dir="2699997" algn="tl">
                      <a:srgbClr val="000000">
                        <a:alpha val="40000"/>
                      </a:srgbClr>
                    </a:outerShdw>
                  </a:effectLst>
                  <a:latin typeface="Alibaba PuHuiTi 2.0 45 Light" pitchFamily="18" charset="-122"/>
                  <a:ea typeface="Alibaba PuHuiTi 2.0 45 Light" pitchFamily="18" charset="-122"/>
                </a:endParaRPr>
              </a:p>
            </p:txBody>
          </p:sp>
          <p:sp>
            <p:nvSpPr>
              <p:cNvPr id="28" name="文本框 27"/>
              <p:cNvSpPr txBox="1"/>
              <p:nvPr/>
            </p:nvSpPr>
            <p:spPr>
              <a:xfrm>
                <a:off x="2027782" y="3686770"/>
                <a:ext cx="2184935" cy="953659"/>
              </a:xfrm>
              <a:prstGeom prst="rect">
                <a:avLst/>
              </a:prstGeom>
              <a:noFill/>
            </p:spPr>
            <p:txBody>
              <a:bodyPr wrap="square" rtlCol="0">
                <a:spAutoFit/>
              </a:bodyPr>
              <a:lstStyle>
                <a:defPPr>
                  <a:defRPr lang="zh-CN"/>
                </a:defPPr>
                <a:lvl1pPr algn="ctr">
                  <a:lnSpc>
                    <a:spcPct val="120000"/>
                  </a:lnSpc>
                  <a:defRPr sz="1200">
                    <a:solidFill>
                      <a:schemeClr val="tx1">
                        <a:lumMod val="75000"/>
                        <a:lumOff val="25000"/>
                      </a:schemeClr>
                    </a:solidFill>
                    <a:effectLst/>
                    <a:latin typeface="+mn-ea"/>
                  </a:defRPr>
                </a:lvl1pPr>
              </a:lstStyle>
              <a:p>
                <a:r>
                  <a:rPr lang="zh-CN" altLang="zh-CN" sz="1600" dirty="0"/>
                  <a:t>打造创新驱动产业</a:t>
                </a:r>
                <a:endParaRPr lang="en-US" altLang="zh-CN" sz="1600" dirty="0"/>
              </a:p>
              <a:p>
                <a:r>
                  <a:rPr lang="zh-CN" altLang="zh-CN" sz="1600" dirty="0"/>
                  <a:t>发展引领地</a:t>
                </a:r>
                <a:endParaRPr lang="zh-CN" altLang="zh-CN" sz="1600" dirty="0"/>
              </a:p>
              <a:p>
                <a:endParaRPr lang="zh-CN" altLang="zh-CN" sz="1600" b="0" dirty="0"/>
              </a:p>
            </p:txBody>
          </p:sp>
        </p:grpSp>
        <p:pic>
          <p:nvPicPr>
            <p:cNvPr id="25" name="图片 2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865270" y="2518610"/>
              <a:ext cx="821511" cy="772220"/>
            </a:xfrm>
            <a:prstGeom prst="rect">
              <a:avLst/>
            </a:prstGeom>
          </p:spPr>
        </p:pic>
      </p:gr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MH" val="20170704192125"/>
  <p:tag name="MH_LIBRARY" val="GRAPHIC"/>
  <p:tag name="MH_TYPE" val="Other"/>
  <p:tag name="MH_ORDER" val="1"/>
</p:tagLst>
</file>

<file path=ppt/tags/tag2.xml><?xml version="1.0" encoding="utf-8"?>
<p:tagLst xmlns:p="http://schemas.openxmlformats.org/presentationml/2006/main">
  <p:tag name="MH" val="20170704192125"/>
  <p:tag name="MH_LIBRARY" val="GRAPHIC"/>
  <p:tag name="MH_TYPE" val="Other"/>
  <p:tag name="MH_ORDER" val="1"/>
</p:tagLst>
</file>

<file path=ppt/tags/tag3.xml><?xml version="1.0" encoding="utf-8"?>
<p:tagLst xmlns:p="http://schemas.openxmlformats.org/presentationml/2006/main">
  <p:tag name="MH" val="20170704192125"/>
  <p:tag name="MH_LIBRARY" val="GRAPHIC"/>
  <p:tag name="MH_TYPE" val="Other"/>
  <p:tag name="MH_ORDER" val="1"/>
</p:tagLst>
</file>

<file path=ppt/tags/tag4.xml><?xml version="1.0" encoding="utf-8"?>
<p:tagLst xmlns:p="http://schemas.openxmlformats.org/presentationml/2006/main">
  <p:tag name="MH" val="20170704192125"/>
  <p:tag name="MH_LIBRARY" val="GRAPHIC"/>
  <p:tag name="MH_TYPE" val="Other"/>
  <p:tag name="MH_ORDER" val="1"/>
</p:tagLst>
</file>

<file path=ppt/tags/tag5.xml><?xml version="1.0" encoding="utf-8"?>
<p:tagLst xmlns:p="http://schemas.openxmlformats.org/presentationml/2006/main">
  <p:tag name="MH" val="20170704192125"/>
  <p:tag name="MH_LIBRARY" val="GRAPHIC"/>
  <p:tag name="MH_TYPE" val="Other"/>
  <p:tag name="MH_ORDER" val="1"/>
</p:tagLst>
</file>

<file path=ppt/tags/tag6.xml><?xml version="1.0" encoding="utf-8"?>
<p:tagLst xmlns:p="http://schemas.openxmlformats.org/presentationml/2006/main">
  <p:tag name="MH" val="20170704192125"/>
  <p:tag name="MH_LIBRARY" val="GRAPHIC"/>
  <p:tag name="MH_TYPE" val="SubTitle"/>
  <p:tag name="MH_ORDER" val="1"/>
</p:tagLst>
</file>

<file path=ppt/tags/tag7.xml><?xml version="1.0" encoding="utf-8"?>
<p:tagLst xmlns:p="http://schemas.openxmlformats.org/presentationml/2006/main">
  <p:tag name="MH" val="20170704192125"/>
  <p:tag name="MH_LIBRARY" val="GRAPHIC"/>
  <p:tag name="MH_TYPE" val="SubTitle"/>
  <p:tag name="MH_ORDER" val="1"/>
</p:tagLst>
</file>

<file path=ppt/tags/tag8.xml><?xml version="1.0" encoding="utf-8"?>
<p:tagLst xmlns:p="http://schemas.openxmlformats.org/presentationml/2006/main">
  <p:tag name="MH" val="20170704192125"/>
  <p:tag name="MH_LIBRARY" val="GRAPHIC"/>
  <p:tag name="MH_TYPE" val="SubTitle"/>
  <p:tag name="MH_ORDER" val="1"/>
</p:tagLst>
</file>

<file path=ppt/tags/tag9.xml><?xml version="1.0" encoding="utf-8"?>
<p:tagLst xmlns:p="http://schemas.openxmlformats.org/presentationml/2006/main">
  <p:tag name="MH" val="20170704192125"/>
  <p:tag name="MH_LIBRARY" val="GRAPHIC"/>
  <p:tag name="MH_TYPE" val="SubTitle"/>
  <p:tag name="MH_ORDER" val="1"/>
</p:tagLst>
</file>

<file path=ppt/tags/tag10.xml><?xml version="1.0" encoding="utf-8"?>
<p:tagLst xmlns:p="http://schemas.openxmlformats.org/presentationml/2006/main">
  <p:tag name="MH" val="20170704192125"/>
  <p:tag name="MH_LIBRARY" val="GRAPHIC"/>
  <p:tag name="MH_TYPE" val="SubTitle"/>
  <p:tag name="MH_ORDER" val="1"/>
</p:tagLst>
</file>

<file path=ppt/tags/tag11.xml><?xml version="1.0" encoding="utf-8"?>
<p:tagLst xmlns:p="http://schemas.openxmlformats.org/presentationml/2006/main">
  <p:tag name="MH" val="20170704192125"/>
  <p:tag name="MH_LIBRARY" val="GRAPHIC"/>
  <p:tag name="MH_TYPE" val="SubTitle"/>
  <p:tag name="MH_ORDER" val="1"/>
</p:tagLst>
</file>

<file path=ppt/tags/tag12.xml><?xml version="1.0" encoding="utf-8"?>
<p:tagLst xmlns:p="http://schemas.openxmlformats.org/presentationml/2006/main">
  <p:tag name="MH" val="20170704192125"/>
  <p:tag name="MH_LIBRARY" val="GRAPHIC"/>
  <p:tag name="MH_TYPE" val="SubTitle"/>
  <p:tag name="MH_ORDER" val="1"/>
</p:tagLst>
</file>

<file path=ppt/tags/tag13.xml><?xml version="1.0" encoding="utf-8"?>
<p:tagLst xmlns:p="http://schemas.openxmlformats.org/presentationml/2006/main">
  <p:tag name="MH" val="20170704192125"/>
  <p:tag name="MH_LIBRARY" val="GRAPHIC"/>
  <p:tag name="MH_TYPE" val="SubTitle"/>
  <p:tag name="MH_ORDER" val="1"/>
</p:tagLst>
</file>

<file path=ppt/tags/tag14.xml><?xml version="1.0" encoding="utf-8"?>
<p:tagLst xmlns:p="http://schemas.openxmlformats.org/presentationml/2006/main">
  <p:tag name="MH" val="20170704192125"/>
  <p:tag name="MH_LIBRARY" val="GRAPHIC"/>
  <p:tag name="MH_TYPE" val="Other"/>
  <p:tag name="MH_ORDER" val="1"/>
</p:tagLst>
</file>

<file path=ppt/tags/tag15.xml><?xml version="1.0" encoding="utf-8"?>
<p:tagLst xmlns:p="http://schemas.openxmlformats.org/presentationml/2006/main">
  <p:tag name="MH" val="20170704192125"/>
  <p:tag name="MH_LIBRARY" val="GRAPHIC"/>
  <p:tag name="MH_TYPE" val="Other"/>
  <p:tag name="MH_ORDER" val="1"/>
</p:tagLst>
</file>

<file path=ppt/tags/tag16.xml><?xml version="1.0" encoding="utf-8"?>
<p:tagLst xmlns:p="http://schemas.openxmlformats.org/presentationml/2006/main">
  <p:tag name="MH" val="20170704192125"/>
  <p:tag name="MH_LIBRARY" val="GRAPHIC"/>
  <p:tag name="MH_TYPE" val="Other"/>
  <p:tag name="MH_ORDER" val="1"/>
</p:tagLst>
</file>

<file path=ppt/tags/tag17.xml><?xml version="1.0" encoding="utf-8"?>
<p:tagLst xmlns:p="http://schemas.openxmlformats.org/presentationml/2006/main">
  <p:tag name="MH" val="20170704192125"/>
  <p:tag name="MH_LIBRARY" val="GRAPHIC"/>
  <p:tag name="MH_TYPE" val="Other"/>
  <p:tag name="MH_ORDER" val="1"/>
</p:tagLst>
</file>

<file path=ppt/tags/tag18.xml><?xml version="1.0" encoding="utf-8"?>
<p:tagLst xmlns:p="http://schemas.openxmlformats.org/presentationml/2006/main">
  <p:tag name="ADJUSTMENTS" val="34.01449"/>
</p:tagLst>
</file>

<file path=ppt/tags/tag19.xml><?xml version="1.0" encoding="utf-8"?>
<p:tagLst xmlns:p="http://schemas.openxmlformats.org/presentationml/2006/main">
  <p:tag name="SHADOWSIZE" val="99"/>
  <p:tag name="TEXTSHADOWSIZE" val="100"/>
</p:tagLst>
</file>

<file path=ppt/tags/tag20.xml><?xml version="1.0" encoding="utf-8"?>
<p:tagLst xmlns:p="http://schemas.openxmlformats.org/presentationml/2006/main">
  <p:tag name="SHADOWSIZE" val="99"/>
  <p:tag name="TEXTSHADOWSIZE" val="100"/>
</p:tagLst>
</file>

<file path=ppt/tags/tag21.xml><?xml version="1.0" encoding="utf-8"?>
<p:tagLst xmlns:p="http://schemas.openxmlformats.org/presentationml/2006/main">
  <p:tag name="SHADOWSIZE" val="99"/>
  <p:tag name="TEXTSHADOWSIZE" val="100"/>
</p:tagLst>
</file>

<file path=ppt/tags/tag22.xml><?xml version="1.0" encoding="utf-8"?>
<p:tagLst xmlns:p="http://schemas.openxmlformats.org/presentationml/2006/main">
  <p:tag name="SHADOWSIZE" val="99"/>
  <p:tag name="TEXTSHADOWSIZE" val="100"/>
</p:tagLst>
</file>

<file path=ppt/tags/tag23.xml><?xml version="1.0" encoding="utf-8"?>
<p:tagLst xmlns:p="http://schemas.openxmlformats.org/presentationml/2006/main">
  <p:tag name="SHADOWSIZE" val="99"/>
  <p:tag name="TEXTSHADOWSIZE" val="100"/>
</p:tagLst>
</file>

<file path=ppt/tags/tag24.xml><?xml version="1.0" encoding="utf-8"?>
<p:tagLst xmlns:p="http://schemas.openxmlformats.org/presentationml/2006/main">
  <p:tag name="SHADOWSIZE" val="99"/>
  <p:tag name="TEXTSHADOWSIZE" val="100"/>
</p:tagLst>
</file>

<file path=ppt/tags/tag25.xml><?xml version="1.0" encoding="utf-8"?>
<p:tagLst xmlns:p="http://schemas.openxmlformats.org/presentationml/2006/main">
  <p:tag name="SHADOWSIZE" val="99"/>
  <p:tag name="TEXTSHADOWSIZE" val="100"/>
</p:tagLst>
</file>

<file path=ppt/tags/tag26.xml><?xml version="1.0" encoding="utf-8"?>
<p:tagLst xmlns:p="http://schemas.openxmlformats.org/presentationml/2006/main">
  <p:tag name="TEXTSHADOWSIZE" val="100"/>
</p:tagLst>
</file>

<file path=ppt/tags/tag27.xml><?xml version="1.0" encoding="utf-8"?>
<p:tagLst xmlns:p="http://schemas.openxmlformats.org/presentationml/2006/main">
  <p:tag name="TEXTSHADOWSIZE" val="100"/>
</p:tagLst>
</file>

<file path=ppt/tags/tag28.xml><?xml version="1.0" encoding="utf-8"?>
<p:tagLst xmlns:p="http://schemas.openxmlformats.org/presentationml/2006/main">
  <p:tag name="SHADOWSIZE" val="99"/>
  <p:tag name="TEXTSHADOWSIZE" val="100"/>
</p:tagLst>
</file>

<file path=ppt/tags/tag29.xml><?xml version="1.0" encoding="utf-8"?>
<p:tagLst xmlns:p="http://schemas.openxmlformats.org/presentationml/2006/main">
  <p:tag name="SHADOWSIZE" val="99"/>
  <p:tag name="TEXTSHADOWSIZE" val="100"/>
</p:tagLst>
</file>

<file path=ppt/tags/tag30.xml><?xml version="1.0" encoding="utf-8"?>
<p:tagLst xmlns:p="http://schemas.openxmlformats.org/presentationml/2006/main">
  <p:tag name="SHADOWSIZE" val="99"/>
  <p:tag name="TEXTSHADOWSIZE" val="100"/>
</p:tagLst>
</file>

<file path=ppt/tags/tag31.xml><?xml version="1.0" encoding="utf-8"?>
<p:tagLst xmlns:p="http://schemas.openxmlformats.org/presentationml/2006/main">
  <p:tag name="SHADOWSIZE" val="99"/>
  <p:tag name="TEXTSHADOWSIZE" val="100"/>
</p:tagLst>
</file>

<file path=ppt/tags/tag32.xml><?xml version="1.0" encoding="utf-8"?>
<p:tagLst xmlns:p="http://schemas.openxmlformats.org/presentationml/2006/main">
  <p:tag name="SHADOWSIZE" val="99"/>
  <p:tag name="TEXTSHADOWSIZE" val="100"/>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PA" val="v5.2.11"/>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UNIT_FILL_FORE_SCHEMECOLOR_INDEX_BRIGHTNESS" val="0"/>
  <p:tag name="KSO_WM_UNIT_FILL_FORE_SCHEMECOLOR_INDEX" val="5"/>
  <p:tag name="KSO_WM_UNIT_FILL_TYPE" val="1"/>
  <p:tag name="KSO_WM_UNIT_SHADOW_SCHEMECOLOR_INDEX_BRIGHTNESS" val="-0.5"/>
  <p:tag name="KSO_WM_UNIT_SHADOW_SCHEMECOLOR_INDEX" val="5"/>
</p:tagLst>
</file>

<file path=ppt/tags/tag42.xml><?xml version="1.0" encoding="utf-8"?>
<p:tagLst xmlns:p="http://schemas.openxmlformats.org/presentationml/2006/main">
  <p:tag name="KSO_WM_UNIT_FILL_FORE_SCHEMECOLOR_INDEX_1_BRIGHTNESS" val="-0.15"/>
  <p:tag name="KSO_WM_UNIT_FILL_FORE_SCHEMECOLOR_INDEX_1" val="14"/>
  <p:tag name="KSO_WM_UNIT_FILL_FORE_SCHEMECOLOR_INDEX_1_POS" val="0.15"/>
  <p:tag name="KSO_WM_UNIT_FILL_FORE_SCHEMECOLOR_INDEX_1_TRANS" val="0"/>
  <p:tag name="KSO_WM_UNIT_FILL_FORE_SCHEMECOLOR_INDEX_2_BRIGHTNESS" val="0"/>
  <p:tag name="KSO_WM_UNIT_FILL_FORE_SCHEMECOLOR_INDEX_2" val="14"/>
  <p:tag name="KSO_WM_UNIT_FILL_FORE_SCHEMECOLOR_INDEX_2_POS" val="0.43"/>
  <p:tag name="KSO_WM_UNIT_FILL_FORE_SCHEMECOLOR_INDEX_2_TRANS" val="0.39"/>
  <p:tag name="KSO_WM_UNIT_FILL_FORE_SCHEMECOLOR_INDEX_3_BRIGHTNESS" val="0"/>
  <p:tag name="KSO_WM_UNIT_FILL_FORE_SCHEMECOLOR_INDEX_3" val="14"/>
  <p:tag name="KSO_WM_UNIT_FILL_FORE_SCHEMECOLOR_INDEX_3_POS" val="0.81"/>
  <p:tag name="KSO_WM_UNIT_FILL_FORE_SCHEMECOLOR_INDEX_3_TRANS" val="0"/>
  <p:tag name="KSO_WM_UNIT_FILL_GRADIENT_TYPE" val="0"/>
  <p:tag name="KSO_WM_UNIT_FILL_GRADIENT_ANGLE" val="45"/>
  <p:tag name="KSO_WM_UNIT_FILL_GRADIENT_DIRECTION" val="0"/>
  <p:tag name="KSO_WM_UNIT_FILL_TYPE" val="3"/>
  <p:tag name="KSO_WM_UNIT_SHADOW_SCHEMECOLOR_INDEX_BRIGHTNESS" val="-0.5"/>
  <p:tag name="KSO_WM_UNIT_SHADOW_SCHEMECOLOR_INDEX" val="5"/>
</p:tagLst>
</file>

<file path=ppt/tags/tag43.xml><?xml version="1.0" encoding="utf-8"?>
<p:tagLst xmlns:p="http://schemas.openxmlformats.org/presentationml/2006/main">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45"/>
  <p:tag name="KSO_WM_UNIT_FILL_GRADIENT_DIRECTION" val="0"/>
  <p:tag name="KSO_WM_UNIT_FILL_TYPE" val="3"/>
</p:tagLst>
</file>

<file path=ppt/tags/tag44.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5.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46.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47.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48.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49.xml><?xml version="1.0" encoding="utf-8"?>
<p:tagLst xmlns:p="http://schemas.openxmlformats.org/presentationml/2006/main">
  <p:tag name="KSO_WM_UNIT_FILL_FORE_SCHEMECOLOR_INDEX_1_BRIGHTNESS" val="-0.15"/>
  <p:tag name="KSO_WM_UNIT_FILL_FORE_SCHEMECOLOR_INDEX_1" val="14"/>
  <p:tag name="KSO_WM_UNIT_FILL_FORE_SCHEMECOLOR_INDEX_1_POS" val="0.18"/>
  <p:tag name="KSO_WM_UNIT_FILL_FORE_SCHEMECOLOR_INDEX_1_TRANS" val="0"/>
  <p:tag name="KSO_WM_UNIT_FILL_FORE_SCHEMECOLOR_INDEX_2_BRIGHTNESS" val="0"/>
  <p:tag name="KSO_WM_UNIT_FILL_FORE_SCHEMECOLOR_INDEX_2" val="14"/>
  <p:tag name="KSO_WM_UNIT_FILL_FORE_SCHEMECOLOR_INDEX_2_POS" val="0.35"/>
  <p:tag name="KSO_WM_UNIT_FILL_FORE_SCHEMECOLOR_INDEX_2_TRANS" val="0"/>
  <p:tag name="KSO_WM_UNIT_FILL_FORE_SCHEMECOLOR_INDEX_3_BRIGHTNESS" val="-0.15"/>
  <p:tag name="KSO_WM_UNIT_FILL_FORE_SCHEMECOLOR_INDEX_3" val="14"/>
  <p:tag name="KSO_WM_UNIT_FILL_FORE_SCHEMECOLOR_INDEX_3_POS" val="0.5"/>
  <p:tag name="KSO_WM_UNIT_FILL_FORE_SCHEMECOLOR_INDEX_3_TRANS" val="0"/>
  <p:tag name="KSO_WM_UNIT_FILL_GRADIENT_TYPE" val="0"/>
  <p:tag name="KSO_WM_UNIT_FILL_GRADIENT_ANGLE" val="45"/>
  <p:tag name="KSO_WM_UNIT_FILL_GRADIENT_DIRECTION" val="0"/>
  <p:tag name="KSO_WM_UNIT_FILL_TYPE" val="3"/>
</p:tagLst>
</file>

<file path=ppt/tags/tag5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51.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52.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5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54.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55.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56.xml><?xml version="1.0" encoding="utf-8"?>
<p:tagLst xmlns:p="http://schemas.openxmlformats.org/presentationml/2006/main">
  <p:tag name="KSO_WM_UNIT_FILL_FORE_SCHEMECOLOR_INDEX_BRIGHTNESS" val="0"/>
  <p:tag name="KSO_WM_UNIT_FILL_FORE_SCHEMECOLOR_INDEX" val="5"/>
  <p:tag name="KSO_WM_UNIT_FILL_TYPE" val="1"/>
  <p:tag name="KSO_WM_UNIT_SHADOW_SCHEMECOLOR_INDEX_BRIGHTNESS" val="-0.5"/>
  <p:tag name="KSO_WM_UNIT_SHADOW_SCHEMECOLOR_INDEX" val="5"/>
</p:tagLst>
</file>

<file path=ppt/tags/tag57.xml><?xml version="1.0" encoding="utf-8"?>
<p:tagLst xmlns:p="http://schemas.openxmlformats.org/presentationml/2006/main">
  <p:tag name="KSO_WM_UNIT_FILL_FORE_SCHEMECOLOR_INDEX_1_BRIGHTNESS" val="-0.15"/>
  <p:tag name="KSO_WM_UNIT_FILL_FORE_SCHEMECOLOR_INDEX_1" val="14"/>
  <p:tag name="KSO_WM_UNIT_FILL_FORE_SCHEMECOLOR_INDEX_1_POS" val="0.15"/>
  <p:tag name="KSO_WM_UNIT_FILL_FORE_SCHEMECOLOR_INDEX_1_TRANS" val="0"/>
  <p:tag name="KSO_WM_UNIT_FILL_FORE_SCHEMECOLOR_INDEX_2_BRIGHTNESS" val="0"/>
  <p:tag name="KSO_WM_UNIT_FILL_FORE_SCHEMECOLOR_INDEX_2" val="14"/>
  <p:tag name="KSO_WM_UNIT_FILL_FORE_SCHEMECOLOR_INDEX_2_POS" val="0.43"/>
  <p:tag name="KSO_WM_UNIT_FILL_FORE_SCHEMECOLOR_INDEX_2_TRANS" val="0.39"/>
  <p:tag name="KSO_WM_UNIT_FILL_FORE_SCHEMECOLOR_INDEX_3_BRIGHTNESS" val="0"/>
  <p:tag name="KSO_WM_UNIT_FILL_FORE_SCHEMECOLOR_INDEX_3" val="14"/>
  <p:tag name="KSO_WM_UNIT_FILL_FORE_SCHEMECOLOR_INDEX_3_POS" val="0.81"/>
  <p:tag name="KSO_WM_UNIT_FILL_FORE_SCHEMECOLOR_INDEX_3_TRANS" val="0"/>
  <p:tag name="KSO_WM_UNIT_FILL_GRADIENT_TYPE" val="0"/>
  <p:tag name="KSO_WM_UNIT_FILL_GRADIENT_ANGLE" val="45"/>
  <p:tag name="KSO_WM_UNIT_FILL_GRADIENT_DIRECTION" val="0"/>
  <p:tag name="KSO_WM_UNIT_FILL_TYPE" val="3"/>
  <p:tag name="KSO_WM_UNIT_SHADOW_SCHEMECOLOR_INDEX_BRIGHTNESS" val="-0.5"/>
  <p:tag name="KSO_WM_UNIT_SHADOW_SCHEMECOLOR_INDEX" val="5"/>
</p:tagLst>
</file>

<file path=ppt/tags/tag58.xml><?xml version="1.0" encoding="utf-8"?>
<p:tagLst xmlns:p="http://schemas.openxmlformats.org/presentationml/2006/main">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45"/>
  <p:tag name="KSO_WM_UNIT_FILL_GRADIENT_DIRECTION" val="0"/>
  <p:tag name="KSO_WM_UNIT_FILL_TYPE" val="3"/>
</p:tagLst>
</file>

<file path=ppt/tags/tag5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60.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1.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62.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63.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64.xml><?xml version="1.0" encoding="utf-8"?>
<p:tagLst xmlns:p="http://schemas.openxmlformats.org/presentationml/2006/main">
  <p:tag name="KSO_WM_UNIT_FILL_FORE_SCHEMECOLOR_INDEX_1_BRIGHTNESS" val="-0.15"/>
  <p:tag name="KSO_WM_UNIT_FILL_FORE_SCHEMECOLOR_INDEX_1" val="14"/>
  <p:tag name="KSO_WM_UNIT_FILL_FORE_SCHEMECOLOR_INDEX_1_POS" val="0.18"/>
  <p:tag name="KSO_WM_UNIT_FILL_FORE_SCHEMECOLOR_INDEX_1_TRANS" val="0"/>
  <p:tag name="KSO_WM_UNIT_FILL_FORE_SCHEMECOLOR_INDEX_2_BRIGHTNESS" val="0"/>
  <p:tag name="KSO_WM_UNIT_FILL_FORE_SCHEMECOLOR_INDEX_2" val="14"/>
  <p:tag name="KSO_WM_UNIT_FILL_FORE_SCHEMECOLOR_INDEX_2_POS" val="0.35"/>
  <p:tag name="KSO_WM_UNIT_FILL_FORE_SCHEMECOLOR_INDEX_2_TRANS" val="0"/>
  <p:tag name="KSO_WM_UNIT_FILL_FORE_SCHEMECOLOR_INDEX_3_BRIGHTNESS" val="-0.15"/>
  <p:tag name="KSO_WM_UNIT_FILL_FORE_SCHEMECOLOR_INDEX_3" val="14"/>
  <p:tag name="KSO_WM_UNIT_FILL_FORE_SCHEMECOLOR_INDEX_3_POS" val="0.5"/>
  <p:tag name="KSO_WM_UNIT_FILL_FORE_SCHEMECOLOR_INDEX_3_TRANS" val="0"/>
  <p:tag name="KSO_WM_UNIT_FILL_GRADIENT_TYPE" val="0"/>
  <p:tag name="KSO_WM_UNIT_FILL_GRADIENT_ANGLE" val="45"/>
  <p:tag name="KSO_WM_UNIT_FILL_GRADIENT_DIRECTION" val="0"/>
  <p:tag name="KSO_WM_UNIT_FILL_TYPE" val="3"/>
</p:tagLst>
</file>

<file path=ppt/tags/tag65.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6.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67.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68.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6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70.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UNIT_FILL_FORE_SCHEMECOLOR_INDEX_BRIGHTNESS" val="0"/>
  <p:tag name="KSO_WM_UNIT_FILL_FORE_SCHEMECOLOR_INDEX" val="5"/>
  <p:tag name="KSO_WM_UNIT_FILL_TYPE" val="1"/>
  <p:tag name="KSO_WM_UNIT_SHADOW_SCHEMECOLOR_INDEX_BRIGHTNESS" val="-0.5"/>
  <p:tag name="KSO_WM_UNIT_SHADOW_SCHEMECOLOR_INDEX" val="5"/>
</p:tagLst>
</file>

<file path=ppt/tags/tag73.xml><?xml version="1.0" encoding="utf-8"?>
<p:tagLst xmlns:p="http://schemas.openxmlformats.org/presentationml/2006/main">
  <p:tag name="KSO_WM_UNIT_FILL_FORE_SCHEMECOLOR_INDEX_1_BRIGHTNESS" val="-0.15"/>
  <p:tag name="KSO_WM_UNIT_FILL_FORE_SCHEMECOLOR_INDEX_1" val="14"/>
  <p:tag name="KSO_WM_UNIT_FILL_FORE_SCHEMECOLOR_INDEX_1_POS" val="0.15"/>
  <p:tag name="KSO_WM_UNIT_FILL_FORE_SCHEMECOLOR_INDEX_1_TRANS" val="0"/>
  <p:tag name="KSO_WM_UNIT_FILL_FORE_SCHEMECOLOR_INDEX_2_BRIGHTNESS" val="0"/>
  <p:tag name="KSO_WM_UNIT_FILL_FORE_SCHEMECOLOR_INDEX_2" val="14"/>
  <p:tag name="KSO_WM_UNIT_FILL_FORE_SCHEMECOLOR_INDEX_2_POS" val="0.43"/>
  <p:tag name="KSO_WM_UNIT_FILL_FORE_SCHEMECOLOR_INDEX_2_TRANS" val="0.39"/>
  <p:tag name="KSO_WM_UNIT_FILL_FORE_SCHEMECOLOR_INDEX_3_BRIGHTNESS" val="0"/>
  <p:tag name="KSO_WM_UNIT_FILL_FORE_SCHEMECOLOR_INDEX_3" val="14"/>
  <p:tag name="KSO_WM_UNIT_FILL_FORE_SCHEMECOLOR_INDEX_3_POS" val="0.81"/>
  <p:tag name="KSO_WM_UNIT_FILL_FORE_SCHEMECOLOR_INDEX_3_TRANS" val="0"/>
  <p:tag name="KSO_WM_UNIT_FILL_GRADIENT_TYPE" val="0"/>
  <p:tag name="KSO_WM_UNIT_FILL_GRADIENT_ANGLE" val="45"/>
  <p:tag name="KSO_WM_UNIT_FILL_GRADIENT_DIRECTION" val="0"/>
  <p:tag name="KSO_WM_UNIT_FILL_TYPE" val="3"/>
  <p:tag name="KSO_WM_UNIT_SHADOW_SCHEMECOLOR_INDEX_BRIGHTNESS" val="-0.5"/>
  <p:tag name="KSO_WM_UNIT_SHADOW_SCHEMECOLOR_INDEX" val="5"/>
</p:tagLst>
</file>

<file path=ppt/tags/tag74.xml><?xml version="1.0" encoding="utf-8"?>
<p:tagLst xmlns:p="http://schemas.openxmlformats.org/presentationml/2006/main">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1"/>
  <p:tag name="KSO_WM_UNIT_FILL_FORE_SCHEMECOLOR_INDEX_2_TRANS" val="0"/>
  <p:tag name="KSO_WM_UNIT_FILL_GRADIENT_TYPE" val="0"/>
  <p:tag name="KSO_WM_UNIT_FILL_GRADIENT_ANGLE" val="45"/>
  <p:tag name="KSO_WM_UNIT_FILL_GRADIENT_DIRECTION" val="0"/>
  <p:tag name="KSO_WM_UNIT_FILL_TYPE" val="3"/>
</p:tagLst>
</file>

<file path=ppt/tags/tag75.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76.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77.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78.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79.xml><?xml version="1.0" encoding="utf-8"?>
<p:tagLst xmlns:p="http://schemas.openxmlformats.org/presentationml/2006/main">
  <p:tag name="KSO_WM_UNIT_FILL_FORE_SCHEMECOLOR_INDEX_BRIGHTNESS" val="0"/>
  <p:tag name="KSO_WM_UNIT_FILL_FORE_SCHEMECOLOR_INDEX" val="14"/>
  <p:tag name="KSO_WM_UNIT_FILL_TYPE" val="1"/>
</p:tagLst>
</file>

<file path=ppt/tags/tag80.xml><?xml version="1.0" encoding="utf-8"?>
<p:tagLst xmlns:p="http://schemas.openxmlformats.org/presentationml/2006/main">
  <p:tag name="KSO_WM_UNIT_FILL_FORE_SCHEMECOLOR_INDEX_1_BRIGHTNESS" val="-0.15"/>
  <p:tag name="KSO_WM_UNIT_FILL_FORE_SCHEMECOLOR_INDEX_1" val="14"/>
  <p:tag name="KSO_WM_UNIT_FILL_FORE_SCHEMECOLOR_INDEX_1_POS" val="0.18"/>
  <p:tag name="KSO_WM_UNIT_FILL_FORE_SCHEMECOLOR_INDEX_1_TRANS" val="0"/>
  <p:tag name="KSO_WM_UNIT_FILL_FORE_SCHEMECOLOR_INDEX_2_BRIGHTNESS" val="0"/>
  <p:tag name="KSO_WM_UNIT_FILL_FORE_SCHEMECOLOR_INDEX_2" val="14"/>
  <p:tag name="KSO_WM_UNIT_FILL_FORE_SCHEMECOLOR_INDEX_2_POS" val="0.35"/>
  <p:tag name="KSO_WM_UNIT_FILL_FORE_SCHEMECOLOR_INDEX_2_TRANS" val="0"/>
  <p:tag name="KSO_WM_UNIT_FILL_FORE_SCHEMECOLOR_INDEX_3_BRIGHTNESS" val="-0.15"/>
  <p:tag name="KSO_WM_UNIT_FILL_FORE_SCHEMECOLOR_INDEX_3" val="14"/>
  <p:tag name="KSO_WM_UNIT_FILL_FORE_SCHEMECOLOR_INDEX_3_POS" val="0.5"/>
  <p:tag name="KSO_WM_UNIT_FILL_FORE_SCHEMECOLOR_INDEX_3_TRANS" val="0"/>
  <p:tag name="KSO_WM_UNIT_FILL_GRADIENT_TYPE" val="0"/>
  <p:tag name="KSO_WM_UNIT_FILL_GRADIENT_ANGLE" val="45"/>
  <p:tag name="KSO_WM_UNIT_FILL_GRADIENT_DIRECTION" val="0"/>
  <p:tag name="KSO_WM_UNIT_FILL_TYPE" val="3"/>
</p:tagLst>
</file>

<file path=ppt/tags/tag81.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82.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83.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84.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85.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86.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4"/>
  <p:tag name="KSO_WM_UNIT_ID" val="diagram20211120_1*f*4"/>
  <p:tag name="KSO_WM_TEMPLATE_CATEGORY" val="diagram"/>
  <p:tag name="KSO_WM_TEMPLATE_INDEX" val="20211120"/>
  <p:tag name="KSO_WM_UNIT_LAYERLEVEL" val="1"/>
  <p:tag name="KSO_WM_TAG_VERSION" val="1.0"/>
  <p:tag name="KSO_WM_BEAUTIFY_FLAG" val="#wm#"/>
  <p:tag name="KSO_WM_UNIT_DEFAULT_FONT" val="14;20;2"/>
  <p:tag name="KSO_WM_UNIT_BLOCK" val="0"/>
  <p:tag name="KSO_WM_UNIT_VALUE" val="132"/>
  <p:tag name="KSO_WM_UNIT_SHOW_EDIT_AREA_INDICATION" val="1"/>
  <p:tag name="KSO_WM_CHIP_GROUPID" val="5e6b05596848fb12bee65ac8"/>
  <p:tag name="KSO_WM_CHIP_XID" val="5e6b05596848fb12bee65aca"/>
  <p:tag name="KSO_WM_UNIT_DEC_AREA_ID" val="31d83fe370f84213bffcba60e8f1087e"/>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6c794652d4fe4576b26356037af7f941"/>
  <p:tag name="KSO_WM_UNIT_SUPPORT_UNIT_TYPE" val="[&quot;d&quot;]"/>
  <p:tag name="KSO_WM_UNIT_TEXT_FILL_FORE_SCHEMECOLOR_INDEX_BRIGHTNESS" val="0.25"/>
  <p:tag name="KSO_WM_UNIT_TEXT_FILL_FORE_SCHEMECOLOR_INDEX" val="13"/>
  <p:tag name="KSO_WM_UNIT_TEXT_FILL_TYPE" val="1"/>
  <p:tag name="KSO_WM_TEMPLATE_ASSEMBLE_XID" val="60656eb14054ed1e2fb7fe06"/>
  <p:tag name="KSO_WM_TEMPLATE_ASSEMBLE_GROUPID" val="60656eb14054ed1e2fb7fe06"/>
</p:tagLst>
</file>

<file path=ppt/tags/tag89.xml><?xml version="1.0" encoding="utf-8"?>
<p:tagLst xmlns:p="http://schemas.openxmlformats.org/presentationml/2006/main">
  <p:tag name="KSO_WM_UNIT_FILL_FORE_SCHEMECOLOR_INDEX_1_BRIGHTNESS" val="0.23"/>
  <p:tag name="KSO_WM_UNIT_FILL_FORE_SCHEMECOLOR_INDEX_1" val="5"/>
  <p:tag name="KSO_WM_UNIT_FILL_FORE_SCHEMECOLOR_INDEX_1_POS" val="0"/>
  <p:tag name="KSO_WM_UNIT_FILL_FORE_SCHEMECOLOR_INDEX_1_TRANS" val="0"/>
  <p:tag name="KSO_WM_UNIT_FILL_FORE_SCHEMECOLOR_INDEX_2_BRIGHTNESS" val="0.3"/>
  <p:tag name="KSO_WM_UNIT_FILL_FORE_SCHEMECOLOR_INDEX_2" val="5"/>
  <p:tag name="KSO_WM_UNIT_FILL_FORE_SCHEMECOLOR_INDEX_2_POS" val="1"/>
  <p:tag name="KSO_WM_UNIT_FILL_FORE_SCHEMECOLOR_INDEX_2_TRANS" val="0.8"/>
  <p:tag name="KSO_WM_UNIT_FILL_GRADIENT_TYPE" val="0"/>
  <p:tag name="KSO_WM_UNIT_FILL_GRADIENT_ANGLE" val="90"/>
  <p:tag name="KSO_WM_UNIT_FILL_GRADIENT_DIRECTION" val="1"/>
  <p:tag name="KSO_WM_UNIT_FILL_TYPE" val="3"/>
</p:tagLst>
</file>

<file path=ppt/tags/tag90.xml><?xml version="1.0" encoding="utf-8"?>
<p:tagLst xmlns:p="http://schemas.openxmlformats.org/presentationml/2006/main">
  <p:tag name="KSO_WM_UNIT_FILL_FORE_SCHEMECOLOR_INDEX_1_BRIGHTNESS" val="0.95"/>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74"/>
  <p:tag name="KSO_WM_UNIT_FILL_FORE_SCHEMECOLOR_INDEX_2_TRANS" val="0"/>
  <p:tag name="KSO_WM_UNIT_FILL_FORE_SCHEMECOLOR_INDEX_3_BRIGHTNESS" val="0"/>
  <p:tag name="KSO_WM_UNIT_FILL_FORE_SCHEMECOLOR_INDEX_3" val="5"/>
  <p:tag name="KSO_WM_UNIT_FILL_FORE_SCHEMECOLOR_INDEX_3_POS" val="0.83"/>
  <p:tag name="KSO_WM_UNIT_FILL_FORE_SCHEMECOLOR_INDEX_3_TRANS" val="0"/>
  <p:tag name="KSO_WM_UNIT_FILL_FORE_SCHEMECOLOR_INDEX_4_BRIGHTNESS" val="0"/>
  <p:tag name="KSO_WM_UNIT_FILL_FORE_SCHEMECOLOR_INDEX_4" val="5"/>
  <p:tag name="KSO_WM_UNIT_FILL_FORE_SCHEMECOLOR_INDEX_4_POS" val="1"/>
  <p:tag name="KSO_WM_UNIT_FILL_FORE_SCHEMECOLOR_INDEX_4_TRANS" val="0"/>
  <p:tag name="KSO_WM_UNIT_FILL_GRADIENT_TYPE" val="0"/>
  <p:tag name="KSO_WM_UNIT_FILL_GRADIENT_ANGLE" val="90"/>
  <p:tag name="KSO_WM_UNIT_FILL_GRADIENT_DIRECTION" val="1"/>
  <p:tag name="KSO_WM_UNIT_FILL_TYPE" val="3"/>
</p:tagLst>
</file>

<file path=ppt/tags/tag91.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Lst>
</file>

<file path=ppt/tags/tag92.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9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94.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Lst>
</file>

<file path=ppt/tags/tag95.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96.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Lst>
</file>

<file path=ppt/tags/tag97.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98.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Lst>
</file>

<file path=ppt/tags/tag9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00.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1"/>
  <p:tag name="KSO_WM_UNIT_LINE_GRADIENT_TYPE" val="0"/>
  <p:tag name="KSO_WM_UNIT_LINE_GRADIENT_ANGLE" val="90"/>
  <p:tag name="KSO_WM_UNIT_LINE_GRADIENT_DIRECTION" val="1"/>
  <p:tag name="KSO_WM_UNIT_LINE_FILL_TYPE" val="5"/>
</p:tagLst>
</file>

<file path=ppt/tags/tag101.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02.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03.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04.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05.xml><?xml version="1.0" encoding="utf-8"?>
<p:tagLst xmlns:p="http://schemas.openxmlformats.org/presentationml/2006/main">
  <p:tag name="KSO_WM_UNIT_TEXT_FILL_FORE_SCHEMECOLOR_INDEX_BRIGHTNESS" val="0.25"/>
  <p:tag name="KSO_WM_UNIT_TEXT_FILL_FORE_SCHEMECOLOR_INDEX" val="13"/>
  <p:tag name="KSO_WM_UNIT_TEXT_FILL_TYPE" val="1"/>
</p:tagLst>
</file>

<file path=ppt/tags/tag106.xml><?xml version="1.0" encoding="utf-8"?>
<p:tagLst xmlns:p="http://schemas.openxmlformats.org/presentationml/2006/main">
  <p:tag name="SHADOWSIZE" val="99"/>
  <p:tag name="TEXTSHADOWSIZE" val="100"/>
</p:tagLst>
</file>

<file path=ppt/tags/tag107.xml><?xml version="1.0" encoding="utf-8"?>
<p:tagLst xmlns:p="http://schemas.openxmlformats.org/presentationml/2006/main">
  <p:tag name="SHADOWSIZE" val="99"/>
  <p:tag name="TEXTSHADOWSIZE" val="100"/>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UNIT_ICON_FILEID" val="3102586"/>
  <p:tag name="KSO_WM_UNIT_ICON_STYLE" val="2"/>
  <p:tag name="KSO_WM_UNIT_VALUE" val="52*5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10821_1*l_h_x*1_4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5.xml><?xml version="1.0" encoding="utf-8"?>
<p:tagLst xmlns:p="http://schemas.openxmlformats.org/presentationml/2006/main">
  <p:tag name="SHADOWSIZE" val="99"/>
  <p:tag name="TEXTSHADOWSIZE" val="100"/>
</p:tagLst>
</file>

<file path=ppt/tags/tag116.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18.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21.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22.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24.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25.xml><?xml version="1.0" encoding="utf-8"?>
<p:tagLst xmlns:p="http://schemas.openxmlformats.org/presentationml/2006/main">
  <p:tag name="KSO_WM_BEAUTIFY_FLAG" val="#wm#"/>
  <p:tag name="KSO_WM_TEMPLATE_CATEGORY" val="diagram"/>
  <p:tag name="KSO_WM_TEMPLATE_INDEX" val="20214796"/>
  <p:tag name="KSO_WM_SLIDE_ID" val="diagram20214796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64*444"/>
  <p:tag name="KSO_WM_SLIDE_POSITION" val="48*48"/>
  <p:tag name="KSO_WM_TAG_VERSION" val="1.0"/>
  <p:tag name="KSO_WM_SLIDE_LAYOUT" val="a_d_f"/>
  <p:tag name="KSO_WM_SLIDE_LAYOUT_CNT" val="1_1_1"/>
  <p:tag name="KSO_WM_SLIDE_LAYOUT_INFO" val="{&quot;backgroundInfo&quot;:[{&quot;bottom&quot;:0,&quot;bottomAbs&quot;:false,&quot;left&quot;:0,&quot;leftAbs&quot;:false,&quot;right&quot;:0,&quot;rightAbs&quot;:false,&quot;top&quot;:0,&quot;topAbs&quot;:false,&quot;type&quot;:&quot;general&quot;}],&quot;id&quot;:&quot;2021-04-01T15:56:14&quot;,&quot;maxSize&quot;:{&quot;size1&quot;:28.9},&quot;minSize&quot;:{&quot;size1&quot;:17.9},&quot;normalSize&quot;:{&quot;size1&quot;:17.9},&quot;subLayout&quot;:[{&quot;id&quot;:&quot;2021-04-01T15:56:14&quot;,&quot;margin&quot;:{&quot;bottom&quot;:0.0260000042617321,&quot;left&quot;:2.9629998207092285,&quot;right&quot;:1.692000150680542,&quot;top&quot;:1.6929999589920044},&quot;type&quot;:0},{&quot;id&quot;:&quot;2021-04-01T15:56:14&quot;,&quot;maxSize&quot;:{&quot;size1&quot;:29.8},&quot;minSize&quot;:{&quot;size1&quot;:16.2},&quot;normalSize&quot;:{&quot;size1&quot;:16.2},&quot;subLayout&quot;:[{&quot;id&quot;:&quot;2021-04-01T15:56:14&quot;,&quot;margin&quot;:{&quot;bottom&quot;:0.0260000042617321,&quot;left&quot;:2.9629998207092285,&quot;right&quot;:1.692000150680542,&quot;top&quot;:0.3970000147819519},&quot;type&quot;:0},{&quot;id&quot;:&quot;2021-04-01T15:56:14&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08d94747e3ea6e292a801"/>
  <p:tag name="KSO_WM_CHIP_FILLPROP" val="[[{&quot;text_align&quot;:&quot;lt&quot;,&quot;text_direction&quot;:&quot;horizontal&quot;,&quot;support_big_font&quot;:false,&quot;picture_toward&quot;:0,&quot;picture_dockside&quot;:[],&quot;fill_id&quot;:&quot;2cb183515b8641c9ace778787b879424&quot;,&quot;fill_align&quot;:&quot;lt&quot;,&quot;chip_types&quot;:[&quot;header&quot;]},{&quot;text_align&quot;:&quot;lt&quot;,&quot;text_direction&quot;:&quot;horizontal&quot;,&quot;support_big_font&quot;:false,&quot;picture_toward&quot;:0,&quot;picture_dockside&quot;:[],&quot;fill_id&quot;:&quot;9a6bdccd29e94bd69f8c779b7e642031&quot;,&quot;fill_align&quot;:&quot;lt&quot;,&quot;chip_types&quot;:[&quot;text&quot;]},{&quot;text_align&quot;:&quot;lt&quot;,&quot;text_direction&quot;:&quot;horizontal&quot;,&quot;support_features&quot;:[&quot;collage&quot;,&quot;carousel&quot;],&quot;support_big_font&quot;:false,&quot;picture_toward&quot;:0,&quot;picture_dockside&quot;:[],&quot;fill_id&quot;:&quot;577d36910ae04ab595296b66134fbb6f&quot;,&quot;fill_align&quot;:&quot;cm&quot;,&quot;chip_types&quot;:[&quot;diagram&quot;,&quot;text&quot;,&quot;picture&quot;,&quot;chart&quot;,&quot;table&quot;,&quot;video&quot;]}]]"/>
  <p:tag name="KSO_WM_CHIP_DECFILLPROP" val="[]"/>
  <p:tag name="KSO_WM_SLIDE_CAN_ADD_NAVIGATION" val="1"/>
  <p:tag name="KSO_WM_CHIP_GROUPID" val="5f708d94747e3ea6e292a800"/>
  <p:tag name="KSO_WM_SLIDE_BK_DARK_LIGHT" val="2"/>
  <p:tag name="KSO_WM_SLIDE_BACKGROUND_TYPE" val="general"/>
  <p:tag name="KSO_WM_SLIDE_SUPPORT_FEATURE_TYPE" val="3"/>
  <p:tag name="KSO_WM_TEMPLATE_ASSEMBLE_XID" val="60656fa04054ed1e2fb80d95"/>
  <p:tag name="KSO_WM_TEMPLATE_ASSEMBLE_GROUPID" val="60656fa04054ed1e2fb80d95"/>
</p:tagLst>
</file>

<file path=ppt/tags/tag126.xml><?xml version="1.0" encoding="utf-8"?>
<p:tagLst xmlns:p="http://schemas.openxmlformats.org/presentationml/2006/main">
  <p:tag name="SHADOWSIZE" val="99"/>
  <p:tag name="TEXTSHADOWSIZE" val="100"/>
</p:tagLst>
</file>

<file path=ppt/tags/tag127.xml><?xml version="1.0" encoding="utf-8"?>
<p:tagLst xmlns:p="http://schemas.openxmlformats.org/presentationml/2006/main">
  <p:tag name="SHADOWSIZE" val="99"/>
  <p:tag name="TEXTSHADOWSIZE" val="100"/>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UNIT_ICON_FILEID" val="3102586"/>
  <p:tag name="KSO_WM_UNIT_ICON_STYLE" val="2"/>
  <p:tag name="KSO_WM_UNIT_VALUE" val="52*5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10821_1*l_h_x*1_4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37.xml><?xml version="1.0" encoding="utf-8"?>
<p:tagLst xmlns:p="http://schemas.openxmlformats.org/presentationml/2006/main">
  <p:tag name="SHADOWSIZE" val="99"/>
  <p:tag name="TEXTSHADOWSIZE" val="100"/>
</p:tagLst>
</file>

<file path=ppt/tags/tag138.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40.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41.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43.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44.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46.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47.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49.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50.xml><?xml version="1.0" encoding="utf-8"?>
<p:tagLst xmlns:p="http://schemas.openxmlformats.org/presentationml/2006/main">
  <p:tag name="KSO_WM_BEAUTIFY_FLAG" val="#wm#"/>
  <p:tag name="KSO_WM_TEMPLATE_CATEGORY" val="diagram"/>
  <p:tag name="KSO_WM_TEMPLATE_INDEX" val="20214796"/>
  <p:tag name="KSO_WM_SLIDE_ID" val="diagram20214796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64*444"/>
  <p:tag name="KSO_WM_SLIDE_POSITION" val="48*48"/>
  <p:tag name="KSO_WM_TAG_VERSION" val="1.0"/>
  <p:tag name="KSO_WM_SLIDE_LAYOUT" val="a_d_f"/>
  <p:tag name="KSO_WM_SLIDE_LAYOUT_CNT" val="1_1_1"/>
  <p:tag name="KSO_WM_SLIDE_LAYOUT_INFO" val="{&quot;backgroundInfo&quot;:[{&quot;bottom&quot;:0,&quot;bottomAbs&quot;:false,&quot;left&quot;:0,&quot;leftAbs&quot;:false,&quot;right&quot;:0,&quot;rightAbs&quot;:false,&quot;top&quot;:0,&quot;topAbs&quot;:false,&quot;type&quot;:&quot;general&quot;}],&quot;id&quot;:&quot;2021-04-01T15:56:14&quot;,&quot;maxSize&quot;:{&quot;size1&quot;:28.9},&quot;minSize&quot;:{&quot;size1&quot;:17.9},&quot;normalSize&quot;:{&quot;size1&quot;:17.9},&quot;subLayout&quot;:[{&quot;id&quot;:&quot;2021-04-01T15:56:14&quot;,&quot;margin&quot;:{&quot;bottom&quot;:0.0260000042617321,&quot;left&quot;:2.9629998207092285,&quot;right&quot;:1.692000150680542,&quot;top&quot;:1.6929999589920044},&quot;type&quot;:0},{&quot;id&quot;:&quot;2021-04-01T15:56:14&quot;,&quot;maxSize&quot;:{&quot;size1&quot;:29.8},&quot;minSize&quot;:{&quot;size1&quot;:16.2},&quot;normalSize&quot;:{&quot;size1&quot;:16.2},&quot;subLayout&quot;:[{&quot;id&quot;:&quot;2021-04-01T15:56:14&quot;,&quot;margin&quot;:{&quot;bottom&quot;:0.0260000042617321,&quot;left&quot;:2.9629998207092285,&quot;right&quot;:1.692000150680542,&quot;top&quot;:0.3970000147819519},&quot;type&quot;:0},{&quot;id&quot;:&quot;2021-04-01T15:56:14&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08d94747e3ea6e292a801"/>
  <p:tag name="KSO_WM_CHIP_FILLPROP" val="[[{&quot;text_align&quot;:&quot;lt&quot;,&quot;text_direction&quot;:&quot;horizontal&quot;,&quot;support_big_font&quot;:false,&quot;picture_toward&quot;:0,&quot;picture_dockside&quot;:[],&quot;fill_id&quot;:&quot;2cb183515b8641c9ace778787b879424&quot;,&quot;fill_align&quot;:&quot;lt&quot;,&quot;chip_types&quot;:[&quot;header&quot;]},{&quot;text_align&quot;:&quot;lt&quot;,&quot;text_direction&quot;:&quot;horizontal&quot;,&quot;support_big_font&quot;:false,&quot;picture_toward&quot;:0,&quot;picture_dockside&quot;:[],&quot;fill_id&quot;:&quot;9a6bdccd29e94bd69f8c779b7e642031&quot;,&quot;fill_align&quot;:&quot;lt&quot;,&quot;chip_types&quot;:[&quot;text&quot;]},{&quot;text_align&quot;:&quot;lt&quot;,&quot;text_direction&quot;:&quot;horizontal&quot;,&quot;support_features&quot;:[&quot;collage&quot;,&quot;carousel&quot;],&quot;support_big_font&quot;:false,&quot;picture_toward&quot;:0,&quot;picture_dockside&quot;:[],&quot;fill_id&quot;:&quot;577d36910ae04ab595296b66134fbb6f&quot;,&quot;fill_align&quot;:&quot;cm&quot;,&quot;chip_types&quot;:[&quot;diagram&quot;,&quot;text&quot;,&quot;picture&quot;,&quot;chart&quot;,&quot;table&quot;,&quot;video&quot;]}]]"/>
  <p:tag name="KSO_WM_CHIP_DECFILLPROP" val="[]"/>
  <p:tag name="KSO_WM_SLIDE_CAN_ADD_NAVIGATION" val="1"/>
  <p:tag name="KSO_WM_CHIP_GROUPID" val="5f708d94747e3ea6e292a800"/>
  <p:tag name="KSO_WM_SLIDE_BK_DARK_LIGHT" val="2"/>
  <p:tag name="KSO_WM_SLIDE_BACKGROUND_TYPE" val="general"/>
  <p:tag name="KSO_WM_SLIDE_SUPPORT_FEATURE_TYPE" val="3"/>
  <p:tag name="KSO_WM_TEMPLATE_ASSEMBLE_XID" val="60656fa04054ed1e2fb80d95"/>
  <p:tag name="KSO_WM_TEMPLATE_ASSEMBLE_GROUPID" val="60656fa04054ed1e2fb80d95"/>
</p:tagLst>
</file>

<file path=ppt/tags/tag151.xml><?xml version="1.0" encoding="utf-8"?>
<p:tagLst xmlns:p="http://schemas.openxmlformats.org/presentationml/2006/main">
  <p:tag name="SHADOWSIZE" val="99"/>
  <p:tag name="TEXTSHADOWSIZE" val="100"/>
</p:tagLst>
</file>

<file path=ppt/tags/tag152.xml><?xml version="1.0" encoding="utf-8"?>
<p:tagLst xmlns:p="http://schemas.openxmlformats.org/presentationml/2006/main">
  <p:tag name="SHADOWSIZE" val="99"/>
  <p:tag name="TEXTSHADOWSIZE" val="100"/>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UNIT_ICON_FILEID" val="3102586"/>
  <p:tag name="KSO_WM_UNIT_ICON_STYLE" val="2"/>
  <p:tag name="KSO_WM_UNIT_VALUE" val="52*5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10821_1*l_h_x*1_4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0.xml><?xml version="1.0" encoding="utf-8"?>
<p:tagLst xmlns:p="http://schemas.openxmlformats.org/presentationml/2006/main">
  <p:tag name="SHADOWSIZE" val="99"/>
  <p:tag name="TEXTSHADOWSIZE" val="100"/>
</p:tagLst>
</file>

<file path=ppt/tags/tag161.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63.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4.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66.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69.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70.xml><?xml version="1.0" encoding="utf-8"?>
<p:tagLst xmlns:p="http://schemas.openxmlformats.org/presentationml/2006/main">
  <p:tag name="KSO_WM_BEAUTIFY_FLAG" val="#wm#"/>
  <p:tag name="KSO_WM_TEMPLATE_CATEGORY" val="diagram"/>
  <p:tag name="KSO_WM_TEMPLATE_INDEX" val="20214796"/>
  <p:tag name="KSO_WM_SLIDE_ID" val="diagram20214796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64*444"/>
  <p:tag name="KSO_WM_SLIDE_POSITION" val="48*48"/>
  <p:tag name="KSO_WM_TAG_VERSION" val="1.0"/>
  <p:tag name="KSO_WM_SLIDE_LAYOUT" val="a_d_f"/>
  <p:tag name="KSO_WM_SLIDE_LAYOUT_CNT" val="1_1_1"/>
  <p:tag name="KSO_WM_SLIDE_LAYOUT_INFO" val="{&quot;backgroundInfo&quot;:[{&quot;bottom&quot;:0,&quot;bottomAbs&quot;:false,&quot;left&quot;:0,&quot;leftAbs&quot;:false,&quot;right&quot;:0,&quot;rightAbs&quot;:false,&quot;top&quot;:0,&quot;topAbs&quot;:false,&quot;type&quot;:&quot;general&quot;}],&quot;id&quot;:&quot;2021-04-01T15:56:14&quot;,&quot;maxSize&quot;:{&quot;size1&quot;:28.9},&quot;minSize&quot;:{&quot;size1&quot;:17.9},&quot;normalSize&quot;:{&quot;size1&quot;:17.9},&quot;subLayout&quot;:[{&quot;id&quot;:&quot;2021-04-01T15:56:14&quot;,&quot;margin&quot;:{&quot;bottom&quot;:0.0260000042617321,&quot;left&quot;:2.9629998207092285,&quot;right&quot;:1.692000150680542,&quot;top&quot;:1.6929999589920044},&quot;type&quot;:0},{&quot;id&quot;:&quot;2021-04-01T15:56:14&quot;,&quot;maxSize&quot;:{&quot;size1&quot;:29.8},&quot;minSize&quot;:{&quot;size1&quot;:16.2},&quot;normalSize&quot;:{&quot;size1&quot;:16.2},&quot;subLayout&quot;:[{&quot;id&quot;:&quot;2021-04-01T15:56:14&quot;,&quot;margin&quot;:{&quot;bottom&quot;:0.0260000042617321,&quot;left&quot;:2.9629998207092285,&quot;right&quot;:1.692000150680542,&quot;top&quot;:0.3970000147819519},&quot;type&quot;:0},{&quot;id&quot;:&quot;2021-04-01T15:56:14&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08d94747e3ea6e292a801"/>
  <p:tag name="KSO_WM_CHIP_FILLPROP" val="[[{&quot;text_align&quot;:&quot;lt&quot;,&quot;text_direction&quot;:&quot;horizontal&quot;,&quot;support_big_font&quot;:false,&quot;picture_toward&quot;:0,&quot;picture_dockside&quot;:[],&quot;fill_id&quot;:&quot;2cb183515b8641c9ace778787b879424&quot;,&quot;fill_align&quot;:&quot;lt&quot;,&quot;chip_types&quot;:[&quot;header&quot;]},{&quot;text_align&quot;:&quot;lt&quot;,&quot;text_direction&quot;:&quot;horizontal&quot;,&quot;support_big_font&quot;:false,&quot;picture_toward&quot;:0,&quot;picture_dockside&quot;:[],&quot;fill_id&quot;:&quot;9a6bdccd29e94bd69f8c779b7e642031&quot;,&quot;fill_align&quot;:&quot;lt&quot;,&quot;chip_types&quot;:[&quot;text&quot;]},{&quot;text_align&quot;:&quot;lt&quot;,&quot;text_direction&quot;:&quot;horizontal&quot;,&quot;support_features&quot;:[&quot;collage&quot;,&quot;carousel&quot;],&quot;support_big_font&quot;:false,&quot;picture_toward&quot;:0,&quot;picture_dockside&quot;:[],&quot;fill_id&quot;:&quot;577d36910ae04ab595296b66134fbb6f&quot;,&quot;fill_align&quot;:&quot;cm&quot;,&quot;chip_types&quot;:[&quot;diagram&quot;,&quot;text&quot;,&quot;picture&quot;,&quot;chart&quot;,&quot;table&quot;,&quot;video&quot;]}]]"/>
  <p:tag name="KSO_WM_CHIP_DECFILLPROP" val="[]"/>
  <p:tag name="KSO_WM_SLIDE_CAN_ADD_NAVIGATION" val="1"/>
  <p:tag name="KSO_WM_CHIP_GROUPID" val="5f708d94747e3ea6e292a800"/>
  <p:tag name="KSO_WM_SLIDE_BK_DARK_LIGHT" val="2"/>
  <p:tag name="KSO_WM_SLIDE_BACKGROUND_TYPE" val="general"/>
  <p:tag name="KSO_WM_SLIDE_SUPPORT_FEATURE_TYPE" val="3"/>
  <p:tag name="KSO_WM_TEMPLATE_ASSEMBLE_XID" val="60656fa04054ed1e2fb80d95"/>
  <p:tag name="KSO_WM_TEMPLATE_ASSEMBLE_GROUPID" val="60656fa04054ed1e2fb80d95"/>
</p:tagLst>
</file>

<file path=ppt/tags/tag171.xml><?xml version="1.0" encoding="utf-8"?>
<p:tagLst xmlns:p="http://schemas.openxmlformats.org/presentationml/2006/main">
  <p:tag name="SHADOWSIZE" val="99"/>
  <p:tag name="TEXTSHADOWSIZE" val="100"/>
</p:tagLst>
</file>

<file path=ppt/tags/tag172.xml><?xml version="1.0" encoding="utf-8"?>
<p:tagLst xmlns:p="http://schemas.openxmlformats.org/presentationml/2006/main">
  <p:tag name="SHADOWSIZE" val="99"/>
  <p:tag name="TEXTSHADOWSIZE" val="100"/>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UNIT_ICON_FILEID" val="3102586"/>
  <p:tag name="KSO_WM_UNIT_ICON_STYLE" val="2"/>
  <p:tag name="KSO_WM_UNIT_VALUE" val="52*5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10821_1*l_h_x*1_4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80.xml><?xml version="1.0" encoding="utf-8"?>
<p:tagLst xmlns:p="http://schemas.openxmlformats.org/presentationml/2006/main">
  <p:tag name="SHADOWSIZE" val="99"/>
  <p:tag name="TEXTSHADOWSIZE" val="100"/>
</p:tagLst>
</file>

<file path=ppt/tags/tag181.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83.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84.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86.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87.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189.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90.xml><?xml version="1.0" encoding="utf-8"?>
<p:tagLst xmlns:p="http://schemas.openxmlformats.org/presentationml/2006/main">
  <p:tag name="KSO_WM_BEAUTIFY_FLAG" val="#wm#"/>
  <p:tag name="KSO_WM_TEMPLATE_CATEGORY" val="diagram"/>
  <p:tag name="KSO_WM_TEMPLATE_INDEX" val="20214796"/>
  <p:tag name="KSO_WM_SLIDE_ID" val="diagram20214796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64*444"/>
  <p:tag name="KSO_WM_SLIDE_POSITION" val="48*48"/>
  <p:tag name="KSO_WM_TAG_VERSION" val="1.0"/>
  <p:tag name="KSO_WM_SLIDE_LAYOUT" val="a_d_f"/>
  <p:tag name="KSO_WM_SLIDE_LAYOUT_CNT" val="1_1_1"/>
  <p:tag name="KSO_WM_SLIDE_LAYOUT_INFO" val="{&quot;backgroundInfo&quot;:[{&quot;bottom&quot;:0,&quot;bottomAbs&quot;:false,&quot;left&quot;:0,&quot;leftAbs&quot;:false,&quot;right&quot;:0,&quot;rightAbs&quot;:false,&quot;top&quot;:0,&quot;topAbs&quot;:false,&quot;type&quot;:&quot;general&quot;}],&quot;id&quot;:&quot;2021-04-01T15:56:14&quot;,&quot;maxSize&quot;:{&quot;size1&quot;:28.9},&quot;minSize&quot;:{&quot;size1&quot;:17.9},&quot;normalSize&quot;:{&quot;size1&quot;:17.9},&quot;subLayout&quot;:[{&quot;id&quot;:&quot;2021-04-01T15:56:14&quot;,&quot;margin&quot;:{&quot;bottom&quot;:0.0260000042617321,&quot;left&quot;:2.9629998207092285,&quot;right&quot;:1.692000150680542,&quot;top&quot;:1.6929999589920044},&quot;type&quot;:0},{&quot;id&quot;:&quot;2021-04-01T15:56:14&quot;,&quot;maxSize&quot;:{&quot;size1&quot;:29.8},&quot;minSize&quot;:{&quot;size1&quot;:16.2},&quot;normalSize&quot;:{&quot;size1&quot;:16.2},&quot;subLayout&quot;:[{&quot;id&quot;:&quot;2021-04-01T15:56:14&quot;,&quot;margin&quot;:{&quot;bottom&quot;:0.0260000042617321,&quot;left&quot;:2.9629998207092285,&quot;right&quot;:1.692000150680542,&quot;top&quot;:0.3970000147819519},&quot;type&quot;:0},{&quot;id&quot;:&quot;2021-04-01T15:56:14&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08d94747e3ea6e292a801"/>
  <p:tag name="KSO_WM_CHIP_FILLPROP" val="[[{&quot;text_align&quot;:&quot;lt&quot;,&quot;text_direction&quot;:&quot;horizontal&quot;,&quot;support_big_font&quot;:false,&quot;picture_toward&quot;:0,&quot;picture_dockside&quot;:[],&quot;fill_id&quot;:&quot;2cb183515b8641c9ace778787b879424&quot;,&quot;fill_align&quot;:&quot;lt&quot;,&quot;chip_types&quot;:[&quot;header&quot;]},{&quot;text_align&quot;:&quot;lt&quot;,&quot;text_direction&quot;:&quot;horizontal&quot;,&quot;support_big_font&quot;:false,&quot;picture_toward&quot;:0,&quot;picture_dockside&quot;:[],&quot;fill_id&quot;:&quot;9a6bdccd29e94bd69f8c779b7e642031&quot;,&quot;fill_align&quot;:&quot;lt&quot;,&quot;chip_types&quot;:[&quot;text&quot;]},{&quot;text_align&quot;:&quot;lt&quot;,&quot;text_direction&quot;:&quot;horizontal&quot;,&quot;support_features&quot;:[&quot;collage&quot;,&quot;carousel&quot;],&quot;support_big_font&quot;:false,&quot;picture_toward&quot;:0,&quot;picture_dockside&quot;:[],&quot;fill_id&quot;:&quot;577d36910ae04ab595296b66134fbb6f&quot;,&quot;fill_align&quot;:&quot;cm&quot;,&quot;chip_types&quot;:[&quot;diagram&quot;,&quot;text&quot;,&quot;picture&quot;,&quot;chart&quot;,&quot;table&quot;,&quot;video&quot;]}]]"/>
  <p:tag name="KSO_WM_CHIP_DECFILLPROP" val="[]"/>
  <p:tag name="KSO_WM_SLIDE_CAN_ADD_NAVIGATION" val="1"/>
  <p:tag name="KSO_WM_CHIP_GROUPID" val="5f708d94747e3ea6e292a800"/>
  <p:tag name="KSO_WM_SLIDE_BK_DARK_LIGHT" val="2"/>
  <p:tag name="KSO_WM_SLIDE_BACKGROUND_TYPE" val="general"/>
  <p:tag name="KSO_WM_SLIDE_SUPPORT_FEATURE_TYPE" val="3"/>
  <p:tag name="KSO_WM_TEMPLATE_ASSEMBLE_XID" val="60656fa04054ed1e2fb80d95"/>
  <p:tag name="KSO_WM_TEMPLATE_ASSEMBLE_GROUPID" val="60656fa04054ed1e2fb80d95"/>
</p:tagLst>
</file>

<file path=ppt/tags/tag191.xml><?xml version="1.0" encoding="utf-8"?>
<p:tagLst xmlns:p="http://schemas.openxmlformats.org/presentationml/2006/main">
  <p:tag name="SHADOWSIZE" val="99"/>
  <p:tag name="TEXTSHADOWSIZE" val="100"/>
</p:tagLst>
</file>

<file path=ppt/tags/tag192.xml><?xml version="1.0" encoding="utf-8"?>
<p:tagLst xmlns:p="http://schemas.openxmlformats.org/presentationml/2006/main">
  <p:tag name="SHADOWSIZE" val="99"/>
  <p:tag name="TEXTSHADOWSIZE" val="100"/>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UNIT_ICON_FILEID" val="3102586"/>
  <p:tag name="KSO_WM_UNIT_ICON_STYLE" val="2"/>
  <p:tag name="KSO_WM_UNIT_VALUE" val="52*52"/>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10821_1*l_h_x*1_4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00.xml><?xml version="1.0" encoding="utf-8"?>
<p:tagLst xmlns:p="http://schemas.openxmlformats.org/presentationml/2006/main">
  <p:tag name="SHADOWSIZE" val="99"/>
  <p:tag name="TEXTSHADOWSIZE" val="100"/>
</p:tagLst>
</file>

<file path=ppt/tags/tag201.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203.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04.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206.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07.xml><?xml version="1.0" encoding="utf-8"?>
<p:tagLst xmlns:p="http://schemas.openxmlformats.org/presentationml/2006/main">
  <p:tag name="KSO_WM_UNIT_ISCONTENTSTITLE" val="0"/>
  <p:tag name="KSO_WM_UNIT_ISNUMDGMTITLE" val="0"/>
  <p:tag name="KSO_WM_UNIT_PRESET_TEXT" val="点击添加标题"/>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10821_1*l_h_a*1_1_1"/>
  <p:tag name="KSO_WM_TEMPLATE_CATEGORY" val="diagram"/>
  <p:tag name="KSO_WM_TEMPLATE_INDEX" val="20210821"/>
  <p:tag name="KSO_WM_UNIT_LAYERLEVEL" val="1_1_1"/>
  <p:tag name="KSO_WM_TAG_VERSION" val="1.0"/>
  <p:tag name="KSO_WM_BEAUTIFY_FLAG" val="#wm#"/>
  <p:tag name="KSO_WM_UNIT_TEXT_FILL_FORE_SCHEMECOLOR_INDEX_BRIGHTNESS" val="0.15"/>
  <p:tag name="KSO_WM_UNIT_TEXT_FILL_FORE_SCHEMECOLOR_INDEX" val="13"/>
  <p:tag name="KSO_WM_UNIT_TEXT_FILL_TYPE" val="1"/>
  <p:tag name="KSO_WM_UNIT_USESOURCEFORMAT_APPLY"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10821_1*l_h_i*1_1_2"/>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15"/>
  <p:tag name="KSO_WM_UNIT_TEXT_FILL_FORE_SCHEMECOLOR_INDEX" val="13"/>
  <p:tag name="KSO_WM_UNIT_TEXT_FILL_TYPE" val="1"/>
  <p:tag name="KSO_WM_UNIT_USESOURCEFORMAT_APPLY" val="1"/>
</p:tagLst>
</file>

<file path=ppt/tags/tag209.xml><?xml version="1.0" encoding="utf-8"?>
<p:tagLst xmlns:p="http://schemas.openxmlformats.org/presentationml/2006/main">
  <p:tag name="KSO_WM_UNIT_ICON_FILEID" val="3100104"/>
  <p:tag name="KSO_WM_UNIT_ICON_STYLE" val="1"/>
  <p:tag name="KSO_WM_UNIT_VALUE" val="54*54"/>
  <p:tag name="KSO_WM_UNIT_HIGHLIGHT" val="0"/>
  <p:tag name="KSO_WM_UNIT_COMPATIBLE" val="0"/>
  <p:tag name="KSO_WM_UNIT_DIAGRAM_ISNUMVISUAL" val="0"/>
  <p:tag name="KSO_WM_UNIT_DIAGRAM_ISREFERUNIT" val="0"/>
  <p:tag name="KSO_WM_DIAGRAM_GROUP_CODE" val="l1-1"/>
  <p:tag name="KSO_WM_UNIT_TYPE" val="l_h_x"/>
  <p:tag name="KSO_WM_UNIT_INDEX" val="1_1_1"/>
  <p:tag name="KSO_WM_UNIT_ID" val="diagram20210821_1*l_h_x*1_1_1"/>
  <p:tag name="KSO_WM_TEMPLATE_CATEGORY" val="diagram"/>
  <p:tag name="KSO_WM_TEMPLATE_INDEX" val="20210821"/>
  <p:tag name="KSO_WM_UNIT_LAYERLEVEL" val="1_1_1"/>
  <p:tag name="KSO_WM_TAG_VERSION" val="1.0"/>
  <p:tag name="KSO_WM_BEAUTIFY_FLAG" val="#wm#"/>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210.xml><?xml version="1.0" encoding="utf-8"?>
<p:tagLst xmlns:p="http://schemas.openxmlformats.org/presentationml/2006/main">
  <p:tag name="KSO_WM_BEAUTIFY_FLAG" val="#wm#"/>
  <p:tag name="KSO_WM_TEMPLATE_CATEGORY" val="diagram"/>
  <p:tag name="KSO_WM_TEMPLATE_INDEX" val="20214796"/>
  <p:tag name="KSO_WM_SLIDE_ID" val="diagram20214796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864*444"/>
  <p:tag name="KSO_WM_SLIDE_POSITION" val="48*48"/>
  <p:tag name="KSO_WM_TAG_VERSION" val="1.0"/>
  <p:tag name="KSO_WM_SLIDE_LAYOUT" val="a_d_f"/>
  <p:tag name="KSO_WM_SLIDE_LAYOUT_CNT" val="1_1_1"/>
  <p:tag name="KSO_WM_SLIDE_LAYOUT_INFO" val="{&quot;backgroundInfo&quot;:[{&quot;bottom&quot;:0,&quot;bottomAbs&quot;:false,&quot;left&quot;:0,&quot;leftAbs&quot;:false,&quot;right&quot;:0,&quot;rightAbs&quot;:false,&quot;top&quot;:0,&quot;topAbs&quot;:false,&quot;type&quot;:&quot;general&quot;}],&quot;id&quot;:&quot;2021-04-01T15:56:14&quot;,&quot;maxSize&quot;:{&quot;size1&quot;:28.9},&quot;minSize&quot;:{&quot;size1&quot;:17.9},&quot;normalSize&quot;:{&quot;size1&quot;:17.9},&quot;subLayout&quot;:[{&quot;id&quot;:&quot;2021-04-01T15:56:14&quot;,&quot;margin&quot;:{&quot;bottom&quot;:0.0260000042617321,&quot;left&quot;:2.9629998207092285,&quot;right&quot;:1.692000150680542,&quot;top&quot;:1.6929999589920044},&quot;type&quot;:0},{&quot;id&quot;:&quot;2021-04-01T15:56:14&quot;,&quot;maxSize&quot;:{&quot;size1&quot;:29.8},&quot;minSize&quot;:{&quot;size1&quot;:16.2},&quot;normalSize&quot;:{&quot;size1&quot;:16.2},&quot;subLayout&quot;:[{&quot;id&quot;:&quot;2021-04-01T15:56:14&quot;,&quot;margin&quot;:{&quot;bottom&quot;:0.0260000042617321,&quot;left&quot;:2.9629998207092285,&quot;right&quot;:1.692000150680542,&quot;top&quot;:0.3970000147819519},&quot;type&quot;:0},{&quot;id&quot;:&quot;2021-04-01T15:56:14&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708d94747e3ea6e292a801"/>
  <p:tag name="KSO_WM_CHIP_FILLPROP" val="[[{&quot;text_align&quot;:&quot;lt&quot;,&quot;text_direction&quot;:&quot;horizontal&quot;,&quot;support_big_font&quot;:false,&quot;picture_toward&quot;:0,&quot;picture_dockside&quot;:[],&quot;fill_id&quot;:&quot;2cb183515b8641c9ace778787b879424&quot;,&quot;fill_align&quot;:&quot;lt&quot;,&quot;chip_types&quot;:[&quot;header&quot;]},{&quot;text_align&quot;:&quot;lt&quot;,&quot;text_direction&quot;:&quot;horizontal&quot;,&quot;support_big_font&quot;:false,&quot;picture_toward&quot;:0,&quot;picture_dockside&quot;:[],&quot;fill_id&quot;:&quot;9a6bdccd29e94bd69f8c779b7e642031&quot;,&quot;fill_align&quot;:&quot;lt&quot;,&quot;chip_types&quot;:[&quot;text&quot;]},{&quot;text_align&quot;:&quot;lt&quot;,&quot;text_direction&quot;:&quot;horizontal&quot;,&quot;support_features&quot;:[&quot;collage&quot;,&quot;carousel&quot;],&quot;support_big_font&quot;:false,&quot;picture_toward&quot;:0,&quot;picture_dockside&quot;:[],&quot;fill_id&quot;:&quot;577d36910ae04ab595296b66134fbb6f&quot;,&quot;fill_align&quot;:&quot;cm&quot;,&quot;chip_types&quot;:[&quot;diagram&quot;,&quot;text&quot;,&quot;picture&quot;,&quot;chart&quot;,&quot;table&quot;,&quot;video&quot;]}]]"/>
  <p:tag name="KSO_WM_CHIP_DECFILLPROP" val="[]"/>
  <p:tag name="KSO_WM_SLIDE_CAN_ADD_NAVIGATION" val="1"/>
  <p:tag name="KSO_WM_CHIP_GROUPID" val="5f708d94747e3ea6e292a800"/>
  <p:tag name="KSO_WM_SLIDE_BK_DARK_LIGHT" val="2"/>
  <p:tag name="KSO_WM_SLIDE_BACKGROUND_TYPE" val="general"/>
  <p:tag name="KSO_WM_SLIDE_SUPPORT_FEATURE_TYPE" val="3"/>
  <p:tag name="KSO_WM_TEMPLATE_ASSEMBLE_XID" val="60656fa04054ed1e2fb80d95"/>
  <p:tag name="KSO_WM_TEMPLATE_ASSEMBLE_GROUPID" val="60656fa04054ed1e2fb80d95"/>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SHADOWSIZE" val="99"/>
  <p:tag name="TEXTSHADOWSIZE" val="100"/>
</p:tagLst>
</file>

<file path=ppt/tags/tag214.xml><?xml version="1.0" encoding="utf-8"?>
<p:tagLst xmlns:p="http://schemas.openxmlformats.org/presentationml/2006/main">
  <p:tag name="SHADOWSIZE" val="99"/>
  <p:tag name="TEXTSHADOWSIZE" val="100"/>
</p:tagLst>
</file>

<file path=ppt/tags/tag215.xml><?xml version="1.0" encoding="utf-8"?>
<p:tagLst xmlns:p="http://schemas.openxmlformats.org/presentationml/2006/main">
  <p:tag name="SHADOWSIZE" val="99"/>
  <p:tag name="TEXTSHADOWSIZE" val="100"/>
</p:tagLst>
</file>

<file path=ppt/tags/tag216.xml><?xml version="1.0" encoding="utf-8"?>
<p:tagLst xmlns:p="http://schemas.openxmlformats.org/presentationml/2006/main">
  <p:tag name="SHADOWSIZE" val="99"/>
  <p:tag name="TEXTSHADOWSIZE" val="100"/>
</p:tagLst>
</file>

<file path=ppt/tags/tag217.xml><?xml version="1.0" encoding="utf-8"?>
<p:tagLst xmlns:p="http://schemas.openxmlformats.org/presentationml/2006/main">
  <p:tag name="SHADOWSIZE" val="99"/>
  <p:tag name="TEXTSHADOWSIZE" val="100"/>
</p:tagLst>
</file>

<file path=ppt/tags/tag218.xml><?xml version="1.0" encoding="utf-8"?>
<p:tagLst xmlns:p="http://schemas.openxmlformats.org/presentationml/2006/main">
  <p:tag name="SHADOWSIZE" val="99"/>
  <p:tag name="TEXTSHADOWSIZE" val="100"/>
</p:tagLst>
</file>

<file path=ppt/tags/tag219.xml><?xml version="1.0" encoding="utf-8"?>
<p:tagLst xmlns:p="http://schemas.openxmlformats.org/presentationml/2006/main">
  <p:tag name="SHADOWSIZE" val="99"/>
  <p:tag name="TEXTSHADOWSIZE" val="100"/>
</p:tagLst>
</file>

<file path=ppt/tags/tag220.xml><?xml version="1.0" encoding="utf-8"?>
<p:tagLst xmlns:p="http://schemas.openxmlformats.org/presentationml/2006/main">
  <p:tag name="SHADOWSIZE" val="99"/>
  <p:tag name="TEXTSHADOWSIZE" val="100"/>
</p:tagLst>
</file>

<file path=ppt/tags/tag221.xml><?xml version="1.0" encoding="utf-8"?>
<p:tagLst xmlns:p="http://schemas.openxmlformats.org/presentationml/2006/main">
  <p:tag name="SHADOWSIZE" val="99"/>
  <p:tag name="TEXTSHADOWSIZE" val="100"/>
</p:tagLst>
</file>

<file path=ppt/tags/tag222.xml><?xml version="1.0" encoding="utf-8"?>
<p:tagLst xmlns:p="http://schemas.openxmlformats.org/presentationml/2006/main">
  <p:tag name="COMMONDATA" val="eyJoZGlkIjoiN2YzNjBkOTgyNWQ1YTMxYzM3MzMwNWFiODNmOWIzYWMifQ=="/>
</p:tagLst>
</file>

<file path=ppt/theme/theme1.xml><?xml version="1.0" encoding="utf-8"?>
<a:theme xmlns:a="http://schemas.openxmlformats.org/drawingml/2006/main" name="主题5">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prstDash val="dash"/>
        </a:ln>
      </a:spPr>
      <a:bodyPr wrap="none">
        <a:spAutoFit/>
      </a:bodyPr>
      <a:lstStyle>
        <a:defPPr>
          <a:defRPr dirty="0" smtClean="0"/>
        </a:defPPr>
      </a:lstStyle>
    </a:spDef>
    <a:txDef>
      <a:spPr/>
      <a:bodyPr spcFirstLastPara="0" vert="horz" wrap="square" lIns="57150" tIns="57150" rIns="57150" bIns="57150" numCol="1" spcCol="1270" anchor="ctr" anchorCtr="0">
        <a:noAutofit/>
      </a:bodyPr>
      <a:lstStyle>
        <a:defPPr defTabSz="666750">
          <a:lnSpc>
            <a:spcPct val="150000"/>
          </a:lnSpc>
          <a:spcBef>
            <a:spcPct val="0"/>
          </a:spcBef>
          <a:spcAft>
            <a:spcPct val="35000"/>
          </a:spcAft>
          <a:defRPr sz="2400" dirty="0" smtClean="0"/>
        </a:defPPr>
      </a:lstStyle>
      <a:style>
        <a:lnRef idx="2">
          <a:schemeClr val="accent1"/>
        </a:lnRef>
        <a:fillRef idx="1">
          <a:schemeClr val="lt1"/>
        </a:fillRef>
        <a:effectRef idx="0">
          <a:schemeClr val="accent1"/>
        </a:effectRef>
        <a:fontRef idx="minor">
          <a:schemeClr val="dk1"/>
        </a:fontRef>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iSlide</Template>
  <TotalTime>0</TotalTime>
  <Words>6800</Words>
  <Application>WPS 演示</Application>
  <PresentationFormat>宽屏</PresentationFormat>
  <Paragraphs>677</Paragraphs>
  <Slides>37</Slides>
  <Notes>35</Notes>
  <HiddenSlides>0</HiddenSlides>
  <MMClips>0</MMClips>
  <ScaleCrop>false</ScaleCrop>
  <HeadingPairs>
    <vt:vector size="6" baseType="variant">
      <vt:variant>
        <vt:lpstr>已用的字体</vt:lpstr>
      </vt:variant>
      <vt:variant>
        <vt:i4>28</vt:i4>
      </vt:variant>
      <vt:variant>
        <vt:lpstr>主题</vt:lpstr>
      </vt:variant>
      <vt:variant>
        <vt:i4>1</vt:i4>
      </vt:variant>
      <vt:variant>
        <vt:lpstr>幻灯片标题</vt:lpstr>
      </vt:variant>
      <vt:variant>
        <vt:i4>37</vt:i4>
      </vt:variant>
    </vt:vector>
  </HeadingPairs>
  <TitlesOfParts>
    <vt:vector size="66" baseType="lpstr">
      <vt:lpstr>Arial</vt:lpstr>
      <vt:lpstr>宋体</vt:lpstr>
      <vt:lpstr>Wingdings</vt:lpstr>
      <vt:lpstr>思源黑体 CN Regular</vt:lpstr>
      <vt:lpstr>Alibaba PuHuiTi 2.0 55 Regular</vt:lpstr>
      <vt:lpstr>微软雅黑</vt:lpstr>
      <vt:lpstr>方正小标宋简体</vt:lpstr>
      <vt:lpstr>Alibaba PuHuiTi 2.0 55</vt:lpstr>
      <vt:lpstr>Alibaba PuHuiTi 2.0 45 Light</vt:lpstr>
      <vt:lpstr>FZFengYaSongS-GB</vt:lpstr>
      <vt:lpstr>黑体</vt:lpstr>
      <vt:lpstr>Helvetica Neue</vt:lpstr>
      <vt:lpstr>Alibaba PuHuiTi 2.0 85</vt:lpstr>
      <vt:lpstr>思源宋体 CN Heavy</vt:lpstr>
      <vt:lpstr>OPPOSans B</vt:lpstr>
      <vt:lpstr>OPPOSans R</vt:lpstr>
      <vt:lpstr>Segoe UI</vt:lpstr>
      <vt:lpstr>Arial Unicode MS</vt:lpstr>
      <vt:lpstr>Calibri</vt:lpstr>
      <vt:lpstr>Roboto</vt:lpstr>
      <vt:lpstr>Hanson</vt:lpstr>
      <vt:lpstr>YouSheBiaoTiHei</vt:lpstr>
      <vt:lpstr>仿宋_GB2312</vt:lpstr>
      <vt:lpstr>Times New Roman</vt:lpstr>
      <vt:lpstr>华光报宋一_CNKI</vt:lpstr>
      <vt:lpstr>Source Sans Pro</vt:lpstr>
      <vt:lpstr>楷体_GB2312</vt:lpstr>
      <vt:lpstr>Segoe Print</vt:lpstr>
      <vt:lpstr>主题5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提升科技管理支撑能力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keywords>51PPT模板网   www.51pptmoban.com</cp:keywords>
  <cp:lastModifiedBy>王毅</cp:lastModifiedBy>
  <cp:revision>2781</cp:revision>
  <cp:lastPrinted>2025-06-19T02:02:00Z</cp:lastPrinted>
  <dcterms:created xsi:type="dcterms:W3CDTF">2017-11-14T16:00:00Z</dcterms:created>
  <dcterms:modified xsi:type="dcterms:W3CDTF">2025-08-01T06:58:20Z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KSOProductBuildVer">
    <vt:lpwstr>2052-12.1.0.21915</vt:lpwstr>
  </property>
  <property fmtid="{D5CDD505-2E9C-101B-9397-08002B2CF9AE}" pid="4" name="ICV">
    <vt:lpwstr>F64F91BC96D74C5EBBC8C2B85605B465_12</vt:lpwstr>
  </property>
</Properties>
</file>